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06" autoAdjust="0"/>
    <p:restoredTop sz="74918" autoAdjust="0"/>
  </p:normalViewPr>
  <p:slideViewPr>
    <p:cSldViewPr snapToGrid="0" snapToObjects="1">
      <p:cViewPr varScale="1">
        <p:scale>
          <a:sx n="75" d="100"/>
          <a:sy n="75" d="100"/>
        </p:scale>
        <p:origin x="888" y="34"/>
      </p:cViewPr>
      <p:guideLst>
        <p:guide orient="horz" pos="2160"/>
        <p:guide pos="2880"/>
      </p:guideLst>
    </p:cSldViewPr>
  </p:slideViewPr>
  <p:notesTextViewPr>
    <p:cViewPr>
      <p:scale>
        <a:sx n="75" d="100"/>
        <a:sy n="75"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doughnutChart>
        <c:varyColors val="1"/>
        <c:ser>
          <c:idx val="0"/>
          <c:order val="0"/>
          <c:tx>
            <c:strRef>
              <c:f>Sheet1!$B$1</c:f>
              <c:strCache>
                <c:ptCount val="1"/>
                <c:pt idx="0">
                  <c:v>Tỷ lệ</c:v>
                </c:pt>
              </c:strCache>
            </c:strRef>
          </c:tx>
          <c:dPt>
            <c:idx val="0"/>
            <c:bubble3D val="0"/>
            <c:spPr>
              <a:solidFill>
                <a:srgbClr val="F59E0B"/>
              </a:solidFill>
            </c:spPr>
            <c:extLst>
              <c:ext xmlns:c16="http://schemas.microsoft.com/office/drawing/2014/chart" uri="{C3380CC4-5D6E-409C-BE32-E72D297353CC}">
                <c16:uniqueId val="{00000001-FFA2-4934-A202-0FF2E0082B25}"/>
              </c:ext>
            </c:extLst>
          </c:dPt>
          <c:dPt>
            <c:idx val="1"/>
            <c:bubble3D val="0"/>
            <c:spPr>
              <a:solidFill>
                <a:srgbClr val="E26D5A"/>
              </a:solidFill>
            </c:spPr>
            <c:extLst>
              <c:ext xmlns:c16="http://schemas.microsoft.com/office/drawing/2014/chart" uri="{C3380CC4-5D6E-409C-BE32-E72D297353CC}">
                <c16:uniqueId val="{00000003-FFA2-4934-A202-0FF2E0082B25}"/>
              </c:ext>
            </c:extLst>
          </c:dPt>
          <c:dPt>
            <c:idx val="2"/>
            <c:bubble3D val="0"/>
            <c:spPr>
              <a:solidFill>
                <a:srgbClr val="2866AB"/>
              </a:solidFill>
            </c:spPr>
            <c:extLst>
              <c:ext xmlns:c16="http://schemas.microsoft.com/office/drawing/2014/chart" uri="{C3380CC4-5D6E-409C-BE32-E72D297353CC}">
                <c16:uniqueId val="{00000005-FFA2-4934-A202-0FF2E0082B25}"/>
              </c:ext>
            </c:extLst>
          </c:dPt>
          <c:cat>
            <c:strRef>
              <c:f>Sheet1!$A$2:$A$4</c:f>
              <c:strCache>
                <c:ptCount val="3"/>
                <c:pt idx="0">
                  <c:v>Chất bột đường</c:v>
                </c:pt>
                <c:pt idx="1">
                  <c:v>Chất đạm</c:v>
                </c:pt>
                <c:pt idx="2">
                  <c:v>Chất béo</c:v>
                </c:pt>
              </c:strCache>
            </c:strRef>
          </c:cat>
          <c:val>
            <c:numRef>
              <c:f>Sheet1!$B$2:$B$4</c:f>
              <c:numCache>
                <c:formatCode>General</c:formatCode>
                <c:ptCount val="3"/>
                <c:pt idx="0">
                  <c:v>60</c:v>
                </c:pt>
                <c:pt idx="1">
                  <c:v>16</c:v>
                </c:pt>
                <c:pt idx="2">
                  <c:v>24</c:v>
                </c:pt>
              </c:numCache>
            </c:numRef>
          </c:val>
          <c:extLst>
            <c:ext xmlns:c16="http://schemas.microsoft.com/office/drawing/2014/chart" uri="{C3380CC4-5D6E-409C-BE32-E72D297353CC}">
              <c16:uniqueId val="{00000006-FFA2-4934-A202-0FF2E0082B25}"/>
            </c:ext>
          </c:extLst>
        </c:ser>
        <c:dLbls>
          <c:showLegendKey val="0"/>
          <c:showVal val="0"/>
          <c:showCatName val="0"/>
          <c:showSerName val="0"/>
          <c:showPercent val="0"/>
          <c:showBubbleSize val="0"/>
          <c:showLeaderLines val="1"/>
        </c:dLbls>
        <c:firstSliceAng val="0"/>
        <c:holeSize val="50"/>
      </c:doughnutChart>
    </c:plotArea>
    <c:legend>
      <c:legendPos val="b"/>
      <c:overlay val="0"/>
      <c:txPr>
        <a:bodyPr/>
        <a:lstStyle/>
        <a:p>
          <a:pPr>
            <a:defRPr sz="1200">
              <a:latin typeface="Segoe UI"/>
            </a:defRPr>
          </a:pPr>
          <a:endParaRPr lang="en-US"/>
        </a:p>
      </c:txPr>
    </c:legend>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Kháng thể từ mẹ</c:v>
                </c:pt>
              </c:strCache>
            </c:strRef>
          </c:tx>
          <c:spPr>
            <a:ln w="34925">
              <a:solidFill>
                <a:srgbClr val="F59E0B"/>
              </a:solidFill>
            </a:ln>
          </c:spPr>
          <c:cat>
            <c:strRef>
              <c:f>Sheet1!$A$2:$A$7</c:f>
              <c:strCache>
                <c:ptCount val="6"/>
                <c:pt idx="0">
                  <c:v>0–6 th</c:v>
                </c:pt>
                <c:pt idx="1">
                  <c:v>6 th</c:v>
                </c:pt>
                <c:pt idx="2">
                  <c:v>1 tuổi</c:v>
                </c:pt>
                <c:pt idx="3">
                  <c:v>2 tuổi</c:v>
                </c:pt>
                <c:pt idx="4">
                  <c:v>3 tuổi</c:v>
                </c:pt>
                <c:pt idx="5">
                  <c:v>4 tuổi</c:v>
                </c:pt>
              </c:strCache>
            </c:strRef>
          </c:cat>
          <c:val>
            <c:numRef>
              <c:f>Sheet1!$B$2:$B$7</c:f>
              <c:numCache>
                <c:formatCode>General</c:formatCode>
                <c:ptCount val="6"/>
                <c:pt idx="0">
                  <c:v>95</c:v>
                </c:pt>
                <c:pt idx="1">
                  <c:v>55</c:v>
                </c:pt>
                <c:pt idx="2">
                  <c:v>25</c:v>
                </c:pt>
                <c:pt idx="3">
                  <c:v>10</c:v>
                </c:pt>
                <c:pt idx="4">
                  <c:v>5</c:v>
                </c:pt>
                <c:pt idx="5">
                  <c:v>2</c:v>
                </c:pt>
              </c:numCache>
            </c:numRef>
          </c:val>
          <c:smooth val="0"/>
          <c:extLst>
            <c:ext xmlns:c16="http://schemas.microsoft.com/office/drawing/2014/chart" uri="{C3380CC4-5D6E-409C-BE32-E72D297353CC}">
              <c16:uniqueId val="{00000000-DA1B-443E-9E1C-B9BC1389EF54}"/>
            </c:ext>
          </c:extLst>
        </c:ser>
        <c:ser>
          <c:idx val="1"/>
          <c:order val="1"/>
          <c:tx>
            <c:strRef>
              <c:f>Sheet1!$C$1</c:f>
              <c:strCache>
                <c:ptCount val="1"/>
                <c:pt idx="0">
                  <c:v>Miễn dịch tự tạo của trẻ</c:v>
                </c:pt>
              </c:strCache>
            </c:strRef>
          </c:tx>
          <c:spPr>
            <a:ln w="34925">
              <a:solidFill>
                <a:srgbClr val="19A99D"/>
              </a:solidFill>
            </a:ln>
          </c:spPr>
          <c:cat>
            <c:strRef>
              <c:f>Sheet1!$A$2:$A$7</c:f>
              <c:strCache>
                <c:ptCount val="6"/>
                <c:pt idx="0">
                  <c:v>0–6 th</c:v>
                </c:pt>
                <c:pt idx="1">
                  <c:v>6 th</c:v>
                </c:pt>
                <c:pt idx="2">
                  <c:v>1 tuổi</c:v>
                </c:pt>
                <c:pt idx="3">
                  <c:v>2 tuổi</c:v>
                </c:pt>
                <c:pt idx="4">
                  <c:v>3 tuổi</c:v>
                </c:pt>
                <c:pt idx="5">
                  <c:v>4 tuổi</c:v>
                </c:pt>
              </c:strCache>
            </c:strRef>
          </c:cat>
          <c:val>
            <c:numRef>
              <c:f>Sheet1!$C$2:$C$7</c:f>
              <c:numCache>
                <c:formatCode>General</c:formatCode>
                <c:ptCount val="6"/>
                <c:pt idx="0">
                  <c:v>8</c:v>
                </c:pt>
                <c:pt idx="1">
                  <c:v>15</c:v>
                </c:pt>
                <c:pt idx="2">
                  <c:v>30</c:v>
                </c:pt>
                <c:pt idx="3">
                  <c:v>50</c:v>
                </c:pt>
                <c:pt idx="4">
                  <c:v>72</c:v>
                </c:pt>
                <c:pt idx="5">
                  <c:v>90</c:v>
                </c:pt>
              </c:numCache>
            </c:numRef>
          </c:val>
          <c:smooth val="0"/>
          <c:extLst>
            <c:ext xmlns:c16="http://schemas.microsoft.com/office/drawing/2014/chart" uri="{C3380CC4-5D6E-409C-BE32-E72D297353CC}">
              <c16:uniqueId val="{00000001-DA1B-443E-9E1C-B9BC1389EF54}"/>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crossAx val="2140495176"/>
        <c:crosses val="autoZero"/>
        <c:auto val="1"/>
        <c:lblAlgn val="ctr"/>
        <c:lblOffset val="100"/>
        <c:noMultiLvlLbl val="0"/>
      </c:catAx>
      <c:valAx>
        <c:axId val="2140495176"/>
        <c:scaling>
          <c:orientation val="minMax"/>
        </c:scaling>
        <c:delete val="0"/>
        <c:axPos val="l"/>
        <c:majorGridlines/>
        <c:numFmt formatCode="General" sourceLinked="1"/>
        <c:majorTickMark val="out"/>
        <c:minorTickMark val="none"/>
        <c:tickLblPos val="nextTo"/>
        <c:crossAx val="2118791784"/>
        <c:crosses val="autoZero"/>
        <c:crossBetween val="between"/>
      </c:valAx>
    </c:plotArea>
    <c:legend>
      <c:legendPos val="b"/>
      <c:overlay val="0"/>
      <c:txPr>
        <a:bodyPr/>
        <a:lstStyle/>
        <a:p>
          <a:pPr>
            <a:defRPr sz="1100">
              <a:latin typeface="Segoe UI"/>
            </a:defRPr>
          </a:pPr>
          <a:endParaRPr lang="en-US"/>
        </a:p>
      </c:txPr>
    </c:legend>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2EEF26-4F51-4C55-9B40-DC24C86DCBCA}" type="datetimeFigureOut">
              <a:rPr lang="en-US" smtClean="0"/>
              <a:t>26/06/2026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CB3F57-FA9C-4675-A15A-0D67ADA10989}" type="slidenum">
              <a:rPr lang="en-US" smtClean="0"/>
              <a:t>‹#›</a:t>
            </a:fld>
            <a:endParaRPr lang="en-US"/>
          </a:p>
        </p:txBody>
      </p:sp>
    </p:spTree>
    <p:extLst>
      <p:ext uri="{BB962C8B-B14F-4D97-AF65-F5344CB8AC3E}">
        <p14:creationId xmlns:p14="http://schemas.microsoft.com/office/powerpoint/2010/main" val="32064797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pPr>
            <a:r>
              <a:rPr lang="en-US" sz="1400" b="1" dirty="0" err="1"/>
              <a:t>Chào</a:t>
            </a:r>
            <a:r>
              <a:rPr lang="en-US" sz="1400" b="1" dirty="0"/>
              <a:t> </a:t>
            </a:r>
            <a:r>
              <a:rPr lang="en-US" sz="1400" b="1" dirty="0" err="1"/>
              <a:t>các</a:t>
            </a:r>
            <a:r>
              <a:rPr lang="en-US" sz="1400" b="1" dirty="0"/>
              <a:t> </a:t>
            </a:r>
            <a:r>
              <a:rPr lang="en-US" sz="1400" b="1" dirty="0" err="1"/>
              <a:t>thầy</a:t>
            </a:r>
            <a:r>
              <a:rPr lang="en-US" sz="1400" b="1" dirty="0"/>
              <a:t> </a:t>
            </a:r>
            <a:r>
              <a:rPr lang="en-US" sz="1400" b="1" dirty="0" err="1"/>
              <a:t>cô</a:t>
            </a:r>
            <a:r>
              <a:rPr lang="en-US" sz="1400" b="1" dirty="0"/>
              <a:t> </a:t>
            </a:r>
            <a:r>
              <a:rPr lang="en-US" sz="1400" b="1" dirty="0" err="1"/>
              <a:t>và</a:t>
            </a:r>
            <a:r>
              <a:rPr lang="en-US" sz="1400" b="1" dirty="0"/>
              <a:t> </a:t>
            </a:r>
            <a:r>
              <a:rPr lang="en-US" sz="1400" b="1" dirty="0" err="1"/>
              <a:t>các</a:t>
            </a:r>
            <a:r>
              <a:rPr lang="en-US" sz="1400" b="1" dirty="0"/>
              <a:t> </a:t>
            </a:r>
            <a:r>
              <a:rPr lang="en-US" sz="1400" b="1" dirty="0" err="1"/>
              <a:t>đồng</a:t>
            </a:r>
            <a:r>
              <a:rPr lang="en-US" sz="1400" b="1" dirty="0"/>
              <a:t> </a:t>
            </a:r>
            <a:r>
              <a:rPr lang="en-US" sz="1400" b="1" dirty="0" err="1"/>
              <a:t>nghiệp</a:t>
            </a:r>
            <a:r>
              <a:rPr lang="en-US" sz="1400" b="1" dirty="0"/>
              <a:t> </a:t>
            </a:r>
            <a:r>
              <a:rPr lang="en-US" sz="1400" b="1" dirty="0" err="1"/>
              <a:t>tại</a:t>
            </a:r>
            <a:r>
              <a:rPr lang="en-US" sz="1400" b="1" dirty="0"/>
              <a:t> </a:t>
            </a:r>
            <a:r>
              <a:rPr lang="en-US" sz="1400" b="1" dirty="0" err="1"/>
              <a:t>Đại</a:t>
            </a:r>
            <a:r>
              <a:rPr lang="en-US" sz="1400" b="1" dirty="0"/>
              <a:t> </a:t>
            </a:r>
            <a:r>
              <a:rPr lang="en-US" sz="1400" b="1" dirty="0" err="1"/>
              <a:t>học</a:t>
            </a:r>
            <a:r>
              <a:rPr lang="en-US" sz="1400" b="1" dirty="0"/>
              <a:t> </a:t>
            </a:r>
            <a:r>
              <a:rPr lang="en-US" sz="1400" b="1" dirty="0" err="1"/>
              <a:t>Thủ</a:t>
            </a:r>
            <a:r>
              <a:rPr lang="en-US" sz="1400" b="1" dirty="0"/>
              <a:t> </a:t>
            </a:r>
            <a:r>
              <a:rPr lang="en-US" sz="1400" b="1" dirty="0" err="1"/>
              <a:t>Dầu</a:t>
            </a:r>
            <a:r>
              <a:rPr lang="en-US" sz="1400" b="1" dirty="0"/>
              <a:t> </a:t>
            </a:r>
            <a:r>
              <a:rPr lang="en-US" sz="1400" b="1" dirty="0" err="1"/>
              <a:t>Một</a:t>
            </a:r>
            <a:r>
              <a:rPr lang="en-US" sz="1400" b="1" dirty="0"/>
              <a:t>! </a:t>
            </a:r>
            <a:r>
              <a:rPr lang="en-US" sz="1400" b="1" dirty="0" err="1"/>
              <a:t>Hôm</a:t>
            </a:r>
            <a:r>
              <a:rPr lang="en-US" sz="1400" b="1" dirty="0"/>
              <a:t> nay </a:t>
            </a:r>
            <a:r>
              <a:rPr lang="en-US" sz="1400" b="1" dirty="0" err="1"/>
              <a:t>tôi</a:t>
            </a:r>
            <a:r>
              <a:rPr lang="en-US" sz="1400" b="1" dirty="0"/>
              <a:t> </a:t>
            </a:r>
            <a:r>
              <a:rPr lang="en-US" sz="1400" b="1" dirty="0" err="1"/>
              <a:t>đứng</a:t>
            </a:r>
            <a:r>
              <a:rPr lang="en-US" sz="1400" b="1" dirty="0"/>
              <a:t> </a:t>
            </a:r>
            <a:r>
              <a:rPr lang="en-US" sz="1400" b="1" dirty="0" err="1"/>
              <a:t>đây</a:t>
            </a:r>
            <a:r>
              <a:rPr lang="en-US" sz="1400" b="1" dirty="0"/>
              <a:t> </a:t>
            </a:r>
            <a:r>
              <a:rPr lang="en-US" sz="1400" b="1" dirty="0" err="1"/>
              <a:t>không</a:t>
            </a:r>
            <a:r>
              <a:rPr lang="en-US" sz="1400" b="1" dirty="0"/>
              <a:t> </a:t>
            </a:r>
            <a:r>
              <a:rPr lang="en-US" sz="1400" b="1" dirty="0" err="1"/>
              <a:t>phải</a:t>
            </a:r>
            <a:r>
              <a:rPr lang="en-US" sz="1400" b="1" dirty="0"/>
              <a:t> </a:t>
            </a:r>
            <a:r>
              <a:rPr lang="en-US" sz="1400" b="1" dirty="0" err="1"/>
              <a:t>để</a:t>
            </a:r>
            <a:r>
              <a:rPr lang="en-US" sz="1400" b="1" dirty="0"/>
              <a:t> </a:t>
            </a:r>
            <a:r>
              <a:rPr lang="en-US" sz="1400" b="1" dirty="0" err="1"/>
              <a:t>tụng</a:t>
            </a:r>
            <a:r>
              <a:rPr lang="en-US" sz="1400" b="1" dirty="0"/>
              <a:t> </a:t>
            </a:r>
            <a:r>
              <a:rPr lang="en-US" sz="1400" b="1" dirty="0" err="1"/>
              <a:t>kinh</a:t>
            </a:r>
            <a:r>
              <a:rPr lang="en-US" sz="1400" b="1" dirty="0"/>
              <a:t> </a:t>
            </a:r>
            <a:r>
              <a:rPr lang="en-US" sz="1400" b="1" dirty="0" err="1"/>
              <a:t>gõ</a:t>
            </a:r>
            <a:r>
              <a:rPr lang="en-US" sz="1400" b="1" dirty="0"/>
              <a:t> </a:t>
            </a:r>
            <a:r>
              <a:rPr lang="en-US" sz="1400" b="1" dirty="0" err="1"/>
              <a:t>mõ</a:t>
            </a:r>
            <a:r>
              <a:rPr lang="en-US" sz="1400" b="1" dirty="0"/>
              <a:t> </a:t>
            </a:r>
            <a:r>
              <a:rPr lang="en-US" sz="1400" b="1" dirty="0" err="1"/>
              <a:t>về</a:t>
            </a:r>
            <a:r>
              <a:rPr lang="en-US" sz="1400" b="1" dirty="0"/>
              <a:t> </a:t>
            </a:r>
            <a:r>
              <a:rPr lang="en-US" sz="1400" b="1" dirty="0" err="1"/>
              <a:t>mớ</a:t>
            </a:r>
            <a:r>
              <a:rPr lang="en-US" sz="1400" b="1" dirty="0"/>
              <a:t> </a:t>
            </a:r>
            <a:r>
              <a:rPr lang="en-US" sz="1400" b="1" dirty="0" err="1"/>
              <a:t>lý</a:t>
            </a:r>
            <a:r>
              <a:rPr lang="en-US" sz="1400" b="1" dirty="0"/>
              <a:t> </a:t>
            </a:r>
            <a:r>
              <a:rPr lang="en-US" sz="1400" b="1" dirty="0" err="1"/>
              <a:t>thuyết</a:t>
            </a:r>
            <a:r>
              <a:rPr lang="en-US" sz="1400" b="1" dirty="0"/>
              <a:t> y khoa </a:t>
            </a:r>
            <a:r>
              <a:rPr lang="en-US" sz="1400" b="1" dirty="0" err="1"/>
              <a:t>khô</a:t>
            </a:r>
            <a:r>
              <a:rPr lang="en-US" sz="1400" b="1" dirty="0"/>
              <a:t> khan </a:t>
            </a:r>
            <a:r>
              <a:rPr lang="en-US" sz="1400" b="1" dirty="0" err="1"/>
              <a:t>đâu</a:t>
            </a:r>
            <a:r>
              <a:rPr lang="en-US" sz="1400" b="1" dirty="0"/>
              <a:t> ạ. </a:t>
            </a:r>
          </a:p>
          <a:p>
            <a:pPr>
              <a:lnSpc>
                <a:spcPct val="150000"/>
              </a:lnSpc>
            </a:pPr>
            <a:r>
              <a:rPr lang="en-US" sz="1400" b="1" dirty="0" err="1"/>
              <a:t>Chúng</a:t>
            </a:r>
            <a:r>
              <a:rPr lang="en-US" sz="1400" b="1" dirty="0"/>
              <a:t> ta </a:t>
            </a:r>
            <a:r>
              <a:rPr lang="en-US" sz="1400" b="1" dirty="0" err="1"/>
              <a:t>sẽ</a:t>
            </a:r>
            <a:r>
              <a:rPr lang="en-US" sz="1400" b="1" dirty="0"/>
              <a:t> </a:t>
            </a:r>
            <a:r>
              <a:rPr lang="en-US" sz="1400" b="1" dirty="0" err="1"/>
              <a:t>cùng</a:t>
            </a:r>
            <a:r>
              <a:rPr lang="en-US" sz="1400" b="1" dirty="0"/>
              <a:t> </a:t>
            </a:r>
            <a:r>
              <a:rPr lang="en-US" sz="1400" b="1" dirty="0" err="1"/>
              <a:t>nhau</a:t>
            </a:r>
            <a:r>
              <a:rPr lang="en-US" sz="1400" b="1" dirty="0"/>
              <a:t> '</a:t>
            </a:r>
            <a:r>
              <a:rPr lang="en-US" sz="1400" b="1" dirty="0" err="1"/>
              <a:t>mổ</a:t>
            </a:r>
            <a:r>
              <a:rPr lang="en-US" sz="1400" b="1" dirty="0"/>
              <a:t> </a:t>
            </a:r>
            <a:r>
              <a:rPr lang="en-US" sz="1400" b="1" dirty="0" err="1"/>
              <a:t>xẻ</a:t>
            </a:r>
            <a:r>
              <a:rPr lang="en-US" sz="1400" b="1" dirty="0"/>
              <a:t>' </a:t>
            </a:r>
            <a:r>
              <a:rPr lang="en-US" sz="1400" b="1" dirty="0" err="1"/>
              <a:t>hai</a:t>
            </a:r>
            <a:r>
              <a:rPr lang="en-US" sz="1400" b="1" dirty="0"/>
              <a:t> </a:t>
            </a:r>
            <a:r>
              <a:rPr lang="en-US" sz="1400" b="1" dirty="0" err="1"/>
              <a:t>nỗi</a:t>
            </a:r>
            <a:r>
              <a:rPr lang="en-US" sz="1400" b="1" dirty="0"/>
              <a:t> </a:t>
            </a:r>
            <a:r>
              <a:rPr lang="en-US" sz="1400" b="1" dirty="0" err="1"/>
              <a:t>ám</a:t>
            </a:r>
            <a:r>
              <a:rPr lang="en-US" sz="1400" b="1" dirty="0"/>
              <a:t> </a:t>
            </a:r>
            <a:r>
              <a:rPr lang="en-US" sz="1400" b="1" dirty="0" err="1"/>
              <a:t>ảnh</a:t>
            </a:r>
            <a:r>
              <a:rPr lang="en-US" sz="1400" b="1" dirty="0"/>
              <a:t> </a:t>
            </a:r>
            <a:r>
              <a:rPr lang="en-US" sz="1400" b="1" dirty="0" err="1"/>
              <a:t>kinh</a:t>
            </a:r>
            <a:r>
              <a:rPr lang="en-US" sz="1400" b="1" dirty="0"/>
              <a:t> </a:t>
            </a:r>
            <a:r>
              <a:rPr lang="en-US" sz="1400" b="1" dirty="0" err="1"/>
              <a:t>hoàng</a:t>
            </a:r>
            <a:r>
              <a:rPr lang="en-US" sz="1400" b="1" dirty="0"/>
              <a:t> </a:t>
            </a:r>
            <a:r>
              <a:rPr lang="en-US" sz="1400" b="1" dirty="0" err="1"/>
              <a:t>nhất</a:t>
            </a:r>
            <a:r>
              <a:rPr lang="en-US" sz="1400" b="1" dirty="0"/>
              <a:t> </a:t>
            </a:r>
            <a:r>
              <a:rPr lang="en-US" sz="1400" b="1" dirty="0" err="1"/>
              <a:t>của</a:t>
            </a:r>
            <a:r>
              <a:rPr lang="en-US" sz="1400" b="1" dirty="0"/>
              <a:t> </a:t>
            </a:r>
            <a:r>
              <a:rPr lang="en-US" sz="1400" b="1" dirty="0" err="1"/>
              <a:t>các</a:t>
            </a:r>
            <a:r>
              <a:rPr lang="en-US" sz="1400" b="1" dirty="0"/>
              <a:t> </a:t>
            </a:r>
            <a:r>
              <a:rPr lang="en-US" sz="1400" b="1" dirty="0" err="1"/>
              <a:t>bậc</a:t>
            </a:r>
            <a:r>
              <a:rPr lang="en-US" sz="1400" b="1" dirty="0"/>
              <a:t> </a:t>
            </a:r>
            <a:r>
              <a:rPr lang="en-US" sz="1400" b="1" dirty="0" err="1"/>
              <a:t>làm</a:t>
            </a:r>
            <a:r>
              <a:rPr lang="en-US" sz="1400" b="1" dirty="0"/>
              <a:t> cha </a:t>
            </a:r>
            <a:r>
              <a:rPr lang="en-US" sz="1400" b="1" dirty="0" err="1"/>
              <a:t>làm</a:t>
            </a:r>
            <a:r>
              <a:rPr lang="en-US" sz="1400" b="1" dirty="0"/>
              <a:t> </a:t>
            </a:r>
            <a:r>
              <a:rPr lang="en-US" sz="1400" b="1" dirty="0" err="1"/>
              <a:t>mẹ</a:t>
            </a:r>
            <a:r>
              <a:rPr lang="en-US" sz="1400" b="1" dirty="0"/>
              <a:t>: Con hay </a:t>
            </a:r>
            <a:r>
              <a:rPr lang="en-US" sz="1400" b="1" dirty="0" err="1"/>
              <a:t>ốm</a:t>
            </a:r>
            <a:r>
              <a:rPr lang="en-US" sz="1400" b="1" dirty="0"/>
              <a:t> </a:t>
            </a:r>
            <a:r>
              <a:rPr lang="en-US" sz="1400" b="1" dirty="0" err="1"/>
              <a:t>vặt</a:t>
            </a:r>
            <a:r>
              <a:rPr lang="en-US" sz="1400" b="1" dirty="0"/>
              <a:t> </a:t>
            </a:r>
            <a:r>
              <a:rPr lang="en-US" sz="1400" b="1" dirty="0" err="1"/>
              <a:t>và</a:t>
            </a:r>
            <a:r>
              <a:rPr lang="en-US" sz="1400" b="1" dirty="0"/>
              <a:t> con </a:t>
            </a:r>
            <a:r>
              <a:rPr lang="en-US" sz="1400" b="1" dirty="0" err="1"/>
              <a:t>nấm</a:t>
            </a:r>
            <a:r>
              <a:rPr lang="en-US" sz="1400" b="1" dirty="0"/>
              <a:t> </a:t>
            </a:r>
            <a:r>
              <a:rPr lang="en-US" sz="1400" b="1" dirty="0" err="1"/>
              <a:t>lùn</a:t>
            </a:r>
            <a:r>
              <a:rPr lang="en-US" sz="1400" b="1" dirty="0"/>
              <a:t>. </a:t>
            </a:r>
          </a:p>
          <a:p>
            <a:pPr>
              <a:lnSpc>
                <a:spcPct val="150000"/>
              </a:lnSpc>
            </a:pPr>
            <a:r>
              <a:rPr lang="en-US" sz="1400" b="1" dirty="0"/>
              <a:t>Xin </a:t>
            </a:r>
            <a:r>
              <a:rPr lang="en-US" sz="1400" b="1" dirty="0" err="1"/>
              <a:t>hứa</a:t>
            </a:r>
            <a:r>
              <a:rPr lang="en-US" sz="1400" b="1" dirty="0"/>
              <a:t> </a:t>
            </a:r>
            <a:r>
              <a:rPr lang="en-US" sz="1400" b="1" dirty="0" err="1"/>
              <a:t>là</a:t>
            </a:r>
            <a:r>
              <a:rPr lang="en-US" sz="1400" b="1" dirty="0"/>
              <a:t> </a:t>
            </a:r>
            <a:r>
              <a:rPr lang="en-US" sz="1400" b="1" dirty="0" err="1"/>
              <a:t>bài</a:t>
            </a:r>
            <a:r>
              <a:rPr lang="en-US" sz="1400" b="1" dirty="0"/>
              <a:t> chia </a:t>
            </a:r>
            <a:r>
              <a:rPr lang="en-US" sz="1400" b="1" dirty="0" err="1"/>
              <a:t>sẻ</a:t>
            </a:r>
            <a:r>
              <a:rPr lang="en-US" sz="1400" b="1" dirty="0"/>
              <a:t> </a:t>
            </a:r>
            <a:r>
              <a:rPr lang="en-US" sz="1400" b="1" dirty="0" err="1"/>
              <a:t>này</a:t>
            </a:r>
            <a:r>
              <a:rPr lang="en-US" sz="1400" b="1" dirty="0"/>
              <a:t> </a:t>
            </a:r>
            <a:r>
              <a:rPr lang="en-US" sz="1400" b="1" dirty="0" err="1"/>
              <a:t>hoàn</a:t>
            </a:r>
            <a:r>
              <a:rPr lang="en-US" sz="1400" b="1" dirty="0"/>
              <a:t> </a:t>
            </a:r>
            <a:r>
              <a:rPr lang="en-US" sz="1400" b="1" dirty="0" err="1"/>
              <a:t>toàn</a:t>
            </a:r>
            <a:r>
              <a:rPr lang="en-US" sz="1400" b="1" dirty="0"/>
              <a:t> </a:t>
            </a:r>
            <a:r>
              <a:rPr lang="en-US" sz="1400" b="1" dirty="0" err="1"/>
              <a:t>không</a:t>
            </a:r>
            <a:r>
              <a:rPr lang="en-US" sz="1400" b="1" dirty="0"/>
              <a:t> </a:t>
            </a:r>
            <a:r>
              <a:rPr lang="en-US" sz="1400" b="1" dirty="0" err="1"/>
              <a:t>có</a:t>
            </a:r>
            <a:r>
              <a:rPr lang="en-US" sz="1400" b="1" dirty="0"/>
              <a:t> </a:t>
            </a:r>
            <a:r>
              <a:rPr lang="en-US" sz="1400" b="1" dirty="0" err="1"/>
              <a:t>tác</a:t>
            </a:r>
            <a:r>
              <a:rPr lang="en-US" sz="1400" b="1" dirty="0"/>
              <a:t> </a:t>
            </a:r>
            <a:r>
              <a:rPr lang="en-US" sz="1400" b="1" dirty="0" err="1"/>
              <a:t>dụng</a:t>
            </a:r>
            <a:r>
              <a:rPr lang="en-US" sz="1400" b="1" dirty="0"/>
              <a:t> </a:t>
            </a:r>
            <a:r>
              <a:rPr lang="en-US" sz="1400" b="1" dirty="0" err="1"/>
              <a:t>phụ</a:t>
            </a:r>
            <a:r>
              <a:rPr lang="en-US" sz="1400" b="1" dirty="0"/>
              <a:t> </a:t>
            </a:r>
            <a:r>
              <a:rPr lang="en-US" sz="1400" b="1" dirty="0" err="1"/>
              <a:t>gây</a:t>
            </a:r>
            <a:r>
              <a:rPr lang="en-US" sz="1400" b="1" dirty="0"/>
              <a:t> </a:t>
            </a:r>
            <a:r>
              <a:rPr lang="en-US" sz="1400" b="1" dirty="0" err="1"/>
              <a:t>buồn</a:t>
            </a:r>
            <a:r>
              <a:rPr lang="en-US" sz="1400" b="1" dirty="0"/>
              <a:t> </a:t>
            </a:r>
            <a:r>
              <a:rPr lang="en-US" sz="1400" b="1" dirty="0" err="1"/>
              <a:t>ngủ</a:t>
            </a:r>
            <a:r>
              <a:rPr lang="en-US" sz="1400" b="1" dirty="0"/>
              <a:t>!"</a:t>
            </a:r>
          </a:p>
        </p:txBody>
      </p:sp>
      <p:sp>
        <p:nvSpPr>
          <p:cNvPr id="4" name="Slide Number Placeholder 3"/>
          <p:cNvSpPr>
            <a:spLocks noGrp="1"/>
          </p:cNvSpPr>
          <p:nvPr>
            <p:ph type="sldNum" sz="quarter" idx="5"/>
          </p:nvPr>
        </p:nvSpPr>
        <p:spPr/>
        <p:txBody>
          <a:bodyPr/>
          <a:lstStyle/>
          <a:p>
            <a:fld id="{3DCB3F57-FA9C-4675-A15A-0D67ADA10989}" type="slidenum">
              <a:rPr lang="en-US" smtClean="0"/>
              <a:t>1</a:t>
            </a:fld>
            <a:endParaRPr lang="en-US"/>
          </a:p>
        </p:txBody>
      </p:sp>
    </p:spTree>
    <p:extLst>
      <p:ext uri="{BB962C8B-B14F-4D97-AF65-F5344CB8AC3E}">
        <p14:creationId xmlns:p14="http://schemas.microsoft.com/office/powerpoint/2010/main" val="16903019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effectLst/>
                <a:latin typeface="Google Sans Text"/>
              </a:rPr>
              <a:t>Chữ trên slide:</a:t>
            </a:r>
            <a:r>
              <a:rPr lang="vi-VN" dirty="0">
                <a:effectLst/>
                <a:latin typeface="Google Sans Text"/>
              </a:rPr>
              <a:t> * "Con lùn là tại... bố mẹ?!" $\rightarrow$ </a:t>
            </a:r>
            <a:r>
              <a:rPr lang="vi-VN" b="1" dirty="0">
                <a:effectLst/>
                <a:latin typeface="Google Sans Text"/>
              </a:rPr>
              <a:t>SAI QUÁ SAI!</a:t>
            </a:r>
            <a:endParaRPr lang="vi-VN" dirty="0">
              <a:effectLst/>
              <a:latin typeface="Google Sans Text"/>
            </a:endParaRPr>
          </a:p>
          <a:p>
            <a:pPr>
              <a:buFont typeface="Arial" panose="020B0604020202020204" pitchFamily="34" charset="0"/>
              <a:buChar char="•"/>
            </a:pPr>
            <a:r>
              <a:rPr lang="vi-VN" dirty="0">
                <a:effectLst/>
                <a:latin typeface="Google Sans Text"/>
              </a:rPr>
              <a:t>Đừng đổ tội cho thời tiết, đừng đổ lỗi cho Gen di truyền!</a:t>
            </a:r>
          </a:p>
          <a:p>
            <a:pPr>
              <a:buFont typeface="Arial" panose="020B0604020202020204" pitchFamily="34" charset="0"/>
              <a:buChar char="•"/>
            </a:pPr>
            <a:r>
              <a:rPr lang="vi-VN" dirty="0">
                <a:effectLst/>
                <a:latin typeface="Google Sans Text"/>
              </a:rPr>
              <a:t>Chìa khóa vàng nằm ở: Căn bếp và Giường ngủ.</a:t>
            </a:r>
          </a:p>
          <a:p>
            <a:r>
              <a:rPr lang="vi-VN" b="1" dirty="0">
                <a:effectLst/>
                <a:latin typeface="Google Sans Text"/>
              </a:rPr>
              <a:t>Kịch bản nói:</a:t>
            </a:r>
            <a:r>
              <a:rPr lang="vi-VN" dirty="0">
                <a:effectLst/>
                <a:latin typeface="Google Sans Text"/>
              </a:rPr>
              <a:t> "Mỗi lần con ốm hay con lùn hơn con nhà hàng xóm, các mẹ thường ca bài ca: </a:t>
            </a:r>
            <a:r>
              <a:rPr lang="vi-VN" i="1" dirty="0">
                <a:effectLst/>
                <a:latin typeface="Google Sans Text"/>
              </a:rPr>
              <a:t>'Tại anh/tại em/tại cái gen nhà mình nó thế!'</a:t>
            </a:r>
            <a:r>
              <a:rPr lang="vi-VN" dirty="0">
                <a:effectLst/>
                <a:latin typeface="Google Sans Text"/>
              </a:rPr>
              <a:t> Thôi xin đừng đổ oan cho ông bà tổ tiên nữa ạ! Khoa học chứng minh gen chỉ chịu trách nhiệm một phần nhỏ thôi. Hôm nay bác sĩ Dung sẽ minh oan cho cái gen và chỉ ra thủ phạm thực sự đang trốn trong... nồi cơm và lối sống của quý vị!"</a:t>
            </a:r>
          </a:p>
          <a:p>
            <a:endParaRPr lang="en-US" dirty="0"/>
          </a:p>
        </p:txBody>
      </p:sp>
      <p:sp>
        <p:nvSpPr>
          <p:cNvPr id="4" name="Slide Number Placeholder 3"/>
          <p:cNvSpPr>
            <a:spLocks noGrp="1"/>
          </p:cNvSpPr>
          <p:nvPr>
            <p:ph type="sldNum" sz="quarter" idx="5"/>
          </p:nvPr>
        </p:nvSpPr>
        <p:spPr/>
        <p:txBody>
          <a:bodyPr/>
          <a:lstStyle/>
          <a:p>
            <a:fld id="{3DCB3F57-FA9C-4675-A15A-0D67ADA10989}" type="slidenum">
              <a:rPr lang="en-US" smtClean="0"/>
              <a:t>2</a:t>
            </a:fld>
            <a:endParaRPr lang="en-US"/>
          </a:p>
        </p:txBody>
      </p:sp>
    </p:spTree>
    <p:extLst>
      <p:ext uri="{BB962C8B-B14F-4D97-AF65-F5344CB8AC3E}">
        <p14:creationId xmlns:p14="http://schemas.microsoft.com/office/powerpoint/2010/main" val="25648691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Hiểu đúng về Dinh dưỡng Miễn dịch:</a:t>
            </a:r>
            <a:r>
              <a:rPr lang="vi-VN" dirty="0"/>
              <a:t> Biết cách lấp đầy cái gọi là 'Khoảng trống miễn dịch', giúp con </a:t>
            </a:r>
            <a:r>
              <a:rPr lang="en-US" dirty="0" err="1"/>
              <a:t>giảm</a:t>
            </a:r>
            <a:r>
              <a:rPr lang="en-US" dirty="0"/>
              <a:t> </a:t>
            </a:r>
            <a:r>
              <a:rPr lang="vi-VN" dirty="0"/>
              <a:t>ho sốt sụt sịt.</a:t>
            </a:r>
          </a:p>
          <a:p>
            <a:r>
              <a:rPr lang="vi-VN" b="1" dirty="0"/>
              <a:t>Nắm rõ các vi chất tăng chiều cao:</a:t>
            </a:r>
            <a:r>
              <a:rPr lang="vi-VN" dirty="0"/>
              <a:t> Nhớ mặt đặt tên bộ ba nguyên tử </a:t>
            </a:r>
            <a:r>
              <a:rPr lang="vi-VN" b="1" dirty="0"/>
              <a:t>Canxi - D3 - K2</a:t>
            </a:r>
            <a:r>
              <a:rPr lang="vi-VN" dirty="0"/>
              <a:t> để không còn mua Canxi vô tội vạ nữa.</a:t>
            </a:r>
          </a:p>
          <a:p>
            <a:r>
              <a:rPr lang="vi-VN" b="1" dirty="0"/>
              <a:t>Giải quyết triệt để combo 'Trời đánh':</a:t>
            </a:r>
            <a:r>
              <a:rPr lang="vi-VN" dirty="0"/>
              <a:t> Biếng ăn, suy dinh dưỡng và đặc biệt là xử lý tận gốc vấn đề táo bón chức năng của con.</a:t>
            </a:r>
          </a:p>
          <a:p>
            <a:r>
              <a:rPr lang="vi-VN" b="1" dirty="0"/>
              <a:t>Thay đổi lối sống:</a:t>
            </a:r>
            <a:r>
              <a:rPr lang="vi-VN" dirty="0"/>
              <a:t> Biết giờ vàng đi ngủ ban đêm và các bài tập kéo giãn để kích hoạt hormone tăng trưởng tối đa.</a:t>
            </a:r>
            <a:endParaRPr lang="en-US" dirty="0"/>
          </a:p>
          <a:p>
            <a:r>
              <a:rPr lang="en-US" dirty="0" err="1"/>
              <a:t>Các</a:t>
            </a:r>
            <a:r>
              <a:rPr lang="en-US" dirty="0"/>
              <a:t> </a:t>
            </a:r>
            <a:r>
              <a:rPr lang="en-US" dirty="0" err="1"/>
              <a:t>thầy</a:t>
            </a:r>
            <a:r>
              <a:rPr lang="en-US" dirty="0"/>
              <a:t> </a:t>
            </a:r>
            <a:r>
              <a:rPr lang="en-US" dirty="0" err="1"/>
              <a:t>cô</a:t>
            </a:r>
            <a:r>
              <a:rPr lang="en-US" dirty="0"/>
              <a:t> </a:t>
            </a:r>
            <a:r>
              <a:rPr lang="en-US" dirty="0" err="1"/>
              <a:t>sẽ</a:t>
            </a:r>
            <a:r>
              <a:rPr lang="en-US" dirty="0"/>
              <a:t> </a:t>
            </a:r>
            <a:r>
              <a:rPr lang="en-US" dirty="0" err="1"/>
              <a:t>tận</a:t>
            </a:r>
            <a:r>
              <a:rPr lang="en-US" dirty="0"/>
              <a:t> </a:t>
            </a:r>
            <a:r>
              <a:rPr lang="en-US" dirty="0" err="1"/>
              <a:t>dụng</a:t>
            </a:r>
            <a:r>
              <a:rPr lang="en-US" dirty="0"/>
              <a:t> </a:t>
            </a:r>
            <a:r>
              <a:rPr lang="en-US" dirty="0" err="1"/>
              <a:t>căn</a:t>
            </a:r>
            <a:r>
              <a:rPr lang="en-US" dirty="0"/>
              <a:t> </a:t>
            </a:r>
            <a:r>
              <a:rPr lang="en-US" dirty="0" err="1"/>
              <a:t>bếp</a:t>
            </a:r>
            <a:r>
              <a:rPr lang="en-US" dirty="0"/>
              <a:t> </a:t>
            </a:r>
            <a:r>
              <a:rPr lang="en-US" dirty="0" err="1"/>
              <a:t>nhà</a:t>
            </a:r>
            <a:r>
              <a:rPr lang="en-US" dirty="0"/>
              <a:t> </a:t>
            </a:r>
            <a:r>
              <a:rPr lang="en-US" dirty="0" err="1"/>
              <a:t>mình</a:t>
            </a:r>
            <a:r>
              <a:rPr lang="en-US" dirty="0"/>
              <a:t> </a:t>
            </a:r>
            <a:r>
              <a:rPr lang="en-US" dirty="0" err="1"/>
              <a:t>đúng</a:t>
            </a:r>
            <a:r>
              <a:rPr lang="en-US" dirty="0"/>
              <a:t> </a:t>
            </a:r>
            <a:r>
              <a:rPr lang="en-US" dirty="0" err="1"/>
              <a:t>để</a:t>
            </a:r>
            <a:r>
              <a:rPr lang="en-US" dirty="0"/>
              <a:t>: </a:t>
            </a:r>
            <a:r>
              <a:rPr lang="en-US" dirty="0" err="1"/>
              <a:t>nuôi</a:t>
            </a:r>
            <a:r>
              <a:rPr lang="en-US" dirty="0"/>
              <a:t> con </a:t>
            </a:r>
            <a:r>
              <a:rPr lang="en-US" dirty="0" err="1"/>
              <a:t>nhàn</a:t>
            </a:r>
            <a:r>
              <a:rPr lang="en-US" dirty="0"/>
              <a:t> </a:t>
            </a:r>
            <a:r>
              <a:rPr lang="en-US" dirty="0" err="1"/>
              <a:t>tênh</a:t>
            </a:r>
            <a:r>
              <a:rPr lang="en-US" dirty="0"/>
              <a:t>, </a:t>
            </a:r>
            <a:r>
              <a:rPr lang="en-US" dirty="0" err="1"/>
              <a:t>cao</a:t>
            </a:r>
            <a:r>
              <a:rPr lang="en-US" dirty="0"/>
              <a:t> </a:t>
            </a:r>
            <a:r>
              <a:rPr lang="en-US" dirty="0" err="1"/>
              <a:t>lớn</a:t>
            </a:r>
            <a:r>
              <a:rPr lang="en-US" dirty="0"/>
              <a:t>, </a:t>
            </a:r>
            <a:r>
              <a:rPr lang="en-US" dirty="0" err="1"/>
              <a:t>đề</a:t>
            </a:r>
            <a:r>
              <a:rPr lang="en-US" dirty="0"/>
              <a:t> </a:t>
            </a:r>
            <a:r>
              <a:rPr lang="en-US" dirty="0" err="1"/>
              <a:t>kháng</a:t>
            </a:r>
            <a:r>
              <a:rPr lang="en-US" dirty="0"/>
              <a:t> </a:t>
            </a:r>
            <a:r>
              <a:rPr lang="en-US" dirty="0" err="1"/>
              <a:t>vô</a:t>
            </a:r>
            <a:r>
              <a:rPr lang="en-US" dirty="0"/>
              <a:t> </a:t>
            </a:r>
            <a:r>
              <a:rPr lang="en-US" dirty="0" err="1"/>
              <a:t>địch</a:t>
            </a:r>
            <a:endParaRPr lang="vi-VN" dirty="0"/>
          </a:p>
          <a:p>
            <a:endParaRPr lang="en-US" dirty="0"/>
          </a:p>
        </p:txBody>
      </p:sp>
      <p:sp>
        <p:nvSpPr>
          <p:cNvPr id="4" name="Slide Number Placeholder 3"/>
          <p:cNvSpPr>
            <a:spLocks noGrp="1"/>
          </p:cNvSpPr>
          <p:nvPr>
            <p:ph type="sldNum" sz="quarter" idx="5"/>
          </p:nvPr>
        </p:nvSpPr>
        <p:spPr/>
        <p:txBody>
          <a:bodyPr/>
          <a:lstStyle/>
          <a:p>
            <a:fld id="{3DCB3F57-FA9C-4675-A15A-0D67ADA10989}" type="slidenum">
              <a:rPr lang="en-US" smtClean="0"/>
              <a:t>3</a:t>
            </a:fld>
            <a:endParaRPr lang="en-US"/>
          </a:p>
        </p:txBody>
      </p:sp>
    </p:spTree>
    <p:extLst>
      <p:ext uri="{BB962C8B-B14F-4D97-AF65-F5344CB8AC3E}">
        <p14:creationId xmlns:p14="http://schemas.microsoft.com/office/powerpoint/2010/main" val="19819208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Việt</a:t>
            </a:r>
            <a:r>
              <a:rPr lang="en-US" dirty="0"/>
              <a:t> Nam ta </a:t>
            </a:r>
            <a:r>
              <a:rPr lang="en-US" dirty="0" err="1"/>
              <a:t>bước</a:t>
            </a:r>
            <a:r>
              <a:rPr lang="en-US" dirty="0"/>
              <a:t> qua </a:t>
            </a:r>
            <a:r>
              <a:rPr lang="en-US" dirty="0" err="1"/>
              <a:t>nghèo</a:t>
            </a:r>
            <a:r>
              <a:rPr lang="en-US" dirty="0"/>
              <a:t> </a:t>
            </a:r>
            <a:r>
              <a:rPr lang="en-US" dirty="0" err="1"/>
              <a:t>đói</a:t>
            </a:r>
            <a:r>
              <a:rPr lang="en-US" dirty="0"/>
              <a:t>, </a:t>
            </a:r>
            <a:r>
              <a:rPr lang="en-US" dirty="0" err="1"/>
              <a:t>là</a:t>
            </a:r>
            <a:r>
              <a:rPr lang="en-US" dirty="0"/>
              <a:t> </a:t>
            </a:r>
            <a:r>
              <a:rPr lang="en-US" dirty="0" err="1"/>
              <a:t>nước</a:t>
            </a:r>
            <a:r>
              <a:rPr lang="en-US" dirty="0"/>
              <a:t> </a:t>
            </a:r>
            <a:r>
              <a:rPr lang="en-US" dirty="0" err="1"/>
              <a:t>đang</a:t>
            </a:r>
            <a:r>
              <a:rPr lang="en-US" dirty="0"/>
              <a:t> </a:t>
            </a:r>
            <a:r>
              <a:rPr lang="en-US" dirty="0" err="1"/>
              <a:t>phát</a:t>
            </a:r>
            <a:r>
              <a:rPr lang="en-US" dirty="0"/>
              <a:t> </a:t>
            </a:r>
            <a:r>
              <a:rPr lang="en-US" dirty="0" err="1"/>
              <a:t>triển</a:t>
            </a:r>
            <a:r>
              <a:rPr lang="en-US" dirty="0"/>
              <a:t>, </a:t>
            </a:r>
            <a:r>
              <a:rPr lang="en-US" dirty="0" err="1"/>
              <a:t>có</a:t>
            </a:r>
            <a:r>
              <a:rPr lang="en-US" dirty="0"/>
              <a:t> </a:t>
            </a:r>
            <a:r>
              <a:rPr lang="en-US" dirty="0" err="1"/>
              <a:t>sự</a:t>
            </a:r>
            <a:r>
              <a:rPr lang="en-US" dirty="0"/>
              <a:t> </a:t>
            </a:r>
            <a:r>
              <a:rPr lang="en-US" dirty="0" err="1"/>
              <a:t>dịch</a:t>
            </a:r>
            <a:r>
              <a:rPr lang="en-US" dirty="0"/>
              <a:t> </a:t>
            </a:r>
            <a:r>
              <a:rPr lang="en-US" dirty="0" err="1"/>
              <a:t>chuyển</a:t>
            </a:r>
            <a:r>
              <a:rPr lang="en-US" dirty="0"/>
              <a:t> </a:t>
            </a:r>
            <a:r>
              <a:rPr lang="en-US" dirty="0" err="1"/>
              <a:t>dinh</a:t>
            </a:r>
            <a:r>
              <a:rPr lang="en-US" dirty="0"/>
              <a:t> </a:t>
            </a:r>
            <a:r>
              <a:rPr lang="en-US" dirty="0" err="1"/>
              <a:t>dưỡng</a:t>
            </a:r>
            <a:r>
              <a:rPr lang="en-US" dirty="0"/>
              <a:t> </a:t>
            </a:r>
            <a:r>
              <a:rPr lang="en-US" dirty="0" err="1"/>
              <a:t>rõ</a:t>
            </a:r>
            <a:r>
              <a:rPr lang="en-US" dirty="0"/>
              <a:t> </a:t>
            </a:r>
            <a:r>
              <a:rPr lang="en-US" dirty="0" err="1"/>
              <a:t>rệt</a:t>
            </a:r>
            <a:r>
              <a:rPr lang="en-US" dirty="0"/>
              <a:t>, </a:t>
            </a:r>
            <a:r>
              <a:rPr lang="en-US" dirty="0" err="1"/>
              <a:t>và</a:t>
            </a:r>
            <a:r>
              <a:rPr lang="en-US" dirty="0"/>
              <a:t> </a:t>
            </a:r>
            <a:r>
              <a:rPr lang="en-US" dirty="0" err="1"/>
              <a:t>hậu</a:t>
            </a:r>
            <a:r>
              <a:rPr lang="en-US" dirty="0"/>
              <a:t> </a:t>
            </a:r>
            <a:r>
              <a:rPr lang="en-US" dirty="0" err="1"/>
              <a:t>quả</a:t>
            </a:r>
            <a:r>
              <a:rPr lang="en-US" dirty="0"/>
              <a:t> </a:t>
            </a:r>
            <a:r>
              <a:rPr lang="en-US" dirty="0" err="1"/>
              <a:t>rất</a:t>
            </a:r>
            <a:r>
              <a:rPr lang="en-US" dirty="0"/>
              <a:t> </a:t>
            </a:r>
            <a:r>
              <a:rPr lang="en-US" dirty="0" err="1"/>
              <a:t>dễ</a:t>
            </a:r>
            <a:r>
              <a:rPr lang="en-US" dirty="0"/>
              <a:t> </a:t>
            </a:r>
            <a:r>
              <a:rPr lang="en-US" dirty="0" err="1"/>
              <a:t>ghi</a:t>
            </a:r>
            <a:r>
              <a:rPr lang="en-US" dirty="0"/>
              <a:t> </a:t>
            </a:r>
            <a:r>
              <a:rPr lang="en-US" dirty="0" err="1"/>
              <a:t>nhận</a:t>
            </a:r>
            <a:r>
              <a:rPr lang="en-US" dirty="0"/>
              <a:t>: </a:t>
            </a:r>
            <a:r>
              <a:rPr lang="en-US" dirty="0" err="1"/>
              <a:t>Tình</a:t>
            </a:r>
            <a:r>
              <a:rPr lang="en-US" dirty="0"/>
              <a:t> </a:t>
            </a:r>
            <a:r>
              <a:rPr lang="en-US" dirty="0" err="1"/>
              <a:t>trạng</a:t>
            </a:r>
            <a:r>
              <a:rPr lang="en-US" dirty="0"/>
              <a:t> </a:t>
            </a:r>
            <a:r>
              <a:rPr lang="en-US" dirty="0" err="1"/>
              <a:t>thừa</a:t>
            </a:r>
            <a:r>
              <a:rPr lang="en-US" dirty="0"/>
              <a:t> </a:t>
            </a:r>
            <a:r>
              <a:rPr lang="en-US" dirty="0" err="1"/>
              <a:t>cân</a:t>
            </a:r>
            <a:r>
              <a:rPr lang="en-US" dirty="0"/>
              <a:t>, </a:t>
            </a:r>
            <a:r>
              <a:rPr lang="en-US" dirty="0" err="1"/>
              <a:t>béo</a:t>
            </a:r>
            <a:r>
              <a:rPr lang="en-US" dirty="0"/>
              <a:t> </a:t>
            </a:r>
            <a:r>
              <a:rPr lang="en-US" dirty="0" err="1"/>
              <a:t>phì</a:t>
            </a:r>
            <a:r>
              <a:rPr lang="en-US" dirty="0"/>
              <a:t> </a:t>
            </a:r>
            <a:r>
              <a:rPr lang="en-US" dirty="0" err="1"/>
              <a:t>gia</a:t>
            </a:r>
            <a:r>
              <a:rPr lang="en-US" dirty="0"/>
              <a:t> tang, </a:t>
            </a:r>
            <a:r>
              <a:rPr lang="en-US" dirty="0" err="1"/>
              <a:t>trẻ</a:t>
            </a:r>
            <a:r>
              <a:rPr lang="en-US" dirty="0"/>
              <a:t> </a:t>
            </a:r>
            <a:r>
              <a:rPr lang="en-US" dirty="0" err="1"/>
              <a:t>suy</a:t>
            </a:r>
            <a:r>
              <a:rPr lang="en-US" dirty="0"/>
              <a:t> </a:t>
            </a:r>
            <a:r>
              <a:rPr lang="en-US" dirty="0" err="1"/>
              <a:t>dinh</a:t>
            </a:r>
            <a:r>
              <a:rPr lang="en-US" dirty="0"/>
              <a:t> </a:t>
            </a:r>
            <a:r>
              <a:rPr lang="en-US" dirty="0" err="1"/>
              <a:t>dưỡng</a:t>
            </a:r>
            <a:r>
              <a:rPr lang="en-US" dirty="0"/>
              <a:t> </a:t>
            </a:r>
            <a:r>
              <a:rPr lang="en-US" dirty="0" err="1"/>
              <a:t>nhẹ</a:t>
            </a:r>
            <a:r>
              <a:rPr lang="en-US" dirty="0"/>
              <a:t> </a:t>
            </a:r>
            <a:r>
              <a:rPr lang="en-US" dirty="0" err="1"/>
              <a:t>cân</a:t>
            </a:r>
            <a:r>
              <a:rPr lang="en-US" dirty="0"/>
              <a:t> </a:t>
            </a:r>
            <a:r>
              <a:rPr lang="en-US" dirty="0" err="1"/>
              <a:t>thì</a:t>
            </a:r>
            <a:r>
              <a:rPr lang="en-US" dirty="0"/>
              <a:t> </a:t>
            </a:r>
            <a:r>
              <a:rPr lang="en-US" dirty="0" err="1"/>
              <a:t>giảm</a:t>
            </a:r>
            <a:r>
              <a:rPr lang="en-US" dirty="0"/>
              <a:t> </a:t>
            </a:r>
            <a:r>
              <a:rPr lang="en-US" dirty="0" err="1"/>
              <a:t>đi</a:t>
            </a:r>
            <a:r>
              <a:rPr lang="en-US" dirty="0"/>
              <a:t>, </a:t>
            </a:r>
            <a:r>
              <a:rPr lang="en-US" dirty="0" err="1"/>
              <a:t>nhưng</a:t>
            </a:r>
            <a:r>
              <a:rPr lang="en-US" dirty="0"/>
              <a:t> </a:t>
            </a:r>
            <a:r>
              <a:rPr lang="en-US" dirty="0" err="1"/>
              <a:t>suy</a:t>
            </a:r>
            <a:r>
              <a:rPr lang="en-US" dirty="0"/>
              <a:t> </a:t>
            </a:r>
            <a:r>
              <a:rPr lang="en-US" dirty="0" err="1"/>
              <a:t>dinh</a:t>
            </a:r>
            <a:r>
              <a:rPr lang="en-US" dirty="0"/>
              <a:t> </a:t>
            </a:r>
            <a:r>
              <a:rPr lang="en-US" dirty="0" err="1"/>
              <a:t>dưỡng</a:t>
            </a:r>
            <a:r>
              <a:rPr lang="en-US" dirty="0"/>
              <a:t> </a:t>
            </a:r>
            <a:r>
              <a:rPr lang="en-US" dirty="0" err="1"/>
              <a:t>thấp</a:t>
            </a:r>
            <a:r>
              <a:rPr lang="en-US" dirty="0"/>
              <a:t> </a:t>
            </a:r>
            <a:r>
              <a:rPr lang="en-US" dirty="0" err="1"/>
              <a:t>còi</a:t>
            </a:r>
            <a:r>
              <a:rPr lang="en-US" dirty="0"/>
              <a:t> (</a:t>
            </a:r>
            <a:r>
              <a:rPr lang="en-US" dirty="0" err="1"/>
              <a:t>suy</a:t>
            </a:r>
            <a:r>
              <a:rPr lang="en-US" dirty="0"/>
              <a:t> </a:t>
            </a:r>
            <a:r>
              <a:rPr lang="en-US" dirty="0" err="1"/>
              <a:t>dinh</a:t>
            </a:r>
            <a:r>
              <a:rPr lang="en-US" dirty="0"/>
              <a:t> </a:t>
            </a:r>
            <a:r>
              <a:rPr lang="en-US" dirty="0" err="1"/>
              <a:t>dưỡng</a:t>
            </a:r>
            <a:r>
              <a:rPr lang="en-US" dirty="0"/>
              <a:t> </a:t>
            </a:r>
            <a:r>
              <a:rPr lang="en-US" dirty="0" err="1"/>
              <a:t>mạn</a:t>
            </a:r>
            <a:r>
              <a:rPr lang="en-US" dirty="0"/>
              <a:t> </a:t>
            </a:r>
            <a:r>
              <a:rPr lang="en-US" dirty="0" err="1"/>
              <a:t>tính</a:t>
            </a:r>
            <a:r>
              <a:rPr lang="en-US" dirty="0"/>
              <a:t>) </a:t>
            </a:r>
            <a:r>
              <a:rPr lang="en-US" dirty="0" err="1"/>
              <a:t>vẫn</a:t>
            </a:r>
            <a:r>
              <a:rPr lang="en-US" dirty="0"/>
              <a:t> </a:t>
            </a:r>
            <a:r>
              <a:rPr lang="en-US" dirty="0" err="1"/>
              <a:t>còn</a:t>
            </a:r>
            <a:r>
              <a:rPr lang="en-US" dirty="0"/>
              <a:t> </a:t>
            </a:r>
            <a:r>
              <a:rPr lang="en-US" dirty="0" err="1"/>
              <a:t>tương</a:t>
            </a:r>
            <a:r>
              <a:rPr lang="en-US" dirty="0"/>
              <a:t> </a:t>
            </a:r>
            <a:r>
              <a:rPr lang="en-US" dirty="0" err="1"/>
              <a:t>đối</a:t>
            </a:r>
            <a:r>
              <a:rPr lang="en-US" dirty="0"/>
              <a:t> </a:t>
            </a:r>
            <a:r>
              <a:rPr lang="en-US" dirty="0" err="1"/>
              <a:t>cao</a:t>
            </a:r>
            <a:r>
              <a:rPr lang="en-US" dirty="0"/>
              <a:t>. </a:t>
            </a:r>
            <a:r>
              <a:rPr lang="en-US" dirty="0" err="1"/>
              <a:t>Và</a:t>
            </a:r>
            <a:r>
              <a:rPr lang="en-US" dirty="0"/>
              <a:t> </a:t>
            </a:r>
            <a:r>
              <a:rPr lang="en-US" dirty="0" err="1"/>
              <a:t>trẻ</a:t>
            </a:r>
            <a:r>
              <a:rPr lang="en-US" dirty="0"/>
              <a:t> hay </a:t>
            </a:r>
            <a:r>
              <a:rPr lang="en-US" dirty="0" err="1"/>
              <a:t>ốm</a:t>
            </a:r>
            <a:r>
              <a:rPr lang="en-US" dirty="0"/>
              <a:t> </a:t>
            </a:r>
            <a:r>
              <a:rPr lang="en-US" dirty="0" err="1"/>
              <a:t>vặt</a:t>
            </a:r>
            <a:r>
              <a:rPr lang="en-US" dirty="0"/>
              <a:t>. </a:t>
            </a:r>
          </a:p>
          <a:p>
            <a:endParaRPr lang="en-US" dirty="0"/>
          </a:p>
          <a:p>
            <a:r>
              <a:rPr lang="vi-VN" dirty="0"/>
              <a:t>"Trẻ em nước mình đang rơi vào nghịch lý 'vừa thiếu vừa thừa': nấm lùn vẫn còn mà béo phì thì tăng vọt. Đặc biệt là giai đoạn 6-36 tháng, khi 'tấm khiên' của mẹ hết hạn dùng thử, con rất dễ rơi vào vùng u tối của ốm vặt!"</a:t>
            </a:r>
            <a:endParaRPr lang="en-US" dirty="0"/>
          </a:p>
        </p:txBody>
      </p:sp>
      <p:sp>
        <p:nvSpPr>
          <p:cNvPr id="4" name="Slide Number Placeholder 3"/>
          <p:cNvSpPr>
            <a:spLocks noGrp="1"/>
          </p:cNvSpPr>
          <p:nvPr>
            <p:ph type="sldNum" sz="quarter" idx="5"/>
          </p:nvPr>
        </p:nvSpPr>
        <p:spPr/>
        <p:txBody>
          <a:bodyPr/>
          <a:lstStyle/>
          <a:p>
            <a:fld id="{3DCB3F57-FA9C-4675-A15A-0D67ADA10989}" type="slidenum">
              <a:rPr lang="en-US" smtClean="0"/>
              <a:t>4</a:t>
            </a:fld>
            <a:endParaRPr lang="en-US"/>
          </a:p>
        </p:txBody>
      </p:sp>
    </p:spTree>
    <p:extLst>
      <p:ext uri="{BB962C8B-B14F-4D97-AF65-F5344CB8AC3E}">
        <p14:creationId xmlns:p14="http://schemas.microsoft.com/office/powerpoint/2010/main" val="6727340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CB3F57-FA9C-4675-A15A-0D67ADA10989}" type="slidenum">
              <a:rPr lang="en-US" smtClean="0"/>
              <a:t>5</a:t>
            </a:fld>
            <a:endParaRPr lang="en-US"/>
          </a:p>
        </p:txBody>
      </p:sp>
    </p:spTree>
    <p:extLst>
      <p:ext uri="{BB962C8B-B14F-4D97-AF65-F5344CB8AC3E}">
        <p14:creationId xmlns:p14="http://schemas.microsoft.com/office/powerpoint/2010/main" val="30297657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Slide 6: Trụ cột sức khỏe</a:t>
            </a:r>
            <a:r>
              <a:rPr lang="vi-VN" dirty="0"/>
              <a:t> "Thể chất, trí tuệ và miễn dịch là kiềng ba chân. Một chân mà què (như con hay ốm) thì hai chân kia cũng lung lay, con không cách nào thông minh hay cao lớn nổi!“</a:t>
            </a:r>
            <a:endParaRPr lang="en-US" dirty="0"/>
          </a:p>
          <a:p>
            <a:endParaRPr lang="en-US" dirty="0"/>
          </a:p>
          <a:p>
            <a:r>
              <a:rPr lang="vi-VN" b="1" dirty="0"/>
              <a:t>1000 ngày vàng</a:t>
            </a:r>
            <a:r>
              <a:rPr lang="vi-VN" dirty="0"/>
              <a:t> "1000 ngày đầu đời là cơ hội 'ngàn năm có một' để lập trình sức khỏe cho con. Bỏ lỡ giai đoạn này thì sau này dẫu có nạp vàng nạp bạc cũng khó lòng sửa sai được các </a:t>
            </a:r>
            <a:r>
              <a:rPr lang="en-US" dirty="0" err="1"/>
              <a:t>thầy</a:t>
            </a:r>
            <a:r>
              <a:rPr lang="en-US" dirty="0"/>
              <a:t>, </a:t>
            </a:r>
            <a:r>
              <a:rPr lang="en-US" dirty="0" err="1"/>
              <a:t>cô</a:t>
            </a:r>
            <a:r>
              <a:rPr lang="vi-VN" dirty="0"/>
              <a:t> ạ!"</a:t>
            </a:r>
            <a:endParaRPr lang="en-US" dirty="0"/>
          </a:p>
        </p:txBody>
      </p:sp>
      <p:sp>
        <p:nvSpPr>
          <p:cNvPr id="4" name="Slide Number Placeholder 3"/>
          <p:cNvSpPr>
            <a:spLocks noGrp="1"/>
          </p:cNvSpPr>
          <p:nvPr>
            <p:ph type="sldNum" sz="quarter" idx="5"/>
          </p:nvPr>
        </p:nvSpPr>
        <p:spPr/>
        <p:txBody>
          <a:bodyPr/>
          <a:lstStyle/>
          <a:p>
            <a:fld id="{3DCB3F57-FA9C-4675-A15A-0D67ADA10989}" type="slidenum">
              <a:rPr lang="en-US" smtClean="0"/>
              <a:t>6</a:t>
            </a:fld>
            <a:endParaRPr lang="en-US"/>
          </a:p>
        </p:txBody>
      </p:sp>
    </p:spTree>
    <p:extLst>
      <p:ext uri="{BB962C8B-B14F-4D97-AF65-F5344CB8AC3E}">
        <p14:creationId xmlns:p14="http://schemas.microsoft.com/office/powerpoint/2010/main" val="15914531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CB3F57-FA9C-4675-A15A-0D67ADA10989}" type="slidenum">
              <a:rPr lang="en-US" smtClean="0"/>
              <a:t>7</a:t>
            </a:fld>
            <a:endParaRPr lang="en-US"/>
          </a:p>
        </p:txBody>
      </p:sp>
    </p:spTree>
    <p:extLst>
      <p:ext uri="{BB962C8B-B14F-4D97-AF65-F5344CB8AC3E}">
        <p14:creationId xmlns:p14="http://schemas.microsoft.com/office/powerpoint/2010/main" val="16270655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26/06/2026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26/06/2026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26/06/2026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26/06/2026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26/06/2026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26/06/2026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26/06/2026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26/06/2026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26/06/2026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26/06/2026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26/06/2026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26/06/2026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1463040" y="-914400"/>
            <a:ext cx="6400800" cy="8229600"/>
          </a:xfrm>
          <a:prstGeom prst="ellipse">
            <a:avLst/>
          </a:prstGeom>
          <a:solidFill>
            <a:srgbClr val="E0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family.png"/>
          <p:cNvPicPr>
            <a:picLocks noChangeAspect="1"/>
          </p:cNvPicPr>
          <p:nvPr/>
        </p:nvPicPr>
        <p:blipFill>
          <a:blip r:embed="rId3"/>
          <a:stretch>
            <a:fillRect/>
          </a:stretch>
        </p:blipFill>
        <p:spPr>
          <a:xfrm>
            <a:off x="182880" y="1823679"/>
            <a:ext cx="4754880" cy="3119201"/>
          </a:xfrm>
          <a:prstGeom prst="rect">
            <a:avLst/>
          </a:prstGeom>
        </p:spPr>
      </p:pic>
      <p:sp>
        <p:nvSpPr>
          <p:cNvPr id="4" name="Oval 3"/>
          <p:cNvSpPr/>
          <p:nvPr/>
        </p:nvSpPr>
        <p:spPr>
          <a:xfrm>
            <a:off x="10927080" y="5349240"/>
            <a:ext cx="54864" cy="54864"/>
          </a:xfrm>
          <a:prstGeom prst="ellipse">
            <a:avLst/>
          </a:prstGeom>
          <a:solidFill>
            <a:srgbClr val="E0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1073384" y="5349240"/>
            <a:ext cx="54864" cy="54864"/>
          </a:xfrm>
          <a:prstGeom prst="ellipse">
            <a:avLst/>
          </a:prstGeom>
          <a:solidFill>
            <a:srgbClr val="E0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1219688" y="5349240"/>
            <a:ext cx="54864" cy="54864"/>
          </a:xfrm>
          <a:prstGeom prst="ellipse">
            <a:avLst/>
          </a:prstGeom>
          <a:solidFill>
            <a:srgbClr val="E0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1365992" y="5349240"/>
            <a:ext cx="54864" cy="54864"/>
          </a:xfrm>
          <a:prstGeom prst="ellipse">
            <a:avLst/>
          </a:prstGeom>
          <a:solidFill>
            <a:srgbClr val="E0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1512296" y="5349240"/>
            <a:ext cx="54864" cy="54864"/>
          </a:xfrm>
          <a:prstGeom prst="ellipse">
            <a:avLst/>
          </a:prstGeom>
          <a:solidFill>
            <a:srgbClr val="E0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658600" y="5349240"/>
            <a:ext cx="54864" cy="54864"/>
          </a:xfrm>
          <a:prstGeom prst="ellipse">
            <a:avLst/>
          </a:prstGeom>
          <a:solidFill>
            <a:srgbClr val="E0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0927080" y="5495544"/>
            <a:ext cx="54864" cy="54864"/>
          </a:xfrm>
          <a:prstGeom prst="ellipse">
            <a:avLst/>
          </a:prstGeom>
          <a:solidFill>
            <a:srgbClr val="E0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11073384" y="5495544"/>
            <a:ext cx="54864" cy="54864"/>
          </a:xfrm>
          <a:prstGeom prst="ellipse">
            <a:avLst/>
          </a:prstGeom>
          <a:solidFill>
            <a:srgbClr val="E0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1219688" y="5495544"/>
            <a:ext cx="54864" cy="54864"/>
          </a:xfrm>
          <a:prstGeom prst="ellipse">
            <a:avLst/>
          </a:prstGeom>
          <a:solidFill>
            <a:srgbClr val="E0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1365992" y="5495544"/>
            <a:ext cx="54864" cy="54864"/>
          </a:xfrm>
          <a:prstGeom prst="ellipse">
            <a:avLst/>
          </a:prstGeom>
          <a:solidFill>
            <a:srgbClr val="E0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1512296" y="5495544"/>
            <a:ext cx="54864" cy="54864"/>
          </a:xfrm>
          <a:prstGeom prst="ellipse">
            <a:avLst/>
          </a:prstGeom>
          <a:solidFill>
            <a:srgbClr val="E0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1658600" y="5495544"/>
            <a:ext cx="54864" cy="54864"/>
          </a:xfrm>
          <a:prstGeom prst="ellipse">
            <a:avLst/>
          </a:prstGeom>
          <a:solidFill>
            <a:srgbClr val="E0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0927080" y="5641848"/>
            <a:ext cx="54864" cy="54864"/>
          </a:xfrm>
          <a:prstGeom prst="ellipse">
            <a:avLst/>
          </a:prstGeom>
          <a:solidFill>
            <a:srgbClr val="E0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1073384" y="5641848"/>
            <a:ext cx="54864" cy="54864"/>
          </a:xfrm>
          <a:prstGeom prst="ellipse">
            <a:avLst/>
          </a:prstGeom>
          <a:solidFill>
            <a:srgbClr val="E0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1219688" y="5641848"/>
            <a:ext cx="54864" cy="54864"/>
          </a:xfrm>
          <a:prstGeom prst="ellipse">
            <a:avLst/>
          </a:prstGeom>
          <a:solidFill>
            <a:srgbClr val="E0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1365992" y="5641848"/>
            <a:ext cx="54864" cy="54864"/>
          </a:xfrm>
          <a:prstGeom prst="ellipse">
            <a:avLst/>
          </a:prstGeom>
          <a:solidFill>
            <a:srgbClr val="E0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1512296" y="5641848"/>
            <a:ext cx="54864" cy="54864"/>
          </a:xfrm>
          <a:prstGeom prst="ellipse">
            <a:avLst/>
          </a:prstGeom>
          <a:solidFill>
            <a:srgbClr val="E0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11658600" y="5641848"/>
            <a:ext cx="54864" cy="54864"/>
          </a:xfrm>
          <a:prstGeom prst="ellipse">
            <a:avLst/>
          </a:prstGeom>
          <a:solidFill>
            <a:srgbClr val="E0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0927080" y="5788152"/>
            <a:ext cx="54864" cy="54864"/>
          </a:xfrm>
          <a:prstGeom prst="ellipse">
            <a:avLst/>
          </a:prstGeom>
          <a:solidFill>
            <a:srgbClr val="E0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1073384" y="5788152"/>
            <a:ext cx="54864" cy="54864"/>
          </a:xfrm>
          <a:prstGeom prst="ellipse">
            <a:avLst/>
          </a:prstGeom>
          <a:solidFill>
            <a:srgbClr val="E0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1219688" y="5788152"/>
            <a:ext cx="54864" cy="54864"/>
          </a:xfrm>
          <a:prstGeom prst="ellipse">
            <a:avLst/>
          </a:prstGeom>
          <a:solidFill>
            <a:srgbClr val="E0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1365992" y="5788152"/>
            <a:ext cx="54864" cy="54864"/>
          </a:xfrm>
          <a:prstGeom prst="ellipse">
            <a:avLst/>
          </a:prstGeom>
          <a:solidFill>
            <a:srgbClr val="E0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1512296" y="5788152"/>
            <a:ext cx="54864" cy="54864"/>
          </a:xfrm>
          <a:prstGeom prst="ellipse">
            <a:avLst/>
          </a:prstGeom>
          <a:solidFill>
            <a:srgbClr val="E0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11658600" y="5788152"/>
            <a:ext cx="54864" cy="54864"/>
          </a:xfrm>
          <a:prstGeom prst="ellipse">
            <a:avLst/>
          </a:prstGeom>
          <a:solidFill>
            <a:srgbClr val="E0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394960" y="548640"/>
            <a:ext cx="6675120" cy="457200"/>
          </a:xfrm>
          <a:prstGeom prst="rect">
            <a:avLst/>
          </a:prstGeom>
          <a:noFill/>
        </p:spPr>
        <p:txBody>
          <a:bodyPr wrap="square" lIns="0" tIns="0" rIns="0" bIns="0" anchor="t">
            <a:spAutoFit/>
          </a:bodyPr>
          <a:lstStyle/>
          <a:p>
            <a:pPr algn="l">
              <a:lnSpc>
                <a:spcPct val="100000"/>
              </a:lnSpc>
              <a:spcBef>
                <a:spcPts val="0"/>
              </a:spcBef>
              <a:spcAft>
                <a:spcPts val="400"/>
              </a:spcAft>
            </a:pPr>
            <a:r>
              <a:rPr sz="1200" b="1" i="0" dirty="0">
                <a:solidFill>
                  <a:srgbClr val="19A99D"/>
                </a:solidFill>
                <a:latin typeface="Segoe UI"/>
                <a:cs typeface="Segoe UI"/>
              </a:rPr>
              <a:t>VIỆN ĐÀO TẠO Y DƯỢC  ·  TRUYỀN THÔNG SỨC KHỎE CỘNG ĐỒNG</a:t>
            </a:r>
          </a:p>
        </p:txBody>
      </p:sp>
      <p:sp>
        <p:nvSpPr>
          <p:cNvPr id="29" name="TextBox 28"/>
          <p:cNvSpPr txBox="1"/>
          <p:nvPr/>
        </p:nvSpPr>
        <p:spPr>
          <a:xfrm>
            <a:off x="5349240" y="1481328"/>
            <a:ext cx="6492240" cy="411480"/>
          </a:xfrm>
          <a:prstGeom prst="rect">
            <a:avLst/>
          </a:prstGeom>
          <a:noFill/>
        </p:spPr>
        <p:txBody>
          <a:bodyPr wrap="square" lIns="0" tIns="0" rIns="0" bIns="0" anchor="t">
            <a:spAutoFit/>
          </a:bodyPr>
          <a:lstStyle/>
          <a:p>
            <a:pPr algn="l">
              <a:lnSpc>
                <a:spcPct val="100000"/>
              </a:lnSpc>
              <a:spcBef>
                <a:spcPts val="0"/>
              </a:spcBef>
              <a:spcAft>
                <a:spcPts val="400"/>
              </a:spcAft>
            </a:pPr>
            <a:r>
              <a:rPr sz="1600" b="1" i="0">
                <a:solidFill>
                  <a:srgbClr val="F59E0B"/>
                </a:solidFill>
                <a:latin typeface="Segoe UI Semibold"/>
                <a:cs typeface="Segoe UI Semibold"/>
              </a:rPr>
              <a:t>CHUYÊN ĐỀ 2</a:t>
            </a:r>
          </a:p>
        </p:txBody>
      </p:sp>
      <p:sp>
        <p:nvSpPr>
          <p:cNvPr id="30" name="TextBox 29"/>
          <p:cNvSpPr txBox="1"/>
          <p:nvPr/>
        </p:nvSpPr>
        <p:spPr>
          <a:xfrm>
            <a:off x="5330952" y="1901952"/>
            <a:ext cx="6812280" cy="2286000"/>
          </a:xfrm>
          <a:prstGeom prst="rect">
            <a:avLst/>
          </a:prstGeom>
          <a:noFill/>
        </p:spPr>
        <p:txBody>
          <a:bodyPr wrap="square" lIns="0" tIns="0" rIns="0" bIns="0" anchor="t">
            <a:spAutoFit/>
          </a:bodyPr>
          <a:lstStyle/>
          <a:p>
            <a:pPr algn="l">
              <a:lnSpc>
                <a:spcPct val="105000"/>
              </a:lnSpc>
              <a:spcBef>
                <a:spcPts val="0"/>
              </a:spcBef>
              <a:spcAft>
                <a:spcPts val="400"/>
              </a:spcAft>
            </a:pPr>
            <a:r>
              <a:rPr sz="2900" b="1" i="0">
                <a:solidFill>
                  <a:srgbClr val="1E293B"/>
                </a:solidFill>
                <a:latin typeface="Segoe UI Semibold"/>
                <a:cs typeface="Segoe UI Semibold"/>
              </a:rPr>
              <a:t>Dinh dưỡng – Nền tảng vững chắc </a:t>
            </a:r>
          </a:p>
          <a:p>
            <a:pPr algn="l">
              <a:lnSpc>
                <a:spcPct val="105000"/>
              </a:lnSpc>
              <a:spcBef>
                <a:spcPts val="0"/>
              </a:spcBef>
              <a:spcAft>
                <a:spcPts val="400"/>
              </a:spcAft>
            </a:pPr>
            <a:r>
              <a:rPr sz="2900" b="1" i="0">
                <a:solidFill>
                  <a:srgbClr val="1E293B"/>
                </a:solidFill>
                <a:latin typeface="Segoe UI Semibold"/>
                <a:cs typeface="Segoe UI Semibold"/>
              </a:rPr>
              <a:t>cho </a:t>
            </a:r>
            <a:r>
              <a:rPr sz="2900" b="1" i="0">
                <a:solidFill>
                  <a:srgbClr val="19A99D"/>
                </a:solidFill>
                <a:latin typeface="Segoe UI Semibold"/>
                <a:cs typeface="Segoe UI Semibold"/>
              </a:rPr>
              <a:t>hệ miễn dịch</a:t>
            </a:r>
            <a:r>
              <a:rPr sz="2900" b="1" i="0">
                <a:solidFill>
                  <a:srgbClr val="1E293B"/>
                </a:solidFill>
                <a:latin typeface="Segoe UI Semibold"/>
                <a:cs typeface="Segoe UI Semibold"/>
              </a:rPr>
              <a:t> và </a:t>
            </a:r>
            <a:r>
              <a:rPr sz="2900" b="1" i="0">
                <a:solidFill>
                  <a:srgbClr val="3A6B35"/>
                </a:solidFill>
                <a:latin typeface="Segoe UI Semibold"/>
                <a:cs typeface="Segoe UI Semibold"/>
              </a:rPr>
              <a:t>sự phát triển</a:t>
            </a:r>
          </a:p>
          <a:p>
            <a:pPr algn="l">
              <a:lnSpc>
                <a:spcPct val="105000"/>
              </a:lnSpc>
              <a:spcBef>
                <a:spcPts val="0"/>
              </a:spcBef>
              <a:spcAft>
                <a:spcPts val="400"/>
              </a:spcAft>
            </a:pPr>
            <a:r>
              <a:rPr sz="2900" b="1" i="0">
                <a:solidFill>
                  <a:srgbClr val="1E293B"/>
                </a:solidFill>
                <a:latin typeface="Segoe UI Semibold"/>
                <a:cs typeface="Segoe UI Semibold"/>
              </a:rPr>
              <a:t>của trẻ</a:t>
            </a:r>
          </a:p>
        </p:txBody>
      </p:sp>
      <p:sp>
        <p:nvSpPr>
          <p:cNvPr id="31" name="TextBox 30"/>
          <p:cNvSpPr txBox="1"/>
          <p:nvPr/>
        </p:nvSpPr>
        <p:spPr>
          <a:xfrm>
            <a:off x="5349240" y="4370832"/>
            <a:ext cx="6766560" cy="457200"/>
          </a:xfrm>
          <a:prstGeom prst="rect">
            <a:avLst/>
          </a:prstGeom>
          <a:noFill/>
        </p:spPr>
        <p:txBody>
          <a:bodyPr wrap="square" lIns="0" tIns="0" rIns="0" bIns="0" anchor="t">
            <a:spAutoFit/>
          </a:bodyPr>
          <a:lstStyle/>
          <a:p>
            <a:pPr algn="l">
              <a:lnSpc>
                <a:spcPct val="100000"/>
              </a:lnSpc>
              <a:spcBef>
                <a:spcPts val="0"/>
              </a:spcBef>
              <a:spcAft>
                <a:spcPts val="400"/>
              </a:spcAft>
            </a:pPr>
            <a:r>
              <a:rPr sz="1450" b="0" i="1">
                <a:solidFill>
                  <a:srgbClr val="64748B"/>
                </a:solidFill>
                <a:latin typeface="Segoe UI"/>
                <a:cs typeface="Segoe UI"/>
              </a:rPr>
              <a:t>Miễn dịch · Chiều cao · Phát triển toàn diện cho trẻ em</a:t>
            </a:r>
          </a:p>
        </p:txBody>
      </p:sp>
      <p:sp>
        <p:nvSpPr>
          <p:cNvPr id="32" name="Rounded Rectangle 31"/>
          <p:cNvSpPr/>
          <p:nvPr/>
        </p:nvSpPr>
        <p:spPr>
          <a:xfrm>
            <a:off x="5349240" y="5029200"/>
            <a:ext cx="6309360" cy="868680"/>
          </a:xfrm>
          <a:prstGeom prst="roundRect">
            <a:avLst>
              <a:gd name="adj" fmla="val 8000"/>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l">
              <a:lnSpc>
                <a:spcPct val="105000"/>
              </a:lnSpc>
              <a:spcBef>
                <a:spcPts val="0"/>
              </a:spcBef>
              <a:spcAft>
                <a:spcPts val="0"/>
              </a:spcAft>
            </a:pPr>
            <a:r>
              <a:rPr sz="1400" b="0" i="0">
                <a:solidFill>
                  <a:srgbClr val="E0F5F4"/>
                </a:solidFill>
                <a:latin typeface="Segoe UI"/>
                <a:cs typeface="Segoe UI"/>
              </a:rPr>
              <a:t>Báo cáo viên:  </a:t>
            </a:r>
            <a:r>
              <a:rPr sz="1700" b="1" i="0">
                <a:solidFill>
                  <a:srgbClr val="FFFFFF"/>
                </a:solidFill>
                <a:latin typeface="Segoe UI"/>
                <a:cs typeface="Segoe UI"/>
              </a:rPr>
              <a:t>TS. Lê Thị Thùy Dung</a:t>
            </a:r>
          </a:p>
          <a:p>
            <a:pPr algn="l">
              <a:lnSpc>
                <a:spcPct val="105000"/>
              </a:lnSpc>
              <a:spcBef>
                <a:spcPts val="0"/>
              </a:spcBef>
              <a:spcAft>
                <a:spcPts val="0"/>
              </a:spcAft>
            </a:pPr>
            <a:r>
              <a:rPr sz="1250" b="0" i="0">
                <a:solidFill>
                  <a:srgbClr val="E0F5F4"/>
                </a:solidFill>
                <a:latin typeface="Segoe UI"/>
                <a:cs typeface="Segoe UI"/>
              </a:rPr>
              <a:t>Viện Đào tạo Y Dược</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384048" y="274320"/>
            <a:ext cx="384048" cy="384048"/>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4068" y="329184"/>
            <a:ext cx="104241"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66344" y="406908"/>
            <a:ext cx="274320" cy="10424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274320"/>
            <a:ext cx="2926080" cy="402336"/>
          </a:xfrm>
          <a:prstGeom prst="rect">
            <a:avLst/>
          </a:prstGeom>
          <a:noFill/>
        </p:spPr>
        <p:txBody>
          <a:bodyPr wrap="square" lIns="0" tIns="0" rIns="0" bIns="0" anchor="ctr">
            <a:spAutoFit/>
          </a:bodyPr>
          <a:lstStyle/>
          <a:p>
            <a:pPr algn="l">
              <a:lnSpc>
                <a:spcPct val="100000"/>
              </a:lnSpc>
              <a:spcBef>
                <a:spcPts val="0"/>
              </a:spcBef>
              <a:spcAft>
                <a:spcPts val="400"/>
              </a:spcAft>
            </a:pPr>
            <a:r>
              <a:rPr sz="1300" b="1" i="0">
                <a:solidFill>
                  <a:srgbClr val="1E293B"/>
                </a:solidFill>
                <a:latin typeface="Segoe UI"/>
                <a:cs typeface="Segoe UI"/>
              </a:rPr>
              <a:t>DINH DƯỠNG </a:t>
            </a:r>
            <a:r>
              <a:rPr sz="1300" b="1" i="0">
                <a:solidFill>
                  <a:srgbClr val="19A99D"/>
                </a:solidFill>
                <a:latin typeface="Segoe UI"/>
                <a:cs typeface="Segoe UI"/>
              </a:rPr>
              <a:t>NHI KHOA</a:t>
            </a:r>
          </a:p>
        </p:txBody>
      </p:sp>
      <p:sp>
        <p:nvSpPr>
          <p:cNvPr id="6" name="Rectangle 5"/>
          <p:cNvSpPr/>
          <p:nvPr/>
        </p:nvSpPr>
        <p:spPr>
          <a:xfrm>
            <a:off x="0" y="6473952"/>
            <a:ext cx="12191695" cy="384048"/>
          </a:xfrm>
          <a:prstGeom prst="rect">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492240"/>
            <a:ext cx="9601200" cy="347472"/>
          </a:xfrm>
          <a:prstGeom prst="rect">
            <a:avLst/>
          </a:prstGeom>
          <a:noFill/>
        </p:spPr>
        <p:txBody>
          <a:bodyPr wrap="square" lIns="0" tIns="0" rIns="0" bIns="0" anchor="ctr">
            <a:spAutoFit/>
          </a:bodyPr>
          <a:lstStyle/>
          <a:p>
            <a:pPr algn="l">
              <a:lnSpc>
                <a:spcPct val="100000"/>
              </a:lnSpc>
              <a:spcBef>
                <a:spcPts val="0"/>
              </a:spcBef>
              <a:spcAft>
                <a:spcPts val="400"/>
              </a:spcAft>
            </a:pPr>
            <a:r>
              <a:rPr sz="950" b="0" i="0">
                <a:solidFill>
                  <a:srgbClr val="FFFFFF"/>
                </a:solidFill>
                <a:latin typeface="Segoe UI"/>
                <a:cs typeface="Segoe UI"/>
              </a:rPr>
              <a:t>Chuyên đề 2 · Dinh dưỡng – nền tảng cho miễn dịch &amp; sự phát triển của trẻ  ·  TS. Lê Thị Thùy Dung</a:t>
            </a:r>
          </a:p>
        </p:txBody>
      </p:sp>
      <p:sp>
        <p:nvSpPr>
          <p:cNvPr id="8" name="TextBox 7"/>
          <p:cNvSpPr txBox="1"/>
          <p:nvPr/>
        </p:nvSpPr>
        <p:spPr>
          <a:xfrm>
            <a:off x="11185855" y="6492240"/>
            <a:ext cx="548640" cy="347472"/>
          </a:xfrm>
          <a:prstGeom prst="rect">
            <a:avLst/>
          </a:prstGeom>
          <a:noFill/>
        </p:spPr>
        <p:txBody>
          <a:bodyPr wrap="square" lIns="0" tIns="0" rIns="0" bIns="0" anchor="ctr">
            <a:spAutoFit/>
          </a:bodyPr>
          <a:lstStyle/>
          <a:p>
            <a:pPr algn="r">
              <a:lnSpc>
                <a:spcPct val="100000"/>
              </a:lnSpc>
              <a:spcBef>
                <a:spcPts val="0"/>
              </a:spcBef>
              <a:spcAft>
                <a:spcPts val="400"/>
              </a:spcAft>
            </a:pPr>
            <a:r>
              <a:rPr sz="1000" b="1" i="0">
                <a:solidFill>
                  <a:srgbClr val="FFFFFF"/>
                </a:solidFill>
                <a:latin typeface="Segoe UI"/>
                <a:cs typeface="Segoe UI"/>
              </a:rPr>
              <a:t>2</a:t>
            </a:r>
          </a:p>
        </p:txBody>
      </p:sp>
      <p:sp>
        <p:nvSpPr>
          <p:cNvPr id="9" name="TextBox 8"/>
          <p:cNvSpPr txBox="1"/>
          <p:nvPr/>
        </p:nvSpPr>
        <p:spPr>
          <a:xfrm>
            <a:off x="548640" y="841248"/>
            <a:ext cx="10881360" cy="566928"/>
          </a:xfrm>
          <a:prstGeom prst="rect">
            <a:avLst/>
          </a:prstGeom>
          <a:noFill/>
        </p:spPr>
        <p:txBody>
          <a:bodyPr wrap="square" lIns="0" tIns="0" rIns="0" bIns="0" anchor="t">
            <a:spAutoFit/>
          </a:bodyPr>
          <a:lstStyle/>
          <a:p>
            <a:pPr algn="l">
              <a:lnSpc>
                <a:spcPct val="100000"/>
              </a:lnSpc>
              <a:spcBef>
                <a:spcPts val="0"/>
              </a:spcBef>
              <a:spcAft>
                <a:spcPts val="400"/>
              </a:spcAft>
            </a:pPr>
            <a:r>
              <a:rPr sz="2700" b="1" i="0">
                <a:solidFill>
                  <a:srgbClr val="19A99D"/>
                </a:solidFill>
                <a:latin typeface="Segoe UI Semibold"/>
                <a:cs typeface="Segoe UI Semibold"/>
              </a:rPr>
              <a:t>Lời mở đầu</a:t>
            </a:r>
          </a:p>
        </p:txBody>
      </p:sp>
      <p:sp>
        <p:nvSpPr>
          <p:cNvPr id="10" name="TextBox 9"/>
          <p:cNvSpPr txBox="1"/>
          <p:nvPr/>
        </p:nvSpPr>
        <p:spPr>
          <a:xfrm>
            <a:off x="548640" y="1408176"/>
            <a:ext cx="10881360" cy="365760"/>
          </a:xfrm>
          <a:prstGeom prst="rect">
            <a:avLst/>
          </a:prstGeom>
          <a:noFill/>
        </p:spPr>
        <p:txBody>
          <a:bodyPr wrap="square" lIns="0" tIns="0" rIns="0" bIns="0" anchor="t">
            <a:spAutoFit/>
          </a:bodyPr>
          <a:lstStyle/>
          <a:p>
            <a:pPr algn="l">
              <a:lnSpc>
                <a:spcPct val="100000"/>
              </a:lnSpc>
              <a:spcBef>
                <a:spcPts val="0"/>
              </a:spcBef>
              <a:spcAft>
                <a:spcPts val="400"/>
              </a:spcAft>
            </a:pPr>
            <a:r>
              <a:rPr sz="1500" b="0" i="1">
                <a:solidFill>
                  <a:srgbClr val="64748B"/>
                </a:solidFill>
                <a:latin typeface="Segoe UI"/>
                <a:cs typeface="Segoe UI"/>
              </a:rPr>
              <a:t>Vì sao dinh dưỡng là câu chuyện của mỗi gia đình</a:t>
            </a:r>
          </a:p>
        </p:txBody>
      </p:sp>
      <p:pic>
        <p:nvPicPr>
          <p:cNvPr id="11" name="Picture 10" descr="feeding_child.png"/>
          <p:cNvPicPr>
            <a:picLocks noChangeAspect="1"/>
          </p:cNvPicPr>
          <p:nvPr/>
        </p:nvPicPr>
        <p:blipFill>
          <a:blip r:embed="rId3"/>
          <a:stretch>
            <a:fillRect/>
          </a:stretch>
        </p:blipFill>
        <p:spPr>
          <a:xfrm>
            <a:off x="8138160" y="1841188"/>
            <a:ext cx="3657600" cy="3449942"/>
          </a:xfrm>
          <a:prstGeom prst="rect">
            <a:avLst/>
          </a:prstGeom>
        </p:spPr>
      </p:pic>
      <p:sp>
        <p:nvSpPr>
          <p:cNvPr id="12" name="TextBox 11"/>
          <p:cNvSpPr txBox="1"/>
          <p:nvPr/>
        </p:nvSpPr>
        <p:spPr>
          <a:xfrm>
            <a:off x="548640" y="1828800"/>
            <a:ext cx="7223760" cy="4023360"/>
          </a:xfrm>
          <a:prstGeom prst="rect">
            <a:avLst/>
          </a:prstGeom>
          <a:noFill/>
        </p:spPr>
        <p:txBody>
          <a:bodyPr wrap="square" lIns="0" tIns="0" rIns="0" bIns="0" anchor="t">
            <a:spAutoFit/>
          </a:bodyPr>
          <a:lstStyle/>
          <a:p>
            <a:pPr algn="l">
              <a:lnSpc>
                <a:spcPct val="112000"/>
              </a:lnSpc>
              <a:spcBef>
                <a:spcPts val="0"/>
              </a:spcBef>
              <a:spcAft>
                <a:spcPts val="1600"/>
              </a:spcAft>
            </a:pPr>
            <a:r>
              <a:rPr sz="1800" b="0" i="1">
                <a:solidFill>
                  <a:srgbClr val="1E293B"/>
                </a:solidFill>
                <a:latin typeface="Segoe UI"/>
                <a:cs typeface="Segoe UI"/>
              </a:rPr>
              <a:t>“Không có đứa trẻ nào sinh ra đã định sẵn sẽ thấp bé hay hay ốm vặt. </a:t>
            </a:r>
            <a:r>
              <a:rPr sz="1800" b="1" i="1">
                <a:solidFill>
                  <a:srgbClr val="19A99D"/>
                </a:solidFill>
                <a:latin typeface="Segoe UI"/>
                <a:cs typeface="Segoe UI"/>
              </a:rPr>
              <a:t>Phần lớn nằm trong tay cha mẹ – qua từng bữa ăn mỗi ngày.”</a:t>
            </a:r>
          </a:p>
          <a:p>
            <a:pPr algn="l">
              <a:lnSpc>
                <a:spcPct val="112000"/>
              </a:lnSpc>
              <a:spcBef>
                <a:spcPts val="0"/>
              </a:spcBef>
              <a:spcAft>
                <a:spcPts val="1200"/>
              </a:spcAft>
            </a:pPr>
            <a:r>
              <a:rPr sz="1550" b="0" i="0">
                <a:solidFill>
                  <a:srgbClr val="1E293B"/>
                </a:solidFill>
                <a:latin typeface="Segoe UI"/>
                <a:cs typeface="Segoe UI"/>
              </a:rPr>
              <a:t>Với vai trò bác sĩ nhi – dinh dưỡng, buổi nói chuyện hôm nay không nhằm kê đơn, mà giúp cha mẹ </a:t>
            </a:r>
            <a:r>
              <a:rPr sz="1550" b="1" i="0">
                <a:solidFill>
                  <a:srgbClr val="3A6B35"/>
                </a:solidFill>
                <a:latin typeface="Segoe UI"/>
                <a:cs typeface="Segoe UI"/>
              </a:rPr>
              <a:t>hiểu đúng – làm đúng</a:t>
            </a:r>
            <a:r>
              <a:rPr sz="1550" b="0" i="0">
                <a:solidFill>
                  <a:srgbClr val="1E293B"/>
                </a:solidFill>
                <a:latin typeface="Segoe UI"/>
                <a:cs typeface="Segoe UI"/>
              </a:rPr>
              <a:t> về dinh dưỡng cho con.</a:t>
            </a:r>
          </a:p>
          <a:p>
            <a:pPr algn="l">
              <a:lnSpc>
                <a:spcPct val="112000"/>
              </a:lnSpc>
              <a:spcBef>
                <a:spcPts val="0"/>
              </a:spcBef>
              <a:spcAft>
                <a:spcPts val="1200"/>
              </a:spcAft>
            </a:pPr>
            <a:r>
              <a:rPr sz="1550" b="0" i="0">
                <a:solidFill>
                  <a:srgbClr val="1E293B"/>
                </a:solidFill>
                <a:latin typeface="Segoe UI"/>
                <a:cs typeface="Segoe UI"/>
              </a:rPr>
              <a:t>Ba điều một đứa trẻ cần để lớn lên khỏe mạnh: </a:t>
            </a:r>
            <a:r>
              <a:rPr sz="1550" b="1" i="0">
                <a:solidFill>
                  <a:srgbClr val="19A99D"/>
                </a:solidFill>
                <a:latin typeface="Segoe UI"/>
                <a:cs typeface="Segoe UI"/>
              </a:rPr>
              <a:t>ăn đủ chất – đủ sức đề kháng – cao lớn đúng tiềm năng.</a:t>
            </a:r>
          </a:p>
          <a:p>
            <a:pPr algn="l">
              <a:lnSpc>
                <a:spcPct val="106000"/>
              </a:lnSpc>
              <a:spcBef>
                <a:spcPts val="0"/>
              </a:spcBef>
              <a:spcAft>
                <a:spcPts val="700"/>
              </a:spcAft>
            </a:pPr>
            <a:r>
              <a:rPr sz="1550" b="0" i="1">
                <a:solidFill>
                  <a:srgbClr val="64748B"/>
                </a:solidFill>
                <a:latin typeface="Segoe UI"/>
                <a:cs typeface="Segoe UI"/>
              </a:rPr>
              <a:t>Tất cả bắt đầu từ những lựa chọn rất đời thường trong căn bếp của bạn.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384048" y="274320"/>
            <a:ext cx="384048" cy="384048"/>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4068" y="329184"/>
            <a:ext cx="104241"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66344" y="406908"/>
            <a:ext cx="274320" cy="10424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274320"/>
            <a:ext cx="2926080" cy="402336"/>
          </a:xfrm>
          <a:prstGeom prst="rect">
            <a:avLst/>
          </a:prstGeom>
          <a:noFill/>
        </p:spPr>
        <p:txBody>
          <a:bodyPr wrap="square" lIns="0" tIns="0" rIns="0" bIns="0" anchor="ctr">
            <a:spAutoFit/>
          </a:bodyPr>
          <a:lstStyle/>
          <a:p>
            <a:pPr algn="l">
              <a:lnSpc>
                <a:spcPct val="100000"/>
              </a:lnSpc>
              <a:spcBef>
                <a:spcPts val="0"/>
              </a:spcBef>
              <a:spcAft>
                <a:spcPts val="400"/>
              </a:spcAft>
            </a:pPr>
            <a:r>
              <a:rPr sz="1300" b="1" i="0">
                <a:solidFill>
                  <a:srgbClr val="1E293B"/>
                </a:solidFill>
                <a:latin typeface="Segoe UI"/>
                <a:cs typeface="Segoe UI"/>
              </a:rPr>
              <a:t>DINH DƯỠNG </a:t>
            </a:r>
            <a:r>
              <a:rPr sz="1300" b="1" i="0">
                <a:solidFill>
                  <a:srgbClr val="19A99D"/>
                </a:solidFill>
                <a:latin typeface="Segoe UI"/>
                <a:cs typeface="Segoe UI"/>
              </a:rPr>
              <a:t>NHI KHOA</a:t>
            </a:r>
          </a:p>
        </p:txBody>
      </p:sp>
      <p:sp>
        <p:nvSpPr>
          <p:cNvPr id="6" name="Rectangle 5"/>
          <p:cNvSpPr/>
          <p:nvPr/>
        </p:nvSpPr>
        <p:spPr>
          <a:xfrm>
            <a:off x="0" y="6473952"/>
            <a:ext cx="12191695" cy="384048"/>
          </a:xfrm>
          <a:prstGeom prst="rect">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492240"/>
            <a:ext cx="9601200" cy="347472"/>
          </a:xfrm>
          <a:prstGeom prst="rect">
            <a:avLst/>
          </a:prstGeom>
          <a:noFill/>
        </p:spPr>
        <p:txBody>
          <a:bodyPr wrap="square" lIns="0" tIns="0" rIns="0" bIns="0" anchor="ctr">
            <a:spAutoFit/>
          </a:bodyPr>
          <a:lstStyle/>
          <a:p>
            <a:pPr algn="l">
              <a:lnSpc>
                <a:spcPct val="100000"/>
              </a:lnSpc>
              <a:spcBef>
                <a:spcPts val="0"/>
              </a:spcBef>
              <a:spcAft>
                <a:spcPts val="400"/>
              </a:spcAft>
            </a:pPr>
            <a:r>
              <a:rPr sz="950" b="0" i="0">
                <a:solidFill>
                  <a:srgbClr val="FFFFFF"/>
                </a:solidFill>
                <a:latin typeface="Segoe UI"/>
                <a:cs typeface="Segoe UI"/>
              </a:rPr>
              <a:t>Chuyên đề 2 · Dinh dưỡng – nền tảng cho miễn dịch &amp; sự phát triển của trẻ  ·  TS. Lê Thị Thùy Dung</a:t>
            </a:r>
          </a:p>
        </p:txBody>
      </p:sp>
      <p:sp>
        <p:nvSpPr>
          <p:cNvPr id="8" name="TextBox 7"/>
          <p:cNvSpPr txBox="1"/>
          <p:nvPr/>
        </p:nvSpPr>
        <p:spPr>
          <a:xfrm>
            <a:off x="11185855" y="6492240"/>
            <a:ext cx="548640" cy="347472"/>
          </a:xfrm>
          <a:prstGeom prst="rect">
            <a:avLst/>
          </a:prstGeom>
          <a:noFill/>
        </p:spPr>
        <p:txBody>
          <a:bodyPr wrap="square" lIns="0" tIns="0" rIns="0" bIns="0" anchor="ctr">
            <a:spAutoFit/>
          </a:bodyPr>
          <a:lstStyle/>
          <a:p>
            <a:pPr algn="r">
              <a:lnSpc>
                <a:spcPct val="100000"/>
              </a:lnSpc>
              <a:spcBef>
                <a:spcPts val="0"/>
              </a:spcBef>
              <a:spcAft>
                <a:spcPts val="400"/>
              </a:spcAft>
            </a:pPr>
            <a:r>
              <a:rPr sz="1000" b="1" i="0">
                <a:solidFill>
                  <a:srgbClr val="FFFFFF"/>
                </a:solidFill>
                <a:latin typeface="Segoe UI"/>
                <a:cs typeface="Segoe UI"/>
              </a:rPr>
              <a:t>3</a:t>
            </a:r>
          </a:p>
        </p:txBody>
      </p:sp>
      <p:sp>
        <p:nvSpPr>
          <p:cNvPr id="9" name="TextBox 8"/>
          <p:cNvSpPr txBox="1"/>
          <p:nvPr/>
        </p:nvSpPr>
        <p:spPr>
          <a:xfrm>
            <a:off x="320040" y="886968"/>
            <a:ext cx="11064240" cy="461665"/>
          </a:xfrm>
          <a:prstGeom prst="rect">
            <a:avLst/>
          </a:prstGeom>
          <a:noFill/>
        </p:spPr>
        <p:txBody>
          <a:bodyPr wrap="square" lIns="0" tIns="0" rIns="0" bIns="0" anchor="t">
            <a:spAutoFit/>
          </a:bodyPr>
          <a:lstStyle/>
          <a:p>
            <a:pPr algn="ctr">
              <a:lnSpc>
                <a:spcPct val="100000"/>
              </a:lnSpc>
              <a:spcBef>
                <a:spcPts val="0"/>
              </a:spcBef>
              <a:spcAft>
                <a:spcPts val="400"/>
              </a:spcAft>
            </a:pPr>
            <a:r>
              <a:rPr sz="3000" b="1" i="0" dirty="0" err="1">
                <a:solidFill>
                  <a:srgbClr val="19A99D"/>
                </a:solidFill>
                <a:latin typeface="Segoe UI Semibold"/>
                <a:cs typeface="Segoe UI Semibold"/>
              </a:rPr>
              <a:t>Mục</a:t>
            </a:r>
            <a:r>
              <a:rPr sz="3000" b="1" i="0" dirty="0">
                <a:solidFill>
                  <a:srgbClr val="19A99D"/>
                </a:solidFill>
                <a:latin typeface="Segoe UI Semibold"/>
                <a:cs typeface="Segoe UI Semibold"/>
              </a:rPr>
              <a:t> </a:t>
            </a:r>
            <a:r>
              <a:rPr sz="3000" b="1" i="0" dirty="0" err="1">
                <a:solidFill>
                  <a:srgbClr val="19A99D"/>
                </a:solidFill>
                <a:latin typeface="Segoe UI Semibold"/>
                <a:cs typeface="Segoe UI Semibold"/>
              </a:rPr>
              <a:t>tiêu</a:t>
            </a:r>
            <a:endParaRPr sz="3000" b="1" i="0" dirty="0">
              <a:solidFill>
                <a:srgbClr val="19A99D"/>
              </a:solidFill>
              <a:latin typeface="Segoe UI Semibold"/>
              <a:cs typeface="Segoe UI Semibold"/>
            </a:endParaRPr>
          </a:p>
        </p:txBody>
      </p:sp>
      <p:sp>
        <p:nvSpPr>
          <p:cNvPr id="10" name="TextBox 9"/>
          <p:cNvSpPr txBox="1"/>
          <p:nvPr/>
        </p:nvSpPr>
        <p:spPr>
          <a:xfrm>
            <a:off x="548640" y="1508760"/>
            <a:ext cx="11064240" cy="365760"/>
          </a:xfrm>
          <a:prstGeom prst="rect">
            <a:avLst/>
          </a:prstGeom>
          <a:noFill/>
        </p:spPr>
        <p:txBody>
          <a:bodyPr wrap="square" lIns="0" tIns="0" rIns="0" bIns="0" anchor="t">
            <a:spAutoFit/>
          </a:bodyPr>
          <a:lstStyle/>
          <a:p>
            <a:pPr algn="ctr">
              <a:lnSpc>
                <a:spcPct val="100000"/>
              </a:lnSpc>
              <a:spcBef>
                <a:spcPts val="0"/>
              </a:spcBef>
              <a:spcAft>
                <a:spcPts val="400"/>
              </a:spcAft>
            </a:pPr>
            <a:r>
              <a:rPr sz="1500" b="0" i="1">
                <a:solidFill>
                  <a:srgbClr val="64748B"/>
                </a:solidFill>
                <a:latin typeface="Segoe UI"/>
                <a:cs typeface="Segoe UI"/>
              </a:rPr>
              <a:t>Sau buổi học, cha mẹ và người chăm sóc sẽ:</a:t>
            </a:r>
          </a:p>
        </p:txBody>
      </p:sp>
      <p:sp>
        <p:nvSpPr>
          <p:cNvPr id="11" name="Oval 10"/>
          <p:cNvSpPr/>
          <p:nvPr/>
        </p:nvSpPr>
        <p:spPr>
          <a:xfrm>
            <a:off x="777240" y="2148840"/>
            <a:ext cx="566928" cy="566928"/>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2000" b="1" i="0">
                <a:solidFill>
                  <a:srgbClr val="FFFFFF"/>
                </a:solidFill>
                <a:latin typeface="Segoe UI"/>
                <a:cs typeface="Segoe UI"/>
              </a:rPr>
              <a:t>01</a:t>
            </a:r>
          </a:p>
        </p:txBody>
      </p:sp>
      <p:sp>
        <p:nvSpPr>
          <p:cNvPr id="12" name="TextBox 11"/>
          <p:cNvSpPr txBox="1"/>
          <p:nvPr/>
        </p:nvSpPr>
        <p:spPr>
          <a:xfrm>
            <a:off x="1508760" y="2130552"/>
            <a:ext cx="4572000" cy="411480"/>
          </a:xfrm>
          <a:prstGeom prst="rect">
            <a:avLst/>
          </a:prstGeom>
          <a:noFill/>
        </p:spPr>
        <p:txBody>
          <a:bodyPr wrap="square" lIns="0" tIns="0" rIns="0" bIns="0" anchor="t">
            <a:spAutoFit/>
          </a:bodyPr>
          <a:lstStyle/>
          <a:p>
            <a:pPr algn="l">
              <a:lnSpc>
                <a:spcPct val="100000"/>
              </a:lnSpc>
              <a:spcBef>
                <a:spcPts val="0"/>
              </a:spcBef>
              <a:spcAft>
                <a:spcPts val="400"/>
              </a:spcAft>
            </a:pPr>
            <a:r>
              <a:rPr sz="1650" b="1" i="0">
                <a:solidFill>
                  <a:srgbClr val="1E293B"/>
                </a:solidFill>
                <a:latin typeface="Segoe UI Semibold"/>
                <a:cs typeface="Segoe UI Semibold"/>
              </a:rPr>
              <a:t>Hiểu vai trò của dinh dưỡng</a:t>
            </a:r>
          </a:p>
        </p:txBody>
      </p:sp>
      <p:sp>
        <p:nvSpPr>
          <p:cNvPr id="13" name="TextBox 12"/>
          <p:cNvSpPr txBox="1"/>
          <p:nvPr/>
        </p:nvSpPr>
        <p:spPr>
          <a:xfrm>
            <a:off x="1508760" y="2532888"/>
            <a:ext cx="4572000" cy="457200"/>
          </a:xfrm>
          <a:prstGeom prst="rect">
            <a:avLst/>
          </a:prstGeom>
          <a:noFill/>
        </p:spPr>
        <p:txBody>
          <a:bodyPr wrap="square" lIns="0" tIns="0" rIns="0" bIns="0" anchor="t">
            <a:spAutoFit/>
          </a:bodyPr>
          <a:lstStyle/>
          <a:p>
            <a:pPr algn="l">
              <a:lnSpc>
                <a:spcPct val="100000"/>
              </a:lnSpc>
              <a:spcBef>
                <a:spcPts val="0"/>
              </a:spcBef>
              <a:spcAft>
                <a:spcPts val="400"/>
              </a:spcAft>
            </a:pPr>
            <a:r>
              <a:rPr sz="1250" b="0" i="1">
                <a:solidFill>
                  <a:srgbClr val="64748B"/>
                </a:solidFill>
                <a:latin typeface="Segoe UI"/>
                <a:cs typeface="Segoe UI"/>
              </a:rPr>
              <a:t>với phát triển thể chất, trí tuệ và miễn dịch của trẻ</a:t>
            </a:r>
          </a:p>
        </p:txBody>
      </p:sp>
      <p:sp>
        <p:nvSpPr>
          <p:cNvPr id="14" name="Oval 13"/>
          <p:cNvSpPr/>
          <p:nvPr/>
        </p:nvSpPr>
        <p:spPr>
          <a:xfrm>
            <a:off x="6355079" y="2148840"/>
            <a:ext cx="566928" cy="566928"/>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2000" b="1" i="0">
                <a:solidFill>
                  <a:srgbClr val="FFFFFF"/>
                </a:solidFill>
                <a:latin typeface="Segoe UI"/>
                <a:cs typeface="Segoe UI"/>
              </a:rPr>
              <a:t>02</a:t>
            </a:r>
          </a:p>
        </p:txBody>
      </p:sp>
      <p:sp>
        <p:nvSpPr>
          <p:cNvPr id="15" name="TextBox 14"/>
          <p:cNvSpPr txBox="1"/>
          <p:nvPr/>
        </p:nvSpPr>
        <p:spPr>
          <a:xfrm>
            <a:off x="7086599" y="2130552"/>
            <a:ext cx="4572000" cy="253916"/>
          </a:xfrm>
          <a:prstGeom prst="rect">
            <a:avLst/>
          </a:prstGeom>
          <a:noFill/>
        </p:spPr>
        <p:txBody>
          <a:bodyPr wrap="square" lIns="0" tIns="0" rIns="0" bIns="0" anchor="t">
            <a:spAutoFit/>
          </a:bodyPr>
          <a:lstStyle/>
          <a:p>
            <a:pPr algn="l">
              <a:lnSpc>
                <a:spcPct val="100000"/>
              </a:lnSpc>
              <a:spcBef>
                <a:spcPts val="0"/>
              </a:spcBef>
              <a:spcAft>
                <a:spcPts val="400"/>
              </a:spcAft>
            </a:pPr>
            <a:r>
              <a:rPr sz="1650" b="1" i="0" dirty="0" err="1">
                <a:solidFill>
                  <a:srgbClr val="1E293B"/>
                </a:solidFill>
                <a:latin typeface="Segoe UI Semibold"/>
                <a:cs typeface="Segoe UI Semibold"/>
              </a:rPr>
              <a:t>Nhận</a:t>
            </a:r>
            <a:r>
              <a:rPr sz="1650" b="1" i="0" dirty="0">
                <a:solidFill>
                  <a:srgbClr val="1E293B"/>
                </a:solidFill>
                <a:latin typeface="Segoe UI Semibold"/>
                <a:cs typeface="Segoe UI Semibold"/>
              </a:rPr>
              <a:t> </a:t>
            </a:r>
            <a:r>
              <a:rPr sz="1650" b="1" i="0" dirty="0" err="1">
                <a:solidFill>
                  <a:srgbClr val="1E293B"/>
                </a:solidFill>
                <a:latin typeface="Segoe UI Semibold"/>
                <a:cs typeface="Segoe UI Semibold"/>
              </a:rPr>
              <a:t>biết</a:t>
            </a:r>
            <a:r>
              <a:rPr sz="1650" b="1" i="0" dirty="0">
                <a:solidFill>
                  <a:srgbClr val="1E293B"/>
                </a:solidFill>
                <a:latin typeface="Segoe UI Semibold"/>
                <a:cs typeface="Segoe UI Semibold"/>
              </a:rPr>
              <a:t> </a:t>
            </a:r>
            <a:r>
              <a:rPr lang="en-US" sz="1650" b="1" i="0" dirty="0" err="1">
                <a:solidFill>
                  <a:srgbClr val="1E293B"/>
                </a:solidFill>
                <a:latin typeface="Segoe UI Semibold"/>
                <a:cs typeface="Segoe UI Semibold"/>
              </a:rPr>
              <a:t>dinh</a:t>
            </a:r>
            <a:r>
              <a:rPr lang="en-US" sz="1650" b="1" i="0" dirty="0">
                <a:solidFill>
                  <a:srgbClr val="1E293B"/>
                </a:solidFill>
                <a:latin typeface="Segoe UI Semibold"/>
                <a:cs typeface="Segoe UI Semibold"/>
              </a:rPr>
              <a:t> </a:t>
            </a:r>
            <a:r>
              <a:rPr lang="en-US" sz="1650" b="1" i="0" dirty="0" err="1">
                <a:solidFill>
                  <a:srgbClr val="1E293B"/>
                </a:solidFill>
                <a:latin typeface="Segoe UI Semibold"/>
                <a:cs typeface="Segoe UI Semibold"/>
              </a:rPr>
              <a:t>dưỡng</a:t>
            </a:r>
            <a:r>
              <a:rPr lang="en-US" sz="1650" b="1" i="0" dirty="0">
                <a:solidFill>
                  <a:srgbClr val="1E293B"/>
                </a:solidFill>
                <a:latin typeface="Segoe UI Semibold"/>
                <a:cs typeface="Segoe UI Semibold"/>
              </a:rPr>
              <a:t> tang </a:t>
            </a:r>
            <a:r>
              <a:rPr lang="en-US" sz="1650" b="1" i="0" dirty="0" err="1">
                <a:solidFill>
                  <a:srgbClr val="1E293B"/>
                </a:solidFill>
                <a:latin typeface="Segoe UI Semibold"/>
                <a:cs typeface="Segoe UI Semibold"/>
              </a:rPr>
              <a:t>chiều</a:t>
            </a:r>
            <a:r>
              <a:rPr lang="en-US" sz="1650" b="1" i="0" dirty="0">
                <a:solidFill>
                  <a:srgbClr val="1E293B"/>
                </a:solidFill>
                <a:latin typeface="Segoe UI Semibold"/>
                <a:cs typeface="Segoe UI Semibold"/>
              </a:rPr>
              <a:t> </a:t>
            </a:r>
            <a:r>
              <a:rPr lang="en-US" sz="1650" b="1" i="0" dirty="0" err="1">
                <a:solidFill>
                  <a:srgbClr val="1E293B"/>
                </a:solidFill>
                <a:latin typeface="Segoe UI Semibold"/>
                <a:cs typeface="Segoe UI Semibold"/>
              </a:rPr>
              <a:t>cao</a:t>
            </a:r>
            <a:r>
              <a:rPr lang="en-US" sz="1650" b="1" i="0" dirty="0">
                <a:solidFill>
                  <a:srgbClr val="1E293B"/>
                </a:solidFill>
                <a:latin typeface="Segoe UI Semibold"/>
                <a:cs typeface="Segoe UI Semibold"/>
              </a:rPr>
              <a:t> </a:t>
            </a:r>
            <a:r>
              <a:rPr lang="en-US" sz="1650" b="1" i="0" dirty="0" err="1">
                <a:solidFill>
                  <a:srgbClr val="1E293B"/>
                </a:solidFill>
                <a:latin typeface="Segoe UI Semibold"/>
                <a:cs typeface="Segoe UI Semibold"/>
              </a:rPr>
              <a:t>cho</a:t>
            </a:r>
            <a:r>
              <a:rPr lang="en-US" sz="1650" b="1" i="0" dirty="0">
                <a:solidFill>
                  <a:srgbClr val="1E293B"/>
                </a:solidFill>
                <a:latin typeface="Segoe UI Semibold"/>
                <a:cs typeface="Segoe UI Semibold"/>
              </a:rPr>
              <a:t> </a:t>
            </a:r>
            <a:r>
              <a:rPr lang="en-US" sz="1650" b="1" i="0" dirty="0" err="1">
                <a:solidFill>
                  <a:srgbClr val="1E293B"/>
                </a:solidFill>
                <a:latin typeface="Segoe UI Semibold"/>
                <a:cs typeface="Segoe UI Semibold"/>
              </a:rPr>
              <a:t>trẻ</a:t>
            </a:r>
            <a:r>
              <a:rPr lang="en-US" sz="1650" b="1" i="0" dirty="0">
                <a:solidFill>
                  <a:srgbClr val="1E293B"/>
                </a:solidFill>
                <a:latin typeface="Segoe UI Semibold"/>
                <a:cs typeface="Segoe UI Semibold"/>
              </a:rPr>
              <a:t> </a:t>
            </a:r>
            <a:endParaRPr sz="1650" b="1" i="0" dirty="0">
              <a:solidFill>
                <a:srgbClr val="1E293B"/>
              </a:solidFill>
              <a:latin typeface="Segoe UI Semibold"/>
              <a:cs typeface="Segoe UI Semibold"/>
            </a:endParaRPr>
          </a:p>
        </p:txBody>
      </p:sp>
      <p:sp>
        <p:nvSpPr>
          <p:cNvPr id="16" name="TextBox 15"/>
          <p:cNvSpPr txBox="1"/>
          <p:nvPr/>
        </p:nvSpPr>
        <p:spPr>
          <a:xfrm>
            <a:off x="7086599" y="2532888"/>
            <a:ext cx="4572000" cy="457200"/>
          </a:xfrm>
          <a:prstGeom prst="rect">
            <a:avLst/>
          </a:prstGeom>
          <a:noFill/>
        </p:spPr>
        <p:txBody>
          <a:bodyPr wrap="square" lIns="0" tIns="0" rIns="0" bIns="0" anchor="t">
            <a:spAutoFit/>
          </a:bodyPr>
          <a:lstStyle/>
          <a:p>
            <a:pPr algn="l">
              <a:lnSpc>
                <a:spcPct val="100000"/>
              </a:lnSpc>
              <a:spcBef>
                <a:spcPts val="0"/>
              </a:spcBef>
              <a:spcAft>
                <a:spcPts val="400"/>
              </a:spcAft>
            </a:pPr>
            <a:r>
              <a:rPr sz="1250" b="0" i="1" dirty="0" err="1">
                <a:solidFill>
                  <a:srgbClr val="64748B"/>
                </a:solidFill>
                <a:latin typeface="Segoe UI"/>
                <a:cs typeface="Segoe UI"/>
              </a:rPr>
              <a:t>cần</a:t>
            </a:r>
            <a:r>
              <a:rPr sz="1250" b="0" i="1" dirty="0">
                <a:solidFill>
                  <a:srgbClr val="64748B"/>
                </a:solidFill>
                <a:latin typeface="Segoe UI"/>
                <a:cs typeface="Segoe UI"/>
              </a:rPr>
              <a:t> </a:t>
            </a:r>
            <a:r>
              <a:rPr sz="1250" b="0" i="1" dirty="0" err="1">
                <a:solidFill>
                  <a:srgbClr val="64748B"/>
                </a:solidFill>
                <a:latin typeface="Segoe UI"/>
                <a:cs typeface="Segoe UI"/>
              </a:rPr>
              <a:t>thiết</a:t>
            </a:r>
            <a:r>
              <a:rPr sz="1250" b="0" i="1" dirty="0">
                <a:solidFill>
                  <a:srgbClr val="64748B"/>
                </a:solidFill>
                <a:latin typeface="Segoe UI"/>
                <a:cs typeface="Segoe UI"/>
              </a:rPr>
              <a:t> theo </a:t>
            </a:r>
            <a:r>
              <a:rPr sz="1250" b="0" i="1" dirty="0" err="1">
                <a:solidFill>
                  <a:srgbClr val="64748B"/>
                </a:solidFill>
                <a:latin typeface="Segoe UI"/>
                <a:cs typeface="Segoe UI"/>
              </a:rPr>
              <a:t>từng</a:t>
            </a:r>
            <a:r>
              <a:rPr sz="1250" b="0" i="1" dirty="0">
                <a:solidFill>
                  <a:srgbClr val="64748B"/>
                </a:solidFill>
                <a:latin typeface="Segoe UI"/>
                <a:cs typeface="Segoe UI"/>
              </a:rPr>
              <a:t> </a:t>
            </a:r>
            <a:r>
              <a:rPr sz="1250" b="0" i="1" dirty="0" err="1">
                <a:solidFill>
                  <a:srgbClr val="64748B"/>
                </a:solidFill>
                <a:latin typeface="Segoe UI"/>
                <a:cs typeface="Segoe UI"/>
              </a:rPr>
              <a:t>độ</a:t>
            </a:r>
            <a:r>
              <a:rPr sz="1250" b="0" i="1" dirty="0">
                <a:solidFill>
                  <a:srgbClr val="64748B"/>
                </a:solidFill>
                <a:latin typeface="Segoe UI"/>
                <a:cs typeface="Segoe UI"/>
              </a:rPr>
              <a:t> </a:t>
            </a:r>
            <a:r>
              <a:rPr sz="1250" b="0" i="1" dirty="0" err="1">
                <a:solidFill>
                  <a:srgbClr val="64748B"/>
                </a:solidFill>
                <a:latin typeface="Segoe UI"/>
                <a:cs typeface="Segoe UI"/>
              </a:rPr>
              <a:t>tuổi</a:t>
            </a:r>
            <a:r>
              <a:rPr sz="1250" b="0" i="1" dirty="0">
                <a:solidFill>
                  <a:srgbClr val="64748B"/>
                </a:solidFill>
                <a:latin typeface="Segoe UI"/>
                <a:cs typeface="Segoe UI"/>
              </a:rPr>
              <a:t> </a:t>
            </a:r>
            <a:r>
              <a:rPr sz="1250" b="0" i="1" dirty="0" err="1">
                <a:solidFill>
                  <a:srgbClr val="64748B"/>
                </a:solidFill>
                <a:latin typeface="Segoe UI"/>
                <a:cs typeface="Segoe UI"/>
              </a:rPr>
              <a:t>của</a:t>
            </a:r>
            <a:r>
              <a:rPr sz="1250" b="0" i="1" dirty="0">
                <a:solidFill>
                  <a:srgbClr val="64748B"/>
                </a:solidFill>
                <a:latin typeface="Segoe UI"/>
                <a:cs typeface="Segoe UI"/>
              </a:rPr>
              <a:t> con</a:t>
            </a:r>
          </a:p>
        </p:txBody>
      </p:sp>
      <p:sp>
        <p:nvSpPr>
          <p:cNvPr id="17" name="Oval 16"/>
          <p:cNvSpPr/>
          <p:nvPr/>
        </p:nvSpPr>
        <p:spPr>
          <a:xfrm>
            <a:off x="777240" y="3227832"/>
            <a:ext cx="566928" cy="566928"/>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2000" b="1" i="0">
                <a:solidFill>
                  <a:srgbClr val="FFFFFF"/>
                </a:solidFill>
                <a:latin typeface="Segoe UI"/>
                <a:cs typeface="Segoe UI"/>
              </a:rPr>
              <a:t>03</a:t>
            </a:r>
          </a:p>
        </p:txBody>
      </p:sp>
      <p:sp>
        <p:nvSpPr>
          <p:cNvPr id="18" name="TextBox 17"/>
          <p:cNvSpPr txBox="1"/>
          <p:nvPr/>
        </p:nvSpPr>
        <p:spPr>
          <a:xfrm>
            <a:off x="1508760" y="3209544"/>
            <a:ext cx="4572000" cy="411480"/>
          </a:xfrm>
          <a:prstGeom prst="rect">
            <a:avLst/>
          </a:prstGeom>
          <a:noFill/>
        </p:spPr>
        <p:txBody>
          <a:bodyPr wrap="square" lIns="0" tIns="0" rIns="0" bIns="0" anchor="t">
            <a:spAutoFit/>
          </a:bodyPr>
          <a:lstStyle/>
          <a:p>
            <a:pPr algn="l">
              <a:lnSpc>
                <a:spcPct val="100000"/>
              </a:lnSpc>
              <a:spcBef>
                <a:spcPts val="0"/>
              </a:spcBef>
              <a:spcAft>
                <a:spcPts val="400"/>
              </a:spcAft>
            </a:pPr>
            <a:r>
              <a:rPr sz="1650" b="1" i="0" dirty="0" err="1">
                <a:solidFill>
                  <a:srgbClr val="1E293B"/>
                </a:solidFill>
                <a:latin typeface="Segoe UI Semibold"/>
                <a:cs typeface="Segoe UI Semibold"/>
              </a:rPr>
              <a:t>Biết</a:t>
            </a:r>
            <a:r>
              <a:rPr sz="1650" b="1" i="0" dirty="0">
                <a:solidFill>
                  <a:srgbClr val="1E293B"/>
                </a:solidFill>
                <a:latin typeface="Segoe UI Semibold"/>
                <a:cs typeface="Segoe UI Semibold"/>
              </a:rPr>
              <a:t> </a:t>
            </a:r>
            <a:r>
              <a:rPr sz="1650" b="1" i="0" dirty="0" err="1">
                <a:solidFill>
                  <a:srgbClr val="1E293B"/>
                </a:solidFill>
                <a:latin typeface="Segoe UI Semibold"/>
                <a:cs typeface="Segoe UI Semibold"/>
              </a:rPr>
              <a:t>cách</a:t>
            </a:r>
            <a:r>
              <a:rPr sz="1650" b="1" i="0" dirty="0">
                <a:solidFill>
                  <a:srgbClr val="1E293B"/>
                </a:solidFill>
                <a:latin typeface="Segoe UI Semibold"/>
                <a:cs typeface="Segoe UI Semibold"/>
              </a:rPr>
              <a:t> </a:t>
            </a:r>
            <a:r>
              <a:rPr sz="1650" b="1" i="0" dirty="0" err="1">
                <a:solidFill>
                  <a:srgbClr val="1E293B"/>
                </a:solidFill>
                <a:latin typeface="Segoe UI Semibold"/>
                <a:cs typeface="Segoe UI Semibold"/>
              </a:rPr>
              <a:t>tăng</a:t>
            </a:r>
            <a:r>
              <a:rPr sz="1650" b="1" i="0" dirty="0">
                <a:solidFill>
                  <a:srgbClr val="1E293B"/>
                </a:solidFill>
                <a:latin typeface="Segoe UI Semibold"/>
                <a:cs typeface="Segoe UI Semibold"/>
              </a:rPr>
              <a:t> </a:t>
            </a:r>
            <a:r>
              <a:rPr sz="1650" b="1" i="0" dirty="0" err="1">
                <a:solidFill>
                  <a:srgbClr val="1E293B"/>
                </a:solidFill>
                <a:latin typeface="Segoe UI Semibold"/>
                <a:cs typeface="Segoe UI Semibold"/>
              </a:rPr>
              <a:t>đề</a:t>
            </a:r>
            <a:r>
              <a:rPr sz="1650" b="1" i="0" dirty="0">
                <a:solidFill>
                  <a:srgbClr val="1E293B"/>
                </a:solidFill>
                <a:latin typeface="Segoe UI Semibold"/>
                <a:cs typeface="Segoe UI Semibold"/>
              </a:rPr>
              <a:t> </a:t>
            </a:r>
            <a:r>
              <a:rPr sz="1650" b="1" i="0" dirty="0" err="1">
                <a:solidFill>
                  <a:srgbClr val="1E293B"/>
                </a:solidFill>
                <a:latin typeface="Segoe UI Semibold"/>
                <a:cs typeface="Segoe UI Semibold"/>
              </a:rPr>
              <a:t>kháng</a:t>
            </a:r>
            <a:endParaRPr sz="1650" b="1" i="0" dirty="0">
              <a:solidFill>
                <a:srgbClr val="1E293B"/>
              </a:solidFill>
              <a:latin typeface="Segoe UI Semibold"/>
              <a:cs typeface="Segoe UI Semibold"/>
            </a:endParaRPr>
          </a:p>
        </p:txBody>
      </p:sp>
      <p:sp>
        <p:nvSpPr>
          <p:cNvPr id="19" name="TextBox 18"/>
          <p:cNvSpPr txBox="1"/>
          <p:nvPr/>
        </p:nvSpPr>
        <p:spPr>
          <a:xfrm>
            <a:off x="1508760" y="3611880"/>
            <a:ext cx="4572000" cy="457200"/>
          </a:xfrm>
          <a:prstGeom prst="rect">
            <a:avLst/>
          </a:prstGeom>
          <a:noFill/>
        </p:spPr>
        <p:txBody>
          <a:bodyPr wrap="square" lIns="0" tIns="0" rIns="0" bIns="0" anchor="t">
            <a:spAutoFit/>
          </a:bodyPr>
          <a:lstStyle/>
          <a:p>
            <a:pPr algn="l">
              <a:lnSpc>
                <a:spcPct val="100000"/>
              </a:lnSpc>
              <a:spcBef>
                <a:spcPts val="0"/>
              </a:spcBef>
              <a:spcAft>
                <a:spcPts val="400"/>
              </a:spcAft>
            </a:pPr>
            <a:r>
              <a:rPr sz="1250" b="0" i="1">
                <a:solidFill>
                  <a:srgbClr val="64748B"/>
                </a:solidFill>
                <a:latin typeface="Segoe UI"/>
                <a:cs typeface="Segoe UI"/>
              </a:rPr>
              <a:t>cho trẻ thông qua chế độ ăn hợp lý</a:t>
            </a:r>
          </a:p>
        </p:txBody>
      </p:sp>
      <p:sp>
        <p:nvSpPr>
          <p:cNvPr id="20" name="Oval 19"/>
          <p:cNvSpPr/>
          <p:nvPr/>
        </p:nvSpPr>
        <p:spPr>
          <a:xfrm>
            <a:off x="6355079" y="3227832"/>
            <a:ext cx="566928" cy="566928"/>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2000" b="1" i="0">
                <a:solidFill>
                  <a:srgbClr val="FFFFFF"/>
                </a:solidFill>
                <a:latin typeface="Segoe UI"/>
                <a:cs typeface="Segoe UI"/>
              </a:rPr>
              <a:t>04</a:t>
            </a:r>
          </a:p>
        </p:txBody>
      </p:sp>
      <p:sp>
        <p:nvSpPr>
          <p:cNvPr id="21" name="TextBox 20"/>
          <p:cNvSpPr txBox="1"/>
          <p:nvPr/>
        </p:nvSpPr>
        <p:spPr>
          <a:xfrm>
            <a:off x="7086599" y="3209544"/>
            <a:ext cx="4572000" cy="411480"/>
          </a:xfrm>
          <a:prstGeom prst="rect">
            <a:avLst/>
          </a:prstGeom>
          <a:noFill/>
        </p:spPr>
        <p:txBody>
          <a:bodyPr wrap="square" lIns="0" tIns="0" rIns="0" bIns="0" anchor="t">
            <a:spAutoFit/>
          </a:bodyPr>
          <a:lstStyle/>
          <a:p>
            <a:pPr algn="l">
              <a:lnSpc>
                <a:spcPct val="100000"/>
              </a:lnSpc>
              <a:spcBef>
                <a:spcPts val="0"/>
              </a:spcBef>
              <a:spcAft>
                <a:spcPts val="400"/>
              </a:spcAft>
            </a:pPr>
            <a:r>
              <a:rPr sz="1650" b="1" i="0" dirty="0" err="1">
                <a:solidFill>
                  <a:srgbClr val="1E293B"/>
                </a:solidFill>
                <a:latin typeface="Segoe UI Semibold"/>
                <a:cs typeface="Segoe UI Semibold"/>
              </a:rPr>
              <a:t>Xử</a:t>
            </a:r>
            <a:r>
              <a:rPr sz="1650" b="1" i="0" dirty="0">
                <a:solidFill>
                  <a:srgbClr val="1E293B"/>
                </a:solidFill>
                <a:latin typeface="Segoe UI Semibold"/>
                <a:cs typeface="Segoe UI Semibold"/>
              </a:rPr>
              <a:t> </a:t>
            </a:r>
            <a:r>
              <a:rPr sz="1650" b="1" i="0" dirty="0" err="1">
                <a:solidFill>
                  <a:srgbClr val="1E293B"/>
                </a:solidFill>
                <a:latin typeface="Segoe UI Semibold"/>
                <a:cs typeface="Segoe UI Semibold"/>
              </a:rPr>
              <a:t>trí</a:t>
            </a:r>
            <a:r>
              <a:rPr sz="1650" b="1" i="0" dirty="0">
                <a:solidFill>
                  <a:srgbClr val="1E293B"/>
                </a:solidFill>
                <a:latin typeface="Segoe UI Semibold"/>
                <a:cs typeface="Segoe UI Semibold"/>
              </a:rPr>
              <a:t> </a:t>
            </a:r>
            <a:r>
              <a:rPr sz="1650" b="1" i="0" dirty="0" err="1">
                <a:solidFill>
                  <a:srgbClr val="1E293B"/>
                </a:solidFill>
                <a:latin typeface="Segoe UI Semibold"/>
                <a:cs typeface="Segoe UI Semibold"/>
              </a:rPr>
              <a:t>biếng</a:t>
            </a:r>
            <a:r>
              <a:rPr sz="1650" b="1" i="0" dirty="0">
                <a:solidFill>
                  <a:srgbClr val="1E293B"/>
                </a:solidFill>
                <a:latin typeface="Segoe UI Semibold"/>
                <a:cs typeface="Segoe UI Semibold"/>
              </a:rPr>
              <a:t> </a:t>
            </a:r>
            <a:r>
              <a:rPr sz="1650" b="1" i="0" dirty="0" err="1">
                <a:solidFill>
                  <a:srgbClr val="1E293B"/>
                </a:solidFill>
                <a:latin typeface="Segoe UI Semibold"/>
                <a:cs typeface="Segoe UI Semibold"/>
              </a:rPr>
              <a:t>ăn</a:t>
            </a:r>
            <a:r>
              <a:rPr sz="1650" b="1" i="0" dirty="0">
                <a:solidFill>
                  <a:srgbClr val="1E293B"/>
                </a:solidFill>
                <a:latin typeface="Segoe UI Semibold"/>
                <a:cs typeface="Segoe UI Semibold"/>
              </a:rPr>
              <a:t> – </a:t>
            </a:r>
            <a:r>
              <a:rPr sz="1650" b="1" i="0" dirty="0" err="1">
                <a:solidFill>
                  <a:srgbClr val="1E293B"/>
                </a:solidFill>
                <a:latin typeface="Segoe UI Semibold"/>
                <a:cs typeface="Segoe UI Semibold"/>
              </a:rPr>
              <a:t>suy</a:t>
            </a:r>
            <a:r>
              <a:rPr sz="1650" b="1" i="0" dirty="0">
                <a:solidFill>
                  <a:srgbClr val="1E293B"/>
                </a:solidFill>
                <a:latin typeface="Segoe UI Semibold"/>
                <a:cs typeface="Segoe UI Semibold"/>
              </a:rPr>
              <a:t> </a:t>
            </a:r>
            <a:r>
              <a:rPr sz="1650" b="1" i="0" dirty="0" err="1">
                <a:solidFill>
                  <a:srgbClr val="1E293B"/>
                </a:solidFill>
                <a:latin typeface="Segoe UI Semibold"/>
                <a:cs typeface="Segoe UI Semibold"/>
              </a:rPr>
              <a:t>dinh</a:t>
            </a:r>
            <a:r>
              <a:rPr sz="1650" b="1" i="0" dirty="0">
                <a:solidFill>
                  <a:srgbClr val="1E293B"/>
                </a:solidFill>
                <a:latin typeface="Segoe UI Semibold"/>
                <a:cs typeface="Segoe UI Semibold"/>
              </a:rPr>
              <a:t> </a:t>
            </a:r>
            <a:r>
              <a:rPr sz="1650" b="1" i="0" dirty="0" err="1">
                <a:solidFill>
                  <a:srgbClr val="1E293B"/>
                </a:solidFill>
                <a:latin typeface="Segoe UI Semibold"/>
                <a:cs typeface="Segoe UI Semibold"/>
              </a:rPr>
              <a:t>dưỡng</a:t>
            </a:r>
            <a:endParaRPr sz="1650" b="1" i="0" dirty="0">
              <a:solidFill>
                <a:srgbClr val="1E293B"/>
              </a:solidFill>
              <a:latin typeface="Segoe UI Semibold"/>
              <a:cs typeface="Segoe UI Semibold"/>
            </a:endParaRPr>
          </a:p>
        </p:txBody>
      </p:sp>
      <p:sp>
        <p:nvSpPr>
          <p:cNvPr id="22" name="TextBox 21"/>
          <p:cNvSpPr txBox="1"/>
          <p:nvPr/>
        </p:nvSpPr>
        <p:spPr>
          <a:xfrm>
            <a:off x="7086599" y="3611880"/>
            <a:ext cx="4572000" cy="457200"/>
          </a:xfrm>
          <a:prstGeom prst="rect">
            <a:avLst/>
          </a:prstGeom>
          <a:noFill/>
        </p:spPr>
        <p:txBody>
          <a:bodyPr wrap="square" lIns="0" tIns="0" rIns="0" bIns="0" anchor="t">
            <a:spAutoFit/>
          </a:bodyPr>
          <a:lstStyle/>
          <a:p>
            <a:pPr algn="l">
              <a:lnSpc>
                <a:spcPct val="100000"/>
              </a:lnSpc>
              <a:spcBef>
                <a:spcPts val="0"/>
              </a:spcBef>
              <a:spcAft>
                <a:spcPts val="400"/>
              </a:spcAft>
            </a:pPr>
            <a:r>
              <a:rPr sz="1250" b="0" i="1">
                <a:solidFill>
                  <a:srgbClr val="64748B"/>
                </a:solidFill>
                <a:latin typeface="Segoe UI"/>
                <a:cs typeface="Segoe UI"/>
              </a:rPr>
              <a:t>và phòng chống thấp còi hiệu quả</a:t>
            </a:r>
          </a:p>
        </p:txBody>
      </p:sp>
      <p:sp>
        <p:nvSpPr>
          <p:cNvPr id="23" name="Oval 22"/>
          <p:cNvSpPr/>
          <p:nvPr/>
        </p:nvSpPr>
        <p:spPr>
          <a:xfrm>
            <a:off x="3566160" y="4306824"/>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2000" b="1" i="0">
                <a:solidFill>
                  <a:srgbClr val="FFFFFF"/>
                </a:solidFill>
                <a:latin typeface="Segoe UI"/>
                <a:cs typeface="Segoe UI"/>
              </a:rPr>
              <a:t>05</a:t>
            </a:r>
          </a:p>
        </p:txBody>
      </p:sp>
      <p:sp>
        <p:nvSpPr>
          <p:cNvPr id="24" name="TextBox 23"/>
          <p:cNvSpPr txBox="1"/>
          <p:nvPr/>
        </p:nvSpPr>
        <p:spPr>
          <a:xfrm>
            <a:off x="4297680" y="4288536"/>
            <a:ext cx="4572000" cy="411480"/>
          </a:xfrm>
          <a:prstGeom prst="rect">
            <a:avLst/>
          </a:prstGeom>
          <a:noFill/>
        </p:spPr>
        <p:txBody>
          <a:bodyPr wrap="square" lIns="0" tIns="0" rIns="0" bIns="0" anchor="t">
            <a:spAutoFit/>
          </a:bodyPr>
          <a:lstStyle/>
          <a:p>
            <a:pPr algn="l">
              <a:lnSpc>
                <a:spcPct val="100000"/>
              </a:lnSpc>
              <a:spcBef>
                <a:spcPts val="0"/>
              </a:spcBef>
              <a:spcAft>
                <a:spcPts val="400"/>
              </a:spcAft>
            </a:pPr>
            <a:r>
              <a:rPr sz="1650" b="1" i="0">
                <a:solidFill>
                  <a:srgbClr val="1E293B"/>
                </a:solidFill>
                <a:latin typeface="Segoe UI Semibold"/>
                <a:cs typeface="Segoe UI Semibold"/>
              </a:rPr>
              <a:t>Áp dụng được</a:t>
            </a:r>
          </a:p>
        </p:txBody>
      </p:sp>
      <p:sp>
        <p:nvSpPr>
          <p:cNvPr id="25" name="TextBox 24"/>
          <p:cNvSpPr txBox="1"/>
          <p:nvPr/>
        </p:nvSpPr>
        <p:spPr>
          <a:xfrm>
            <a:off x="4297680" y="4690872"/>
            <a:ext cx="4572000" cy="457200"/>
          </a:xfrm>
          <a:prstGeom prst="rect">
            <a:avLst/>
          </a:prstGeom>
          <a:noFill/>
        </p:spPr>
        <p:txBody>
          <a:bodyPr wrap="square" lIns="0" tIns="0" rIns="0" bIns="0" anchor="t">
            <a:spAutoFit/>
          </a:bodyPr>
          <a:lstStyle/>
          <a:p>
            <a:pPr algn="l">
              <a:lnSpc>
                <a:spcPct val="100000"/>
              </a:lnSpc>
              <a:spcBef>
                <a:spcPts val="0"/>
              </a:spcBef>
              <a:spcAft>
                <a:spcPts val="400"/>
              </a:spcAft>
            </a:pPr>
            <a:r>
              <a:rPr sz="1250" b="0" i="1">
                <a:solidFill>
                  <a:srgbClr val="64748B"/>
                </a:solidFill>
                <a:latin typeface="Segoe UI"/>
                <a:cs typeface="Segoe UI"/>
              </a:rPr>
              <a:t>những lời khuyên thực hành ngay tại gia đình</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384048" y="274320"/>
            <a:ext cx="384048" cy="384048"/>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4068" y="329184"/>
            <a:ext cx="104241"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66344" y="406908"/>
            <a:ext cx="274320" cy="10424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274320"/>
            <a:ext cx="2926080" cy="402336"/>
          </a:xfrm>
          <a:prstGeom prst="rect">
            <a:avLst/>
          </a:prstGeom>
          <a:noFill/>
        </p:spPr>
        <p:txBody>
          <a:bodyPr wrap="square" lIns="0" tIns="0" rIns="0" bIns="0" anchor="ctr">
            <a:spAutoFit/>
          </a:bodyPr>
          <a:lstStyle/>
          <a:p>
            <a:pPr algn="l">
              <a:lnSpc>
                <a:spcPct val="100000"/>
              </a:lnSpc>
              <a:spcBef>
                <a:spcPts val="0"/>
              </a:spcBef>
              <a:spcAft>
                <a:spcPts val="400"/>
              </a:spcAft>
            </a:pPr>
            <a:r>
              <a:rPr sz="1300" b="1" i="0">
                <a:solidFill>
                  <a:srgbClr val="1E293B"/>
                </a:solidFill>
                <a:latin typeface="Segoe UI"/>
                <a:cs typeface="Segoe UI"/>
              </a:rPr>
              <a:t>DINH DƯỠNG </a:t>
            </a:r>
            <a:r>
              <a:rPr sz="1300" b="1" i="0">
                <a:solidFill>
                  <a:srgbClr val="19A99D"/>
                </a:solidFill>
                <a:latin typeface="Segoe UI"/>
                <a:cs typeface="Segoe UI"/>
              </a:rPr>
              <a:t>NHI KHOA</a:t>
            </a:r>
          </a:p>
        </p:txBody>
      </p:sp>
      <p:sp>
        <p:nvSpPr>
          <p:cNvPr id="6" name="Rectangle 5"/>
          <p:cNvSpPr/>
          <p:nvPr/>
        </p:nvSpPr>
        <p:spPr>
          <a:xfrm>
            <a:off x="0" y="6473952"/>
            <a:ext cx="12191695" cy="384048"/>
          </a:xfrm>
          <a:prstGeom prst="rect">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492240"/>
            <a:ext cx="9601200" cy="347472"/>
          </a:xfrm>
          <a:prstGeom prst="rect">
            <a:avLst/>
          </a:prstGeom>
          <a:noFill/>
        </p:spPr>
        <p:txBody>
          <a:bodyPr wrap="square" lIns="0" tIns="0" rIns="0" bIns="0" anchor="ctr">
            <a:spAutoFit/>
          </a:bodyPr>
          <a:lstStyle/>
          <a:p>
            <a:pPr algn="l">
              <a:lnSpc>
                <a:spcPct val="100000"/>
              </a:lnSpc>
              <a:spcBef>
                <a:spcPts val="0"/>
              </a:spcBef>
              <a:spcAft>
                <a:spcPts val="400"/>
              </a:spcAft>
            </a:pPr>
            <a:r>
              <a:rPr sz="950" b="0" i="0">
                <a:solidFill>
                  <a:srgbClr val="FFFFFF"/>
                </a:solidFill>
                <a:latin typeface="Segoe UI"/>
                <a:cs typeface="Segoe UI"/>
              </a:rPr>
              <a:t>Chuyên đề 2 · Dinh dưỡng – nền tảng cho miễn dịch &amp; sự phát triển của trẻ  ·  TS. Lê Thị Thùy Dung</a:t>
            </a:r>
          </a:p>
        </p:txBody>
      </p:sp>
      <p:sp>
        <p:nvSpPr>
          <p:cNvPr id="8" name="TextBox 7"/>
          <p:cNvSpPr txBox="1"/>
          <p:nvPr/>
        </p:nvSpPr>
        <p:spPr>
          <a:xfrm>
            <a:off x="11185855" y="6492240"/>
            <a:ext cx="548640" cy="347472"/>
          </a:xfrm>
          <a:prstGeom prst="rect">
            <a:avLst/>
          </a:prstGeom>
          <a:noFill/>
        </p:spPr>
        <p:txBody>
          <a:bodyPr wrap="square" lIns="0" tIns="0" rIns="0" bIns="0" anchor="ctr">
            <a:spAutoFit/>
          </a:bodyPr>
          <a:lstStyle/>
          <a:p>
            <a:pPr algn="r">
              <a:lnSpc>
                <a:spcPct val="100000"/>
              </a:lnSpc>
              <a:spcBef>
                <a:spcPts val="0"/>
              </a:spcBef>
              <a:spcAft>
                <a:spcPts val="400"/>
              </a:spcAft>
            </a:pPr>
            <a:r>
              <a:rPr sz="1000" b="1" i="0">
                <a:solidFill>
                  <a:srgbClr val="FFFFFF"/>
                </a:solidFill>
                <a:latin typeface="Segoe UI"/>
                <a:cs typeface="Segoe UI"/>
              </a:rPr>
              <a:t>4</a:t>
            </a:r>
          </a:p>
        </p:txBody>
      </p:sp>
      <p:sp>
        <p:nvSpPr>
          <p:cNvPr id="9" name="TextBox 8"/>
          <p:cNvSpPr txBox="1"/>
          <p:nvPr/>
        </p:nvSpPr>
        <p:spPr>
          <a:xfrm>
            <a:off x="548640" y="841248"/>
            <a:ext cx="10881360" cy="566928"/>
          </a:xfrm>
          <a:prstGeom prst="rect">
            <a:avLst/>
          </a:prstGeom>
          <a:noFill/>
        </p:spPr>
        <p:txBody>
          <a:bodyPr wrap="square" lIns="0" tIns="0" rIns="0" bIns="0" anchor="t">
            <a:spAutoFit/>
          </a:bodyPr>
          <a:lstStyle/>
          <a:p>
            <a:pPr algn="l">
              <a:lnSpc>
                <a:spcPct val="100000"/>
              </a:lnSpc>
              <a:spcBef>
                <a:spcPts val="0"/>
              </a:spcBef>
              <a:spcAft>
                <a:spcPts val="400"/>
              </a:spcAft>
            </a:pPr>
            <a:r>
              <a:rPr sz="2700" b="1" i="0">
                <a:solidFill>
                  <a:srgbClr val="19A99D"/>
                </a:solidFill>
                <a:latin typeface="Segoe UI Semibold"/>
                <a:cs typeface="Segoe UI Semibold"/>
              </a:rPr>
              <a:t>Trẻ em Việt Nam hôm nay</a:t>
            </a:r>
          </a:p>
        </p:txBody>
      </p:sp>
      <p:sp>
        <p:nvSpPr>
          <p:cNvPr id="10" name="TextBox 9"/>
          <p:cNvSpPr txBox="1"/>
          <p:nvPr/>
        </p:nvSpPr>
        <p:spPr>
          <a:xfrm>
            <a:off x="548640" y="1408176"/>
            <a:ext cx="10881360" cy="365760"/>
          </a:xfrm>
          <a:prstGeom prst="rect">
            <a:avLst/>
          </a:prstGeom>
          <a:noFill/>
        </p:spPr>
        <p:txBody>
          <a:bodyPr wrap="square" lIns="0" tIns="0" rIns="0" bIns="0" anchor="t">
            <a:spAutoFit/>
          </a:bodyPr>
          <a:lstStyle/>
          <a:p>
            <a:pPr algn="l">
              <a:lnSpc>
                <a:spcPct val="100000"/>
              </a:lnSpc>
              <a:spcBef>
                <a:spcPts val="0"/>
              </a:spcBef>
              <a:spcAft>
                <a:spcPts val="400"/>
              </a:spcAft>
            </a:pPr>
            <a:r>
              <a:rPr sz="1500" b="0" i="1">
                <a:solidFill>
                  <a:srgbClr val="64748B"/>
                </a:solidFill>
                <a:latin typeface="Segoe UI"/>
                <a:cs typeface="Segoe UI"/>
              </a:rPr>
              <a:t>Một nghịch lý: vừa thiếu, vừa thừa</a:t>
            </a:r>
          </a:p>
        </p:txBody>
      </p:sp>
      <p:sp>
        <p:nvSpPr>
          <p:cNvPr id="11" name="Rounded Rectangle 10"/>
          <p:cNvSpPr/>
          <p:nvPr/>
        </p:nvSpPr>
        <p:spPr>
          <a:xfrm>
            <a:off x="640080" y="1874519"/>
            <a:ext cx="3429000" cy="2286000"/>
          </a:xfrm>
          <a:prstGeom prst="roundRect">
            <a:avLst>
              <a:gd name="adj" fmla="val 6000"/>
            </a:avLst>
          </a:prstGeom>
          <a:solidFill>
            <a:srgbClr val="E0F5F4"/>
          </a:solidFill>
          <a:ln w="19050">
            <a:solidFill>
              <a:srgbClr val="19A99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2148840"/>
            <a:ext cx="3429000" cy="914400"/>
          </a:xfrm>
          <a:prstGeom prst="rect">
            <a:avLst/>
          </a:prstGeom>
          <a:noFill/>
        </p:spPr>
        <p:txBody>
          <a:bodyPr wrap="square" lIns="0" tIns="0" rIns="0" bIns="0" anchor="t">
            <a:spAutoFit/>
          </a:bodyPr>
          <a:lstStyle/>
          <a:p>
            <a:pPr algn="ctr">
              <a:lnSpc>
                <a:spcPct val="100000"/>
              </a:lnSpc>
              <a:spcBef>
                <a:spcPts val="0"/>
              </a:spcBef>
              <a:spcAft>
                <a:spcPts val="400"/>
              </a:spcAft>
            </a:pPr>
            <a:r>
              <a:rPr sz="4000" b="1" i="0">
                <a:solidFill>
                  <a:srgbClr val="19A99D"/>
                </a:solidFill>
                <a:latin typeface="Segoe UI Semibold"/>
                <a:cs typeface="Segoe UI Semibold"/>
              </a:rPr>
              <a:t>14,4%</a:t>
            </a:r>
          </a:p>
        </p:txBody>
      </p:sp>
      <p:sp>
        <p:nvSpPr>
          <p:cNvPr id="13" name="TextBox 12"/>
          <p:cNvSpPr txBox="1"/>
          <p:nvPr/>
        </p:nvSpPr>
        <p:spPr>
          <a:xfrm>
            <a:off x="868680" y="3154680"/>
            <a:ext cx="2971800" cy="914400"/>
          </a:xfrm>
          <a:prstGeom prst="rect">
            <a:avLst/>
          </a:prstGeom>
          <a:noFill/>
        </p:spPr>
        <p:txBody>
          <a:bodyPr wrap="square" lIns="0" tIns="0" rIns="0" bIns="0" anchor="t">
            <a:spAutoFit/>
          </a:bodyPr>
          <a:lstStyle/>
          <a:p>
            <a:pPr algn="ctr">
              <a:lnSpc>
                <a:spcPct val="100000"/>
              </a:lnSpc>
              <a:spcBef>
                <a:spcPts val="0"/>
              </a:spcBef>
              <a:spcAft>
                <a:spcPts val="400"/>
              </a:spcAft>
            </a:pPr>
            <a:r>
              <a:rPr sz="1350" b="0" i="0">
                <a:solidFill>
                  <a:srgbClr val="1E293B"/>
                </a:solidFill>
                <a:latin typeface="Segoe UI"/>
                <a:cs typeface="Segoe UI"/>
              </a:rPr>
              <a:t>trẻ 5–19 tuổi bị suy dinh dưỡng thấp còi</a:t>
            </a:r>
          </a:p>
        </p:txBody>
      </p:sp>
      <p:sp>
        <p:nvSpPr>
          <p:cNvPr id="14" name="Rounded Rectangle 13"/>
          <p:cNvSpPr/>
          <p:nvPr/>
        </p:nvSpPr>
        <p:spPr>
          <a:xfrm>
            <a:off x="4434840" y="1874519"/>
            <a:ext cx="3429000" cy="2286000"/>
          </a:xfrm>
          <a:prstGeom prst="roundRect">
            <a:avLst>
              <a:gd name="adj" fmla="val 6000"/>
            </a:avLst>
          </a:prstGeom>
          <a:solidFill>
            <a:srgbClr val="FDECEA"/>
          </a:solidFill>
          <a:ln w="19050">
            <a:solidFill>
              <a:srgbClr val="E26D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434840" y="2148840"/>
            <a:ext cx="3429000" cy="914400"/>
          </a:xfrm>
          <a:prstGeom prst="rect">
            <a:avLst/>
          </a:prstGeom>
          <a:noFill/>
        </p:spPr>
        <p:txBody>
          <a:bodyPr wrap="square" lIns="0" tIns="0" rIns="0" bIns="0" anchor="t">
            <a:spAutoFit/>
          </a:bodyPr>
          <a:lstStyle/>
          <a:p>
            <a:pPr algn="ctr">
              <a:lnSpc>
                <a:spcPct val="100000"/>
              </a:lnSpc>
              <a:spcBef>
                <a:spcPts val="0"/>
              </a:spcBef>
              <a:spcAft>
                <a:spcPts val="400"/>
              </a:spcAft>
            </a:pPr>
            <a:r>
              <a:rPr sz="4000" b="1" i="0">
                <a:solidFill>
                  <a:srgbClr val="E26D5A"/>
                </a:solidFill>
                <a:latin typeface="Segoe UI Semibold"/>
                <a:cs typeface="Segoe UI Semibold"/>
              </a:rPr>
              <a:t>19,0%</a:t>
            </a:r>
          </a:p>
        </p:txBody>
      </p:sp>
      <p:sp>
        <p:nvSpPr>
          <p:cNvPr id="16" name="TextBox 15"/>
          <p:cNvSpPr txBox="1"/>
          <p:nvPr/>
        </p:nvSpPr>
        <p:spPr>
          <a:xfrm>
            <a:off x="4663440" y="3154680"/>
            <a:ext cx="2971800" cy="914400"/>
          </a:xfrm>
          <a:prstGeom prst="rect">
            <a:avLst/>
          </a:prstGeom>
          <a:noFill/>
        </p:spPr>
        <p:txBody>
          <a:bodyPr wrap="square" lIns="0" tIns="0" rIns="0" bIns="0" anchor="t">
            <a:spAutoFit/>
          </a:bodyPr>
          <a:lstStyle/>
          <a:p>
            <a:pPr algn="ctr">
              <a:lnSpc>
                <a:spcPct val="100000"/>
              </a:lnSpc>
              <a:spcBef>
                <a:spcPts val="0"/>
              </a:spcBef>
              <a:spcAft>
                <a:spcPts val="400"/>
              </a:spcAft>
            </a:pPr>
            <a:r>
              <a:rPr sz="1350" b="0" i="0">
                <a:solidFill>
                  <a:srgbClr val="1E293B"/>
                </a:solidFill>
                <a:latin typeface="Segoe UI"/>
                <a:cs typeface="Segoe UI"/>
              </a:rPr>
              <a:t>thừa cân – béo phì năm 2020 (8,5% năm 2010)</a:t>
            </a:r>
          </a:p>
        </p:txBody>
      </p:sp>
      <p:sp>
        <p:nvSpPr>
          <p:cNvPr id="17" name="Rounded Rectangle 16"/>
          <p:cNvSpPr/>
          <p:nvPr/>
        </p:nvSpPr>
        <p:spPr>
          <a:xfrm>
            <a:off x="8229600" y="1874519"/>
            <a:ext cx="3429000" cy="2286000"/>
          </a:xfrm>
          <a:prstGeom prst="roundRect">
            <a:avLst>
              <a:gd name="adj" fmla="val 6000"/>
            </a:avLst>
          </a:prstGeom>
          <a:solidFill>
            <a:srgbClr val="FDF3DF"/>
          </a:solidFill>
          <a:ln w="1905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29600" y="2148840"/>
            <a:ext cx="3429000" cy="914400"/>
          </a:xfrm>
          <a:prstGeom prst="rect">
            <a:avLst/>
          </a:prstGeom>
          <a:noFill/>
        </p:spPr>
        <p:txBody>
          <a:bodyPr wrap="square" lIns="0" tIns="0" rIns="0" bIns="0" anchor="t">
            <a:spAutoFit/>
          </a:bodyPr>
          <a:lstStyle/>
          <a:p>
            <a:pPr algn="ctr">
              <a:lnSpc>
                <a:spcPct val="100000"/>
              </a:lnSpc>
              <a:spcBef>
                <a:spcPts val="0"/>
              </a:spcBef>
              <a:spcAft>
                <a:spcPts val="400"/>
              </a:spcAft>
            </a:pPr>
            <a:r>
              <a:rPr sz="2800" b="1" i="0">
                <a:solidFill>
                  <a:srgbClr val="F59E0B"/>
                </a:solidFill>
                <a:latin typeface="Segoe UI Semibold"/>
                <a:cs typeface="Segoe UI Semibold"/>
              </a:rPr>
              <a:t>6 th – 3 tuổi</a:t>
            </a:r>
          </a:p>
        </p:txBody>
      </p:sp>
      <p:sp>
        <p:nvSpPr>
          <p:cNvPr id="19" name="TextBox 18"/>
          <p:cNvSpPr txBox="1"/>
          <p:nvPr/>
        </p:nvSpPr>
        <p:spPr>
          <a:xfrm>
            <a:off x="8458200" y="3154680"/>
            <a:ext cx="2971800" cy="914400"/>
          </a:xfrm>
          <a:prstGeom prst="rect">
            <a:avLst/>
          </a:prstGeom>
          <a:noFill/>
        </p:spPr>
        <p:txBody>
          <a:bodyPr wrap="square" lIns="0" tIns="0" rIns="0" bIns="0" anchor="t">
            <a:spAutoFit/>
          </a:bodyPr>
          <a:lstStyle/>
          <a:p>
            <a:pPr algn="ctr">
              <a:lnSpc>
                <a:spcPct val="100000"/>
              </a:lnSpc>
              <a:spcBef>
                <a:spcPts val="0"/>
              </a:spcBef>
              <a:spcAft>
                <a:spcPts val="400"/>
              </a:spcAft>
            </a:pPr>
            <a:r>
              <a:rPr sz="1350" b="0" i="0">
                <a:solidFill>
                  <a:srgbClr val="1E293B"/>
                </a:solidFill>
                <a:latin typeface="Segoe UI"/>
                <a:cs typeface="Segoe UI"/>
              </a:rPr>
              <a:t>“khoảng trống miễn dịch” – trẻ hay ốm vặt nhất</a:t>
            </a:r>
          </a:p>
        </p:txBody>
      </p:sp>
      <p:sp>
        <p:nvSpPr>
          <p:cNvPr id="20" name="TextBox 19"/>
          <p:cNvSpPr txBox="1"/>
          <p:nvPr/>
        </p:nvSpPr>
        <p:spPr>
          <a:xfrm>
            <a:off x="640080" y="4480560"/>
            <a:ext cx="10881360" cy="822960"/>
          </a:xfrm>
          <a:prstGeom prst="rect">
            <a:avLst/>
          </a:prstGeom>
          <a:noFill/>
        </p:spPr>
        <p:txBody>
          <a:bodyPr wrap="square" lIns="0" tIns="0" rIns="0" bIns="0" anchor="t">
            <a:spAutoFit/>
          </a:bodyPr>
          <a:lstStyle/>
          <a:p>
            <a:pPr algn="l">
              <a:lnSpc>
                <a:spcPct val="110000"/>
              </a:lnSpc>
              <a:spcBef>
                <a:spcPts val="0"/>
              </a:spcBef>
              <a:spcAft>
                <a:spcPts val="400"/>
              </a:spcAft>
            </a:pPr>
            <a:r>
              <a:rPr sz="1500" b="1" i="0" dirty="0" err="1">
                <a:solidFill>
                  <a:srgbClr val="3A6B35"/>
                </a:solidFill>
                <a:latin typeface="Segoe UI"/>
                <a:cs typeface="Segoe UI"/>
              </a:rPr>
              <a:t>Thông</a:t>
            </a:r>
            <a:r>
              <a:rPr sz="1500" b="1" i="0" dirty="0">
                <a:solidFill>
                  <a:srgbClr val="3A6B35"/>
                </a:solidFill>
                <a:latin typeface="Segoe UI"/>
                <a:cs typeface="Segoe UI"/>
              </a:rPr>
              <a:t> </a:t>
            </a:r>
            <a:r>
              <a:rPr sz="1500" b="1" i="0" dirty="0" err="1">
                <a:solidFill>
                  <a:srgbClr val="3A6B35"/>
                </a:solidFill>
                <a:latin typeface="Segoe UI"/>
                <a:cs typeface="Segoe UI"/>
              </a:rPr>
              <a:t>điệp</a:t>
            </a:r>
            <a:r>
              <a:rPr sz="1500" b="1" i="0" dirty="0">
                <a:solidFill>
                  <a:srgbClr val="3A6B35"/>
                </a:solidFill>
                <a:latin typeface="Segoe UI"/>
                <a:cs typeface="Segoe UI"/>
              </a:rPr>
              <a:t>: </a:t>
            </a:r>
            <a:r>
              <a:rPr sz="1500" b="0" i="0" dirty="0" err="1">
                <a:solidFill>
                  <a:srgbClr val="1E293B"/>
                </a:solidFill>
                <a:latin typeface="Segoe UI"/>
                <a:cs typeface="Segoe UI"/>
              </a:rPr>
              <a:t>dinh</a:t>
            </a:r>
            <a:r>
              <a:rPr sz="1500" b="0" i="0" dirty="0">
                <a:solidFill>
                  <a:srgbClr val="1E293B"/>
                </a:solidFill>
                <a:latin typeface="Segoe UI"/>
                <a:cs typeface="Segoe UI"/>
              </a:rPr>
              <a:t> </a:t>
            </a:r>
            <a:r>
              <a:rPr sz="1500" b="0" i="0" dirty="0" err="1">
                <a:solidFill>
                  <a:srgbClr val="1E293B"/>
                </a:solidFill>
                <a:latin typeface="Segoe UI"/>
                <a:cs typeface="Segoe UI"/>
              </a:rPr>
              <a:t>dưỡng</a:t>
            </a:r>
            <a:r>
              <a:rPr sz="1500" b="0" i="0" dirty="0">
                <a:solidFill>
                  <a:srgbClr val="1E293B"/>
                </a:solidFill>
                <a:latin typeface="Segoe UI"/>
                <a:cs typeface="Segoe UI"/>
              </a:rPr>
              <a:t> </a:t>
            </a:r>
            <a:r>
              <a:rPr sz="1500" b="0" i="0" dirty="0" err="1">
                <a:solidFill>
                  <a:srgbClr val="1E293B"/>
                </a:solidFill>
                <a:latin typeface="Segoe UI"/>
                <a:cs typeface="Segoe UI"/>
              </a:rPr>
              <a:t>không</a:t>
            </a:r>
            <a:r>
              <a:rPr sz="1500" b="0" i="0" dirty="0">
                <a:solidFill>
                  <a:srgbClr val="1E293B"/>
                </a:solidFill>
                <a:latin typeface="Segoe UI"/>
                <a:cs typeface="Segoe UI"/>
              </a:rPr>
              <a:t> </a:t>
            </a:r>
            <a:r>
              <a:rPr sz="1500" b="0" i="0" dirty="0" err="1">
                <a:solidFill>
                  <a:srgbClr val="1E293B"/>
                </a:solidFill>
                <a:latin typeface="Segoe UI"/>
                <a:cs typeface="Segoe UI"/>
              </a:rPr>
              <a:t>hợp</a:t>
            </a:r>
            <a:r>
              <a:rPr sz="1500" b="0" i="0" dirty="0">
                <a:solidFill>
                  <a:srgbClr val="1E293B"/>
                </a:solidFill>
                <a:latin typeface="Segoe UI"/>
                <a:cs typeface="Segoe UI"/>
              </a:rPr>
              <a:t> </a:t>
            </a:r>
            <a:r>
              <a:rPr sz="1500" b="0" i="0" dirty="0" err="1">
                <a:solidFill>
                  <a:srgbClr val="1E293B"/>
                </a:solidFill>
                <a:latin typeface="Segoe UI"/>
                <a:cs typeface="Segoe UI"/>
              </a:rPr>
              <a:t>lý</a:t>
            </a:r>
            <a:r>
              <a:rPr sz="1500" b="0" i="0" dirty="0">
                <a:solidFill>
                  <a:srgbClr val="1E293B"/>
                </a:solidFill>
                <a:latin typeface="Segoe UI"/>
                <a:cs typeface="Segoe UI"/>
              </a:rPr>
              <a:t> </a:t>
            </a:r>
            <a:r>
              <a:rPr sz="1500" b="0" i="0" dirty="0" err="1">
                <a:solidFill>
                  <a:srgbClr val="1E293B"/>
                </a:solidFill>
                <a:latin typeface="Segoe UI"/>
                <a:cs typeface="Segoe UI"/>
              </a:rPr>
              <a:t>dẫn</a:t>
            </a:r>
            <a:r>
              <a:rPr sz="1500" b="0" i="0" dirty="0">
                <a:solidFill>
                  <a:srgbClr val="1E293B"/>
                </a:solidFill>
                <a:latin typeface="Segoe UI"/>
                <a:cs typeface="Segoe UI"/>
              </a:rPr>
              <a:t> </a:t>
            </a:r>
            <a:r>
              <a:rPr sz="1500" b="0" i="0" dirty="0" err="1">
                <a:solidFill>
                  <a:srgbClr val="1E293B"/>
                </a:solidFill>
                <a:latin typeface="Segoe UI"/>
                <a:cs typeface="Segoe UI"/>
              </a:rPr>
              <a:t>tới</a:t>
            </a:r>
            <a:r>
              <a:rPr sz="1500" b="0" i="0" dirty="0">
                <a:solidFill>
                  <a:srgbClr val="1E293B"/>
                </a:solidFill>
                <a:latin typeface="Segoe UI"/>
                <a:cs typeface="Segoe UI"/>
              </a:rPr>
              <a:t> </a:t>
            </a:r>
            <a:r>
              <a:rPr sz="1500" b="0" i="0" dirty="0" err="1">
                <a:solidFill>
                  <a:srgbClr val="1E293B"/>
                </a:solidFill>
                <a:latin typeface="Segoe UI"/>
                <a:cs typeface="Segoe UI"/>
              </a:rPr>
              <a:t>cả</a:t>
            </a:r>
            <a:r>
              <a:rPr sz="1500" b="0" i="0" dirty="0">
                <a:solidFill>
                  <a:srgbClr val="1E293B"/>
                </a:solidFill>
                <a:latin typeface="Segoe UI"/>
                <a:cs typeface="Segoe UI"/>
              </a:rPr>
              <a:t> </a:t>
            </a:r>
            <a:r>
              <a:rPr sz="1500" b="1" i="0" dirty="0" err="1">
                <a:solidFill>
                  <a:srgbClr val="19A99D"/>
                </a:solidFill>
                <a:latin typeface="Segoe UI"/>
                <a:cs typeface="Segoe UI"/>
              </a:rPr>
              <a:t>thấp</a:t>
            </a:r>
            <a:r>
              <a:rPr sz="1500" b="1" i="0" dirty="0">
                <a:solidFill>
                  <a:srgbClr val="19A99D"/>
                </a:solidFill>
                <a:latin typeface="Segoe UI"/>
                <a:cs typeface="Segoe UI"/>
              </a:rPr>
              <a:t> </a:t>
            </a:r>
            <a:r>
              <a:rPr sz="1500" b="1" i="0" dirty="0" err="1">
                <a:solidFill>
                  <a:srgbClr val="19A99D"/>
                </a:solidFill>
                <a:latin typeface="Segoe UI"/>
                <a:cs typeface="Segoe UI"/>
              </a:rPr>
              <a:t>còi</a:t>
            </a:r>
            <a:r>
              <a:rPr sz="1500" b="1" i="0" dirty="0">
                <a:solidFill>
                  <a:srgbClr val="19A99D"/>
                </a:solidFill>
                <a:latin typeface="Segoe UI"/>
                <a:cs typeface="Segoe UI"/>
              </a:rPr>
              <a:t>, </a:t>
            </a:r>
            <a:r>
              <a:rPr sz="1500" b="1" i="0" dirty="0" err="1">
                <a:solidFill>
                  <a:srgbClr val="19A99D"/>
                </a:solidFill>
                <a:latin typeface="Segoe UI"/>
                <a:cs typeface="Segoe UI"/>
              </a:rPr>
              <a:t>thiếu</a:t>
            </a:r>
            <a:r>
              <a:rPr sz="1500" b="1" i="0" dirty="0">
                <a:solidFill>
                  <a:srgbClr val="19A99D"/>
                </a:solidFill>
                <a:latin typeface="Segoe UI"/>
                <a:cs typeface="Segoe UI"/>
              </a:rPr>
              <a:t> vi </a:t>
            </a:r>
            <a:r>
              <a:rPr sz="1500" b="1" i="0" dirty="0" err="1">
                <a:solidFill>
                  <a:srgbClr val="19A99D"/>
                </a:solidFill>
                <a:latin typeface="Segoe UI"/>
                <a:cs typeface="Segoe UI"/>
              </a:rPr>
              <a:t>chất</a:t>
            </a:r>
            <a:r>
              <a:rPr sz="1500" b="0" i="0" dirty="0">
                <a:solidFill>
                  <a:srgbClr val="1E293B"/>
                </a:solidFill>
                <a:latin typeface="Segoe UI"/>
                <a:cs typeface="Segoe UI"/>
              </a:rPr>
              <a:t> </a:t>
            </a:r>
            <a:r>
              <a:rPr sz="1500" b="0" i="0" dirty="0" err="1">
                <a:solidFill>
                  <a:srgbClr val="1E293B"/>
                </a:solidFill>
                <a:latin typeface="Segoe UI"/>
                <a:cs typeface="Segoe UI"/>
              </a:rPr>
              <a:t>lẫn</a:t>
            </a:r>
            <a:r>
              <a:rPr sz="1500" b="0" i="0" dirty="0">
                <a:solidFill>
                  <a:srgbClr val="1E293B"/>
                </a:solidFill>
                <a:latin typeface="Segoe UI"/>
                <a:cs typeface="Segoe UI"/>
              </a:rPr>
              <a:t> </a:t>
            </a:r>
            <a:r>
              <a:rPr sz="1500" b="1" i="0" dirty="0" err="1">
                <a:solidFill>
                  <a:srgbClr val="E26D5A"/>
                </a:solidFill>
                <a:latin typeface="Segoe UI"/>
                <a:cs typeface="Segoe UI"/>
              </a:rPr>
              <a:t>thừa</a:t>
            </a:r>
            <a:r>
              <a:rPr sz="1500" b="1" i="0" dirty="0">
                <a:solidFill>
                  <a:srgbClr val="E26D5A"/>
                </a:solidFill>
                <a:latin typeface="Segoe UI"/>
                <a:cs typeface="Segoe UI"/>
              </a:rPr>
              <a:t> </a:t>
            </a:r>
            <a:r>
              <a:rPr sz="1500" b="1" i="0" dirty="0" err="1">
                <a:solidFill>
                  <a:srgbClr val="E26D5A"/>
                </a:solidFill>
                <a:latin typeface="Segoe UI"/>
                <a:cs typeface="Segoe UI"/>
              </a:rPr>
              <a:t>cân</a:t>
            </a:r>
            <a:r>
              <a:rPr sz="1500" b="1" i="0" dirty="0">
                <a:solidFill>
                  <a:srgbClr val="E26D5A"/>
                </a:solidFill>
                <a:latin typeface="Segoe UI"/>
                <a:cs typeface="Segoe UI"/>
              </a:rPr>
              <a:t> – </a:t>
            </a:r>
            <a:r>
              <a:rPr sz="1500" b="1" i="0" dirty="0" err="1">
                <a:solidFill>
                  <a:srgbClr val="E26D5A"/>
                </a:solidFill>
                <a:latin typeface="Segoe UI"/>
                <a:cs typeface="Segoe UI"/>
              </a:rPr>
              <a:t>béo</a:t>
            </a:r>
            <a:r>
              <a:rPr sz="1500" b="1" i="0" dirty="0">
                <a:solidFill>
                  <a:srgbClr val="E26D5A"/>
                </a:solidFill>
                <a:latin typeface="Segoe UI"/>
                <a:cs typeface="Segoe UI"/>
              </a:rPr>
              <a:t> </a:t>
            </a:r>
            <a:r>
              <a:rPr sz="1500" b="1" i="0" dirty="0" err="1">
                <a:solidFill>
                  <a:srgbClr val="E26D5A"/>
                </a:solidFill>
                <a:latin typeface="Segoe UI"/>
                <a:cs typeface="Segoe UI"/>
              </a:rPr>
              <a:t>phì</a:t>
            </a:r>
            <a:r>
              <a:rPr sz="1500" b="0" i="0" dirty="0">
                <a:solidFill>
                  <a:srgbClr val="1E293B"/>
                </a:solidFill>
                <a:latin typeface="Segoe UI"/>
                <a:cs typeface="Segoe UI"/>
              </a:rPr>
              <a:t>. </a:t>
            </a:r>
            <a:r>
              <a:rPr sz="1500" b="0" i="0" dirty="0" err="1">
                <a:solidFill>
                  <a:srgbClr val="1E293B"/>
                </a:solidFill>
                <a:latin typeface="Segoe UI"/>
                <a:cs typeface="Segoe UI"/>
              </a:rPr>
              <a:t>Cả</a:t>
            </a:r>
            <a:r>
              <a:rPr sz="1500" b="0" i="0" dirty="0">
                <a:solidFill>
                  <a:srgbClr val="1E293B"/>
                </a:solidFill>
                <a:latin typeface="Segoe UI"/>
                <a:cs typeface="Segoe UI"/>
              </a:rPr>
              <a:t> </a:t>
            </a:r>
            <a:r>
              <a:rPr sz="1500" b="0" i="0" dirty="0" err="1">
                <a:solidFill>
                  <a:srgbClr val="1E293B"/>
                </a:solidFill>
                <a:latin typeface="Segoe UI"/>
                <a:cs typeface="Segoe UI"/>
              </a:rPr>
              <a:t>hai</a:t>
            </a:r>
            <a:r>
              <a:rPr sz="1500" b="0" i="0" dirty="0">
                <a:solidFill>
                  <a:srgbClr val="1E293B"/>
                </a:solidFill>
                <a:latin typeface="Segoe UI"/>
                <a:cs typeface="Segoe UI"/>
              </a:rPr>
              <a:t> </a:t>
            </a:r>
            <a:r>
              <a:rPr sz="1500" b="0" i="0" dirty="0" err="1">
                <a:solidFill>
                  <a:srgbClr val="1E293B"/>
                </a:solidFill>
                <a:latin typeface="Segoe UI"/>
                <a:cs typeface="Segoe UI"/>
              </a:rPr>
              <a:t>đều</a:t>
            </a:r>
            <a:r>
              <a:rPr sz="1500" b="0" i="0" dirty="0">
                <a:solidFill>
                  <a:srgbClr val="1E293B"/>
                </a:solidFill>
                <a:latin typeface="Segoe UI"/>
                <a:cs typeface="Segoe UI"/>
              </a:rPr>
              <a:t> </a:t>
            </a:r>
            <a:r>
              <a:rPr sz="1500" b="0" i="0" dirty="0" err="1">
                <a:solidFill>
                  <a:srgbClr val="1E293B"/>
                </a:solidFill>
                <a:latin typeface="Segoe UI"/>
                <a:cs typeface="Segoe UI"/>
              </a:rPr>
              <a:t>ảnh</a:t>
            </a:r>
            <a:r>
              <a:rPr sz="1500" b="0" i="0" dirty="0">
                <a:solidFill>
                  <a:srgbClr val="1E293B"/>
                </a:solidFill>
                <a:latin typeface="Segoe UI"/>
                <a:cs typeface="Segoe UI"/>
              </a:rPr>
              <a:t> </a:t>
            </a:r>
            <a:r>
              <a:rPr sz="1500" b="0" i="0" dirty="0" err="1">
                <a:solidFill>
                  <a:srgbClr val="1E293B"/>
                </a:solidFill>
                <a:latin typeface="Segoe UI"/>
                <a:cs typeface="Segoe UI"/>
              </a:rPr>
              <a:t>hưởng</a:t>
            </a:r>
            <a:r>
              <a:rPr sz="1500" b="0" i="0" dirty="0">
                <a:solidFill>
                  <a:srgbClr val="1E293B"/>
                </a:solidFill>
                <a:latin typeface="Segoe UI"/>
                <a:cs typeface="Segoe UI"/>
              </a:rPr>
              <a:t> </a:t>
            </a:r>
            <a:r>
              <a:rPr sz="1500" b="0" i="0" dirty="0" err="1">
                <a:solidFill>
                  <a:srgbClr val="1E293B"/>
                </a:solidFill>
                <a:latin typeface="Segoe UI"/>
                <a:cs typeface="Segoe UI"/>
              </a:rPr>
              <a:t>lâu</a:t>
            </a:r>
            <a:r>
              <a:rPr sz="1500" b="0" i="0" dirty="0">
                <a:solidFill>
                  <a:srgbClr val="1E293B"/>
                </a:solidFill>
                <a:latin typeface="Segoe UI"/>
                <a:cs typeface="Segoe UI"/>
              </a:rPr>
              <a:t> </a:t>
            </a:r>
            <a:r>
              <a:rPr sz="1500" b="0" i="0" dirty="0" err="1">
                <a:solidFill>
                  <a:srgbClr val="1E293B"/>
                </a:solidFill>
                <a:latin typeface="Segoe UI"/>
                <a:cs typeface="Segoe UI"/>
              </a:rPr>
              <a:t>dài</a:t>
            </a:r>
            <a:r>
              <a:rPr sz="1500" b="0" i="0" dirty="0">
                <a:solidFill>
                  <a:srgbClr val="1E293B"/>
                </a:solidFill>
                <a:latin typeface="Segoe UI"/>
                <a:cs typeface="Segoe UI"/>
              </a:rPr>
              <a:t> </a:t>
            </a:r>
            <a:r>
              <a:rPr sz="1500" b="0" i="0" dirty="0" err="1">
                <a:solidFill>
                  <a:srgbClr val="1E293B"/>
                </a:solidFill>
                <a:latin typeface="Segoe UI"/>
                <a:cs typeface="Segoe UI"/>
              </a:rPr>
              <a:t>đến</a:t>
            </a:r>
            <a:r>
              <a:rPr sz="1500" b="0" i="0" dirty="0">
                <a:solidFill>
                  <a:srgbClr val="1E293B"/>
                </a:solidFill>
                <a:latin typeface="Segoe UI"/>
                <a:cs typeface="Segoe UI"/>
              </a:rPr>
              <a:t> </a:t>
            </a:r>
            <a:r>
              <a:rPr sz="1500" b="0" i="0" dirty="0" err="1">
                <a:solidFill>
                  <a:srgbClr val="1E293B"/>
                </a:solidFill>
                <a:latin typeface="Segoe UI"/>
                <a:cs typeface="Segoe UI"/>
              </a:rPr>
              <a:t>sức</a:t>
            </a:r>
            <a:r>
              <a:rPr sz="1500" b="0" i="0" dirty="0">
                <a:solidFill>
                  <a:srgbClr val="1E293B"/>
                </a:solidFill>
                <a:latin typeface="Segoe UI"/>
                <a:cs typeface="Segoe UI"/>
              </a:rPr>
              <a:t> </a:t>
            </a:r>
            <a:r>
              <a:rPr sz="1500" b="0" i="0" dirty="0" err="1">
                <a:solidFill>
                  <a:srgbClr val="1E293B"/>
                </a:solidFill>
                <a:latin typeface="Segoe UI"/>
                <a:cs typeface="Segoe UI"/>
              </a:rPr>
              <a:t>khỏe</a:t>
            </a:r>
            <a:r>
              <a:rPr sz="1500" b="0" i="0" dirty="0">
                <a:solidFill>
                  <a:srgbClr val="1E293B"/>
                </a:solidFill>
                <a:latin typeface="Segoe UI"/>
                <a:cs typeface="Segoe UI"/>
              </a:rPr>
              <a:t> </a:t>
            </a:r>
            <a:r>
              <a:rPr sz="1500" b="0" i="0" dirty="0" err="1">
                <a:solidFill>
                  <a:srgbClr val="1E293B"/>
                </a:solidFill>
                <a:latin typeface="Segoe UI"/>
                <a:cs typeface="Segoe UI"/>
              </a:rPr>
              <a:t>và</a:t>
            </a:r>
            <a:r>
              <a:rPr sz="1500" b="0" i="0" dirty="0">
                <a:solidFill>
                  <a:srgbClr val="1E293B"/>
                </a:solidFill>
                <a:latin typeface="Segoe UI"/>
                <a:cs typeface="Segoe UI"/>
              </a:rPr>
              <a:t> </a:t>
            </a:r>
            <a:r>
              <a:rPr sz="1500" b="0" i="0" dirty="0" err="1">
                <a:solidFill>
                  <a:srgbClr val="1E293B"/>
                </a:solidFill>
                <a:latin typeface="Segoe UI"/>
                <a:cs typeface="Segoe UI"/>
              </a:rPr>
              <a:t>tầm</a:t>
            </a:r>
            <a:r>
              <a:rPr sz="1500" b="0" i="0" dirty="0">
                <a:solidFill>
                  <a:srgbClr val="1E293B"/>
                </a:solidFill>
                <a:latin typeface="Segoe UI"/>
                <a:cs typeface="Segoe UI"/>
              </a:rPr>
              <a:t> </a:t>
            </a:r>
            <a:r>
              <a:rPr sz="1500" b="0" i="0" dirty="0" err="1">
                <a:solidFill>
                  <a:srgbClr val="1E293B"/>
                </a:solidFill>
                <a:latin typeface="Segoe UI"/>
                <a:cs typeface="Segoe UI"/>
              </a:rPr>
              <a:t>vóc</a:t>
            </a:r>
            <a:r>
              <a:rPr sz="1500" b="0" i="0" dirty="0">
                <a:solidFill>
                  <a:srgbClr val="1E293B"/>
                </a:solidFill>
                <a:latin typeface="Segoe UI"/>
                <a:cs typeface="Segoe UI"/>
              </a:rPr>
              <a:t> </a:t>
            </a:r>
            <a:r>
              <a:rPr sz="1500" b="0" i="0" dirty="0" err="1">
                <a:solidFill>
                  <a:srgbClr val="1E293B"/>
                </a:solidFill>
                <a:latin typeface="Segoe UI"/>
                <a:cs typeface="Segoe UI"/>
              </a:rPr>
              <a:t>của</a:t>
            </a:r>
            <a:r>
              <a:rPr sz="1500" b="0" i="0" dirty="0">
                <a:solidFill>
                  <a:srgbClr val="1E293B"/>
                </a:solidFill>
                <a:latin typeface="Segoe UI"/>
                <a:cs typeface="Segoe UI"/>
              </a:rPr>
              <a:t> </a:t>
            </a:r>
            <a:r>
              <a:rPr sz="1500" b="0" i="0" dirty="0" err="1">
                <a:solidFill>
                  <a:srgbClr val="1E293B"/>
                </a:solidFill>
                <a:latin typeface="Segoe UI"/>
                <a:cs typeface="Segoe UI"/>
              </a:rPr>
              <a:t>trẻ</a:t>
            </a:r>
            <a:r>
              <a:rPr sz="1500" b="0" i="0" dirty="0">
                <a:solidFill>
                  <a:srgbClr val="1E293B"/>
                </a:solidFill>
                <a:latin typeface="Segoe UI"/>
                <a:cs typeface="Segoe UI"/>
              </a:rPr>
              <a:t>.</a:t>
            </a:r>
          </a:p>
        </p:txBody>
      </p:sp>
      <p:sp>
        <p:nvSpPr>
          <p:cNvPr id="21" name="TextBox 20"/>
          <p:cNvSpPr txBox="1"/>
          <p:nvPr/>
        </p:nvSpPr>
        <p:spPr>
          <a:xfrm>
            <a:off x="548640" y="6144768"/>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50" b="1" i="1">
                <a:solidFill>
                  <a:srgbClr val="19A99D"/>
                </a:solidFill>
                <a:latin typeface="Segoe UI"/>
                <a:cs typeface="Segoe UI"/>
              </a:rPr>
              <a:t>Nguồn: </a:t>
            </a:r>
            <a:r>
              <a:rPr sz="950" b="0" i="1">
                <a:solidFill>
                  <a:srgbClr val="64748B"/>
                </a:solidFill>
                <a:latin typeface="Segoe UI"/>
                <a:cs typeface="Segoe UI"/>
              </a:rPr>
              <a:t>Tổng điều tra Dinh dưỡng 2019–2020, Viện Dinh dưỡng (trích trong Cẩm nang dinh dưỡng cho trẻ tiểu học, Action Education)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A6041"/>
        </a:solidFill>
        <a:effectLst/>
      </p:bgPr>
    </p:bg>
    <p:spTree>
      <p:nvGrpSpPr>
        <p:cNvPr id="1" name=""/>
        <p:cNvGrpSpPr/>
        <p:nvPr/>
      </p:nvGrpSpPr>
      <p:grpSpPr>
        <a:xfrm>
          <a:off x="0" y="0"/>
          <a:ext cx="0" cy="0"/>
          <a:chOff x="0" y="0"/>
          <a:chExt cx="0" cy="0"/>
        </a:xfrm>
      </p:grpSpPr>
      <p:sp>
        <p:nvSpPr>
          <p:cNvPr id="2" name="Oval 1"/>
          <p:cNvSpPr/>
          <p:nvPr/>
        </p:nvSpPr>
        <p:spPr>
          <a:xfrm>
            <a:off x="10332720" y="502920"/>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0479024" y="502920"/>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0625328" y="502920"/>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0771632" y="502920"/>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917936" y="502920"/>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1064240" y="502920"/>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332720" y="649224"/>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0479024" y="649224"/>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0625328" y="649224"/>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10771632" y="649224"/>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0917936" y="649224"/>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1064240" y="649224"/>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0332720" y="795528"/>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0479024" y="795528"/>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0625328" y="795528"/>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0771632" y="795528"/>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0917936" y="795528"/>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1064240" y="795528"/>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0332720" y="941832"/>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10479024" y="941832"/>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0625328" y="941832"/>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0771632" y="941832"/>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0917936" y="941832"/>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1064240" y="941832"/>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548640" y="5852160"/>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694944" y="5852160"/>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841247" y="5852160"/>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987552" y="5852160"/>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1133856" y="5852160"/>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1280160" y="5852160"/>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548640" y="5998464"/>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694944" y="5998464"/>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841247" y="5998464"/>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987552" y="5998464"/>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1133856" y="5998464"/>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1280160" y="5998464"/>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548640" y="6144768"/>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694944" y="6144768"/>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841247" y="6144768"/>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987552" y="6144768"/>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1133856" y="6144768"/>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1280160" y="6144768"/>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548640" y="6291072"/>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694944" y="6291072"/>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841247" y="6291072"/>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987552" y="6291072"/>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1133856" y="6291072"/>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1280160" y="6291072"/>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822960" y="2468880"/>
            <a:ext cx="1463040" cy="1463040"/>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2000" b="1" i="0">
                <a:solidFill>
                  <a:srgbClr val="FFFFFF"/>
                </a:solidFill>
                <a:latin typeface="Segoe UI"/>
                <a:cs typeface="Segoe UI"/>
              </a:rPr>
              <a:t>1</a:t>
            </a:r>
          </a:p>
        </p:txBody>
      </p:sp>
      <p:sp>
        <p:nvSpPr>
          <p:cNvPr id="51" name="TextBox 50"/>
          <p:cNvSpPr txBox="1"/>
          <p:nvPr/>
        </p:nvSpPr>
        <p:spPr>
          <a:xfrm>
            <a:off x="2697480" y="2286000"/>
            <a:ext cx="8686800" cy="548640"/>
          </a:xfrm>
          <a:prstGeom prst="rect">
            <a:avLst/>
          </a:prstGeom>
          <a:noFill/>
        </p:spPr>
        <p:txBody>
          <a:bodyPr wrap="square" lIns="0" tIns="0" rIns="0" bIns="0" anchor="t">
            <a:spAutoFit/>
          </a:bodyPr>
          <a:lstStyle/>
          <a:p>
            <a:pPr algn="l">
              <a:lnSpc>
                <a:spcPct val="100000"/>
              </a:lnSpc>
              <a:spcBef>
                <a:spcPts val="0"/>
              </a:spcBef>
              <a:spcAft>
                <a:spcPts val="400"/>
              </a:spcAft>
            </a:pPr>
            <a:r>
              <a:rPr sz="1800" b="1" i="0">
                <a:solidFill>
                  <a:srgbClr val="E0F5F4"/>
                </a:solidFill>
                <a:latin typeface="Segoe UI Semibold"/>
                <a:cs typeface="Segoe UI Semibold"/>
              </a:rPr>
              <a:t>PHẦN 1</a:t>
            </a:r>
          </a:p>
        </p:txBody>
      </p:sp>
      <p:sp>
        <p:nvSpPr>
          <p:cNvPr id="52" name="TextBox 51"/>
          <p:cNvSpPr txBox="1"/>
          <p:nvPr/>
        </p:nvSpPr>
        <p:spPr>
          <a:xfrm>
            <a:off x="2697480" y="2788920"/>
            <a:ext cx="8961120" cy="1463040"/>
          </a:xfrm>
          <a:prstGeom prst="rect">
            <a:avLst/>
          </a:prstGeom>
          <a:noFill/>
        </p:spPr>
        <p:txBody>
          <a:bodyPr wrap="square" lIns="0" tIns="0" rIns="0" bIns="0" anchor="t">
            <a:spAutoFit/>
          </a:bodyPr>
          <a:lstStyle/>
          <a:p>
            <a:pPr algn="l">
              <a:lnSpc>
                <a:spcPct val="100000"/>
              </a:lnSpc>
              <a:spcBef>
                <a:spcPts val="0"/>
              </a:spcBef>
              <a:spcAft>
                <a:spcPts val="400"/>
              </a:spcAft>
            </a:pPr>
            <a:r>
              <a:rPr sz="3400" b="1" i="0">
                <a:solidFill>
                  <a:srgbClr val="FFFFFF"/>
                </a:solidFill>
                <a:latin typeface="Segoe UI Semibold"/>
                <a:cs typeface="Segoe UI Semibold"/>
              </a:rPr>
              <a:t>Dinh dưỡng và sự phát triển toàn diện</a:t>
            </a:r>
          </a:p>
        </p:txBody>
      </p:sp>
      <p:sp>
        <p:nvSpPr>
          <p:cNvPr id="53" name="TextBox 52"/>
          <p:cNvSpPr txBox="1"/>
          <p:nvPr/>
        </p:nvSpPr>
        <p:spPr>
          <a:xfrm>
            <a:off x="2697480" y="4251960"/>
            <a:ext cx="8778240" cy="640080"/>
          </a:xfrm>
          <a:prstGeom prst="rect">
            <a:avLst/>
          </a:prstGeom>
          <a:noFill/>
        </p:spPr>
        <p:txBody>
          <a:bodyPr wrap="square" lIns="0" tIns="0" rIns="0" bIns="0" anchor="t">
            <a:spAutoFit/>
          </a:bodyPr>
          <a:lstStyle/>
          <a:p>
            <a:pPr algn="l">
              <a:lnSpc>
                <a:spcPct val="100000"/>
              </a:lnSpc>
              <a:spcBef>
                <a:spcPts val="0"/>
              </a:spcBef>
              <a:spcAft>
                <a:spcPts val="400"/>
              </a:spcAft>
            </a:pPr>
            <a:r>
              <a:rPr sz="1600" b="0" i="1">
                <a:solidFill>
                  <a:srgbClr val="E0F5F4"/>
                </a:solidFill>
                <a:latin typeface="Segoe UI"/>
                <a:cs typeface="Segoe UI"/>
              </a:rPr>
              <a:t>Nền móng cho thể chất, trí tuệ và đề kháng của trẻ</a:t>
            </a:r>
          </a:p>
        </p:txBody>
      </p:sp>
      <p:sp>
        <p:nvSpPr>
          <p:cNvPr id="54" name="Rectangle 53"/>
          <p:cNvSpPr/>
          <p:nvPr/>
        </p:nvSpPr>
        <p:spPr>
          <a:xfrm>
            <a:off x="0" y="6473952"/>
            <a:ext cx="12191695" cy="384048"/>
          </a:xfrm>
          <a:prstGeom prst="rect">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457200" y="6492240"/>
            <a:ext cx="9601200" cy="347472"/>
          </a:xfrm>
          <a:prstGeom prst="rect">
            <a:avLst/>
          </a:prstGeom>
          <a:noFill/>
        </p:spPr>
        <p:txBody>
          <a:bodyPr wrap="square" lIns="0" tIns="0" rIns="0" bIns="0" anchor="ctr">
            <a:spAutoFit/>
          </a:bodyPr>
          <a:lstStyle/>
          <a:p>
            <a:pPr algn="l">
              <a:lnSpc>
                <a:spcPct val="100000"/>
              </a:lnSpc>
              <a:spcBef>
                <a:spcPts val="0"/>
              </a:spcBef>
              <a:spcAft>
                <a:spcPts val="400"/>
              </a:spcAft>
            </a:pPr>
            <a:r>
              <a:rPr sz="950" b="0" i="0">
                <a:solidFill>
                  <a:srgbClr val="FFFFFF"/>
                </a:solidFill>
                <a:latin typeface="Segoe UI"/>
                <a:cs typeface="Segoe UI"/>
              </a:rPr>
              <a:t>Chuyên đề 2 · Dinh dưỡng – nền tảng cho miễn dịch &amp; sự phát triển của trẻ  ·  TS. Lê Thị Thùy Dung</a:t>
            </a:r>
          </a:p>
        </p:txBody>
      </p:sp>
      <p:sp>
        <p:nvSpPr>
          <p:cNvPr id="56" name="TextBox 55"/>
          <p:cNvSpPr txBox="1"/>
          <p:nvPr/>
        </p:nvSpPr>
        <p:spPr>
          <a:xfrm>
            <a:off x="11185855" y="6492240"/>
            <a:ext cx="548640" cy="347472"/>
          </a:xfrm>
          <a:prstGeom prst="rect">
            <a:avLst/>
          </a:prstGeom>
          <a:noFill/>
        </p:spPr>
        <p:txBody>
          <a:bodyPr wrap="square" lIns="0" tIns="0" rIns="0" bIns="0" anchor="ctr">
            <a:spAutoFit/>
          </a:bodyPr>
          <a:lstStyle/>
          <a:p>
            <a:pPr algn="r">
              <a:lnSpc>
                <a:spcPct val="100000"/>
              </a:lnSpc>
              <a:spcBef>
                <a:spcPts val="0"/>
              </a:spcBef>
              <a:spcAft>
                <a:spcPts val="400"/>
              </a:spcAft>
            </a:pPr>
            <a:r>
              <a:rPr sz="1000" b="1" i="0">
                <a:solidFill>
                  <a:srgbClr val="FFFFFF"/>
                </a:solidFill>
                <a:latin typeface="Segoe UI"/>
                <a:cs typeface="Segoe UI"/>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384048" y="274320"/>
            <a:ext cx="384048" cy="384048"/>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4068" y="329184"/>
            <a:ext cx="104241"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66344" y="406908"/>
            <a:ext cx="274320" cy="10424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274320"/>
            <a:ext cx="2926080" cy="402336"/>
          </a:xfrm>
          <a:prstGeom prst="rect">
            <a:avLst/>
          </a:prstGeom>
          <a:noFill/>
        </p:spPr>
        <p:txBody>
          <a:bodyPr wrap="square" lIns="0" tIns="0" rIns="0" bIns="0" anchor="ctr">
            <a:spAutoFit/>
          </a:bodyPr>
          <a:lstStyle/>
          <a:p>
            <a:pPr algn="l">
              <a:lnSpc>
                <a:spcPct val="100000"/>
              </a:lnSpc>
              <a:spcBef>
                <a:spcPts val="0"/>
              </a:spcBef>
              <a:spcAft>
                <a:spcPts val="400"/>
              </a:spcAft>
            </a:pPr>
            <a:r>
              <a:rPr sz="1300" b="1" i="0">
                <a:solidFill>
                  <a:srgbClr val="1E293B"/>
                </a:solidFill>
                <a:latin typeface="Segoe UI"/>
                <a:cs typeface="Segoe UI"/>
              </a:rPr>
              <a:t>DINH DƯỠNG </a:t>
            </a:r>
            <a:r>
              <a:rPr sz="1300" b="1" i="0">
                <a:solidFill>
                  <a:srgbClr val="19A99D"/>
                </a:solidFill>
                <a:latin typeface="Segoe UI"/>
                <a:cs typeface="Segoe UI"/>
              </a:rPr>
              <a:t>NHI KHOA</a:t>
            </a:r>
          </a:p>
        </p:txBody>
      </p:sp>
      <p:sp>
        <p:nvSpPr>
          <p:cNvPr id="6" name="Rectangle 5"/>
          <p:cNvSpPr/>
          <p:nvPr/>
        </p:nvSpPr>
        <p:spPr>
          <a:xfrm>
            <a:off x="0" y="6473952"/>
            <a:ext cx="12191695" cy="384048"/>
          </a:xfrm>
          <a:prstGeom prst="rect">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492240"/>
            <a:ext cx="9601200" cy="347472"/>
          </a:xfrm>
          <a:prstGeom prst="rect">
            <a:avLst/>
          </a:prstGeom>
          <a:noFill/>
        </p:spPr>
        <p:txBody>
          <a:bodyPr wrap="square" lIns="0" tIns="0" rIns="0" bIns="0" anchor="ctr">
            <a:spAutoFit/>
          </a:bodyPr>
          <a:lstStyle/>
          <a:p>
            <a:pPr algn="l">
              <a:lnSpc>
                <a:spcPct val="100000"/>
              </a:lnSpc>
              <a:spcBef>
                <a:spcPts val="0"/>
              </a:spcBef>
              <a:spcAft>
                <a:spcPts val="400"/>
              </a:spcAft>
            </a:pPr>
            <a:r>
              <a:rPr sz="950" b="0" i="0">
                <a:solidFill>
                  <a:srgbClr val="FFFFFF"/>
                </a:solidFill>
                <a:latin typeface="Segoe UI"/>
                <a:cs typeface="Segoe UI"/>
              </a:rPr>
              <a:t>Chuyên đề 2 · Dinh dưỡng – nền tảng cho miễn dịch &amp; sự phát triển của trẻ  ·  TS. Lê Thị Thùy Dung</a:t>
            </a:r>
          </a:p>
        </p:txBody>
      </p:sp>
      <p:sp>
        <p:nvSpPr>
          <p:cNvPr id="8" name="TextBox 7"/>
          <p:cNvSpPr txBox="1"/>
          <p:nvPr/>
        </p:nvSpPr>
        <p:spPr>
          <a:xfrm>
            <a:off x="11185855" y="6492240"/>
            <a:ext cx="548640" cy="347472"/>
          </a:xfrm>
          <a:prstGeom prst="rect">
            <a:avLst/>
          </a:prstGeom>
          <a:noFill/>
        </p:spPr>
        <p:txBody>
          <a:bodyPr wrap="square" lIns="0" tIns="0" rIns="0" bIns="0" anchor="ctr">
            <a:spAutoFit/>
          </a:bodyPr>
          <a:lstStyle/>
          <a:p>
            <a:pPr algn="r">
              <a:lnSpc>
                <a:spcPct val="100000"/>
              </a:lnSpc>
              <a:spcBef>
                <a:spcPts val="0"/>
              </a:spcBef>
              <a:spcAft>
                <a:spcPts val="400"/>
              </a:spcAft>
            </a:pPr>
            <a:r>
              <a:rPr sz="1000" b="1" i="0">
                <a:solidFill>
                  <a:srgbClr val="FFFFFF"/>
                </a:solidFill>
                <a:latin typeface="Segoe UI"/>
                <a:cs typeface="Segoe UI"/>
              </a:rPr>
              <a:t>6</a:t>
            </a:r>
          </a:p>
        </p:txBody>
      </p:sp>
      <p:sp>
        <p:nvSpPr>
          <p:cNvPr id="9" name="TextBox 8"/>
          <p:cNvSpPr txBox="1"/>
          <p:nvPr/>
        </p:nvSpPr>
        <p:spPr>
          <a:xfrm>
            <a:off x="548640" y="841248"/>
            <a:ext cx="10881360" cy="566928"/>
          </a:xfrm>
          <a:prstGeom prst="rect">
            <a:avLst/>
          </a:prstGeom>
          <a:noFill/>
        </p:spPr>
        <p:txBody>
          <a:bodyPr wrap="square" lIns="0" tIns="0" rIns="0" bIns="0" anchor="t">
            <a:spAutoFit/>
          </a:bodyPr>
          <a:lstStyle/>
          <a:p>
            <a:pPr algn="l">
              <a:lnSpc>
                <a:spcPct val="100000"/>
              </a:lnSpc>
              <a:spcBef>
                <a:spcPts val="0"/>
              </a:spcBef>
              <a:spcAft>
                <a:spcPts val="400"/>
              </a:spcAft>
            </a:pPr>
            <a:r>
              <a:rPr sz="2700" b="1" i="0">
                <a:solidFill>
                  <a:srgbClr val="19A99D"/>
                </a:solidFill>
                <a:latin typeface="Segoe UI Semibold"/>
                <a:cs typeface="Segoe UI Semibold"/>
              </a:rPr>
              <a:t>Dinh dưỡng nuôi dưỡng cả ba trụ cột</a:t>
            </a:r>
          </a:p>
        </p:txBody>
      </p:sp>
      <p:sp>
        <p:nvSpPr>
          <p:cNvPr id="10" name="TextBox 9"/>
          <p:cNvSpPr txBox="1"/>
          <p:nvPr/>
        </p:nvSpPr>
        <p:spPr>
          <a:xfrm>
            <a:off x="548640" y="1408176"/>
            <a:ext cx="10881360" cy="365760"/>
          </a:xfrm>
          <a:prstGeom prst="rect">
            <a:avLst/>
          </a:prstGeom>
          <a:noFill/>
        </p:spPr>
        <p:txBody>
          <a:bodyPr wrap="square" lIns="0" tIns="0" rIns="0" bIns="0" anchor="t">
            <a:spAutoFit/>
          </a:bodyPr>
          <a:lstStyle/>
          <a:p>
            <a:pPr algn="l">
              <a:lnSpc>
                <a:spcPct val="100000"/>
              </a:lnSpc>
              <a:spcBef>
                <a:spcPts val="0"/>
              </a:spcBef>
              <a:spcAft>
                <a:spcPts val="400"/>
              </a:spcAft>
            </a:pPr>
            <a:r>
              <a:rPr sz="1500" b="0" i="1">
                <a:solidFill>
                  <a:srgbClr val="64748B"/>
                </a:solidFill>
                <a:latin typeface="Segoe UI"/>
                <a:cs typeface="Segoe UI"/>
              </a:rPr>
              <a:t>Mỗi bữa ăn là một khoản đầu tư cho tương lai của con</a:t>
            </a:r>
          </a:p>
        </p:txBody>
      </p:sp>
      <p:sp>
        <p:nvSpPr>
          <p:cNvPr id="11" name="Rounded Rectangle 10"/>
          <p:cNvSpPr/>
          <p:nvPr/>
        </p:nvSpPr>
        <p:spPr>
          <a:xfrm>
            <a:off x="685800" y="2011680"/>
            <a:ext cx="3383280" cy="2926080"/>
          </a:xfrm>
          <a:prstGeom prst="roundRect">
            <a:avLst>
              <a:gd name="adj" fmla="val 6000"/>
            </a:avLst>
          </a:prstGeom>
          <a:solidFill>
            <a:srgbClr val="FFFFFF"/>
          </a:solidFill>
          <a:ln w="22225">
            <a:solidFill>
              <a:srgbClr val="3A6B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2011680" y="2240280"/>
            <a:ext cx="731520" cy="731520"/>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2600" b="1" i="0">
                <a:solidFill>
                  <a:srgbClr val="FFFFFF"/>
                </a:solidFill>
                <a:latin typeface="Segoe UI"/>
                <a:cs typeface="Segoe UI"/>
              </a:rPr>
              <a:t>1</a:t>
            </a:r>
          </a:p>
        </p:txBody>
      </p:sp>
      <p:sp>
        <p:nvSpPr>
          <p:cNvPr id="13" name="TextBox 12"/>
          <p:cNvSpPr txBox="1"/>
          <p:nvPr/>
        </p:nvSpPr>
        <p:spPr>
          <a:xfrm>
            <a:off x="685800" y="3127248"/>
            <a:ext cx="3383280" cy="457200"/>
          </a:xfrm>
          <a:prstGeom prst="rect">
            <a:avLst/>
          </a:prstGeom>
          <a:noFill/>
        </p:spPr>
        <p:txBody>
          <a:bodyPr wrap="square" lIns="0" tIns="0" rIns="0" bIns="0" anchor="t">
            <a:spAutoFit/>
          </a:bodyPr>
          <a:lstStyle/>
          <a:p>
            <a:pPr algn="ctr">
              <a:lnSpc>
                <a:spcPct val="100000"/>
              </a:lnSpc>
              <a:spcBef>
                <a:spcPts val="0"/>
              </a:spcBef>
              <a:spcAft>
                <a:spcPts val="400"/>
              </a:spcAft>
            </a:pPr>
            <a:r>
              <a:rPr sz="2000" b="1" i="0">
                <a:solidFill>
                  <a:srgbClr val="3A6B35"/>
                </a:solidFill>
                <a:latin typeface="Segoe UI Semibold"/>
                <a:cs typeface="Segoe UI Semibold"/>
              </a:rPr>
              <a:t>Thể chất</a:t>
            </a:r>
          </a:p>
        </p:txBody>
      </p:sp>
      <p:sp>
        <p:nvSpPr>
          <p:cNvPr id="14" name="TextBox 13"/>
          <p:cNvSpPr txBox="1"/>
          <p:nvPr/>
        </p:nvSpPr>
        <p:spPr>
          <a:xfrm>
            <a:off x="960120" y="3611880"/>
            <a:ext cx="2834640" cy="1188720"/>
          </a:xfrm>
          <a:prstGeom prst="rect">
            <a:avLst/>
          </a:prstGeom>
          <a:noFill/>
        </p:spPr>
        <p:txBody>
          <a:bodyPr wrap="square" lIns="0" tIns="0" rIns="0" bIns="0" anchor="t">
            <a:spAutoFit/>
          </a:bodyPr>
          <a:lstStyle/>
          <a:p>
            <a:pPr algn="ctr">
              <a:lnSpc>
                <a:spcPct val="110000"/>
              </a:lnSpc>
              <a:spcBef>
                <a:spcPts val="0"/>
              </a:spcBef>
              <a:spcAft>
                <a:spcPts val="400"/>
              </a:spcAft>
            </a:pPr>
            <a:r>
              <a:rPr sz="1300" b="0" i="0">
                <a:solidFill>
                  <a:srgbClr val="1E293B"/>
                </a:solidFill>
                <a:latin typeface="Segoe UI"/>
                <a:cs typeface="Segoe UI"/>
              </a:rPr>
              <a:t>Cân nặng, chiều cao, hệ xương – cơ chắc khỏe, phát triển đúng tiềm năng di truyền.</a:t>
            </a:r>
          </a:p>
        </p:txBody>
      </p:sp>
      <p:sp>
        <p:nvSpPr>
          <p:cNvPr id="15" name="Rounded Rectangle 14"/>
          <p:cNvSpPr/>
          <p:nvPr/>
        </p:nvSpPr>
        <p:spPr>
          <a:xfrm>
            <a:off x="4434840" y="2011680"/>
            <a:ext cx="3383280" cy="2926080"/>
          </a:xfrm>
          <a:prstGeom prst="roundRect">
            <a:avLst>
              <a:gd name="adj" fmla="val 6000"/>
            </a:avLst>
          </a:prstGeom>
          <a:solidFill>
            <a:srgbClr val="FFFFFF"/>
          </a:solidFill>
          <a:ln w="22225">
            <a:solidFill>
              <a:srgbClr val="2866A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5760720" y="2240280"/>
            <a:ext cx="731520" cy="731520"/>
          </a:xfrm>
          <a:prstGeom prst="ellipse">
            <a:avLst/>
          </a:prstGeom>
          <a:solidFill>
            <a:srgbClr val="2866A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2600" b="1" i="0">
                <a:solidFill>
                  <a:srgbClr val="FFFFFF"/>
                </a:solidFill>
                <a:latin typeface="Segoe UI"/>
                <a:cs typeface="Segoe UI"/>
              </a:rPr>
              <a:t>2</a:t>
            </a:r>
          </a:p>
        </p:txBody>
      </p:sp>
      <p:sp>
        <p:nvSpPr>
          <p:cNvPr id="17" name="TextBox 16"/>
          <p:cNvSpPr txBox="1"/>
          <p:nvPr/>
        </p:nvSpPr>
        <p:spPr>
          <a:xfrm>
            <a:off x="4434840" y="3127248"/>
            <a:ext cx="3383280" cy="457200"/>
          </a:xfrm>
          <a:prstGeom prst="rect">
            <a:avLst/>
          </a:prstGeom>
          <a:noFill/>
        </p:spPr>
        <p:txBody>
          <a:bodyPr wrap="square" lIns="0" tIns="0" rIns="0" bIns="0" anchor="t">
            <a:spAutoFit/>
          </a:bodyPr>
          <a:lstStyle/>
          <a:p>
            <a:pPr algn="ctr">
              <a:lnSpc>
                <a:spcPct val="100000"/>
              </a:lnSpc>
              <a:spcBef>
                <a:spcPts val="0"/>
              </a:spcBef>
              <a:spcAft>
                <a:spcPts val="400"/>
              </a:spcAft>
            </a:pPr>
            <a:r>
              <a:rPr sz="2000" b="1" i="0">
                <a:solidFill>
                  <a:srgbClr val="2866AB"/>
                </a:solidFill>
                <a:latin typeface="Segoe UI Semibold"/>
                <a:cs typeface="Segoe UI Semibold"/>
              </a:rPr>
              <a:t>Trí tuệ</a:t>
            </a:r>
          </a:p>
        </p:txBody>
      </p:sp>
      <p:sp>
        <p:nvSpPr>
          <p:cNvPr id="18" name="TextBox 17"/>
          <p:cNvSpPr txBox="1"/>
          <p:nvPr/>
        </p:nvSpPr>
        <p:spPr>
          <a:xfrm>
            <a:off x="4709159" y="3611880"/>
            <a:ext cx="2834640" cy="1188720"/>
          </a:xfrm>
          <a:prstGeom prst="rect">
            <a:avLst/>
          </a:prstGeom>
          <a:noFill/>
        </p:spPr>
        <p:txBody>
          <a:bodyPr wrap="square" lIns="0" tIns="0" rIns="0" bIns="0" anchor="t">
            <a:spAutoFit/>
          </a:bodyPr>
          <a:lstStyle/>
          <a:p>
            <a:pPr algn="ctr">
              <a:lnSpc>
                <a:spcPct val="110000"/>
              </a:lnSpc>
              <a:spcBef>
                <a:spcPts val="0"/>
              </a:spcBef>
              <a:spcAft>
                <a:spcPts val="400"/>
              </a:spcAft>
            </a:pPr>
            <a:r>
              <a:rPr sz="1300" b="0" i="0">
                <a:solidFill>
                  <a:srgbClr val="1E293B"/>
                </a:solidFill>
                <a:latin typeface="Segoe UI"/>
                <a:cs typeface="Segoe UI"/>
              </a:rPr>
              <a:t>Não phát triển mạnh nhất trong 1000 ngày đầu; thiếu dinh dưỡng có thể làm giảm 5–10 điểm IQ.</a:t>
            </a:r>
          </a:p>
        </p:txBody>
      </p:sp>
      <p:sp>
        <p:nvSpPr>
          <p:cNvPr id="19" name="Rounded Rectangle 18"/>
          <p:cNvSpPr/>
          <p:nvPr/>
        </p:nvSpPr>
        <p:spPr>
          <a:xfrm>
            <a:off x="8183879" y="2011680"/>
            <a:ext cx="3383280" cy="2926080"/>
          </a:xfrm>
          <a:prstGeom prst="roundRect">
            <a:avLst>
              <a:gd name="adj" fmla="val 6000"/>
            </a:avLst>
          </a:prstGeom>
          <a:solidFill>
            <a:srgbClr val="FFFFFF"/>
          </a:solidFill>
          <a:ln w="22225">
            <a:solidFill>
              <a:srgbClr val="19A99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9509759" y="2240280"/>
            <a:ext cx="731520" cy="731520"/>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2600" b="1" i="0">
                <a:solidFill>
                  <a:srgbClr val="FFFFFF"/>
                </a:solidFill>
                <a:latin typeface="Segoe UI"/>
                <a:cs typeface="Segoe UI"/>
              </a:rPr>
              <a:t>3</a:t>
            </a:r>
          </a:p>
        </p:txBody>
      </p:sp>
      <p:sp>
        <p:nvSpPr>
          <p:cNvPr id="21" name="TextBox 20"/>
          <p:cNvSpPr txBox="1"/>
          <p:nvPr/>
        </p:nvSpPr>
        <p:spPr>
          <a:xfrm>
            <a:off x="8183879" y="3127248"/>
            <a:ext cx="3383280" cy="457200"/>
          </a:xfrm>
          <a:prstGeom prst="rect">
            <a:avLst/>
          </a:prstGeom>
          <a:noFill/>
        </p:spPr>
        <p:txBody>
          <a:bodyPr wrap="square" lIns="0" tIns="0" rIns="0" bIns="0" anchor="t">
            <a:spAutoFit/>
          </a:bodyPr>
          <a:lstStyle/>
          <a:p>
            <a:pPr algn="ctr">
              <a:lnSpc>
                <a:spcPct val="100000"/>
              </a:lnSpc>
              <a:spcBef>
                <a:spcPts val="0"/>
              </a:spcBef>
              <a:spcAft>
                <a:spcPts val="400"/>
              </a:spcAft>
            </a:pPr>
            <a:r>
              <a:rPr sz="2000" b="1" i="0">
                <a:solidFill>
                  <a:srgbClr val="19A99D"/>
                </a:solidFill>
                <a:latin typeface="Segoe UI Semibold"/>
                <a:cs typeface="Segoe UI Semibold"/>
              </a:rPr>
              <a:t>Miễn dịch</a:t>
            </a:r>
          </a:p>
        </p:txBody>
      </p:sp>
      <p:sp>
        <p:nvSpPr>
          <p:cNvPr id="22" name="TextBox 21"/>
          <p:cNvSpPr txBox="1"/>
          <p:nvPr/>
        </p:nvSpPr>
        <p:spPr>
          <a:xfrm>
            <a:off x="8458200" y="3611880"/>
            <a:ext cx="2834640" cy="1188720"/>
          </a:xfrm>
          <a:prstGeom prst="rect">
            <a:avLst/>
          </a:prstGeom>
          <a:noFill/>
        </p:spPr>
        <p:txBody>
          <a:bodyPr wrap="square" lIns="0" tIns="0" rIns="0" bIns="0" anchor="t">
            <a:spAutoFit/>
          </a:bodyPr>
          <a:lstStyle/>
          <a:p>
            <a:pPr algn="ctr">
              <a:lnSpc>
                <a:spcPct val="110000"/>
              </a:lnSpc>
              <a:spcBef>
                <a:spcPts val="0"/>
              </a:spcBef>
              <a:spcAft>
                <a:spcPts val="400"/>
              </a:spcAft>
            </a:pPr>
            <a:r>
              <a:rPr sz="1300" b="0" i="0">
                <a:solidFill>
                  <a:srgbClr val="1E293B"/>
                </a:solidFill>
                <a:latin typeface="Segoe UI"/>
                <a:cs typeface="Segoe UI"/>
              </a:rPr>
              <a:t>Hàng rào bảo vệ chống nhiễm khuẩn; trẻ đủ chất ít ốm vặt, hồi phục nhanh hơn.</a:t>
            </a:r>
          </a:p>
        </p:txBody>
      </p:sp>
      <p:sp>
        <p:nvSpPr>
          <p:cNvPr id="23" name="TextBox 22"/>
          <p:cNvSpPr txBox="1"/>
          <p:nvPr/>
        </p:nvSpPr>
        <p:spPr>
          <a:xfrm>
            <a:off x="685800" y="5257800"/>
            <a:ext cx="10789920" cy="457200"/>
          </a:xfrm>
          <a:prstGeom prst="rect">
            <a:avLst/>
          </a:prstGeom>
          <a:noFill/>
        </p:spPr>
        <p:txBody>
          <a:bodyPr wrap="square" lIns="0" tIns="0" rIns="0" bIns="0" anchor="t">
            <a:spAutoFit/>
          </a:bodyPr>
          <a:lstStyle/>
          <a:p>
            <a:pPr algn="ctr">
              <a:lnSpc>
                <a:spcPct val="100000"/>
              </a:lnSpc>
              <a:spcBef>
                <a:spcPts val="0"/>
              </a:spcBef>
              <a:spcAft>
                <a:spcPts val="400"/>
              </a:spcAft>
            </a:pPr>
            <a:r>
              <a:rPr sz="1400" b="0" i="1">
                <a:solidFill>
                  <a:srgbClr val="64748B"/>
                </a:solidFill>
                <a:latin typeface="Segoe UI"/>
                <a:cs typeface="Segoe UI"/>
              </a:rPr>
              <a:t>Khi một trụ cột yếu, hai trụ cột còn lại đều lung lay – vì vậy dinh dưỡng phải toàn diện.</a:t>
            </a:r>
          </a:p>
        </p:txBody>
      </p:sp>
      <p:sp>
        <p:nvSpPr>
          <p:cNvPr id="24" name="TextBox 23"/>
          <p:cNvSpPr txBox="1"/>
          <p:nvPr/>
        </p:nvSpPr>
        <p:spPr>
          <a:xfrm>
            <a:off x="548640" y="6144768"/>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50" b="1" i="1">
                <a:solidFill>
                  <a:srgbClr val="19A99D"/>
                </a:solidFill>
                <a:latin typeface="Segoe UI"/>
                <a:cs typeface="Segoe UI"/>
              </a:rPr>
              <a:t>Nguồn: </a:t>
            </a:r>
            <a:r>
              <a:rPr sz="950" b="0" i="1">
                <a:solidFill>
                  <a:srgbClr val="64748B"/>
                </a:solidFill>
                <a:latin typeface="Segoe UI"/>
                <a:cs typeface="Segoe UI"/>
              </a:rPr>
              <a:t>Palmer AC, Adv Nutr 2011; Pai UA et al., Clin Epidemiol Glob Health 2018</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384048" y="274320"/>
            <a:ext cx="384048" cy="384048"/>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4068" y="329184"/>
            <a:ext cx="104241"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66344" y="406908"/>
            <a:ext cx="274320" cy="10424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274320"/>
            <a:ext cx="2926080" cy="402336"/>
          </a:xfrm>
          <a:prstGeom prst="rect">
            <a:avLst/>
          </a:prstGeom>
          <a:noFill/>
        </p:spPr>
        <p:txBody>
          <a:bodyPr wrap="square" lIns="0" tIns="0" rIns="0" bIns="0" anchor="ctr">
            <a:spAutoFit/>
          </a:bodyPr>
          <a:lstStyle/>
          <a:p>
            <a:pPr algn="l">
              <a:lnSpc>
                <a:spcPct val="100000"/>
              </a:lnSpc>
              <a:spcBef>
                <a:spcPts val="0"/>
              </a:spcBef>
              <a:spcAft>
                <a:spcPts val="400"/>
              </a:spcAft>
            </a:pPr>
            <a:r>
              <a:rPr sz="1300" b="1" i="0">
                <a:solidFill>
                  <a:srgbClr val="1E293B"/>
                </a:solidFill>
                <a:latin typeface="Segoe UI"/>
                <a:cs typeface="Segoe UI"/>
              </a:rPr>
              <a:t>DINH DƯỠNG </a:t>
            </a:r>
            <a:r>
              <a:rPr sz="1300" b="1" i="0">
                <a:solidFill>
                  <a:srgbClr val="19A99D"/>
                </a:solidFill>
                <a:latin typeface="Segoe UI"/>
                <a:cs typeface="Segoe UI"/>
              </a:rPr>
              <a:t>NHI KHOA</a:t>
            </a:r>
          </a:p>
        </p:txBody>
      </p:sp>
      <p:sp>
        <p:nvSpPr>
          <p:cNvPr id="6" name="Rectangle 5"/>
          <p:cNvSpPr/>
          <p:nvPr/>
        </p:nvSpPr>
        <p:spPr>
          <a:xfrm>
            <a:off x="0" y="6473952"/>
            <a:ext cx="12191695" cy="384048"/>
          </a:xfrm>
          <a:prstGeom prst="rect">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492240"/>
            <a:ext cx="9601200" cy="347472"/>
          </a:xfrm>
          <a:prstGeom prst="rect">
            <a:avLst/>
          </a:prstGeom>
          <a:noFill/>
        </p:spPr>
        <p:txBody>
          <a:bodyPr wrap="square" lIns="0" tIns="0" rIns="0" bIns="0" anchor="ctr">
            <a:spAutoFit/>
          </a:bodyPr>
          <a:lstStyle/>
          <a:p>
            <a:pPr algn="l">
              <a:lnSpc>
                <a:spcPct val="100000"/>
              </a:lnSpc>
              <a:spcBef>
                <a:spcPts val="0"/>
              </a:spcBef>
              <a:spcAft>
                <a:spcPts val="400"/>
              </a:spcAft>
            </a:pPr>
            <a:r>
              <a:rPr sz="950" b="0" i="0">
                <a:solidFill>
                  <a:srgbClr val="FFFFFF"/>
                </a:solidFill>
                <a:latin typeface="Segoe UI"/>
                <a:cs typeface="Segoe UI"/>
              </a:rPr>
              <a:t>Chuyên đề 2 · Dinh dưỡng – nền tảng cho miễn dịch &amp; sự phát triển của trẻ  ·  TS. Lê Thị Thùy Dung</a:t>
            </a:r>
          </a:p>
        </p:txBody>
      </p:sp>
      <p:sp>
        <p:nvSpPr>
          <p:cNvPr id="8" name="TextBox 7"/>
          <p:cNvSpPr txBox="1"/>
          <p:nvPr/>
        </p:nvSpPr>
        <p:spPr>
          <a:xfrm>
            <a:off x="11185855" y="6492240"/>
            <a:ext cx="548640" cy="347472"/>
          </a:xfrm>
          <a:prstGeom prst="rect">
            <a:avLst/>
          </a:prstGeom>
          <a:noFill/>
        </p:spPr>
        <p:txBody>
          <a:bodyPr wrap="square" lIns="0" tIns="0" rIns="0" bIns="0" anchor="ctr">
            <a:spAutoFit/>
          </a:bodyPr>
          <a:lstStyle/>
          <a:p>
            <a:pPr algn="r">
              <a:lnSpc>
                <a:spcPct val="100000"/>
              </a:lnSpc>
              <a:spcBef>
                <a:spcPts val="0"/>
              </a:spcBef>
              <a:spcAft>
                <a:spcPts val="400"/>
              </a:spcAft>
            </a:pPr>
            <a:r>
              <a:rPr sz="1000" b="1" i="0">
                <a:solidFill>
                  <a:srgbClr val="FFFFFF"/>
                </a:solidFill>
                <a:latin typeface="Segoe UI"/>
                <a:cs typeface="Segoe UI"/>
              </a:rPr>
              <a:t>7</a:t>
            </a:r>
          </a:p>
        </p:txBody>
      </p:sp>
      <p:sp>
        <p:nvSpPr>
          <p:cNvPr id="9" name="TextBox 8"/>
          <p:cNvSpPr txBox="1"/>
          <p:nvPr/>
        </p:nvSpPr>
        <p:spPr>
          <a:xfrm>
            <a:off x="548640" y="841248"/>
            <a:ext cx="10881360" cy="566928"/>
          </a:xfrm>
          <a:prstGeom prst="rect">
            <a:avLst/>
          </a:prstGeom>
          <a:noFill/>
        </p:spPr>
        <p:txBody>
          <a:bodyPr wrap="square" lIns="0" tIns="0" rIns="0" bIns="0" anchor="t">
            <a:spAutoFit/>
          </a:bodyPr>
          <a:lstStyle/>
          <a:p>
            <a:pPr algn="l">
              <a:lnSpc>
                <a:spcPct val="100000"/>
              </a:lnSpc>
              <a:spcBef>
                <a:spcPts val="0"/>
              </a:spcBef>
              <a:spcAft>
                <a:spcPts val="400"/>
              </a:spcAft>
            </a:pPr>
            <a:r>
              <a:rPr sz="2700" b="1" i="0">
                <a:solidFill>
                  <a:srgbClr val="19A99D"/>
                </a:solidFill>
                <a:latin typeface="Segoe UI Semibold"/>
                <a:cs typeface="Segoe UI Semibold"/>
              </a:rPr>
              <a:t>1000 ngày đầu đời – “giai đoạn vàng”</a:t>
            </a:r>
          </a:p>
        </p:txBody>
      </p:sp>
      <p:sp>
        <p:nvSpPr>
          <p:cNvPr id="10" name="TextBox 9"/>
          <p:cNvSpPr txBox="1"/>
          <p:nvPr/>
        </p:nvSpPr>
        <p:spPr>
          <a:xfrm>
            <a:off x="548640" y="1408176"/>
            <a:ext cx="10881360" cy="365760"/>
          </a:xfrm>
          <a:prstGeom prst="rect">
            <a:avLst/>
          </a:prstGeom>
          <a:noFill/>
        </p:spPr>
        <p:txBody>
          <a:bodyPr wrap="square" lIns="0" tIns="0" rIns="0" bIns="0" anchor="t">
            <a:spAutoFit/>
          </a:bodyPr>
          <a:lstStyle/>
          <a:p>
            <a:pPr algn="l">
              <a:lnSpc>
                <a:spcPct val="100000"/>
              </a:lnSpc>
              <a:spcBef>
                <a:spcPts val="0"/>
              </a:spcBef>
              <a:spcAft>
                <a:spcPts val="400"/>
              </a:spcAft>
            </a:pPr>
            <a:r>
              <a:rPr sz="1500" b="0" i="1">
                <a:solidFill>
                  <a:srgbClr val="64748B"/>
                </a:solidFill>
                <a:latin typeface="Segoe UI"/>
                <a:cs typeface="Segoe UI"/>
              </a:rPr>
              <a:t>Cơ hội chỉ đến một lần, không lặp lại</a:t>
            </a:r>
          </a:p>
        </p:txBody>
      </p:sp>
      <p:sp>
        <p:nvSpPr>
          <p:cNvPr id="11" name="Rectangle 10"/>
          <p:cNvSpPr/>
          <p:nvPr/>
        </p:nvSpPr>
        <p:spPr>
          <a:xfrm>
            <a:off x="1005840" y="2880360"/>
            <a:ext cx="9875520" cy="54864"/>
          </a:xfrm>
          <a:prstGeom prst="rect">
            <a:avLst/>
          </a:prstGeom>
          <a:solidFill>
            <a:srgbClr val="E0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325880" y="2697480"/>
            <a:ext cx="457200" cy="457200"/>
          </a:xfrm>
          <a:prstGeom prst="ellipse">
            <a:avLst/>
          </a:prstGeom>
          <a:solidFill>
            <a:srgbClr val="286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 y="1965960"/>
            <a:ext cx="2286000" cy="365760"/>
          </a:xfrm>
          <a:prstGeom prst="rect">
            <a:avLst/>
          </a:prstGeom>
          <a:noFill/>
        </p:spPr>
        <p:txBody>
          <a:bodyPr wrap="square" lIns="0" tIns="0" rIns="0" bIns="0" anchor="t">
            <a:spAutoFit/>
          </a:bodyPr>
          <a:lstStyle/>
          <a:p>
            <a:pPr algn="ctr">
              <a:lnSpc>
                <a:spcPct val="100000"/>
              </a:lnSpc>
              <a:spcBef>
                <a:spcPts val="0"/>
              </a:spcBef>
              <a:spcAft>
                <a:spcPts val="400"/>
              </a:spcAft>
            </a:pPr>
            <a:r>
              <a:rPr sz="1700" b="1" i="0">
                <a:solidFill>
                  <a:srgbClr val="2866AB"/>
                </a:solidFill>
                <a:latin typeface="Segoe UI Semibold"/>
                <a:cs typeface="Segoe UI Semibold"/>
              </a:rPr>
              <a:t>Mang thai</a:t>
            </a:r>
          </a:p>
        </p:txBody>
      </p:sp>
      <p:sp>
        <p:nvSpPr>
          <p:cNvPr id="14" name="TextBox 13"/>
          <p:cNvSpPr txBox="1"/>
          <p:nvPr/>
        </p:nvSpPr>
        <p:spPr>
          <a:xfrm>
            <a:off x="457200" y="2331720"/>
            <a:ext cx="2286000" cy="320040"/>
          </a:xfrm>
          <a:prstGeom prst="rect">
            <a:avLst/>
          </a:prstGeom>
          <a:noFill/>
        </p:spPr>
        <p:txBody>
          <a:bodyPr wrap="square" lIns="0" tIns="0" rIns="0" bIns="0" anchor="t">
            <a:spAutoFit/>
          </a:bodyPr>
          <a:lstStyle/>
          <a:p>
            <a:pPr algn="ctr">
              <a:lnSpc>
                <a:spcPct val="100000"/>
              </a:lnSpc>
              <a:spcBef>
                <a:spcPts val="0"/>
              </a:spcBef>
              <a:spcAft>
                <a:spcPts val="400"/>
              </a:spcAft>
            </a:pPr>
            <a:r>
              <a:rPr sz="1200" b="0" i="1">
                <a:solidFill>
                  <a:srgbClr val="64748B"/>
                </a:solidFill>
                <a:latin typeface="Segoe UI"/>
                <a:cs typeface="Segoe UI"/>
              </a:rPr>
              <a:t>280 ngày</a:t>
            </a:r>
          </a:p>
        </p:txBody>
      </p:sp>
      <p:sp>
        <p:nvSpPr>
          <p:cNvPr id="15" name="Rounded Rectangle 14"/>
          <p:cNvSpPr/>
          <p:nvPr/>
        </p:nvSpPr>
        <p:spPr>
          <a:xfrm>
            <a:off x="137159" y="3429000"/>
            <a:ext cx="2926080" cy="1371600"/>
          </a:xfrm>
          <a:prstGeom prst="roundRect">
            <a:avLst>
              <a:gd name="adj" fmla="val 6000"/>
            </a:avLst>
          </a:prstGeom>
          <a:solidFill>
            <a:srgbClr val="E0F5F4"/>
          </a:solidFill>
          <a:ln w="15875">
            <a:solidFill>
              <a:srgbClr val="2866A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20040" y="3611880"/>
            <a:ext cx="2560320" cy="1097280"/>
          </a:xfrm>
          <a:prstGeom prst="rect">
            <a:avLst/>
          </a:prstGeom>
          <a:noFill/>
        </p:spPr>
        <p:txBody>
          <a:bodyPr wrap="square" lIns="0" tIns="0" rIns="0" bIns="0" anchor="t">
            <a:spAutoFit/>
          </a:bodyPr>
          <a:lstStyle/>
          <a:p>
            <a:pPr algn="ctr">
              <a:lnSpc>
                <a:spcPct val="108000"/>
              </a:lnSpc>
              <a:spcBef>
                <a:spcPts val="0"/>
              </a:spcBef>
              <a:spcAft>
                <a:spcPts val="400"/>
              </a:spcAft>
            </a:pPr>
            <a:r>
              <a:rPr sz="1250" b="0" i="0">
                <a:solidFill>
                  <a:srgbClr val="1E293B"/>
                </a:solidFill>
                <a:latin typeface="Segoe UI"/>
                <a:cs typeface="Segoe UI"/>
              </a:rPr>
              <a:t>Mẹ ăn đủ chất, bổ sung sắt – axit folic</a:t>
            </a:r>
          </a:p>
        </p:txBody>
      </p:sp>
      <p:sp>
        <p:nvSpPr>
          <p:cNvPr id="17" name="Oval 16"/>
          <p:cNvSpPr/>
          <p:nvPr/>
        </p:nvSpPr>
        <p:spPr>
          <a:xfrm>
            <a:off x="4709160" y="2697480"/>
            <a:ext cx="457200" cy="457200"/>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840480" y="1965960"/>
            <a:ext cx="2286000" cy="365760"/>
          </a:xfrm>
          <a:prstGeom prst="rect">
            <a:avLst/>
          </a:prstGeom>
          <a:noFill/>
        </p:spPr>
        <p:txBody>
          <a:bodyPr wrap="square" lIns="0" tIns="0" rIns="0" bIns="0" anchor="t">
            <a:spAutoFit/>
          </a:bodyPr>
          <a:lstStyle/>
          <a:p>
            <a:pPr algn="ctr">
              <a:lnSpc>
                <a:spcPct val="100000"/>
              </a:lnSpc>
              <a:spcBef>
                <a:spcPts val="0"/>
              </a:spcBef>
              <a:spcAft>
                <a:spcPts val="400"/>
              </a:spcAft>
            </a:pPr>
            <a:r>
              <a:rPr sz="1700" b="1" i="0">
                <a:solidFill>
                  <a:srgbClr val="19A99D"/>
                </a:solidFill>
                <a:latin typeface="Segoe UI Semibold"/>
                <a:cs typeface="Segoe UI Semibold"/>
              </a:rPr>
              <a:t>0 – 6 tháng</a:t>
            </a:r>
          </a:p>
        </p:txBody>
      </p:sp>
      <p:sp>
        <p:nvSpPr>
          <p:cNvPr id="19" name="TextBox 18"/>
          <p:cNvSpPr txBox="1"/>
          <p:nvPr/>
        </p:nvSpPr>
        <p:spPr>
          <a:xfrm>
            <a:off x="3840480" y="2331720"/>
            <a:ext cx="2286000" cy="320040"/>
          </a:xfrm>
          <a:prstGeom prst="rect">
            <a:avLst/>
          </a:prstGeom>
          <a:noFill/>
        </p:spPr>
        <p:txBody>
          <a:bodyPr wrap="square" lIns="0" tIns="0" rIns="0" bIns="0" anchor="t">
            <a:spAutoFit/>
          </a:bodyPr>
          <a:lstStyle/>
          <a:p>
            <a:pPr algn="ctr">
              <a:lnSpc>
                <a:spcPct val="100000"/>
              </a:lnSpc>
              <a:spcBef>
                <a:spcPts val="0"/>
              </a:spcBef>
              <a:spcAft>
                <a:spcPts val="400"/>
              </a:spcAft>
            </a:pPr>
            <a:r>
              <a:rPr sz="1200" b="0" i="1">
                <a:solidFill>
                  <a:srgbClr val="64748B"/>
                </a:solidFill>
                <a:latin typeface="Segoe UI"/>
                <a:cs typeface="Segoe UI"/>
              </a:rPr>
              <a:t>180 ngày</a:t>
            </a:r>
          </a:p>
        </p:txBody>
      </p:sp>
      <p:sp>
        <p:nvSpPr>
          <p:cNvPr id="20" name="Rounded Rectangle 19"/>
          <p:cNvSpPr/>
          <p:nvPr/>
        </p:nvSpPr>
        <p:spPr>
          <a:xfrm>
            <a:off x="3520440" y="3429000"/>
            <a:ext cx="2926080" cy="1371600"/>
          </a:xfrm>
          <a:prstGeom prst="roundRect">
            <a:avLst>
              <a:gd name="adj" fmla="val 6000"/>
            </a:avLst>
          </a:prstGeom>
          <a:solidFill>
            <a:srgbClr val="E0F5F4"/>
          </a:solidFill>
          <a:ln w="15875">
            <a:solidFill>
              <a:srgbClr val="19A99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703320" y="3611880"/>
            <a:ext cx="2560320" cy="1097280"/>
          </a:xfrm>
          <a:prstGeom prst="rect">
            <a:avLst/>
          </a:prstGeom>
          <a:noFill/>
        </p:spPr>
        <p:txBody>
          <a:bodyPr wrap="square" lIns="0" tIns="0" rIns="0" bIns="0" anchor="t">
            <a:spAutoFit/>
          </a:bodyPr>
          <a:lstStyle/>
          <a:p>
            <a:pPr algn="ctr">
              <a:lnSpc>
                <a:spcPct val="108000"/>
              </a:lnSpc>
              <a:spcBef>
                <a:spcPts val="0"/>
              </a:spcBef>
              <a:spcAft>
                <a:spcPts val="400"/>
              </a:spcAft>
            </a:pPr>
            <a:r>
              <a:rPr sz="1250" b="0" i="0">
                <a:solidFill>
                  <a:srgbClr val="1E293B"/>
                </a:solidFill>
                <a:latin typeface="Segoe UI"/>
                <a:cs typeface="Segoe UI"/>
              </a:rPr>
              <a:t>Bú mẹ hoàn toàn, không thêm nước/sữa ngoài</a:t>
            </a:r>
          </a:p>
        </p:txBody>
      </p:sp>
      <p:sp>
        <p:nvSpPr>
          <p:cNvPr id="22" name="Oval 21"/>
          <p:cNvSpPr/>
          <p:nvPr/>
        </p:nvSpPr>
        <p:spPr>
          <a:xfrm>
            <a:off x="8092440" y="2697480"/>
            <a:ext cx="457200" cy="457200"/>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223760" y="1965960"/>
            <a:ext cx="2286000" cy="365760"/>
          </a:xfrm>
          <a:prstGeom prst="rect">
            <a:avLst/>
          </a:prstGeom>
          <a:noFill/>
        </p:spPr>
        <p:txBody>
          <a:bodyPr wrap="square" lIns="0" tIns="0" rIns="0" bIns="0" anchor="t">
            <a:spAutoFit/>
          </a:bodyPr>
          <a:lstStyle/>
          <a:p>
            <a:pPr algn="ctr">
              <a:lnSpc>
                <a:spcPct val="100000"/>
              </a:lnSpc>
              <a:spcBef>
                <a:spcPts val="0"/>
              </a:spcBef>
              <a:spcAft>
                <a:spcPts val="400"/>
              </a:spcAft>
            </a:pPr>
            <a:r>
              <a:rPr sz="1700" b="1" i="0">
                <a:solidFill>
                  <a:srgbClr val="3A6B35"/>
                </a:solidFill>
                <a:latin typeface="Segoe UI Semibold"/>
                <a:cs typeface="Segoe UI Semibold"/>
              </a:rPr>
              <a:t>6 – 24 tháng</a:t>
            </a:r>
          </a:p>
        </p:txBody>
      </p:sp>
      <p:sp>
        <p:nvSpPr>
          <p:cNvPr id="24" name="TextBox 23"/>
          <p:cNvSpPr txBox="1"/>
          <p:nvPr/>
        </p:nvSpPr>
        <p:spPr>
          <a:xfrm>
            <a:off x="7223760" y="2331720"/>
            <a:ext cx="2286000" cy="320040"/>
          </a:xfrm>
          <a:prstGeom prst="rect">
            <a:avLst/>
          </a:prstGeom>
          <a:noFill/>
        </p:spPr>
        <p:txBody>
          <a:bodyPr wrap="square" lIns="0" tIns="0" rIns="0" bIns="0" anchor="t">
            <a:spAutoFit/>
          </a:bodyPr>
          <a:lstStyle/>
          <a:p>
            <a:pPr algn="ctr">
              <a:lnSpc>
                <a:spcPct val="100000"/>
              </a:lnSpc>
              <a:spcBef>
                <a:spcPts val="0"/>
              </a:spcBef>
              <a:spcAft>
                <a:spcPts val="400"/>
              </a:spcAft>
            </a:pPr>
            <a:r>
              <a:rPr sz="1200" b="0" i="1">
                <a:solidFill>
                  <a:srgbClr val="64748B"/>
                </a:solidFill>
                <a:latin typeface="Segoe UI"/>
                <a:cs typeface="Segoe UI"/>
              </a:rPr>
              <a:t>540 ngày</a:t>
            </a:r>
          </a:p>
        </p:txBody>
      </p:sp>
      <p:sp>
        <p:nvSpPr>
          <p:cNvPr id="25" name="Rounded Rectangle 24"/>
          <p:cNvSpPr/>
          <p:nvPr/>
        </p:nvSpPr>
        <p:spPr>
          <a:xfrm>
            <a:off x="6903720" y="3429000"/>
            <a:ext cx="2926080" cy="1371600"/>
          </a:xfrm>
          <a:prstGeom prst="roundRect">
            <a:avLst>
              <a:gd name="adj" fmla="val 6000"/>
            </a:avLst>
          </a:prstGeom>
          <a:solidFill>
            <a:srgbClr val="E0F5F4"/>
          </a:solidFill>
          <a:ln w="15875">
            <a:solidFill>
              <a:srgbClr val="3A6B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086600" y="3611880"/>
            <a:ext cx="2560320" cy="1097280"/>
          </a:xfrm>
          <a:prstGeom prst="rect">
            <a:avLst/>
          </a:prstGeom>
          <a:noFill/>
        </p:spPr>
        <p:txBody>
          <a:bodyPr wrap="square" lIns="0" tIns="0" rIns="0" bIns="0" anchor="t">
            <a:spAutoFit/>
          </a:bodyPr>
          <a:lstStyle/>
          <a:p>
            <a:pPr algn="ctr">
              <a:lnSpc>
                <a:spcPct val="108000"/>
              </a:lnSpc>
              <a:spcBef>
                <a:spcPts val="0"/>
              </a:spcBef>
              <a:spcAft>
                <a:spcPts val="400"/>
              </a:spcAft>
            </a:pPr>
            <a:r>
              <a:rPr sz="1250" b="0" i="0">
                <a:solidFill>
                  <a:srgbClr val="1E293B"/>
                </a:solidFill>
                <a:latin typeface="Segoe UI"/>
                <a:cs typeface="Segoe UI"/>
              </a:rPr>
              <a:t>Ăn bổ sung hợp lý + tiếp tục bú mẹ</a:t>
            </a:r>
          </a:p>
        </p:txBody>
      </p:sp>
      <p:sp>
        <p:nvSpPr>
          <p:cNvPr id="27" name="Rounded Rectangle 26"/>
          <p:cNvSpPr/>
          <p:nvPr/>
        </p:nvSpPr>
        <p:spPr>
          <a:xfrm>
            <a:off x="1005840" y="5074920"/>
            <a:ext cx="9875520" cy="868680"/>
          </a:xfrm>
          <a:prstGeom prst="roundRect">
            <a:avLst>
              <a:gd name="adj" fmla="val 5000"/>
            </a:avLst>
          </a:prstGeom>
          <a:solidFill>
            <a:srgbClr val="2A6041"/>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5000"/>
              </a:lnSpc>
              <a:spcBef>
                <a:spcPts val="0"/>
              </a:spcBef>
              <a:spcAft>
                <a:spcPts val="0"/>
              </a:spcAft>
            </a:pPr>
            <a:r>
              <a:rPr sz="1450" b="1" i="0">
                <a:solidFill>
                  <a:srgbClr val="FFFFFF"/>
                </a:solidFill>
                <a:latin typeface="Segoe UI"/>
                <a:cs typeface="Segoe UI"/>
              </a:rPr>
              <a:t>1000 ngày = từ khi mẹ mang thai đến khi trẻ tròn 24 tháng. </a:t>
            </a:r>
            <a:r>
              <a:rPr sz="1450" b="0" i="0">
                <a:solidFill>
                  <a:srgbClr val="E0F5F4"/>
                </a:solidFill>
                <a:latin typeface="Segoe UI"/>
                <a:cs typeface="Segoe UI"/>
              </a:rPr>
              <a:t>Dinh dưỡng tốt giai đoạn này giúp phòng thấp còi và béo phì khi trưởng thành.</a:t>
            </a:r>
          </a:p>
        </p:txBody>
      </p:sp>
      <p:sp>
        <p:nvSpPr>
          <p:cNvPr id="28" name="TextBox 27"/>
          <p:cNvSpPr txBox="1"/>
          <p:nvPr/>
        </p:nvSpPr>
        <p:spPr>
          <a:xfrm>
            <a:off x="548640" y="6144768"/>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50" b="1" i="1">
                <a:solidFill>
                  <a:srgbClr val="19A99D"/>
                </a:solidFill>
                <a:latin typeface="Segoe UI"/>
                <a:cs typeface="Segoe UI"/>
              </a:rPr>
              <a:t>Nguồn: </a:t>
            </a:r>
            <a:r>
              <a:rPr sz="950" b="0" i="1">
                <a:solidFill>
                  <a:srgbClr val="64748B"/>
                </a:solidFill>
                <a:latin typeface="Segoe UI"/>
                <a:cs typeface="Segoe UI"/>
              </a:rPr>
              <a:t>Nuôi dưỡng trẻ nhỏ 0–24 tháng tuổi, Bộ Y tế – Tầm nhìn Thế giới, 2015</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384048" y="274320"/>
            <a:ext cx="384048" cy="384048"/>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4068" y="329184"/>
            <a:ext cx="104241"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66344" y="406908"/>
            <a:ext cx="274320" cy="10424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274320"/>
            <a:ext cx="2926080" cy="402336"/>
          </a:xfrm>
          <a:prstGeom prst="rect">
            <a:avLst/>
          </a:prstGeom>
          <a:noFill/>
        </p:spPr>
        <p:txBody>
          <a:bodyPr wrap="square" lIns="0" tIns="0" rIns="0" bIns="0" anchor="ctr">
            <a:spAutoFit/>
          </a:bodyPr>
          <a:lstStyle/>
          <a:p>
            <a:pPr algn="l">
              <a:lnSpc>
                <a:spcPct val="100000"/>
              </a:lnSpc>
              <a:spcBef>
                <a:spcPts val="0"/>
              </a:spcBef>
              <a:spcAft>
                <a:spcPts val="400"/>
              </a:spcAft>
            </a:pPr>
            <a:r>
              <a:rPr sz="1300" b="1" i="0">
                <a:solidFill>
                  <a:srgbClr val="1E293B"/>
                </a:solidFill>
                <a:latin typeface="Segoe UI"/>
                <a:cs typeface="Segoe UI"/>
              </a:rPr>
              <a:t>DINH DƯỠNG </a:t>
            </a:r>
            <a:r>
              <a:rPr sz="1300" b="1" i="0">
                <a:solidFill>
                  <a:srgbClr val="19A99D"/>
                </a:solidFill>
                <a:latin typeface="Segoe UI"/>
                <a:cs typeface="Segoe UI"/>
              </a:rPr>
              <a:t>NHI KHOA</a:t>
            </a:r>
          </a:p>
        </p:txBody>
      </p:sp>
      <p:sp>
        <p:nvSpPr>
          <p:cNvPr id="6" name="Rectangle 5"/>
          <p:cNvSpPr/>
          <p:nvPr/>
        </p:nvSpPr>
        <p:spPr>
          <a:xfrm>
            <a:off x="0" y="6473952"/>
            <a:ext cx="12191695" cy="384048"/>
          </a:xfrm>
          <a:prstGeom prst="rect">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492240"/>
            <a:ext cx="9601200" cy="347472"/>
          </a:xfrm>
          <a:prstGeom prst="rect">
            <a:avLst/>
          </a:prstGeom>
          <a:noFill/>
        </p:spPr>
        <p:txBody>
          <a:bodyPr wrap="square" lIns="0" tIns="0" rIns="0" bIns="0" anchor="ctr">
            <a:spAutoFit/>
          </a:bodyPr>
          <a:lstStyle/>
          <a:p>
            <a:pPr algn="l">
              <a:lnSpc>
                <a:spcPct val="100000"/>
              </a:lnSpc>
              <a:spcBef>
                <a:spcPts val="0"/>
              </a:spcBef>
              <a:spcAft>
                <a:spcPts val="400"/>
              </a:spcAft>
            </a:pPr>
            <a:r>
              <a:rPr sz="950" b="0" i="0">
                <a:solidFill>
                  <a:srgbClr val="FFFFFF"/>
                </a:solidFill>
                <a:latin typeface="Segoe UI"/>
                <a:cs typeface="Segoe UI"/>
              </a:rPr>
              <a:t>Chuyên đề 2 · Dinh dưỡng – nền tảng cho miễn dịch &amp; sự phát triển của trẻ  ·  TS. Lê Thị Thùy Dung</a:t>
            </a:r>
          </a:p>
        </p:txBody>
      </p:sp>
      <p:sp>
        <p:nvSpPr>
          <p:cNvPr id="8" name="TextBox 7"/>
          <p:cNvSpPr txBox="1"/>
          <p:nvPr/>
        </p:nvSpPr>
        <p:spPr>
          <a:xfrm>
            <a:off x="11185855" y="6492240"/>
            <a:ext cx="548640" cy="347472"/>
          </a:xfrm>
          <a:prstGeom prst="rect">
            <a:avLst/>
          </a:prstGeom>
          <a:noFill/>
        </p:spPr>
        <p:txBody>
          <a:bodyPr wrap="square" lIns="0" tIns="0" rIns="0" bIns="0" anchor="ctr">
            <a:spAutoFit/>
          </a:bodyPr>
          <a:lstStyle/>
          <a:p>
            <a:pPr algn="r">
              <a:lnSpc>
                <a:spcPct val="100000"/>
              </a:lnSpc>
              <a:spcBef>
                <a:spcPts val="0"/>
              </a:spcBef>
              <a:spcAft>
                <a:spcPts val="400"/>
              </a:spcAft>
            </a:pPr>
            <a:r>
              <a:rPr sz="1000" b="1" i="0">
                <a:solidFill>
                  <a:srgbClr val="FFFFFF"/>
                </a:solidFill>
                <a:latin typeface="Segoe UI"/>
                <a:cs typeface="Segoe UI"/>
              </a:rPr>
              <a:t>8</a:t>
            </a:r>
          </a:p>
        </p:txBody>
      </p:sp>
      <p:sp>
        <p:nvSpPr>
          <p:cNvPr id="9" name="TextBox 8"/>
          <p:cNvSpPr txBox="1"/>
          <p:nvPr/>
        </p:nvSpPr>
        <p:spPr>
          <a:xfrm>
            <a:off x="548640" y="841248"/>
            <a:ext cx="10881360" cy="566928"/>
          </a:xfrm>
          <a:prstGeom prst="rect">
            <a:avLst/>
          </a:prstGeom>
          <a:noFill/>
        </p:spPr>
        <p:txBody>
          <a:bodyPr wrap="square" lIns="0" tIns="0" rIns="0" bIns="0" anchor="t">
            <a:spAutoFit/>
          </a:bodyPr>
          <a:lstStyle/>
          <a:p>
            <a:pPr algn="l">
              <a:lnSpc>
                <a:spcPct val="100000"/>
              </a:lnSpc>
              <a:spcBef>
                <a:spcPts val="0"/>
              </a:spcBef>
              <a:spcAft>
                <a:spcPts val="400"/>
              </a:spcAft>
            </a:pPr>
            <a:r>
              <a:rPr sz="2700" b="1" i="0">
                <a:solidFill>
                  <a:srgbClr val="19A99D"/>
                </a:solidFill>
                <a:latin typeface="Segoe UI Semibold"/>
                <a:cs typeface="Segoe UI Semibold"/>
              </a:rPr>
              <a:t>Dinh dưỡng và chiều cao của trẻ</a:t>
            </a:r>
          </a:p>
        </p:txBody>
      </p:sp>
      <p:sp>
        <p:nvSpPr>
          <p:cNvPr id="10" name="TextBox 9"/>
          <p:cNvSpPr txBox="1"/>
          <p:nvPr/>
        </p:nvSpPr>
        <p:spPr>
          <a:xfrm>
            <a:off x="548640" y="1408176"/>
            <a:ext cx="10881360" cy="365760"/>
          </a:xfrm>
          <a:prstGeom prst="rect">
            <a:avLst/>
          </a:prstGeom>
          <a:noFill/>
        </p:spPr>
        <p:txBody>
          <a:bodyPr wrap="square" lIns="0" tIns="0" rIns="0" bIns="0" anchor="t">
            <a:spAutoFit/>
          </a:bodyPr>
          <a:lstStyle/>
          <a:p>
            <a:pPr algn="l">
              <a:lnSpc>
                <a:spcPct val="100000"/>
              </a:lnSpc>
              <a:spcBef>
                <a:spcPts val="0"/>
              </a:spcBef>
              <a:spcAft>
                <a:spcPts val="400"/>
              </a:spcAft>
            </a:pPr>
            <a:r>
              <a:rPr sz="1500" b="0" i="1">
                <a:solidFill>
                  <a:srgbClr val="64748B"/>
                </a:solidFill>
                <a:latin typeface="Segoe UI"/>
                <a:cs typeface="Segoe UI"/>
              </a:rPr>
              <a:t>Chiều cao lúc trưởng thành phụ thuộc chiều cao lúc 3 tuổi</a:t>
            </a:r>
          </a:p>
        </p:txBody>
      </p:sp>
      <p:pic>
        <p:nvPicPr>
          <p:cNvPr id="11" name="Picture 10" descr="height_stunted.png"/>
          <p:cNvPicPr>
            <a:picLocks noChangeAspect="1"/>
          </p:cNvPicPr>
          <p:nvPr/>
        </p:nvPicPr>
        <p:blipFill>
          <a:blip r:embed="rId2"/>
          <a:stretch>
            <a:fillRect/>
          </a:stretch>
        </p:blipFill>
        <p:spPr>
          <a:xfrm>
            <a:off x="554371" y="1783080"/>
            <a:ext cx="2594577" cy="3337560"/>
          </a:xfrm>
          <a:prstGeom prst="rect">
            <a:avLst/>
          </a:prstGeom>
        </p:spPr>
      </p:pic>
      <p:pic>
        <p:nvPicPr>
          <p:cNvPr id="12" name="Picture 11" descr="height_good.png"/>
          <p:cNvPicPr>
            <a:picLocks noChangeAspect="1"/>
          </p:cNvPicPr>
          <p:nvPr/>
        </p:nvPicPr>
        <p:blipFill>
          <a:blip r:embed="rId3"/>
          <a:stretch>
            <a:fillRect/>
          </a:stretch>
        </p:blipFill>
        <p:spPr>
          <a:xfrm>
            <a:off x="3949356" y="1783080"/>
            <a:ext cx="2388286" cy="3337560"/>
          </a:xfrm>
          <a:prstGeom prst="rect">
            <a:avLst/>
          </a:prstGeom>
        </p:spPr>
      </p:pic>
      <p:sp>
        <p:nvSpPr>
          <p:cNvPr id="13" name="TextBox 12"/>
          <p:cNvSpPr txBox="1"/>
          <p:nvPr/>
        </p:nvSpPr>
        <p:spPr>
          <a:xfrm>
            <a:off x="411480" y="5230368"/>
            <a:ext cx="2880360" cy="365760"/>
          </a:xfrm>
          <a:prstGeom prst="rect">
            <a:avLst/>
          </a:prstGeom>
          <a:noFill/>
        </p:spPr>
        <p:txBody>
          <a:bodyPr wrap="square" lIns="0" tIns="0" rIns="0" bIns="0" anchor="t">
            <a:spAutoFit/>
          </a:bodyPr>
          <a:lstStyle/>
          <a:p>
            <a:pPr algn="ctr">
              <a:lnSpc>
                <a:spcPct val="100000"/>
              </a:lnSpc>
              <a:spcBef>
                <a:spcPts val="0"/>
              </a:spcBef>
              <a:spcAft>
                <a:spcPts val="400"/>
              </a:spcAft>
            </a:pPr>
            <a:r>
              <a:rPr sz="1200" b="1" i="0">
                <a:solidFill>
                  <a:srgbClr val="E26D5A"/>
                </a:solidFill>
                <a:latin typeface="Segoe UI"/>
                <a:cs typeface="Segoe UI"/>
              </a:rPr>
              <a:t>Thấp còi khi nhỏ → thấp khi lớn</a:t>
            </a:r>
          </a:p>
        </p:txBody>
      </p:sp>
      <p:sp>
        <p:nvSpPr>
          <p:cNvPr id="14" name="TextBox 13"/>
          <p:cNvSpPr txBox="1"/>
          <p:nvPr/>
        </p:nvSpPr>
        <p:spPr>
          <a:xfrm>
            <a:off x="3703320" y="5230368"/>
            <a:ext cx="2880360" cy="365760"/>
          </a:xfrm>
          <a:prstGeom prst="rect">
            <a:avLst/>
          </a:prstGeom>
          <a:noFill/>
        </p:spPr>
        <p:txBody>
          <a:bodyPr wrap="square" lIns="0" tIns="0" rIns="0" bIns="0" anchor="t">
            <a:spAutoFit/>
          </a:bodyPr>
          <a:lstStyle/>
          <a:p>
            <a:pPr algn="ctr">
              <a:lnSpc>
                <a:spcPct val="100000"/>
              </a:lnSpc>
              <a:spcBef>
                <a:spcPts val="0"/>
              </a:spcBef>
              <a:spcAft>
                <a:spcPts val="400"/>
              </a:spcAft>
            </a:pPr>
            <a:r>
              <a:rPr sz="1200" b="1" i="0">
                <a:solidFill>
                  <a:srgbClr val="3A6B35"/>
                </a:solidFill>
                <a:latin typeface="Segoe UI"/>
                <a:cs typeface="Segoe UI"/>
              </a:rPr>
              <a:t>Nuôi tốt → cao lớn tối ưu</a:t>
            </a:r>
          </a:p>
        </p:txBody>
      </p:sp>
      <p:sp>
        <p:nvSpPr>
          <p:cNvPr id="15" name="Rounded Rectangle 14"/>
          <p:cNvSpPr/>
          <p:nvPr/>
        </p:nvSpPr>
        <p:spPr>
          <a:xfrm>
            <a:off x="7223760" y="2011680"/>
            <a:ext cx="4480560" cy="1371600"/>
          </a:xfrm>
          <a:prstGeom prst="roundRect">
            <a:avLst>
              <a:gd name="adj" fmla="val 6000"/>
            </a:avLst>
          </a:prstGeom>
          <a:solidFill>
            <a:srgbClr val="E0F5F4"/>
          </a:solidFill>
          <a:ln w="22225">
            <a:solidFill>
              <a:srgbClr val="19A99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60920" y="2194560"/>
            <a:ext cx="4206240" cy="1005840"/>
          </a:xfrm>
          <a:prstGeom prst="rect">
            <a:avLst/>
          </a:prstGeom>
          <a:noFill/>
        </p:spPr>
        <p:txBody>
          <a:bodyPr wrap="square" lIns="0" tIns="0" rIns="0" bIns="0" anchor="t">
            <a:spAutoFit/>
          </a:bodyPr>
          <a:lstStyle/>
          <a:p>
            <a:pPr algn="l">
              <a:lnSpc>
                <a:spcPct val="112000"/>
              </a:lnSpc>
              <a:spcBef>
                <a:spcPts val="0"/>
              </a:spcBef>
              <a:spcAft>
                <a:spcPts val="400"/>
              </a:spcAft>
            </a:pPr>
            <a:r>
              <a:rPr sz="1300" b="1" i="0">
                <a:solidFill>
                  <a:srgbClr val="19A99D"/>
                </a:solidFill>
                <a:latin typeface="Segoe UI"/>
                <a:cs typeface="Segoe UI"/>
              </a:rPr>
              <a:t>Công thức ước tính:</a:t>
            </a:r>
          </a:p>
          <a:p>
            <a:pPr algn="l">
              <a:lnSpc>
                <a:spcPct val="112000"/>
              </a:lnSpc>
              <a:spcBef>
                <a:spcPts val="0"/>
              </a:spcBef>
              <a:spcAft>
                <a:spcPts val="400"/>
              </a:spcAft>
            </a:pPr>
            <a:r>
              <a:rPr sz="1500" b="1" i="0">
                <a:solidFill>
                  <a:srgbClr val="1E293B"/>
                </a:solidFill>
                <a:latin typeface="Segoe UI"/>
                <a:cs typeface="Segoe UI"/>
              </a:rPr>
              <a:t>Chiều cao 18 tuổi </a:t>
            </a:r>
            <a:r>
              <a:rPr sz="1500" b="0" i="0">
                <a:solidFill>
                  <a:srgbClr val="19A99D"/>
                </a:solidFill>
                <a:latin typeface="Segoe UI"/>
                <a:cs typeface="Segoe UI"/>
              </a:rPr>
              <a:t>≈</a:t>
            </a:r>
          </a:p>
          <a:p>
            <a:pPr algn="l">
              <a:lnSpc>
                <a:spcPct val="112000"/>
              </a:lnSpc>
              <a:spcBef>
                <a:spcPts val="0"/>
              </a:spcBef>
              <a:spcAft>
                <a:spcPts val="400"/>
              </a:spcAft>
            </a:pPr>
            <a:r>
              <a:rPr sz="1500" b="1" i="0">
                <a:solidFill>
                  <a:srgbClr val="3A6B35"/>
                </a:solidFill>
                <a:latin typeface="Segoe UI Semibold"/>
                <a:cs typeface="Segoe UI Semibold"/>
              </a:rPr>
              <a:t>Chiều cao lúc 3 tuổi + 77 cm</a:t>
            </a:r>
          </a:p>
        </p:txBody>
      </p:sp>
      <p:sp>
        <p:nvSpPr>
          <p:cNvPr id="17" name="TextBox 16"/>
          <p:cNvSpPr txBox="1"/>
          <p:nvPr/>
        </p:nvSpPr>
        <p:spPr>
          <a:xfrm>
            <a:off x="7223760" y="3611880"/>
            <a:ext cx="4480560" cy="2194560"/>
          </a:xfrm>
          <a:prstGeom prst="rect">
            <a:avLst/>
          </a:prstGeom>
          <a:noFill/>
        </p:spPr>
        <p:txBody>
          <a:bodyPr wrap="square" lIns="0" tIns="0" rIns="0" bIns="0" anchor="t">
            <a:spAutoFit/>
          </a:bodyPr>
          <a:lstStyle/>
          <a:p>
            <a:pPr algn="l">
              <a:lnSpc>
                <a:spcPct val="106000"/>
              </a:lnSpc>
              <a:spcBef>
                <a:spcPts val="0"/>
              </a:spcBef>
              <a:spcAft>
                <a:spcPts val="900"/>
              </a:spcAft>
            </a:pPr>
            <a:r>
              <a:rPr sz="1350" b="0" i="0">
                <a:solidFill>
                  <a:srgbClr val="1E293B"/>
                </a:solidFill>
                <a:latin typeface="Segoe UI"/>
                <a:cs typeface="Segoe UI"/>
              </a:rPr>
              <a:t>Từ 3 tuổi đến 18 tuổi, trẻ cao thêm gần như nhau (≈ 77–80 cm).</a:t>
            </a:r>
          </a:p>
          <a:p>
            <a:pPr algn="l">
              <a:lnSpc>
                <a:spcPct val="106000"/>
              </a:lnSpc>
              <a:spcBef>
                <a:spcPts val="0"/>
              </a:spcBef>
              <a:spcAft>
                <a:spcPts val="900"/>
              </a:spcAft>
            </a:pPr>
            <a:r>
              <a:rPr sz="1350" b="0" i="0">
                <a:solidFill>
                  <a:srgbClr val="1E293B"/>
                </a:solidFill>
                <a:latin typeface="Segoe UI"/>
                <a:cs typeface="Segoe UI"/>
              </a:rPr>
              <a:t>Vì vậy, </a:t>
            </a:r>
            <a:r>
              <a:rPr sz="1350" b="1" i="0">
                <a:solidFill>
                  <a:srgbClr val="E26D5A"/>
                </a:solidFill>
                <a:latin typeface="Segoe UI"/>
                <a:cs typeface="Segoe UI"/>
              </a:rPr>
              <a:t>nếu để trẻ thấp còi trước 3 tuổi</a:t>
            </a:r>
            <a:r>
              <a:rPr sz="1350" b="0" i="0">
                <a:solidFill>
                  <a:srgbClr val="1E293B"/>
                </a:solidFill>
                <a:latin typeface="Segoe UI"/>
                <a:cs typeface="Segoe UI"/>
              </a:rPr>
              <a:t>, sau này dù chăm sóc tốt cũng rất khó bắt kịp.</a:t>
            </a:r>
          </a:p>
          <a:p>
            <a:pPr algn="l">
              <a:lnSpc>
                <a:spcPct val="106000"/>
              </a:lnSpc>
              <a:spcBef>
                <a:spcPts val="0"/>
              </a:spcBef>
              <a:spcAft>
                <a:spcPts val="700"/>
              </a:spcAft>
            </a:pPr>
            <a:r>
              <a:rPr sz="1350" b="1" i="1">
                <a:solidFill>
                  <a:srgbClr val="19A99D"/>
                </a:solidFill>
                <a:latin typeface="Segoe UI"/>
                <a:cs typeface="Segoe UI"/>
              </a:rPr>
              <a:t>→ Đầu tư cho chiều cao phải bắt đầu sớm, từ trong bụng mẹ.</a:t>
            </a:r>
          </a:p>
        </p:txBody>
      </p:sp>
      <p:sp>
        <p:nvSpPr>
          <p:cNvPr id="18" name="TextBox 17"/>
          <p:cNvSpPr txBox="1"/>
          <p:nvPr/>
        </p:nvSpPr>
        <p:spPr>
          <a:xfrm>
            <a:off x="548640" y="6144768"/>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50" b="1" i="1">
                <a:solidFill>
                  <a:srgbClr val="19A99D"/>
                </a:solidFill>
                <a:latin typeface="Segoe UI"/>
                <a:cs typeface="Segoe UI"/>
              </a:rPr>
              <a:t>Nguồn: </a:t>
            </a:r>
            <a:r>
              <a:rPr sz="950" b="0" i="1">
                <a:solidFill>
                  <a:srgbClr val="64748B"/>
                </a:solidFill>
                <a:latin typeface="Segoe UI"/>
                <a:cs typeface="Segoe UI"/>
              </a:rPr>
              <a:t>Nuôi dưỡng trẻ nhỏ 0–24 tháng tuổi, Bộ Y tế – Tầm nhìn Thế giới, 2015 (Tranh 2 &amp; 31)</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384048" y="274320"/>
            <a:ext cx="384048" cy="384048"/>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4068" y="329184"/>
            <a:ext cx="104241"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66344" y="406908"/>
            <a:ext cx="274320" cy="10424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274320"/>
            <a:ext cx="2926080" cy="402336"/>
          </a:xfrm>
          <a:prstGeom prst="rect">
            <a:avLst/>
          </a:prstGeom>
          <a:noFill/>
        </p:spPr>
        <p:txBody>
          <a:bodyPr wrap="square" lIns="0" tIns="0" rIns="0" bIns="0" anchor="ctr">
            <a:spAutoFit/>
          </a:bodyPr>
          <a:lstStyle/>
          <a:p>
            <a:pPr algn="l">
              <a:lnSpc>
                <a:spcPct val="100000"/>
              </a:lnSpc>
              <a:spcBef>
                <a:spcPts val="0"/>
              </a:spcBef>
              <a:spcAft>
                <a:spcPts val="400"/>
              </a:spcAft>
            </a:pPr>
            <a:r>
              <a:rPr sz="1300" b="1" i="0">
                <a:solidFill>
                  <a:srgbClr val="1E293B"/>
                </a:solidFill>
                <a:latin typeface="Segoe UI"/>
                <a:cs typeface="Segoe UI"/>
              </a:rPr>
              <a:t>DINH DƯỠNG </a:t>
            </a:r>
            <a:r>
              <a:rPr sz="1300" b="1" i="0">
                <a:solidFill>
                  <a:srgbClr val="19A99D"/>
                </a:solidFill>
                <a:latin typeface="Segoe UI"/>
                <a:cs typeface="Segoe UI"/>
              </a:rPr>
              <a:t>NHI KHOA</a:t>
            </a:r>
          </a:p>
        </p:txBody>
      </p:sp>
      <p:sp>
        <p:nvSpPr>
          <p:cNvPr id="6" name="Rectangle 5"/>
          <p:cNvSpPr/>
          <p:nvPr/>
        </p:nvSpPr>
        <p:spPr>
          <a:xfrm>
            <a:off x="0" y="6473952"/>
            <a:ext cx="12191695" cy="384048"/>
          </a:xfrm>
          <a:prstGeom prst="rect">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492240"/>
            <a:ext cx="9601200" cy="347472"/>
          </a:xfrm>
          <a:prstGeom prst="rect">
            <a:avLst/>
          </a:prstGeom>
          <a:noFill/>
        </p:spPr>
        <p:txBody>
          <a:bodyPr wrap="square" lIns="0" tIns="0" rIns="0" bIns="0" anchor="ctr">
            <a:spAutoFit/>
          </a:bodyPr>
          <a:lstStyle/>
          <a:p>
            <a:pPr algn="l">
              <a:lnSpc>
                <a:spcPct val="100000"/>
              </a:lnSpc>
              <a:spcBef>
                <a:spcPts val="0"/>
              </a:spcBef>
              <a:spcAft>
                <a:spcPts val="400"/>
              </a:spcAft>
            </a:pPr>
            <a:r>
              <a:rPr sz="950" b="0" i="0">
                <a:solidFill>
                  <a:srgbClr val="FFFFFF"/>
                </a:solidFill>
                <a:latin typeface="Segoe UI"/>
                <a:cs typeface="Segoe UI"/>
              </a:rPr>
              <a:t>Chuyên đề 2 · Dinh dưỡng – nền tảng cho miễn dịch &amp; sự phát triển của trẻ  ·  TS. Lê Thị Thùy Dung</a:t>
            </a:r>
          </a:p>
        </p:txBody>
      </p:sp>
      <p:sp>
        <p:nvSpPr>
          <p:cNvPr id="8" name="TextBox 7"/>
          <p:cNvSpPr txBox="1"/>
          <p:nvPr/>
        </p:nvSpPr>
        <p:spPr>
          <a:xfrm>
            <a:off x="11185855" y="6492240"/>
            <a:ext cx="548640" cy="347472"/>
          </a:xfrm>
          <a:prstGeom prst="rect">
            <a:avLst/>
          </a:prstGeom>
          <a:noFill/>
        </p:spPr>
        <p:txBody>
          <a:bodyPr wrap="square" lIns="0" tIns="0" rIns="0" bIns="0" anchor="ctr">
            <a:spAutoFit/>
          </a:bodyPr>
          <a:lstStyle/>
          <a:p>
            <a:pPr algn="r">
              <a:lnSpc>
                <a:spcPct val="100000"/>
              </a:lnSpc>
              <a:spcBef>
                <a:spcPts val="0"/>
              </a:spcBef>
              <a:spcAft>
                <a:spcPts val="400"/>
              </a:spcAft>
            </a:pPr>
            <a:r>
              <a:rPr sz="1000" b="1" i="0">
                <a:solidFill>
                  <a:srgbClr val="FFFFFF"/>
                </a:solidFill>
                <a:latin typeface="Segoe UI"/>
                <a:cs typeface="Segoe UI"/>
              </a:rPr>
              <a:t>9</a:t>
            </a:r>
          </a:p>
        </p:txBody>
      </p:sp>
      <p:sp>
        <p:nvSpPr>
          <p:cNvPr id="9" name="TextBox 8"/>
          <p:cNvSpPr txBox="1"/>
          <p:nvPr/>
        </p:nvSpPr>
        <p:spPr>
          <a:xfrm>
            <a:off x="548640" y="841248"/>
            <a:ext cx="10881360" cy="566928"/>
          </a:xfrm>
          <a:prstGeom prst="rect">
            <a:avLst/>
          </a:prstGeom>
          <a:noFill/>
        </p:spPr>
        <p:txBody>
          <a:bodyPr wrap="square" lIns="0" tIns="0" rIns="0" bIns="0" anchor="t">
            <a:spAutoFit/>
          </a:bodyPr>
          <a:lstStyle/>
          <a:p>
            <a:pPr algn="l">
              <a:lnSpc>
                <a:spcPct val="100000"/>
              </a:lnSpc>
              <a:spcBef>
                <a:spcPts val="0"/>
              </a:spcBef>
              <a:spcAft>
                <a:spcPts val="400"/>
              </a:spcAft>
            </a:pPr>
            <a:r>
              <a:rPr sz="2700" b="1" i="0">
                <a:solidFill>
                  <a:srgbClr val="19A99D"/>
                </a:solidFill>
                <a:latin typeface="Segoe UI Semibold"/>
                <a:cs typeface="Segoe UI Semibold"/>
              </a:rPr>
              <a:t>Cái giá của thiếu dinh dưỡng sớm</a:t>
            </a:r>
          </a:p>
        </p:txBody>
      </p:sp>
      <p:sp>
        <p:nvSpPr>
          <p:cNvPr id="10" name="TextBox 9"/>
          <p:cNvSpPr txBox="1"/>
          <p:nvPr/>
        </p:nvSpPr>
        <p:spPr>
          <a:xfrm>
            <a:off x="548640" y="1408176"/>
            <a:ext cx="10881360" cy="365760"/>
          </a:xfrm>
          <a:prstGeom prst="rect">
            <a:avLst/>
          </a:prstGeom>
          <a:noFill/>
        </p:spPr>
        <p:txBody>
          <a:bodyPr wrap="square" lIns="0" tIns="0" rIns="0" bIns="0" anchor="t">
            <a:spAutoFit/>
          </a:bodyPr>
          <a:lstStyle/>
          <a:p>
            <a:pPr algn="l">
              <a:lnSpc>
                <a:spcPct val="100000"/>
              </a:lnSpc>
              <a:spcBef>
                <a:spcPts val="0"/>
              </a:spcBef>
              <a:spcAft>
                <a:spcPts val="400"/>
              </a:spcAft>
            </a:pPr>
            <a:r>
              <a:rPr sz="1500" b="0" i="1">
                <a:solidFill>
                  <a:srgbClr val="64748B"/>
                </a:solidFill>
                <a:latin typeface="Segoe UI"/>
                <a:cs typeface="Segoe UI"/>
              </a:rPr>
              <a:t>“Đói tiềm ẩn” (hidden hunger) – nguy hiểm vì khó thấy</a:t>
            </a:r>
          </a:p>
        </p:txBody>
      </p:sp>
      <p:sp>
        <p:nvSpPr>
          <p:cNvPr id="11" name="Rounded Rectangle 10"/>
          <p:cNvSpPr/>
          <p:nvPr/>
        </p:nvSpPr>
        <p:spPr>
          <a:xfrm>
            <a:off x="640080" y="1965960"/>
            <a:ext cx="5257800" cy="1371600"/>
          </a:xfrm>
          <a:prstGeom prst="roundRect">
            <a:avLst>
              <a:gd name="adj" fmla="val 6000"/>
            </a:avLst>
          </a:prstGeom>
          <a:solidFill>
            <a:srgbClr val="FFFFFF"/>
          </a:solidFill>
          <a:ln w="19050">
            <a:solidFill>
              <a:srgbClr val="E26D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896112" y="2350008"/>
            <a:ext cx="603504" cy="603504"/>
          </a:xfrm>
          <a:prstGeom prst="ellipse">
            <a:avLst/>
          </a:prstGeom>
          <a:solidFill>
            <a:srgbClr val="E26D5A"/>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1800" b="1" i="0">
                <a:solidFill>
                  <a:srgbClr val="FFFFFF"/>
                </a:solidFill>
                <a:latin typeface="Segoe UI"/>
                <a:cs typeface="Segoe UI"/>
              </a:rPr>
              <a:t>↓</a:t>
            </a:r>
          </a:p>
        </p:txBody>
      </p:sp>
      <p:sp>
        <p:nvSpPr>
          <p:cNvPr id="13" name="TextBox 12"/>
          <p:cNvSpPr txBox="1"/>
          <p:nvPr/>
        </p:nvSpPr>
        <p:spPr>
          <a:xfrm>
            <a:off x="1691639" y="2130552"/>
            <a:ext cx="4023360" cy="411480"/>
          </a:xfrm>
          <a:prstGeom prst="rect">
            <a:avLst/>
          </a:prstGeom>
          <a:noFill/>
        </p:spPr>
        <p:txBody>
          <a:bodyPr wrap="square" lIns="0" tIns="0" rIns="0" bIns="0" anchor="t">
            <a:spAutoFit/>
          </a:bodyPr>
          <a:lstStyle/>
          <a:p>
            <a:pPr algn="l">
              <a:lnSpc>
                <a:spcPct val="100000"/>
              </a:lnSpc>
              <a:spcBef>
                <a:spcPts val="0"/>
              </a:spcBef>
              <a:spcAft>
                <a:spcPts val="400"/>
              </a:spcAft>
            </a:pPr>
            <a:r>
              <a:rPr sz="1650" b="1" i="0">
                <a:solidFill>
                  <a:srgbClr val="E26D5A"/>
                </a:solidFill>
                <a:latin typeface="Segoe UI Semibold"/>
                <a:cs typeface="Segoe UI Semibold"/>
              </a:rPr>
              <a:t>Tầm vóc</a:t>
            </a:r>
          </a:p>
        </p:txBody>
      </p:sp>
      <p:sp>
        <p:nvSpPr>
          <p:cNvPr id="14" name="TextBox 13"/>
          <p:cNvSpPr txBox="1"/>
          <p:nvPr/>
        </p:nvSpPr>
        <p:spPr>
          <a:xfrm>
            <a:off x="1691639" y="2532888"/>
            <a:ext cx="4069080" cy="731520"/>
          </a:xfrm>
          <a:prstGeom prst="rect">
            <a:avLst/>
          </a:prstGeom>
          <a:noFill/>
        </p:spPr>
        <p:txBody>
          <a:bodyPr wrap="square" lIns="0" tIns="0" rIns="0" bIns="0" anchor="t">
            <a:spAutoFit/>
          </a:bodyPr>
          <a:lstStyle/>
          <a:p>
            <a:pPr algn="l">
              <a:lnSpc>
                <a:spcPct val="106000"/>
              </a:lnSpc>
              <a:spcBef>
                <a:spcPts val="0"/>
              </a:spcBef>
              <a:spcAft>
                <a:spcPts val="400"/>
              </a:spcAft>
            </a:pPr>
            <a:r>
              <a:rPr sz="1250" b="0" i="0">
                <a:solidFill>
                  <a:srgbClr val="1E293B"/>
                </a:solidFill>
                <a:latin typeface="Segoe UI"/>
                <a:cs typeface="Segoe UI"/>
              </a:rPr>
              <a:t>Thấp còi kéo dài đến tuổi trưởng thành, khó cải thiện sau 3 tuổi.</a:t>
            </a:r>
          </a:p>
        </p:txBody>
      </p:sp>
      <p:sp>
        <p:nvSpPr>
          <p:cNvPr id="15" name="Rounded Rectangle 14"/>
          <p:cNvSpPr/>
          <p:nvPr/>
        </p:nvSpPr>
        <p:spPr>
          <a:xfrm>
            <a:off x="6217920" y="1965960"/>
            <a:ext cx="5257800" cy="1371600"/>
          </a:xfrm>
          <a:prstGeom prst="roundRect">
            <a:avLst>
              <a:gd name="adj" fmla="val 6000"/>
            </a:avLst>
          </a:prstGeom>
          <a:solidFill>
            <a:srgbClr val="FFFFFF"/>
          </a:solidFill>
          <a:ln w="19050">
            <a:solidFill>
              <a:srgbClr val="2866A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473952" y="2350008"/>
            <a:ext cx="603504" cy="603504"/>
          </a:xfrm>
          <a:prstGeom prst="ellipse">
            <a:avLst/>
          </a:prstGeom>
          <a:solidFill>
            <a:srgbClr val="2866A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1800" b="1" i="0">
                <a:solidFill>
                  <a:srgbClr val="FFFFFF"/>
                </a:solidFill>
                <a:latin typeface="Segoe UI"/>
                <a:cs typeface="Segoe UI"/>
              </a:rPr>
              <a:t>IQ</a:t>
            </a:r>
          </a:p>
        </p:txBody>
      </p:sp>
      <p:sp>
        <p:nvSpPr>
          <p:cNvPr id="17" name="TextBox 16"/>
          <p:cNvSpPr txBox="1"/>
          <p:nvPr/>
        </p:nvSpPr>
        <p:spPr>
          <a:xfrm>
            <a:off x="7269479" y="2130552"/>
            <a:ext cx="4023360" cy="411480"/>
          </a:xfrm>
          <a:prstGeom prst="rect">
            <a:avLst/>
          </a:prstGeom>
          <a:noFill/>
        </p:spPr>
        <p:txBody>
          <a:bodyPr wrap="square" lIns="0" tIns="0" rIns="0" bIns="0" anchor="t">
            <a:spAutoFit/>
          </a:bodyPr>
          <a:lstStyle/>
          <a:p>
            <a:pPr algn="l">
              <a:lnSpc>
                <a:spcPct val="100000"/>
              </a:lnSpc>
              <a:spcBef>
                <a:spcPts val="0"/>
              </a:spcBef>
              <a:spcAft>
                <a:spcPts val="400"/>
              </a:spcAft>
            </a:pPr>
            <a:r>
              <a:rPr sz="1650" b="1" i="0">
                <a:solidFill>
                  <a:srgbClr val="2866AB"/>
                </a:solidFill>
                <a:latin typeface="Segoe UI Semibold"/>
                <a:cs typeface="Segoe UI Semibold"/>
              </a:rPr>
              <a:t>Trí tuệ</a:t>
            </a:r>
          </a:p>
        </p:txBody>
      </p:sp>
      <p:sp>
        <p:nvSpPr>
          <p:cNvPr id="18" name="TextBox 17"/>
          <p:cNvSpPr txBox="1"/>
          <p:nvPr/>
        </p:nvSpPr>
        <p:spPr>
          <a:xfrm>
            <a:off x="7269479" y="2532888"/>
            <a:ext cx="4069080" cy="731520"/>
          </a:xfrm>
          <a:prstGeom prst="rect">
            <a:avLst/>
          </a:prstGeom>
          <a:noFill/>
        </p:spPr>
        <p:txBody>
          <a:bodyPr wrap="square" lIns="0" tIns="0" rIns="0" bIns="0" anchor="t">
            <a:spAutoFit/>
          </a:bodyPr>
          <a:lstStyle/>
          <a:p>
            <a:pPr algn="l">
              <a:lnSpc>
                <a:spcPct val="106000"/>
              </a:lnSpc>
              <a:spcBef>
                <a:spcPts val="0"/>
              </a:spcBef>
              <a:spcAft>
                <a:spcPts val="400"/>
              </a:spcAft>
            </a:pPr>
            <a:r>
              <a:rPr sz="1250" b="0" i="0">
                <a:solidFill>
                  <a:srgbClr val="1E293B"/>
                </a:solidFill>
                <a:latin typeface="Segoe UI"/>
                <a:cs typeface="Segoe UI"/>
              </a:rPr>
              <a:t>Có thể mất 5–10 điểm IQ, giảm khả năng học tập và thu nhập sau này.</a:t>
            </a:r>
          </a:p>
        </p:txBody>
      </p:sp>
      <p:sp>
        <p:nvSpPr>
          <p:cNvPr id="19" name="Rounded Rectangle 18"/>
          <p:cNvSpPr/>
          <p:nvPr/>
        </p:nvSpPr>
        <p:spPr>
          <a:xfrm>
            <a:off x="640080" y="3566160"/>
            <a:ext cx="5257800" cy="1371600"/>
          </a:xfrm>
          <a:prstGeom prst="roundRect">
            <a:avLst>
              <a:gd name="adj" fmla="val 6000"/>
            </a:avLst>
          </a:prstGeom>
          <a:solidFill>
            <a:srgbClr val="FFFFFF"/>
          </a:solidFill>
          <a:ln w="1905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96112" y="3950208"/>
            <a:ext cx="603504" cy="6035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1800" b="1" i="0">
                <a:solidFill>
                  <a:srgbClr val="FFFFFF"/>
                </a:solidFill>
                <a:latin typeface="Segoe UI"/>
                <a:cs typeface="Segoe UI"/>
              </a:rPr>
              <a:t>!</a:t>
            </a:r>
          </a:p>
        </p:txBody>
      </p:sp>
      <p:sp>
        <p:nvSpPr>
          <p:cNvPr id="21" name="TextBox 20"/>
          <p:cNvSpPr txBox="1"/>
          <p:nvPr/>
        </p:nvSpPr>
        <p:spPr>
          <a:xfrm>
            <a:off x="1691639" y="3730752"/>
            <a:ext cx="4023360" cy="411480"/>
          </a:xfrm>
          <a:prstGeom prst="rect">
            <a:avLst/>
          </a:prstGeom>
          <a:noFill/>
        </p:spPr>
        <p:txBody>
          <a:bodyPr wrap="square" lIns="0" tIns="0" rIns="0" bIns="0" anchor="t">
            <a:spAutoFit/>
          </a:bodyPr>
          <a:lstStyle/>
          <a:p>
            <a:pPr algn="l">
              <a:lnSpc>
                <a:spcPct val="100000"/>
              </a:lnSpc>
              <a:spcBef>
                <a:spcPts val="0"/>
              </a:spcBef>
              <a:spcAft>
                <a:spcPts val="400"/>
              </a:spcAft>
            </a:pPr>
            <a:r>
              <a:rPr sz="1650" b="1" i="0">
                <a:solidFill>
                  <a:srgbClr val="F59E0B"/>
                </a:solidFill>
                <a:latin typeface="Segoe UI Semibold"/>
                <a:cs typeface="Segoe UI Semibold"/>
              </a:rPr>
              <a:t>Bệnh tật</a:t>
            </a:r>
          </a:p>
        </p:txBody>
      </p:sp>
      <p:sp>
        <p:nvSpPr>
          <p:cNvPr id="22" name="TextBox 21"/>
          <p:cNvSpPr txBox="1"/>
          <p:nvPr/>
        </p:nvSpPr>
        <p:spPr>
          <a:xfrm>
            <a:off x="1691639" y="4133087"/>
            <a:ext cx="4069080" cy="731520"/>
          </a:xfrm>
          <a:prstGeom prst="rect">
            <a:avLst/>
          </a:prstGeom>
          <a:noFill/>
        </p:spPr>
        <p:txBody>
          <a:bodyPr wrap="square" lIns="0" tIns="0" rIns="0" bIns="0" anchor="t">
            <a:spAutoFit/>
          </a:bodyPr>
          <a:lstStyle/>
          <a:p>
            <a:pPr algn="l">
              <a:lnSpc>
                <a:spcPct val="106000"/>
              </a:lnSpc>
              <a:spcBef>
                <a:spcPts val="0"/>
              </a:spcBef>
              <a:spcAft>
                <a:spcPts val="400"/>
              </a:spcAft>
            </a:pPr>
            <a:r>
              <a:rPr sz="1250" b="0" i="0">
                <a:solidFill>
                  <a:srgbClr val="1E293B"/>
                </a:solidFill>
                <a:latin typeface="Segoe UI"/>
                <a:cs typeface="Segoe UI"/>
              </a:rPr>
              <a:t>Tăng nguy cơ béo phì, tiểu đường, tim mạch khi trưởng thành.</a:t>
            </a:r>
          </a:p>
        </p:txBody>
      </p:sp>
      <p:sp>
        <p:nvSpPr>
          <p:cNvPr id="23" name="Rounded Rectangle 22"/>
          <p:cNvSpPr/>
          <p:nvPr/>
        </p:nvSpPr>
        <p:spPr>
          <a:xfrm>
            <a:off x="6217920" y="3566160"/>
            <a:ext cx="5257800" cy="1371600"/>
          </a:xfrm>
          <a:prstGeom prst="roundRect">
            <a:avLst>
              <a:gd name="adj" fmla="val 6000"/>
            </a:avLst>
          </a:prstGeom>
          <a:solidFill>
            <a:srgbClr val="FFFFFF"/>
          </a:solidFill>
          <a:ln w="19050">
            <a:solidFill>
              <a:srgbClr val="19A99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6473952" y="3950208"/>
            <a:ext cx="603504" cy="60350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1800" b="1" i="0">
                <a:solidFill>
                  <a:srgbClr val="FFFFFF"/>
                </a:solidFill>
                <a:latin typeface="Segoe UI"/>
                <a:cs typeface="Segoe UI"/>
              </a:rPr>
              <a:t>+</a:t>
            </a:r>
          </a:p>
        </p:txBody>
      </p:sp>
      <p:sp>
        <p:nvSpPr>
          <p:cNvPr id="25" name="TextBox 24"/>
          <p:cNvSpPr txBox="1"/>
          <p:nvPr/>
        </p:nvSpPr>
        <p:spPr>
          <a:xfrm>
            <a:off x="7269479" y="3730752"/>
            <a:ext cx="4023360" cy="411480"/>
          </a:xfrm>
          <a:prstGeom prst="rect">
            <a:avLst/>
          </a:prstGeom>
          <a:noFill/>
        </p:spPr>
        <p:txBody>
          <a:bodyPr wrap="square" lIns="0" tIns="0" rIns="0" bIns="0" anchor="t">
            <a:spAutoFit/>
          </a:bodyPr>
          <a:lstStyle/>
          <a:p>
            <a:pPr algn="l">
              <a:lnSpc>
                <a:spcPct val="100000"/>
              </a:lnSpc>
              <a:spcBef>
                <a:spcPts val="0"/>
              </a:spcBef>
              <a:spcAft>
                <a:spcPts val="400"/>
              </a:spcAft>
            </a:pPr>
            <a:r>
              <a:rPr sz="1650" b="1" i="0">
                <a:solidFill>
                  <a:srgbClr val="19A99D"/>
                </a:solidFill>
                <a:latin typeface="Segoe UI Semibold"/>
                <a:cs typeface="Segoe UI Semibold"/>
              </a:rPr>
              <a:t>Miễn dịch</a:t>
            </a:r>
          </a:p>
        </p:txBody>
      </p:sp>
      <p:sp>
        <p:nvSpPr>
          <p:cNvPr id="26" name="TextBox 25"/>
          <p:cNvSpPr txBox="1"/>
          <p:nvPr/>
        </p:nvSpPr>
        <p:spPr>
          <a:xfrm>
            <a:off x="7269479" y="4133087"/>
            <a:ext cx="4069080" cy="731520"/>
          </a:xfrm>
          <a:prstGeom prst="rect">
            <a:avLst/>
          </a:prstGeom>
          <a:noFill/>
        </p:spPr>
        <p:txBody>
          <a:bodyPr wrap="square" lIns="0" tIns="0" rIns="0" bIns="0" anchor="t">
            <a:spAutoFit/>
          </a:bodyPr>
          <a:lstStyle/>
          <a:p>
            <a:pPr algn="l">
              <a:lnSpc>
                <a:spcPct val="106000"/>
              </a:lnSpc>
              <a:spcBef>
                <a:spcPts val="0"/>
              </a:spcBef>
              <a:spcAft>
                <a:spcPts val="400"/>
              </a:spcAft>
            </a:pPr>
            <a:r>
              <a:rPr sz="1250" b="0" i="0">
                <a:solidFill>
                  <a:srgbClr val="1E293B"/>
                </a:solidFill>
                <a:latin typeface="Segoe UI"/>
                <a:cs typeface="Segoe UI"/>
              </a:rPr>
              <a:t>Hệ miễn dịch yếu, ốm vặt nhiều, dễ nhiễm trùng nặng.</a:t>
            </a:r>
          </a:p>
        </p:txBody>
      </p:sp>
      <p:sp>
        <p:nvSpPr>
          <p:cNvPr id="27" name="TextBox 26"/>
          <p:cNvSpPr txBox="1"/>
          <p:nvPr/>
        </p:nvSpPr>
        <p:spPr>
          <a:xfrm>
            <a:off x="548640" y="6144768"/>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50" b="1" i="1">
                <a:solidFill>
                  <a:srgbClr val="19A99D"/>
                </a:solidFill>
                <a:latin typeface="Segoe UI"/>
                <a:cs typeface="Segoe UI"/>
              </a:rPr>
              <a:t>Nguồn: </a:t>
            </a:r>
            <a:r>
              <a:rPr sz="950" b="0" i="1">
                <a:solidFill>
                  <a:srgbClr val="64748B"/>
                </a:solidFill>
                <a:latin typeface="Segoe UI"/>
                <a:cs typeface="Segoe UI"/>
              </a:rPr>
              <a:t>Pai UA et al., Clin Epidemiol Glob Health 2018; Nuôi dưỡng trẻ nhỏ, Bộ Y tế 2015</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384048" y="274320"/>
            <a:ext cx="384048" cy="384048"/>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4068" y="329184"/>
            <a:ext cx="104241"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66344" y="406908"/>
            <a:ext cx="274320" cy="10424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274320"/>
            <a:ext cx="2926080" cy="402336"/>
          </a:xfrm>
          <a:prstGeom prst="rect">
            <a:avLst/>
          </a:prstGeom>
          <a:noFill/>
        </p:spPr>
        <p:txBody>
          <a:bodyPr wrap="square" lIns="0" tIns="0" rIns="0" bIns="0" anchor="ctr">
            <a:spAutoFit/>
          </a:bodyPr>
          <a:lstStyle/>
          <a:p>
            <a:pPr algn="l">
              <a:lnSpc>
                <a:spcPct val="100000"/>
              </a:lnSpc>
              <a:spcBef>
                <a:spcPts val="0"/>
              </a:spcBef>
              <a:spcAft>
                <a:spcPts val="400"/>
              </a:spcAft>
            </a:pPr>
            <a:r>
              <a:rPr sz="1300" b="1" i="0">
                <a:solidFill>
                  <a:srgbClr val="1E293B"/>
                </a:solidFill>
                <a:latin typeface="Segoe UI"/>
                <a:cs typeface="Segoe UI"/>
              </a:rPr>
              <a:t>DINH DƯỠNG </a:t>
            </a:r>
            <a:r>
              <a:rPr sz="1300" b="1" i="0">
                <a:solidFill>
                  <a:srgbClr val="19A99D"/>
                </a:solidFill>
                <a:latin typeface="Segoe UI"/>
                <a:cs typeface="Segoe UI"/>
              </a:rPr>
              <a:t>NHI KHOA</a:t>
            </a:r>
          </a:p>
        </p:txBody>
      </p:sp>
      <p:sp>
        <p:nvSpPr>
          <p:cNvPr id="6" name="Rectangle 5"/>
          <p:cNvSpPr/>
          <p:nvPr/>
        </p:nvSpPr>
        <p:spPr>
          <a:xfrm>
            <a:off x="0" y="6473952"/>
            <a:ext cx="12191695" cy="384048"/>
          </a:xfrm>
          <a:prstGeom prst="rect">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492240"/>
            <a:ext cx="9601200" cy="347472"/>
          </a:xfrm>
          <a:prstGeom prst="rect">
            <a:avLst/>
          </a:prstGeom>
          <a:noFill/>
        </p:spPr>
        <p:txBody>
          <a:bodyPr wrap="square" lIns="0" tIns="0" rIns="0" bIns="0" anchor="ctr">
            <a:spAutoFit/>
          </a:bodyPr>
          <a:lstStyle/>
          <a:p>
            <a:pPr algn="l">
              <a:lnSpc>
                <a:spcPct val="100000"/>
              </a:lnSpc>
              <a:spcBef>
                <a:spcPts val="0"/>
              </a:spcBef>
              <a:spcAft>
                <a:spcPts val="400"/>
              </a:spcAft>
            </a:pPr>
            <a:r>
              <a:rPr sz="950" b="0" i="0">
                <a:solidFill>
                  <a:srgbClr val="FFFFFF"/>
                </a:solidFill>
                <a:latin typeface="Segoe UI"/>
                <a:cs typeface="Segoe UI"/>
              </a:rPr>
              <a:t>Chuyên đề 2 · Dinh dưỡng – nền tảng cho miễn dịch &amp; sự phát triển của trẻ  ·  TS. Lê Thị Thùy Dung</a:t>
            </a:r>
          </a:p>
        </p:txBody>
      </p:sp>
      <p:sp>
        <p:nvSpPr>
          <p:cNvPr id="8" name="TextBox 7"/>
          <p:cNvSpPr txBox="1"/>
          <p:nvPr/>
        </p:nvSpPr>
        <p:spPr>
          <a:xfrm>
            <a:off x="11185855" y="6492240"/>
            <a:ext cx="548640" cy="347472"/>
          </a:xfrm>
          <a:prstGeom prst="rect">
            <a:avLst/>
          </a:prstGeom>
          <a:noFill/>
        </p:spPr>
        <p:txBody>
          <a:bodyPr wrap="square" lIns="0" tIns="0" rIns="0" bIns="0" anchor="ctr">
            <a:spAutoFit/>
          </a:bodyPr>
          <a:lstStyle/>
          <a:p>
            <a:pPr algn="r">
              <a:lnSpc>
                <a:spcPct val="100000"/>
              </a:lnSpc>
              <a:spcBef>
                <a:spcPts val="0"/>
              </a:spcBef>
              <a:spcAft>
                <a:spcPts val="400"/>
              </a:spcAft>
            </a:pPr>
            <a:r>
              <a:rPr sz="1000" b="1" i="0">
                <a:solidFill>
                  <a:srgbClr val="FFFFFF"/>
                </a:solidFill>
                <a:latin typeface="Segoe UI"/>
                <a:cs typeface="Segoe UI"/>
              </a:rPr>
              <a:t>10</a:t>
            </a:r>
          </a:p>
        </p:txBody>
      </p:sp>
      <p:sp>
        <p:nvSpPr>
          <p:cNvPr id="9" name="TextBox 8"/>
          <p:cNvSpPr txBox="1"/>
          <p:nvPr/>
        </p:nvSpPr>
        <p:spPr>
          <a:xfrm>
            <a:off x="548640" y="841248"/>
            <a:ext cx="10881360" cy="566928"/>
          </a:xfrm>
          <a:prstGeom prst="rect">
            <a:avLst/>
          </a:prstGeom>
          <a:noFill/>
        </p:spPr>
        <p:txBody>
          <a:bodyPr wrap="square" lIns="0" tIns="0" rIns="0" bIns="0" anchor="t">
            <a:spAutoFit/>
          </a:bodyPr>
          <a:lstStyle/>
          <a:p>
            <a:pPr algn="l">
              <a:lnSpc>
                <a:spcPct val="100000"/>
              </a:lnSpc>
              <a:spcBef>
                <a:spcPts val="0"/>
              </a:spcBef>
              <a:spcAft>
                <a:spcPts val="400"/>
              </a:spcAft>
            </a:pPr>
            <a:r>
              <a:rPr sz="2700" b="1" i="0">
                <a:solidFill>
                  <a:srgbClr val="19A99D"/>
                </a:solidFill>
                <a:latin typeface="Segoe UI Semibold"/>
                <a:cs typeface="Segoe UI Semibold"/>
              </a:rPr>
              <a:t>Vòng xoắn: thiếu ăn ↔ nhiễm trùng</a:t>
            </a:r>
          </a:p>
        </p:txBody>
      </p:sp>
      <p:sp>
        <p:nvSpPr>
          <p:cNvPr id="10" name="TextBox 9"/>
          <p:cNvSpPr txBox="1"/>
          <p:nvPr/>
        </p:nvSpPr>
        <p:spPr>
          <a:xfrm>
            <a:off x="548640" y="1408176"/>
            <a:ext cx="10881360" cy="365760"/>
          </a:xfrm>
          <a:prstGeom prst="rect">
            <a:avLst/>
          </a:prstGeom>
          <a:noFill/>
        </p:spPr>
        <p:txBody>
          <a:bodyPr wrap="square" lIns="0" tIns="0" rIns="0" bIns="0" anchor="t">
            <a:spAutoFit/>
          </a:bodyPr>
          <a:lstStyle/>
          <a:p>
            <a:pPr algn="l">
              <a:lnSpc>
                <a:spcPct val="100000"/>
              </a:lnSpc>
              <a:spcBef>
                <a:spcPts val="0"/>
              </a:spcBef>
              <a:spcAft>
                <a:spcPts val="400"/>
              </a:spcAft>
            </a:pPr>
            <a:r>
              <a:rPr sz="1500" b="0" i="1">
                <a:solidFill>
                  <a:srgbClr val="64748B"/>
                </a:solidFill>
                <a:latin typeface="Segoe UI"/>
                <a:cs typeface="Segoe UI"/>
              </a:rPr>
              <a:t>Hai vấn đề nuôi nhau, cần cắt đứt từ dinh dưỡng</a:t>
            </a:r>
          </a:p>
        </p:txBody>
      </p:sp>
      <p:sp>
        <p:nvSpPr>
          <p:cNvPr id="11" name="Oval 10"/>
          <p:cNvSpPr/>
          <p:nvPr/>
        </p:nvSpPr>
        <p:spPr>
          <a:xfrm>
            <a:off x="2651760" y="1691640"/>
            <a:ext cx="2011680" cy="1005840"/>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95000"/>
              </a:lnSpc>
              <a:spcBef>
                <a:spcPts val="0"/>
              </a:spcBef>
              <a:spcAft>
                <a:spcPts val="0"/>
              </a:spcAft>
            </a:pPr>
            <a:r>
              <a:rPr sz="1300" b="1" i="0">
                <a:solidFill>
                  <a:srgbClr val="FFFFFF"/>
                </a:solidFill>
                <a:latin typeface="Segoe UI"/>
                <a:cs typeface="Segoe UI"/>
              </a:rPr>
              <a:t>Suy dinh dưỡng</a:t>
            </a:r>
          </a:p>
        </p:txBody>
      </p:sp>
      <p:sp>
        <p:nvSpPr>
          <p:cNvPr id="12" name="Oval 11"/>
          <p:cNvSpPr/>
          <p:nvPr/>
        </p:nvSpPr>
        <p:spPr>
          <a:xfrm>
            <a:off x="4160519" y="3154680"/>
            <a:ext cx="2011680" cy="1005840"/>
          </a:xfrm>
          <a:prstGeom prst="ellipse">
            <a:avLst/>
          </a:prstGeom>
          <a:solidFill>
            <a:srgbClr val="2866A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95000"/>
              </a:lnSpc>
              <a:spcBef>
                <a:spcPts val="0"/>
              </a:spcBef>
              <a:spcAft>
                <a:spcPts val="0"/>
              </a:spcAft>
            </a:pPr>
            <a:r>
              <a:rPr sz="1300" b="1" i="0">
                <a:solidFill>
                  <a:srgbClr val="FFFFFF"/>
                </a:solidFill>
                <a:latin typeface="Segoe UI"/>
                <a:cs typeface="Segoe UI"/>
              </a:rPr>
              <a:t>Miễn dịch suy giảm</a:t>
            </a:r>
          </a:p>
        </p:txBody>
      </p:sp>
      <p:sp>
        <p:nvSpPr>
          <p:cNvPr id="13" name="Oval 12"/>
          <p:cNvSpPr/>
          <p:nvPr/>
        </p:nvSpPr>
        <p:spPr>
          <a:xfrm>
            <a:off x="2651760" y="4617720"/>
            <a:ext cx="2011680" cy="1005840"/>
          </a:xfrm>
          <a:prstGeom prst="ellipse">
            <a:avLst/>
          </a:prstGeom>
          <a:solidFill>
            <a:srgbClr val="E26D5A"/>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95000"/>
              </a:lnSpc>
              <a:spcBef>
                <a:spcPts val="0"/>
              </a:spcBef>
              <a:spcAft>
                <a:spcPts val="0"/>
              </a:spcAft>
            </a:pPr>
            <a:r>
              <a:rPr sz="1300" b="1" i="0">
                <a:solidFill>
                  <a:srgbClr val="FFFFFF"/>
                </a:solidFill>
                <a:latin typeface="Segoe UI"/>
                <a:cs typeface="Segoe UI"/>
              </a:rPr>
              <a:t>Dễ nhiễm trùng</a:t>
            </a:r>
          </a:p>
        </p:txBody>
      </p:sp>
      <p:sp>
        <p:nvSpPr>
          <p:cNvPr id="14" name="Oval 13"/>
          <p:cNvSpPr/>
          <p:nvPr/>
        </p:nvSpPr>
        <p:spPr>
          <a:xfrm>
            <a:off x="1143000" y="3154680"/>
            <a:ext cx="2011680" cy="10058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95000"/>
              </a:lnSpc>
              <a:spcBef>
                <a:spcPts val="0"/>
              </a:spcBef>
              <a:spcAft>
                <a:spcPts val="0"/>
              </a:spcAft>
            </a:pPr>
            <a:r>
              <a:rPr sz="1300" b="1" i="0">
                <a:solidFill>
                  <a:srgbClr val="FFFFFF"/>
                </a:solidFill>
                <a:latin typeface="Segoe UI"/>
                <a:cs typeface="Segoe UI"/>
              </a:rPr>
              <a:t>Biếng ăn, kém hấp thu</a:t>
            </a:r>
          </a:p>
        </p:txBody>
      </p:sp>
      <p:sp>
        <p:nvSpPr>
          <p:cNvPr id="15" name="Oval 14"/>
          <p:cNvSpPr/>
          <p:nvPr/>
        </p:nvSpPr>
        <p:spPr>
          <a:xfrm>
            <a:off x="3017520" y="3017520"/>
            <a:ext cx="1280160" cy="1280160"/>
          </a:xfrm>
          <a:prstGeom prst="ellipse">
            <a:avLst/>
          </a:prstGeom>
          <a:solidFill>
            <a:srgbClr val="E0F5F4"/>
          </a:solidFill>
          <a:ln w="19050">
            <a:solidFill>
              <a:srgbClr val="19A99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3017520" y="3017520"/>
            <a:ext cx="1280160" cy="1280160"/>
          </a:xfrm>
          <a:prstGeom prst="ellipse">
            <a:avLst/>
          </a:prstGeom>
          <a:solidFill>
            <a:srgbClr val="E0F5F4"/>
          </a:solidFill>
          <a:ln w="19050">
            <a:solidFill>
              <a:srgbClr val="19A99D"/>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95000"/>
              </a:lnSpc>
              <a:spcBef>
                <a:spcPts val="0"/>
              </a:spcBef>
              <a:spcAft>
                <a:spcPts val="0"/>
              </a:spcAft>
            </a:pPr>
            <a:r>
              <a:rPr sz="1300" b="1" i="0">
                <a:solidFill>
                  <a:srgbClr val="19A99D"/>
                </a:solidFill>
                <a:latin typeface="Segoe UI"/>
                <a:cs typeface="Segoe UI"/>
              </a:rPr>
              <a:t>VÒNG
XOẮN</a:t>
            </a:r>
          </a:p>
        </p:txBody>
      </p:sp>
      <p:sp>
        <p:nvSpPr>
          <p:cNvPr id="17" name="TextBox 16"/>
          <p:cNvSpPr txBox="1"/>
          <p:nvPr/>
        </p:nvSpPr>
        <p:spPr>
          <a:xfrm>
            <a:off x="7680960" y="2103120"/>
            <a:ext cx="4023360" cy="3291840"/>
          </a:xfrm>
          <a:prstGeom prst="rect">
            <a:avLst/>
          </a:prstGeom>
          <a:noFill/>
        </p:spPr>
        <p:txBody>
          <a:bodyPr wrap="square" lIns="0" tIns="0" rIns="0" bIns="0" anchor="t">
            <a:spAutoFit/>
          </a:bodyPr>
          <a:lstStyle/>
          <a:p>
            <a:pPr algn="l">
              <a:lnSpc>
                <a:spcPct val="110000"/>
              </a:lnSpc>
              <a:spcBef>
                <a:spcPts val="0"/>
              </a:spcBef>
              <a:spcAft>
                <a:spcPts val="1100"/>
              </a:spcAft>
            </a:pPr>
            <a:r>
              <a:rPr sz="1400" b="0" i="0">
                <a:solidFill>
                  <a:srgbClr val="1E293B"/>
                </a:solidFill>
                <a:latin typeface="Segoe UI"/>
                <a:cs typeface="Segoe UI"/>
              </a:rPr>
              <a:t>Khi trẻ thiếu dinh dưỡng, </a:t>
            </a:r>
            <a:r>
              <a:rPr sz="1400" b="1" i="0">
                <a:solidFill>
                  <a:srgbClr val="2866AB"/>
                </a:solidFill>
                <a:latin typeface="Segoe UI"/>
                <a:cs typeface="Segoe UI"/>
              </a:rPr>
              <a:t>hàng rào miễn dịch suy yếu</a:t>
            </a:r>
            <a:r>
              <a:rPr sz="1400" b="0" i="0">
                <a:solidFill>
                  <a:srgbClr val="1E293B"/>
                </a:solidFill>
                <a:latin typeface="Segoe UI"/>
                <a:cs typeface="Segoe UI"/>
              </a:rPr>
              <a:t> → dễ mắc tiêu chảy, viêm hô hấp.</a:t>
            </a:r>
          </a:p>
          <a:p>
            <a:pPr algn="l">
              <a:lnSpc>
                <a:spcPct val="110000"/>
              </a:lnSpc>
              <a:spcBef>
                <a:spcPts val="0"/>
              </a:spcBef>
              <a:spcAft>
                <a:spcPts val="1100"/>
              </a:spcAft>
            </a:pPr>
            <a:r>
              <a:rPr sz="1400" b="0" i="0">
                <a:solidFill>
                  <a:srgbClr val="1E293B"/>
                </a:solidFill>
                <a:latin typeface="Segoe UI"/>
                <a:cs typeface="Segoe UI"/>
              </a:rPr>
              <a:t>Mỗi đợt nhiễm trùng lại khiến trẻ </a:t>
            </a:r>
            <a:r>
              <a:rPr sz="1400" b="1" i="0">
                <a:solidFill>
                  <a:srgbClr val="F59E0B"/>
                </a:solidFill>
                <a:latin typeface="Segoe UI"/>
                <a:cs typeface="Segoe UI"/>
              </a:rPr>
              <a:t>chán ăn, hao hụt dưỡng chất</a:t>
            </a:r>
            <a:r>
              <a:rPr sz="1400" b="0" i="0">
                <a:solidFill>
                  <a:srgbClr val="1E293B"/>
                </a:solidFill>
                <a:latin typeface="Segoe UI"/>
                <a:cs typeface="Segoe UI"/>
              </a:rPr>
              <a:t> → càng suy dinh dưỡng hơn.</a:t>
            </a:r>
          </a:p>
          <a:p>
            <a:pPr algn="l">
              <a:lnSpc>
                <a:spcPct val="110000"/>
              </a:lnSpc>
              <a:spcBef>
                <a:spcPts val="0"/>
              </a:spcBef>
              <a:spcAft>
                <a:spcPts val="700"/>
              </a:spcAft>
            </a:pPr>
            <a:r>
              <a:rPr sz="1400" b="1" i="0">
                <a:solidFill>
                  <a:srgbClr val="3A6B35"/>
                </a:solidFill>
                <a:latin typeface="Segoe UI"/>
                <a:cs typeface="Segoe UI"/>
              </a:rPr>
              <a:t>Giải pháp: </a:t>
            </a:r>
            <a:r>
              <a:rPr sz="1400" b="0" i="0">
                <a:solidFill>
                  <a:srgbClr val="1E293B"/>
                </a:solidFill>
                <a:latin typeface="Segoe UI"/>
                <a:cs typeface="Segoe UI"/>
              </a:rPr>
              <a:t>nuôi dưỡng đủ chất + vệ sinh tốt để cắt đứt vòng xoắn.</a:t>
            </a:r>
          </a:p>
        </p:txBody>
      </p:sp>
      <p:sp>
        <p:nvSpPr>
          <p:cNvPr id="18" name="TextBox 17"/>
          <p:cNvSpPr txBox="1"/>
          <p:nvPr/>
        </p:nvSpPr>
        <p:spPr>
          <a:xfrm>
            <a:off x="548640" y="6144768"/>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50" b="1" i="1">
                <a:solidFill>
                  <a:srgbClr val="19A99D"/>
                </a:solidFill>
                <a:latin typeface="Segoe UI"/>
                <a:cs typeface="Segoe UI"/>
              </a:rPr>
              <a:t>Nguồn: </a:t>
            </a:r>
            <a:r>
              <a:rPr sz="950" b="0" i="1">
                <a:solidFill>
                  <a:srgbClr val="64748B"/>
                </a:solidFill>
                <a:latin typeface="Segoe UI"/>
                <a:cs typeface="Segoe UI"/>
              </a:rPr>
              <a:t>Pai UA et al., Clin Epidemiol Glob Health 2018 (malnutrition–infection vicious cycle)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A6041"/>
        </a:solidFill>
        <a:effectLst/>
      </p:bgPr>
    </p:bg>
    <p:spTree>
      <p:nvGrpSpPr>
        <p:cNvPr id="1" name=""/>
        <p:cNvGrpSpPr/>
        <p:nvPr/>
      </p:nvGrpSpPr>
      <p:grpSpPr>
        <a:xfrm>
          <a:off x="0" y="0"/>
          <a:ext cx="0" cy="0"/>
          <a:chOff x="0" y="0"/>
          <a:chExt cx="0" cy="0"/>
        </a:xfrm>
      </p:grpSpPr>
      <p:sp>
        <p:nvSpPr>
          <p:cNvPr id="2" name="Oval 1"/>
          <p:cNvSpPr/>
          <p:nvPr/>
        </p:nvSpPr>
        <p:spPr>
          <a:xfrm>
            <a:off x="10332720" y="502920"/>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0479024" y="502920"/>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0625328" y="502920"/>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0771632" y="502920"/>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917936" y="502920"/>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1064240" y="502920"/>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332720" y="649224"/>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0479024" y="649224"/>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0625328" y="649224"/>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10771632" y="649224"/>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0917936" y="649224"/>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1064240" y="649224"/>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0332720" y="795528"/>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0479024" y="795528"/>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0625328" y="795528"/>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0771632" y="795528"/>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0917936" y="795528"/>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1064240" y="795528"/>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0332720" y="941832"/>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10479024" y="941832"/>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0625328" y="941832"/>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0771632" y="941832"/>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0917936" y="941832"/>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1064240" y="941832"/>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548640" y="5852160"/>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694944" y="5852160"/>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841247" y="5852160"/>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987552" y="5852160"/>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1133856" y="5852160"/>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1280160" y="5852160"/>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548640" y="5998464"/>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694944" y="5998464"/>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841247" y="5998464"/>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987552" y="5998464"/>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1133856" y="5998464"/>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1280160" y="5998464"/>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548640" y="6144768"/>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694944" y="6144768"/>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841247" y="6144768"/>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987552" y="6144768"/>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1133856" y="6144768"/>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1280160" y="6144768"/>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548640" y="6291072"/>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694944" y="6291072"/>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841247" y="6291072"/>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987552" y="6291072"/>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1133856" y="6291072"/>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1280160" y="6291072"/>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822960" y="2468880"/>
            <a:ext cx="1463040" cy="1463040"/>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2000" b="1" i="0">
                <a:solidFill>
                  <a:srgbClr val="FFFFFF"/>
                </a:solidFill>
                <a:latin typeface="Segoe UI"/>
                <a:cs typeface="Segoe UI"/>
              </a:rPr>
              <a:t>2</a:t>
            </a:r>
          </a:p>
        </p:txBody>
      </p:sp>
      <p:sp>
        <p:nvSpPr>
          <p:cNvPr id="51" name="TextBox 50"/>
          <p:cNvSpPr txBox="1"/>
          <p:nvPr/>
        </p:nvSpPr>
        <p:spPr>
          <a:xfrm>
            <a:off x="2697480" y="2286000"/>
            <a:ext cx="8686800" cy="548640"/>
          </a:xfrm>
          <a:prstGeom prst="rect">
            <a:avLst/>
          </a:prstGeom>
          <a:noFill/>
        </p:spPr>
        <p:txBody>
          <a:bodyPr wrap="square" lIns="0" tIns="0" rIns="0" bIns="0" anchor="t">
            <a:spAutoFit/>
          </a:bodyPr>
          <a:lstStyle/>
          <a:p>
            <a:pPr algn="l">
              <a:lnSpc>
                <a:spcPct val="100000"/>
              </a:lnSpc>
              <a:spcBef>
                <a:spcPts val="0"/>
              </a:spcBef>
              <a:spcAft>
                <a:spcPts val="400"/>
              </a:spcAft>
            </a:pPr>
            <a:r>
              <a:rPr sz="1800" b="1" i="0">
                <a:solidFill>
                  <a:srgbClr val="E0F5F4"/>
                </a:solidFill>
                <a:latin typeface="Segoe UI Semibold"/>
                <a:cs typeface="Segoe UI Semibold"/>
              </a:rPr>
              <a:t>PHẦN 2</a:t>
            </a:r>
          </a:p>
        </p:txBody>
      </p:sp>
      <p:sp>
        <p:nvSpPr>
          <p:cNvPr id="52" name="TextBox 51"/>
          <p:cNvSpPr txBox="1"/>
          <p:nvPr/>
        </p:nvSpPr>
        <p:spPr>
          <a:xfrm>
            <a:off x="2697480" y="2788920"/>
            <a:ext cx="8961120" cy="1463040"/>
          </a:xfrm>
          <a:prstGeom prst="rect">
            <a:avLst/>
          </a:prstGeom>
          <a:noFill/>
        </p:spPr>
        <p:txBody>
          <a:bodyPr wrap="square" lIns="0" tIns="0" rIns="0" bIns="0" anchor="t">
            <a:spAutoFit/>
          </a:bodyPr>
          <a:lstStyle/>
          <a:p>
            <a:pPr algn="l">
              <a:lnSpc>
                <a:spcPct val="100000"/>
              </a:lnSpc>
              <a:spcBef>
                <a:spcPts val="0"/>
              </a:spcBef>
              <a:spcAft>
                <a:spcPts val="400"/>
              </a:spcAft>
            </a:pPr>
            <a:r>
              <a:rPr sz="3400" b="1" i="0">
                <a:solidFill>
                  <a:srgbClr val="FFFFFF"/>
                </a:solidFill>
                <a:latin typeface="Segoe UI Semibold"/>
                <a:cs typeface="Segoe UI Semibold"/>
              </a:rPr>
              <a:t>Các nhóm dưỡng chất cần thiết theo độ tuổi</a:t>
            </a:r>
          </a:p>
        </p:txBody>
      </p:sp>
      <p:sp>
        <p:nvSpPr>
          <p:cNvPr id="53" name="TextBox 52"/>
          <p:cNvSpPr txBox="1"/>
          <p:nvPr/>
        </p:nvSpPr>
        <p:spPr>
          <a:xfrm>
            <a:off x="2697480" y="4251960"/>
            <a:ext cx="8778240" cy="640080"/>
          </a:xfrm>
          <a:prstGeom prst="rect">
            <a:avLst/>
          </a:prstGeom>
          <a:noFill/>
        </p:spPr>
        <p:txBody>
          <a:bodyPr wrap="square" lIns="0" tIns="0" rIns="0" bIns="0" anchor="t">
            <a:spAutoFit/>
          </a:bodyPr>
          <a:lstStyle/>
          <a:p>
            <a:pPr algn="l">
              <a:lnSpc>
                <a:spcPct val="100000"/>
              </a:lnSpc>
              <a:spcBef>
                <a:spcPts val="0"/>
              </a:spcBef>
              <a:spcAft>
                <a:spcPts val="400"/>
              </a:spcAft>
            </a:pPr>
            <a:r>
              <a:rPr sz="1600" b="0" i="1">
                <a:solidFill>
                  <a:srgbClr val="E0F5F4"/>
                </a:solidFill>
                <a:latin typeface="Segoe UI"/>
                <a:cs typeface="Segoe UI"/>
              </a:rPr>
              <a:t>Ăn đúng nhóm – đúng lượng – đúng giai đoạn</a:t>
            </a:r>
          </a:p>
        </p:txBody>
      </p:sp>
      <p:sp>
        <p:nvSpPr>
          <p:cNvPr id="54" name="Rectangle 53"/>
          <p:cNvSpPr/>
          <p:nvPr/>
        </p:nvSpPr>
        <p:spPr>
          <a:xfrm>
            <a:off x="0" y="6473952"/>
            <a:ext cx="12191695" cy="384048"/>
          </a:xfrm>
          <a:prstGeom prst="rect">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457200" y="6492240"/>
            <a:ext cx="9601200" cy="347472"/>
          </a:xfrm>
          <a:prstGeom prst="rect">
            <a:avLst/>
          </a:prstGeom>
          <a:noFill/>
        </p:spPr>
        <p:txBody>
          <a:bodyPr wrap="square" lIns="0" tIns="0" rIns="0" bIns="0" anchor="ctr">
            <a:spAutoFit/>
          </a:bodyPr>
          <a:lstStyle/>
          <a:p>
            <a:pPr algn="l">
              <a:lnSpc>
                <a:spcPct val="100000"/>
              </a:lnSpc>
              <a:spcBef>
                <a:spcPts val="0"/>
              </a:spcBef>
              <a:spcAft>
                <a:spcPts val="400"/>
              </a:spcAft>
            </a:pPr>
            <a:r>
              <a:rPr sz="950" b="0" i="0">
                <a:solidFill>
                  <a:srgbClr val="FFFFFF"/>
                </a:solidFill>
                <a:latin typeface="Segoe UI"/>
                <a:cs typeface="Segoe UI"/>
              </a:rPr>
              <a:t>Chuyên đề 2 · Dinh dưỡng – nền tảng cho miễn dịch &amp; sự phát triển của trẻ  ·  TS. Lê Thị Thùy Dung</a:t>
            </a:r>
          </a:p>
        </p:txBody>
      </p:sp>
      <p:sp>
        <p:nvSpPr>
          <p:cNvPr id="56" name="TextBox 55"/>
          <p:cNvSpPr txBox="1"/>
          <p:nvPr/>
        </p:nvSpPr>
        <p:spPr>
          <a:xfrm>
            <a:off x="11185855" y="6492240"/>
            <a:ext cx="548640" cy="347472"/>
          </a:xfrm>
          <a:prstGeom prst="rect">
            <a:avLst/>
          </a:prstGeom>
          <a:noFill/>
        </p:spPr>
        <p:txBody>
          <a:bodyPr wrap="square" lIns="0" tIns="0" rIns="0" bIns="0" anchor="ctr">
            <a:spAutoFit/>
          </a:bodyPr>
          <a:lstStyle/>
          <a:p>
            <a:pPr algn="r">
              <a:lnSpc>
                <a:spcPct val="100000"/>
              </a:lnSpc>
              <a:spcBef>
                <a:spcPts val="0"/>
              </a:spcBef>
              <a:spcAft>
                <a:spcPts val="400"/>
              </a:spcAft>
            </a:pPr>
            <a:r>
              <a:rPr sz="1000" b="1" i="0">
                <a:solidFill>
                  <a:srgbClr val="FFFFFF"/>
                </a:solidFill>
                <a:latin typeface="Segoe UI"/>
                <a:cs typeface="Segoe UI"/>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384048" y="274320"/>
            <a:ext cx="384048" cy="384048"/>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4068" y="329184"/>
            <a:ext cx="104241"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66344" y="406908"/>
            <a:ext cx="274320" cy="10424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274320"/>
            <a:ext cx="2926080" cy="402336"/>
          </a:xfrm>
          <a:prstGeom prst="rect">
            <a:avLst/>
          </a:prstGeom>
          <a:noFill/>
        </p:spPr>
        <p:txBody>
          <a:bodyPr wrap="square" lIns="0" tIns="0" rIns="0" bIns="0" anchor="ctr">
            <a:spAutoFit/>
          </a:bodyPr>
          <a:lstStyle/>
          <a:p>
            <a:pPr algn="l">
              <a:lnSpc>
                <a:spcPct val="100000"/>
              </a:lnSpc>
              <a:spcBef>
                <a:spcPts val="0"/>
              </a:spcBef>
              <a:spcAft>
                <a:spcPts val="400"/>
              </a:spcAft>
            </a:pPr>
            <a:r>
              <a:rPr sz="1300" b="1" i="0">
                <a:solidFill>
                  <a:srgbClr val="1E293B"/>
                </a:solidFill>
                <a:latin typeface="Segoe UI"/>
                <a:cs typeface="Segoe UI"/>
              </a:rPr>
              <a:t>DINH DƯỠNG </a:t>
            </a:r>
            <a:r>
              <a:rPr sz="1300" b="1" i="0">
                <a:solidFill>
                  <a:srgbClr val="19A99D"/>
                </a:solidFill>
                <a:latin typeface="Segoe UI"/>
                <a:cs typeface="Segoe UI"/>
              </a:rPr>
              <a:t>NHI KHOA</a:t>
            </a:r>
          </a:p>
        </p:txBody>
      </p:sp>
      <p:sp>
        <p:nvSpPr>
          <p:cNvPr id="6" name="Rectangle 5"/>
          <p:cNvSpPr/>
          <p:nvPr/>
        </p:nvSpPr>
        <p:spPr>
          <a:xfrm>
            <a:off x="0" y="6473952"/>
            <a:ext cx="12191695" cy="384048"/>
          </a:xfrm>
          <a:prstGeom prst="rect">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492240"/>
            <a:ext cx="9601200" cy="347472"/>
          </a:xfrm>
          <a:prstGeom prst="rect">
            <a:avLst/>
          </a:prstGeom>
          <a:noFill/>
        </p:spPr>
        <p:txBody>
          <a:bodyPr wrap="square" lIns="0" tIns="0" rIns="0" bIns="0" anchor="ctr">
            <a:spAutoFit/>
          </a:bodyPr>
          <a:lstStyle/>
          <a:p>
            <a:pPr algn="l">
              <a:lnSpc>
                <a:spcPct val="100000"/>
              </a:lnSpc>
              <a:spcBef>
                <a:spcPts val="0"/>
              </a:spcBef>
              <a:spcAft>
                <a:spcPts val="400"/>
              </a:spcAft>
            </a:pPr>
            <a:r>
              <a:rPr sz="950" b="0" i="0">
                <a:solidFill>
                  <a:srgbClr val="FFFFFF"/>
                </a:solidFill>
                <a:latin typeface="Segoe UI"/>
                <a:cs typeface="Segoe UI"/>
              </a:rPr>
              <a:t>Chuyên đề 2 · Dinh dưỡng – nền tảng cho miễn dịch &amp; sự phát triển của trẻ  ·  TS. Lê Thị Thùy Dung</a:t>
            </a:r>
          </a:p>
        </p:txBody>
      </p:sp>
      <p:sp>
        <p:nvSpPr>
          <p:cNvPr id="8" name="TextBox 7"/>
          <p:cNvSpPr txBox="1"/>
          <p:nvPr/>
        </p:nvSpPr>
        <p:spPr>
          <a:xfrm>
            <a:off x="11185855" y="6492240"/>
            <a:ext cx="548640" cy="347472"/>
          </a:xfrm>
          <a:prstGeom prst="rect">
            <a:avLst/>
          </a:prstGeom>
          <a:noFill/>
        </p:spPr>
        <p:txBody>
          <a:bodyPr wrap="square" lIns="0" tIns="0" rIns="0" bIns="0" anchor="ctr">
            <a:spAutoFit/>
          </a:bodyPr>
          <a:lstStyle/>
          <a:p>
            <a:pPr algn="r">
              <a:lnSpc>
                <a:spcPct val="100000"/>
              </a:lnSpc>
              <a:spcBef>
                <a:spcPts val="0"/>
              </a:spcBef>
              <a:spcAft>
                <a:spcPts val="400"/>
              </a:spcAft>
            </a:pPr>
            <a:r>
              <a:rPr sz="1000" b="1" i="0">
                <a:solidFill>
                  <a:srgbClr val="FFFFFF"/>
                </a:solidFill>
                <a:latin typeface="Segoe UI"/>
                <a:cs typeface="Segoe UI"/>
              </a:rPr>
              <a:t>12</a:t>
            </a:r>
          </a:p>
        </p:txBody>
      </p:sp>
      <p:sp>
        <p:nvSpPr>
          <p:cNvPr id="9" name="TextBox 8"/>
          <p:cNvSpPr txBox="1"/>
          <p:nvPr/>
        </p:nvSpPr>
        <p:spPr>
          <a:xfrm>
            <a:off x="548640" y="841248"/>
            <a:ext cx="10881360" cy="566928"/>
          </a:xfrm>
          <a:prstGeom prst="rect">
            <a:avLst/>
          </a:prstGeom>
          <a:noFill/>
        </p:spPr>
        <p:txBody>
          <a:bodyPr wrap="square" lIns="0" tIns="0" rIns="0" bIns="0" anchor="t">
            <a:spAutoFit/>
          </a:bodyPr>
          <a:lstStyle/>
          <a:p>
            <a:pPr algn="l">
              <a:lnSpc>
                <a:spcPct val="100000"/>
              </a:lnSpc>
              <a:spcBef>
                <a:spcPts val="0"/>
              </a:spcBef>
              <a:spcAft>
                <a:spcPts val="400"/>
              </a:spcAft>
            </a:pPr>
            <a:r>
              <a:rPr sz="2700" b="1" i="0">
                <a:solidFill>
                  <a:srgbClr val="19A99D"/>
                </a:solidFill>
                <a:latin typeface="Segoe UI Semibold"/>
                <a:cs typeface="Segoe UI Semibold"/>
              </a:rPr>
              <a:t>Mỗi bữa ăn cần đủ 4 nhóm thực phẩm</a:t>
            </a:r>
          </a:p>
        </p:txBody>
      </p:sp>
      <p:sp>
        <p:nvSpPr>
          <p:cNvPr id="10" name="TextBox 9"/>
          <p:cNvSpPr txBox="1"/>
          <p:nvPr/>
        </p:nvSpPr>
        <p:spPr>
          <a:xfrm>
            <a:off x="548640" y="1408176"/>
            <a:ext cx="10881360" cy="365760"/>
          </a:xfrm>
          <a:prstGeom prst="rect">
            <a:avLst/>
          </a:prstGeom>
          <a:noFill/>
        </p:spPr>
        <p:txBody>
          <a:bodyPr wrap="square" lIns="0" tIns="0" rIns="0" bIns="0" anchor="t">
            <a:spAutoFit/>
          </a:bodyPr>
          <a:lstStyle/>
          <a:p>
            <a:pPr algn="l">
              <a:lnSpc>
                <a:spcPct val="100000"/>
              </a:lnSpc>
              <a:spcBef>
                <a:spcPts val="0"/>
              </a:spcBef>
              <a:spcAft>
                <a:spcPts val="400"/>
              </a:spcAft>
            </a:pPr>
            <a:r>
              <a:rPr sz="1500" b="0" i="1">
                <a:solidFill>
                  <a:srgbClr val="64748B"/>
                </a:solidFill>
                <a:latin typeface="Segoe UI"/>
                <a:cs typeface="Segoe UI"/>
              </a:rPr>
              <a:t>Đa dạng thực phẩm là cách phòng thiếu vi chất tốt nhất</a:t>
            </a:r>
          </a:p>
        </p:txBody>
      </p:sp>
      <p:pic>
        <p:nvPicPr>
          <p:cNvPr id="11" name="Picture 10" descr="food_plate.png"/>
          <p:cNvPicPr>
            <a:picLocks noChangeAspect="1"/>
          </p:cNvPicPr>
          <p:nvPr/>
        </p:nvPicPr>
        <p:blipFill>
          <a:blip r:embed="rId2"/>
          <a:stretch>
            <a:fillRect/>
          </a:stretch>
        </p:blipFill>
        <p:spPr>
          <a:xfrm>
            <a:off x="6766560" y="2202836"/>
            <a:ext cx="4937760" cy="3092407"/>
          </a:xfrm>
          <a:prstGeom prst="rect">
            <a:avLst/>
          </a:prstGeom>
        </p:spPr>
      </p:pic>
      <p:sp>
        <p:nvSpPr>
          <p:cNvPr id="12" name="Oval 11"/>
          <p:cNvSpPr/>
          <p:nvPr/>
        </p:nvSpPr>
        <p:spPr>
          <a:xfrm>
            <a:off x="640080" y="1828800"/>
            <a:ext cx="502920" cy="5029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1800" b="1" i="0">
                <a:solidFill>
                  <a:srgbClr val="FFFFFF"/>
                </a:solidFill>
                <a:latin typeface="Segoe UI"/>
                <a:cs typeface="Segoe UI"/>
              </a:rPr>
              <a:t>1</a:t>
            </a:r>
          </a:p>
        </p:txBody>
      </p:sp>
      <p:sp>
        <p:nvSpPr>
          <p:cNvPr id="13" name="TextBox 12"/>
          <p:cNvSpPr txBox="1"/>
          <p:nvPr/>
        </p:nvSpPr>
        <p:spPr>
          <a:xfrm>
            <a:off x="1325880" y="1783080"/>
            <a:ext cx="5212080" cy="411480"/>
          </a:xfrm>
          <a:prstGeom prst="rect">
            <a:avLst/>
          </a:prstGeom>
          <a:noFill/>
        </p:spPr>
        <p:txBody>
          <a:bodyPr wrap="square" lIns="0" tIns="0" rIns="0" bIns="0" anchor="t">
            <a:spAutoFit/>
          </a:bodyPr>
          <a:lstStyle/>
          <a:p>
            <a:pPr algn="l">
              <a:lnSpc>
                <a:spcPct val="100000"/>
              </a:lnSpc>
              <a:spcBef>
                <a:spcPts val="0"/>
              </a:spcBef>
              <a:spcAft>
                <a:spcPts val="400"/>
              </a:spcAft>
            </a:pPr>
            <a:r>
              <a:rPr sz="1600" b="1" i="0">
                <a:solidFill>
                  <a:srgbClr val="F59E0B"/>
                </a:solidFill>
                <a:latin typeface="Segoe UI Semibold"/>
                <a:cs typeface="Segoe UI Semibold"/>
              </a:rPr>
              <a:t>Chất bột đường</a:t>
            </a:r>
          </a:p>
        </p:txBody>
      </p:sp>
      <p:sp>
        <p:nvSpPr>
          <p:cNvPr id="14" name="TextBox 13"/>
          <p:cNvSpPr txBox="1"/>
          <p:nvPr/>
        </p:nvSpPr>
        <p:spPr>
          <a:xfrm>
            <a:off x="1325880" y="2176272"/>
            <a:ext cx="5303520" cy="594360"/>
          </a:xfrm>
          <a:prstGeom prst="rect">
            <a:avLst/>
          </a:prstGeom>
          <a:noFill/>
        </p:spPr>
        <p:txBody>
          <a:bodyPr wrap="square" lIns="0" tIns="0" rIns="0" bIns="0" anchor="t">
            <a:spAutoFit/>
          </a:bodyPr>
          <a:lstStyle/>
          <a:p>
            <a:pPr algn="l">
              <a:lnSpc>
                <a:spcPct val="104000"/>
              </a:lnSpc>
              <a:spcBef>
                <a:spcPts val="0"/>
              </a:spcBef>
              <a:spcAft>
                <a:spcPts val="400"/>
              </a:spcAft>
            </a:pPr>
            <a:r>
              <a:rPr sz="1200" b="0" i="0">
                <a:solidFill>
                  <a:srgbClr val="1E293B"/>
                </a:solidFill>
                <a:latin typeface="Segoe UI"/>
                <a:cs typeface="Segoe UI"/>
              </a:rPr>
              <a:t>Gạo, ngô, khoai, mì – cung cấp năng lượng, giúp trẻ lớn nhanh.</a:t>
            </a:r>
          </a:p>
        </p:txBody>
      </p:sp>
      <p:sp>
        <p:nvSpPr>
          <p:cNvPr id="15" name="Oval 14"/>
          <p:cNvSpPr/>
          <p:nvPr/>
        </p:nvSpPr>
        <p:spPr>
          <a:xfrm>
            <a:off x="640080" y="2807208"/>
            <a:ext cx="502920" cy="502920"/>
          </a:xfrm>
          <a:prstGeom prst="ellipse">
            <a:avLst/>
          </a:prstGeom>
          <a:solidFill>
            <a:srgbClr val="E26D5A"/>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1800" b="1" i="0">
                <a:solidFill>
                  <a:srgbClr val="FFFFFF"/>
                </a:solidFill>
                <a:latin typeface="Segoe UI"/>
                <a:cs typeface="Segoe UI"/>
              </a:rPr>
              <a:t>2</a:t>
            </a:r>
          </a:p>
        </p:txBody>
      </p:sp>
      <p:sp>
        <p:nvSpPr>
          <p:cNvPr id="16" name="TextBox 15"/>
          <p:cNvSpPr txBox="1"/>
          <p:nvPr/>
        </p:nvSpPr>
        <p:spPr>
          <a:xfrm>
            <a:off x="1325880" y="2761488"/>
            <a:ext cx="5212080" cy="411480"/>
          </a:xfrm>
          <a:prstGeom prst="rect">
            <a:avLst/>
          </a:prstGeom>
          <a:noFill/>
        </p:spPr>
        <p:txBody>
          <a:bodyPr wrap="square" lIns="0" tIns="0" rIns="0" bIns="0" anchor="t">
            <a:spAutoFit/>
          </a:bodyPr>
          <a:lstStyle/>
          <a:p>
            <a:pPr algn="l">
              <a:lnSpc>
                <a:spcPct val="100000"/>
              </a:lnSpc>
              <a:spcBef>
                <a:spcPts val="0"/>
              </a:spcBef>
              <a:spcAft>
                <a:spcPts val="400"/>
              </a:spcAft>
            </a:pPr>
            <a:r>
              <a:rPr sz="1600" b="1" i="0">
                <a:solidFill>
                  <a:srgbClr val="E26D5A"/>
                </a:solidFill>
                <a:latin typeface="Segoe UI Semibold"/>
                <a:cs typeface="Segoe UI Semibold"/>
              </a:rPr>
              <a:t>Chất đạm</a:t>
            </a:r>
          </a:p>
        </p:txBody>
      </p:sp>
      <p:sp>
        <p:nvSpPr>
          <p:cNvPr id="17" name="TextBox 16"/>
          <p:cNvSpPr txBox="1"/>
          <p:nvPr/>
        </p:nvSpPr>
        <p:spPr>
          <a:xfrm>
            <a:off x="1325880" y="3154680"/>
            <a:ext cx="5303520" cy="594360"/>
          </a:xfrm>
          <a:prstGeom prst="rect">
            <a:avLst/>
          </a:prstGeom>
          <a:noFill/>
        </p:spPr>
        <p:txBody>
          <a:bodyPr wrap="square" lIns="0" tIns="0" rIns="0" bIns="0" anchor="t">
            <a:spAutoFit/>
          </a:bodyPr>
          <a:lstStyle/>
          <a:p>
            <a:pPr algn="l">
              <a:lnSpc>
                <a:spcPct val="104000"/>
              </a:lnSpc>
              <a:spcBef>
                <a:spcPts val="0"/>
              </a:spcBef>
              <a:spcAft>
                <a:spcPts val="400"/>
              </a:spcAft>
            </a:pPr>
            <a:r>
              <a:rPr sz="1200" b="0" i="0">
                <a:solidFill>
                  <a:srgbClr val="1E293B"/>
                </a:solidFill>
                <a:latin typeface="Segoe UI"/>
                <a:cs typeface="Segoe UI"/>
              </a:rPr>
              <a:t>Thịt, cá, tôm, trứng, đậu đỗ – xây dựng cơ thể, tăng đề kháng.</a:t>
            </a:r>
          </a:p>
        </p:txBody>
      </p:sp>
      <p:sp>
        <p:nvSpPr>
          <p:cNvPr id="18" name="Oval 17"/>
          <p:cNvSpPr/>
          <p:nvPr/>
        </p:nvSpPr>
        <p:spPr>
          <a:xfrm>
            <a:off x="640080" y="3785616"/>
            <a:ext cx="502920" cy="502920"/>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1800" b="1" i="0">
                <a:solidFill>
                  <a:srgbClr val="FFFFFF"/>
                </a:solidFill>
                <a:latin typeface="Segoe UI"/>
                <a:cs typeface="Segoe UI"/>
              </a:rPr>
              <a:t>3</a:t>
            </a:r>
          </a:p>
        </p:txBody>
      </p:sp>
      <p:sp>
        <p:nvSpPr>
          <p:cNvPr id="19" name="TextBox 18"/>
          <p:cNvSpPr txBox="1"/>
          <p:nvPr/>
        </p:nvSpPr>
        <p:spPr>
          <a:xfrm>
            <a:off x="1325880" y="3739896"/>
            <a:ext cx="5212080" cy="411480"/>
          </a:xfrm>
          <a:prstGeom prst="rect">
            <a:avLst/>
          </a:prstGeom>
          <a:noFill/>
        </p:spPr>
        <p:txBody>
          <a:bodyPr wrap="square" lIns="0" tIns="0" rIns="0" bIns="0" anchor="t">
            <a:spAutoFit/>
          </a:bodyPr>
          <a:lstStyle/>
          <a:p>
            <a:pPr algn="l">
              <a:lnSpc>
                <a:spcPct val="100000"/>
              </a:lnSpc>
              <a:spcBef>
                <a:spcPts val="0"/>
              </a:spcBef>
              <a:spcAft>
                <a:spcPts val="400"/>
              </a:spcAft>
            </a:pPr>
            <a:r>
              <a:rPr sz="1600" b="1" i="0">
                <a:solidFill>
                  <a:srgbClr val="3A6B35"/>
                </a:solidFill>
                <a:latin typeface="Segoe UI Semibold"/>
                <a:cs typeface="Segoe UI Semibold"/>
              </a:rPr>
              <a:t>Vitamin &amp; khoáng</a:t>
            </a:r>
          </a:p>
        </p:txBody>
      </p:sp>
      <p:sp>
        <p:nvSpPr>
          <p:cNvPr id="20" name="TextBox 19"/>
          <p:cNvSpPr txBox="1"/>
          <p:nvPr/>
        </p:nvSpPr>
        <p:spPr>
          <a:xfrm>
            <a:off x="1325880" y="4133088"/>
            <a:ext cx="5303520" cy="594360"/>
          </a:xfrm>
          <a:prstGeom prst="rect">
            <a:avLst/>
          </a:prstGeom>
          <a:noFill/>
        </p:spPr>
        <p:txBody>
          <a:bodyPr wrap="square" lIns="0" tIns="0" rIns="0" bIns="0" anchor="t">
            <a:spAutoFit/>
          </a:bodyPr>
          <a:lstStyle/>
          <a:p>
            <a:pPr algn="l">
              <a:lnSpc>
                <a:spcPct val="104000"/>
              </a:lnSpc>
              <a:spcBef>
                <a:spcPts val="0"/>
              </a:spcBef>
              <a:spcAft>
                <a:spcPts val="400"/>
              </a:spcAft>
            </a:pPr>
            <a:r>
              <a:rPr sz="1200" b="0" i="0">
                <a:solidFill>
                  <a:srgbClr val="1E293B"/>
                </a:solidFill>
                <a:latin typeface="Segoe UI"/>
                <a:cs typeface="Segoe UI"/>
              </a:rPr>
              <a:t>Rau xanh, củ quả màu vàng/đỏ/cam – mắt sáng, chống nhiễm khuẩn.</a:t>
            </a:r>
          </a:p>
        </p:txBody>
      </p:sp>
      <p:sp>
        <p:nvSpPr>
          <p:cNvPr id="21" name="Oval 20"/>
          <p:cNvSpPr/>
          <p:nvPr/>
        </p:nvSpPr>
        <p:spPr>
          <a:xfrm>
            <a:off x="640080" y="4764024"/>
            <a:ext cx="502920" cy="502920"/>
          </a:xfrm>
          <a:prstGeom prst="ellipse">
            <a:avLst/>
          </a:prstGeom>
          <a:solidFill>
            <a:srgbClr val="2866A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1800" b="1" i="0">
                <a:solidFill>
                  <a:srgbClr val="FFFFFF"/>
                </a:solidFill>
                <a:latin typeface="Segoe UI"/>
                <a:cs typeface="Segoe UI"/>
              </a:rPr>
              <a:t>4</a:t>
            </a:r>
          </a:p>
        </p:txBody>
      </p:sp>
      <p:sp>
        <p:nvSpPr>
          <p:cNvPr id="22" name="TextBox 21"/>
          <p:cNvSpPr txBox="1"/>
          <p:nvPr/>
        </p:nvSpPr>
        <p:spPr>
          <a:xfrm>
            <a:off x="1325880" y="4718304"/>
            <a:ext cx="5212080" cy="411480"/>
          </a:xfrm>
          <a:prstGeom prst="rect">
            <a:avLst/>
          </a:prstGeom>
          <a:noFill/>
        </p:spPr>
        <p:txBody>
          <a:bodyPr wrap="square" lIns="0" tIns="0" rIns="0" bIns="0" anchor="t">
            <a:spAutoFit/>
          </a:bodyPr>
          <a:lstStyle/>
          <a:p>
            <a:pPr algn="l">
              <a:lnSpc>
                <a:spcPct val="100000"/>
              </a:lnSpc>
              <a:spcBef>
                <a:spcPts val="0"/>
              </a:spcBef>
              <a:spcAft>
                <a:spcPts val="400"/>
              </a:spcAft>
            </a:pPr>
            <a:r>
              <a:rPr sz="1600" b="1" i="0">
                <a:solidFill>
                  <a:srgbClr val="2866AB"/>
                </a:solidFill>
                <a:latin typeface="Segoe UI Semibold"/>
                <a:cs typeface="Segoe UI Semibold"/>
              </a:rPr>
              <a:t>Chất béo</a:t>
            </a:r>
          </a:p>
        </p:txBody>
      </p:sp>
      <p:sp>
        <p:nvSpPr>
          <p:cNvPr id="23" name="TextBox 22"/>
          <p:cNvSpPr txBox="1"/>
          <p:nvPr/>
        </p:nvSpPr>
        <p:spPr>
          <a:xfrm>
            <a:off x="1325880" y="5111496"/>
            <a:ext cx="5303520" cy="594360"/>
          </a:xfrm>
          <a:prstGeom prst="rect">
            <a:avLst/>
          </a:prstGeom>
          <a:noFill/>
        </p:spPr>
        <p:txBody>
          <a:bodyPr wrap="square" lIns="0" tIns="0" rIns="0" bIns="0" anchor="t">
            <a:spAutoFit/>
          </a:bodyPr>
          <a:lstStyle/>
          <a:p>
            <a:pPr algn="l">
              <a:lnSpc>
                <a:spcPct val="104000"/>
              </a:lnSpc>
              <a:spcBef>
                <a:spcPts val="0"/>
              </a:spcBef>
              <a:spcAft>
                <a:spcPts val="400"/>
              </a:spcAft>
            </a:pPr>
            <a:r>
              <a:rPr sz="1200" b="0" i="0">
                <a:solidFill>
                  <a:srgbClr val="1E293B"/>
                </a:solidFill>
                <a:latin typeface="Segoe UI"/>
                <a:cs typeface="Segoe UI"/>
              </a:rPr>
              <a:t>Dầu, mỡ, bơ – giúp hấp thu vitamin A, D, E, K; làm món ăn mềm.</a:t>
            </a:r>
          </a:p>
        </p:txBody>
      </p:sp>
      <p:sp>
        <p:nvSpPr>
          <p:cNvPr id="24" name="TextBox 23"/>
          <p:cNvSpPr txBox="1"/>
          <p:nvPr/>
        </p:nvSpPr>
        <p:spPr>
          <a:xfrm>
            <a:off x="548640" y="6144768"/>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50" b="1" i="1">
                <a:solidFill>
                  <a:srgbClr val="19A99D"/>
                </a:solidFill>
                <a:latin typeface="Segoe UI"/>
                <a:cs typeface="Segoe UI"/>
              </a:rPr>
              <a:t>Nguồn: </a:t>
            </a:r>
            <a:r>
              <a:rPr sz="950" b="0" i="1">
                <a:solidFill>
                  <a:srgbClr val="64748B"/>
                </a:solidFill>
                <a:latin typeface="Segoe UI"/>
                <a:cs typeface="Segoe UI"/>
              </a:rPr>
              <a:t>Nuôi dưỡng trẻ nhỏ 0–24 tháng, Bộ Y tế 2015 (Tranh 21 – các nhóm thực phẩm)</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384048" y="274320"/>
            <a:ext cx="384048" cy="384048"/>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4068" y="329184"/>
            <a:ext cx="104241"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66344" y="406908"/>
            <a:ext cx="274320" cy="10424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274320"/>
            <a:ext cx="2926080" cy="402336"/>
          </a:xfrm>
          <a:prstGeom prst="rect">
            <a:avLst/>
          </a:prstGeom>
          <a:noFill/>
        </p:spPr>
        <p:txBody>
          <a:bodyPr wrap="square" lIns="0" tIns="0" rIns="0" bIns="0" anchor="ctr">
            <a:spAutoFit/>
          </a:bodyPr>
          <a:lstStyle/>
          <a:p>
            <a:pPr algn="l">
              <a:lnSpc>
                <a:spcPct val="100000"/>
              </a:lnSpc>
              <a:spcBef>
                <a:spcPts val="0"/>
              </a:spcBef>
              <a:spcAft>
                <a:spcPts val="400"/>
              </a:spcAft>
            </a:pPr>
            <a:r>
              <a:rPr sz="1300" b="1" i="0">
                <a:solidFill>
                  <a:srgbClr val="1E293B"/>
                </a:solidFill>
                <a:latin typeface="Segoe UI"/>
                <a:cs typeface="Segoe UI"/>
              </a:rPr>
              <a:t>DINH DƯỠNG </a:t>
            </a:r>
            <a:r>
              <a:rPr sz="1300" b="1" i="0">
                <a:solidFill>
                  <a:srgbClr val="19A99D"/>
                </a:solidFill>
                <a:latin typeface="Segoe UI"/>
                <a:cs typeface="Segoe UI"/>
              </a:rPr>
              <a:t>NHI KHOA</a:t>
            </a:r>
          </a:p>
        </p:txBody>
      </p:sp>
      <p:sp>
        <p:nvSpPr>
          <p:cNvPr id="6" name="Rectangle 5"/>
          <p:cNvSpPr/>
          <p:nvPr/>
        </p:nvSpPr>
        <p:spPr>
          <a:xfrm>
            <a:off x="0" y="6473952"/>
            <a:ext cx="12191695" cy="384048"/>
          </a:xfrm>
          <a:prstGeom prst="rect">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492240"/>
            <a:ext cx="9601200" cy="347472"/>
          </a:xfrm>
          <a:prstGeom prst="rect">
            <a:avLst/>
          </a:prstGeom>
          <a:noFill/>
        </p:spPr>
        <p:txBody>
          <a:bodyPr wrap="square" lIns="0" tIns="0" rIns="0" bIns="0" anchor="ctr">
            <a:spAutoFit/>
          </a:bodyPr>
          <a:lstStyle/>
          <a:p>
            <a:pPr algn="l">
              <a:lnSpc>
                <a:spcPct val="100000"/>
              </a:lnSpc>
              <a:spcBef>
                <a:spcPts val="0"/>
              </a:spcBef>
              <a:spcAft>
                <a:spcPts val="400"/>
              </a:spcAft>
            </a:pPr>
            <a:r>
              <a:rPr sz="950" b="0" i="0">
                <a:solidFill>
                  <a:srgbClr val="FFFFFF"/>
                </a:solidFill>
                <a:latin typeface="Segoe UI"/>
                <a:cs typeface="Segoe UI"/>
              </a:rPr>
              <a:t>Chuyên đề 2 · Dinh dưỡng – nền tảng cho miễn dịch &amp; sự phát triển của trẻ  ·  TS. Lê Thị Thùy Dung</a:t>
            </a:r>
          </a:p>
        </p:txBody>
      </p:sp>
      <p:sp>
        <p:nvSpPr>
          <p:cNvPr id="8" name="TextBox 7"/>
          <p:cNvSpPr txBox="1"/>
          <p:nvPr/>
        </p:nvSpPr>
        <p:spPr>
          <a:xfrm>
            <a:off x="11185855" y="6492240"/>
            <a:ext cx="548640" cy="347472"/>
          </a:xfrm>
          <a:prstGeom prst="rect">
            <a:avLst/>
          </a:prstGeom>
          <a:noFill/>
        </p:spPr>
        <p:txBody>
          <a:bodyPr wrap="square" lIns="0" tIns="0" rIns="0" bIns="0" anchor="ctr">
            <a:spAutoFit/>
          </a:bodyPr>
          <a:lstStyle/>
          <a:p>
            <a:pPr algn="r">
              <a:lnSpc>
                <a:spcPct val="100000"/>
              </a:lnSpc>
              <a:spcBef>
                <a:spcPts val="0"/>
              </a:spcBef>
              <a:spcAft>
                <a:spcPts val="400"/>
              </a:spcAft>
            </a:pPr>
            <a:r>
              <a:rPr sz="1000" b="1" i="0">
                <a:solidFill>
                  <a:srgbClr val="FFFFFF"/>
                </a:solidFill>
                <a:latin typeface="Segoe UI"/>
                <a:cs typeface="Segoe UI"/>
              </a:rPr>
              <a:t>13</a:t>
            </a:r>
          </a:p>
        </p:txBody>
      </p:sp>
      <p:sp>
        <p:nvSpPr>
          <p:cNvPr id="9" name="TextBox 8"/>
          <p:cNvSpPr txBox="1"/>
          <p:nvPr/>
        </p:nvSpPr>
        <p:spPr>
          <a:xfrm>
            <a:off x="548640" y="841248"/>
            <a:ext cx="10881360" cy="566928"/>
          </a:xfrm>
          <a:prstGeom prst="rect">
            <a:avLst/>
          </a:prstGeom>
          <a:noFill/>
        </p:spPr>
        <p:txBody>
          <a:bodyPr wrap="square" lIns="0" tIns="0" rIns="0" bIns="0" anchor="t">
            <a:spAutoFit/>
          </a:bodyPr>
          <a:lstStyle/>
          <a:p>
            <a:pPr algn="l">
              <a:lnSpc>
                <a:spcPct val="100000"/>
              </a:lnSpc>
              <a:spcBef>
                <a:spcPts val="0"/>
              </a:spcBef>
              <a:spcAft>
                <a:spcPts val="400"/>
              </a:spcAft>
            </a:pPr>
            <a:r>
              <a:rPr sz="2700" b="1" i="0">
                <a:solidFill>
                  <a:srgbClr val="19A99D"/>
                </a:solidFill>
                <a:latin typeface="Segoe UI Semibold"/>
                <a:cs typeface="Segoe UI Semibold"/>
              </a:rPr>
              <a:t>Tháp dinh dưỡng cho trẻ</a:t>
            </a:r>
          </a:p>
        </p:txBody>
      </p:sp>
      <p:sp>
        <p:nvSpPr>
          <p:cNvPr id="10" name="TextBox 9"/>
          <p:cNvSpPr txBox="1"/>
          <p:nvPr/>
        </p:nvSpPr>
        <p:spPr>
          <a:xfrm>
            <a:off x="548640" y="1408176"/>
            <a:ext cx="10881360" cy="365760"/>
          </a:xfrm>
          <a:prstGeom prst="rect">
            <a:avLst/>
          </a:prstGeom>
          <a:noFill/>
        </p:spPr>
        <p:txBody>
          <a:bodyPr wrap="square" lIns="0" tIns="0" rIns="0" bIns="0" anchor="t">
            <a:spAutoFit/>
          </a:bodyPr>
          <a:lstStyle/>
          <a:p>
            <a:pPr algn="l">
              <a:lnSpc>
                <a:spcPct val="100000"/>
              </a:lnSpc>
              <a:spcBef>
                <a:spcPts val="0"/>
              </a:spcBef>
              <a:spcAft>
                <a:spcPts val="400"/>
              </a:spcAft>
            </a:pPr>
            <a:r>
              <a:rPr sz="1500" b="0" i="1">
                <a:solidFill>
                  <a:srgbClr val="64748B"/>
                </a:solidFill>
                <a:latin typeface="Segoe UI"/>
                <a:cs typeface="Segoe UI"/>
              </a:rPr>
              <a:t>Ăn nhiều ở đáy tháp, ăn ít ở đỉnh tháp</a:t>
            </a:r>
          </a:p>
        </p:txBody>
      </p:sp>
      <p:pic>
        <p:nvPicPr>
          <p:cNvPr id="11" name="Picture 10" descr="pyramid.png"/>
          <p:cNvPicPr>
            <a:picLocks noChangeAspect="1"/>
          </p:cNvPicPr>
          <p:nvPr/>
        </p:nvPicPr>
        <p:blipFill>
          <a:blip r:embed="rId2"/>
          <a:stretch>
            <a:fillRect/>
          </a:stretch>
        </p:blipFill>
        <p:spPr>
          <a:xfrm>
            <a:off x="1108032" y="1737360"/>
            <a:ext cx="3361775" cy="4069080"/>
          </a:xfrm>
          <a:prstGeom prst="rect">
            <a:avLst/>
          </a:prstGeom>
        </p:spPr>
      </p:pic>
      <p:sp>
        <p:nvSpPr>
          <p:cNvPr id="12" name="Rounded Rectangle 11"/>
          <p:cNvSpPr/>
          <p:nvPr/>
        </p:nvSpPr>
        <p:spPr>
          <a:xfrm>
            <a:off x="5212080" y="1874519"/>
            <a:ext cx="6492240" cy="749808"/>
          </a:xfrm>
          <a:prstGeom prst="roundRect">
            <a:avLst>
              <a:gd name="adj" fmla="val 12000"/>
            </a:avLst>
          </a:prstGeom>
          <a:solidFill>
            <a:srgbClr val="FFFFFF"/>
          </a:solidFill>
          <a:ln w="15875">
            <a:solidFill>
              <a:srgbClr val="3A6B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5394960" y="2020824"/>
            <a:ext cx="457200" cy="457200"/>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1500" b="1" i="0">
                <a:solidFill>
                  <a:srgbClr val="FFFFFF"/>
                </a:solidFill>
                <a:latin typeface="Segoe UI"/>
                <a:cs typeface="Segoe UI"/>
              </a:rPr>
              <a:t>1</a:t>
            </a:r>
          </a:p>
        </p:txBody>
      </p:sp>
      <p:sp>
        <p:nvSpPr>
          <p:cNvPr id="14" name="TextBox 13"/>
          <p:cNvSpPr txBox="1"/>
          <p:nvPr/>
        </p:nvSpPr>
        <p:spPr>
          <a:xfrm>
            <a:off x="6035040" y="1938527"/>
            <a:ext cx="5486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E293B"/>
                </a:solidFill>
                <a:latin typeface="Segoe UI Semibold"/>
                <a:cs typeface="Segoe UI Semibold"/>
              </a:rPr>
              <a:t>Ngũ cốc, khoai củ</a:t>
            </a:r>
          </a:p>
        </p:txBody>
      </p:sp>
      <p:sp>
        <p:nvSpPr>
          <p:cNvPr id="15" name="TextBox 14"/>
          <p:cNvSpPr txBox="1"/>
          <p:nvPr/>
        </p:nvSpPr>
        <p:spPr>
          <a:xfrm>
            <a:off x="6035040" y="2286000"/>
            <a:ext cx="5486400" cy="292608"/>
          </a:xfrm>
          <a:prstGeom prst="rect">
            <a:avLst/>
          </a:prstGeom>
          <a:noFill/>
        </p:spPr>
        <p:txBody>
          <a:bodyPr wrap="square" lIns="0" tIns="0" rIns="0" bIns="0" anchor="t">
            <a:spAutoFit/>
          </a:bodyPr>
          <a:lstStyle/>
          <a:p>
            <a:pPr algn="l">
              <a:lnSpc>
                <a:spcPct val="100000"/>
              </a:lnSpc>
              <a:spcBef>
                <a:spcPts val="0"/>
              </a:spcBef>
              <a:spcAft>
                <a:spcPts val="400"/>
              </a:spcAft>
            </a:pPr>
            <a:r>
              <a:rPr sz="1150" b="0" i="1">
                <a:solidFill>
                  <a:srgbClr val="64748B"/>
                </a:solidFill>
                <a:latin typeface="Segoe UI"/>
                <a:cs typeface="Segoe UI"/>
              </a:rPr>
              <a:t>Ăn đủ – nguồn năng lượng chính</a:t>
            </a:r>
          </a:p>
        </p:txBody>
      </p:sp>
      <p:sp>
        <p:nvSpPr>
          <p:cNvPr id="16" name="Rounded Rectangle 15"/>
          <p:cNvSpPr/>
          <p:nvPr/>
        </p:nvSpPr>
        <p:spPr>
          <a:xfrm>
            <a:off x="5212080" y="2743200"/>
            <a:ext cx="6492240" cy="749808"/>
          </a:xfrm>
          <a:prstGeom prst="roundRect">
            <a:avLst>
              <a:gd name="adj" fmla="val 12000"/>
            </a:avLst>
          </a:prstGeom>
          <a:solidFill>
            <a:srgbClr val="FFFFFF"/>
          </a:solidFill>
          <a:ln w="15875">
            <a:solidFill>
              <a:srgbClr val="19A99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5394960" y="2889504"/>
            <a:ext cx="457200" cy="457200"/>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1500" b="1" i="0">
                <a:solidFill>
                  <a:srgbClr val="FFFFFF"/>
                </a:solidFill>
                <a:latin typeface="Segoe UI"/>
                <a:cs typeface="Segoe UI"/>
              </a:rPr>
              <a:t>2</a:t>
            </a:r>
          </a:p>
        </p:txBody>
      </p:sp>
      <p:sp>
        <p:nvSpPr>
          <p:cNvPr id="18" name="TextBox 17"/>
          <p:cNvSpPr txBox="1"/>
          <p:nvPr/>
        </p:nvSpPr>
        <p:spPr>
          <a:xfrm>
            <a:off x="6035040" y="2807208"/>
            <a:ext cx="5486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E293B"/>
                </a:solidFill>
                <a:latin typeface="Segoe UI Semibold"/>
                <a:cs typeface="Segoe UI Semibold"/>
              </a:rPr>
              <a:t>Rau &amp; trái cây</a:t>
            </a:r>
          </a:p>
        </p:txBody>
      </p:sp>
      <p:sp>
        <p:nvSpPr>
          <p:cNvPr id="19" name="TextBox 18"/>
          <p:cNvSpPr txBox="1"/>
          <p:nvPr/>
        </p:nvSpPr>
        <p:spPr>
          <a:xfrm>
            <a:off x="6035040" y="3154680"/>
            <a:ext cx="5486400" cy="292608"/>
          </a:xfrm>
          <a:prstGeom prst="rect">
            <a:avLst/>
          </a:prstGeom>
          <a:noFill/>
        </p:spPr>
        <p:txBody>
          <a:bodyPr wrap="square" lIns="0" tIns="0" rIns="0" bIns="0" anchor="t">
            <a:spAutoFit/>
          </a:bodyPr>
          <a:lstStyle/>
          <a:p>
            <a:pPr algn="l">
              <a:lnSpc>
                <a:spcPct val="100000"/>
              </a:lnSpc>
              <a:spcBef>
                <a:spcPts val="0"/>
              </a:spcBef>
              <a:spcAft>
                <a:spcPts val="400"/>
              </a:spcAft>
            </a:pPr>
            <a:r>
              <a:rPr sz="1150" b="0" i="1">
                <a:solidFill>
                  <a:srgbClr val="64748B"/>
                </a:solidFill>
                <a:latin typeface="Segoe UI"/>
                <a:cs typeface="Segoe UI"/>
              </a:rPr>
              <a:t>Ăn nhiều – vitamin, khoáng, chất xơ</a:t>
            </a:r>
          </a:p>
        </p:txBody>
      </p:sp>
      <p:sp>
        <p:nvSpPr>
          <p:cNvPr id="20" name="Rounded Rectangle 19"/>
          <p:cNvSpPr/>
          <p:nvPr/>
        </p:nvSpPr>
        <p:spPr>
          <a:xfrm>
            <a:off x="5212080" y="3611879"/>
            <a:ext cx="6492240" cy="749808"/>
          </a:xfrm>
          <a:prstGeom prst="roundRect">
            <a:avLst>
              <a:gd name="adj" fmla="val 12000"/>
            </a:avLst>
          </a:prstGeom>
          <a:solidFill>
            <a:srgbClr val="FFFFFF"/>
          </a:solidFill>
          <a:ln w="15875">
            <a:solidFill>
              <a:srgbClr val="E26D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5394960" y="3758183"/>
            <a:ext cx="457200" cy="457200"/>
          </a:xfrm>
          <a:prstGeom prst="ellipse">
            <a:avLst/>
          </a:prstGeom>
          <a:solidFill>
            <a:srgbClr val="E26D5A"/>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1500" b="1" i="0">
                <a:solidFill>
                  <a:srgbClr val="FFFFFF"/>
                </a:solidFill>
                <a:latin typeface="Segoe UI"/>
                <a:cs typeface="Segoe UI"/>
              </a:rPr>
              <a:t>3</a:t>
            </a:r>
          </a:p>
        </p:txBody>
      </p:sp>
      <p:sp>
        <p:nvSpPr>
          <p:cNvPr id="22" name="TextBox 21"/>
          <p:cNvSpPr txBox="1"/>
          <p:nvPr/>
        </p:nvSpPr>
        <p:spPr>
          <a:xfrm>
            <a:off x="6035040" y="3675887"/>
            <a:ext cx="5486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E293B"/>
                </a:solidFill>
                <a:latin typeface="Segoe UI Semibold"/>
                <a:cs typeface="Segoe UI Semibold"/>
              </a:rPr>
              <a:t>Đạm: thịt, cá, trứng, đậu</a:t>
            </a:r>
          </a:p>
        </p:txBody>
      </p:sp>
      <p:sp>
        <p:nvSpPr>
          <p:cNvPr id="23" name="TextBox 22"/>
          <p:cNvSpPr txBox="1"/>
          <p:nvPr/>
        </p:nvSpPr>
        <p:spPr>
          <a:xfrm>
            <a:off x="6035040" y="4023359"/>
            <a:ext cx="5486400" cy="292608"/>
          </a:xfrm>
          <a:prstGeom prst="rect">
            <a:avLst/>
          </a:prstGeom>
          <a:noFill/>
        </p:spPr>
        <p:txBody>
          <a:bodyPr wrap="square" lIns="0" tIns="0" rIns="0" bIns="0" anchor="t">
            <a:spAutoFit/>
          </a:bodyPr>
          <a:lstStyle/>
          <a:p>
            <a:pPr algn="l">
              <a:lnSpc>
                <a:spcPct val="100000"/>
              </a:lnSpc>
              <a:spcBef>
                <a:spcPts val="0"/>
              </a:spcBef>
              <a:spcAft>
                <a:spcPts val="400"/>
              </a:spcAft>
            </a:pPr>
            <a:r>
              <a:rPr sz="1150" b="0" i="1">
                <a:solidFill>
                  <a:srgbClr val="64748B"/>
                </a:solidFill>
                <a:latin typeface="Segoe UI"/>
                <a:cs typeface="Segoe UI"/>
              </a:rPr>
              <a:t>Ăn vừa đủ – xây dựng cơ thể</a:t>
            </a:r>
          </a:p>
        </p:txBody>
      </p:sp>
      <p:sp>
        <p:nvSpPr>
          <p:cNvPr id="24" name="Rounded Rectangle 23"/>
          <p:cNvSpPr/>
          <p:nvPr/>
        </p:nvSpPr>
        <p:spPr>
          <a:xfrm>
            <a:off x="5212080" y="4480559"/>
            <a:ext cx="6492240" cy="749808"/>
          </a:xfrm>
          <a:prstGeom prst="roundRect">
            <a:avLst>
              <a:gd name="adj" fmla="val 12000"/>
            </a:avLst>
          </a:prstGeom>
          <a:solidFill>
            <a:srgbClr val="FFFFFF"/>
          </a:solidFill>
          <a:ln w="15875">
            <a:solidFill>
              <a:srgbClr val="2866A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5394960" y="4626864"/>
            <a:ext cx="457200" cy="457200"/>
          </a:xfrm>
          <a:prstGeom prst="ellipse">
            <a:avLst/>
          </a:prstGeom>
          <a:solidFill>
            <a:srgbClr val="2866A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1500" b="1" i="0">
                <a:solidFill>
                  <a:srgbClr val="FFFFFF"/>
                </a:solidFill>
                <a:latin typeface="Segoe UI"/>
                <a:cs typeface="Segoe UI"/>
              </a:rPr>
              <a:t>4</a:t>
            </a:r>
          </a:p>
        </p:txBody>
      </p:sp>
      <p:sp>
        <p:nvSpPr>
          <p:cNvPr id="26" name="TextBox 25"/>
          <p:cNvSpPr txBox="1"/>
          <p:nvPr/>
        </p:nvSpPr>
        <p:spPr>
          <a:xfrm>
            <a:off x="6035040" y="4544568"/>
            <a:ext cx="5486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E293B"/>
                </a:solidFill>
                <a:latin typeface="Segoe UI Semibold"/>
                <a:cs typeface="Segoe UI Semibold"/>
              </a:rPr>
              <a:t>Sữa &amp; chế phẩm sữa</a:t>
            </a:r>
          </a:p>
        </p:txBody>
      </p:sp>
      <p:sp>
        <p:nvSpPr>
          <p:cNvPr id="27" name="TextBox 26"/>
          <p:cNvSpPr txBox="1"/>
          <p:nvPr/>
        </p:nvSpPr>
        <p:spPr>
          <a:xfrm>
            <a:off x="6035040" y="4892040"/>
            <a:ext cx="5486400" cy="292608"/>
          </a:xfrm>
          <a:prstGeom prst="rect">
            <a:avLst/>
          </a:prstGeom>
          <a:noFill/>
        </p:spPr>
        <p:txBody>
          <a:bodyPr wrap="square" lIns="0" tIns="0" rIns="0" bIns="0" anchor="t">
            <a:spAutoFit/>
          </a:bodyPr>
          <a:lstStyle/>
          <a:p>
            <a:pPr algn="l">
              <a:lnSpc>
                <a:spcPct val="100000"/>
              </a:lnSpc>
              <a:spcBef>
                <a:spcPts val="0"/>
              </a:spcBef>
              <a:spcAft>
                <a:spcPts val="400"/>
              </a:spcAft>
            </a:pPr>
            <a:r>
              <a:rPr sz="1150" b="0" i="1">
                <a:solidFill>
                  <a:srgbClr val="64748B"/>
                </a:solidFill>
                <a:latin typeface="Segoe UI"/>
                <a:cs typeface="Segoe UI"/>
              </a:rPr>
              <a:t>Mỗi ngày – canxi cho xương</a:t>
            </a:r>
          </a:p>
        </p:txBody>
      </p:sp>
      <p:sp>
        <p:nvSpPr>
          <p:cNvPr id="28" name="Rounded Rectangle 27"/>
          <p:cNvSpPr/>
          <p:nvPr/>
        </p:nvSpPr>
        <p:spPr>
          <a:xfrm>
            <a:off x="5212080" y="5349240"/>
            <a:ext cx="6492240" cy="749808"/>
          </a:xfrm>
          <a:prstGeom prst="roundRect">
            <a:avLst>
              <a:gd name="adj" fmla="val 120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5394960" y="5495544"/>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1500" b="1" i="0">
                <a:solidFill>
                  <a:srgbClr val="FFFFFF"/>
                </a:solidFill>
                <a:latin typeface="Segoe UI"/>
                <a:cs typeface="Segoe UI"/>
              </a:rPr>
              <a:t>5</a:t>
            </a:r>
          </a:p>
        </p:txBody>
      </p:sp>
      <p:sp>
        <p:nvSpPr>
          <p:cNvPr id="30" name="TextBox 29"/>
          <p:cNvSpPr txBox="1"/>
          <p:nvPr/>
        </p:nvSpPr>
        <p:spPr>
          <a:xfrm>
            <a:off x="6035040" y="5413248"/>
            <a:ext cx="5486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E293B"/>
                </a:solidFill>
                <a:latin typeface="Segoe UI Semibold"/>
                <a:cs typeface="Segoe UI Semibold"/>
              </a:rPr>
              <a:t>Muối, đường, dầu mỡ</a:t>
            </a:r>
          </a:p>
        </p:txBody>
      </p:sp>
      <p:sp>
        <p:nvSpPr>
          <p:cNvPr id="31" name="TextBox 30"/>
          <p:cNvSpPr txBox="1"/>
          <p:nvPr/>
        </p:nvSpPr>
        <p:spPr>
          <a:xfrm>
            <a:off x="6035040" y="5760720"/>
            <a:ext cx="5486400" cy="292608"/>
          </a:xfrm>
          <a:prstGeom prst="rect">
            <a:avLst/>
          </a:prstGeom>
          <a:noFill/>
        </p:spPr>
        <p:txBody>
          <a:bodyPr wrap="square" lIns="0" tIns="0" rIns="0" bIns="0" anchor="t">
            <a:spAutoFit/>
          </a:bodyPr>
          <a:lstStyle/>
          <a:p>
            <a:pPr algn="l">
              <a:lnSpc>
                <a:spcPct val="100000"/>
              </a:lnSpc>
              <a:spcBef>
                <a:spcPts val="0"/>
              </a:spcBef>
              <a:spcAft>
                <a:spcPts val="400"/>
              </a:spcAft>
            </a:pPr>
            <a:r>
              <a:rPr sz="1150" b="0" i="1">
                <a:solidFill>
                  <a:srgbClr val="64748B"/>
                </a:solidFill>
                <a:latin typeface="Segoe UI"/>
                <a:cs typeface="Segoe UI"/>
              </a:rPr>
              <a:t>Ăn hạn chế – càng ít càng tốt</a:t>
            </a:r>
          </a:p>
        </p:txBody>
      </p:sp>
      <p:sp>
        <p:nvSpPr>
          <p:cNvPr id="32" name="TextBox 31"/>
          <p:cNvSpPr txBox="1"/>
          <p:nvPr/>
        </p:nvSpPr>
        <p:spPr>
          <a:xfrm>
            <a:off x="548640" y="6144768"/>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50" b="1" i="1">
                <a:solidFill>
                  <a:srgbClr val="19A99D"/>
                </a:solidFill>
                <a:latin typeface="Segoe UI"/>
                <a:cs typeface="Segoe UI"/>
              </a:rPr>
              <a:t>Nguồn: </a:t>
            </a:r>
            <a:r>
              <a:rPr sz="950" b="0" i="1">
                <a:solidFill>
                  <a:srgbClr val="64748B"/>
                </a:solidFill>
                <a:latin typeface="Segoe UI"/>
                <a:cs typeface="Segoe UI"/>
              </a:rPr>
              <a:t>Tháp dinh dưỡng hợp lý cho trẻ 6–11 tuổi, Viện Dinh dưỡng (Cẩm nang Action Education)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384048" y="274320"/>
            <a:ext cx="384048" cy="384048"/>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4068" y="329184"/>
            <a:ext cx="104241"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66344" y="406908"/>
            <a:ext cx="274320" cy="10424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274320"/>
            <a:ext cx="2926080" cy="402336"/>
          </a:xfrm>
          <a:prstGeom prst="rect">
            <a:avLst/>
          </a:prstGeom>
          <a:noFill/>
        </p:spPr>
        <p:txBody>
          <a:bodyPr wrap="square" lIns="0" tIns="0" rIns="0" bIns="0" anchor="ctr">
            <a:spAutoFit/>
          </a:bodyPr>
          <a:lstStyle/>
          <a:p>
            <a:pPr algn="l">
              <a:lnSpc>
                <a:spcPct val="100000"/>
              </a:lnSpc>
              <a:spcBef>
                <a:spcPts val="0"/>
              </a:spcBef>
              <a:spcAft>
                <a:spcPts val="400"/>
              </a:spcAft>
            </a:pPr>
            <a:r>
              <a:rPr sz="1300" b="1" i="0">
                <a:solidFill>
                  <a:srgbClr val="1E293B"/>
                </a:solidFill>
                <a:latin typeface="Segoe UI"/>
                <a:cs typeface="Segoe UI"/>
              </a:rPr>
              <a:t>DINH DƯỠNG </a:t>
            </a:r>
            <a:r>
              <a:rPr sz="1300" b="1" i="0">
                <a:solidFill>
                  <a:srgbClr val="19A99D"/>
                </a:solidFill>
                <a:latin typeface="Segoe UI"/>
                <a:cs typeface="Segoe UI"/>
              </a:rPr>
              <a:t>NHI KHOA</a:t>
            </a:r>
          </a:p>
        </p:txBody>
      </p:sp>
      <p:sp>
        <p:nvSpPr>
          <p:cNvPr id="6" name="Rectangle 5"/>
          <p:cNvSpPr/>
          <p:nvPr/>
        </p:nvSpPr>
        <p:spPr>
          <a:xfrm>
            <a:off x="0" y="6473952"/>
            <a:ext cx="12191695" cy="384048"/>
          </a:xfrm>
          <a:prstGeom prst="rect">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492240"/>
            <a:ext cx="9601200" cy="347472"/>
          </a:xfrm>
          <a:prstGeom prst="rect">
            <a:avLst/>
          </a:prstGeom>
          <a:noFill/>
        </p:spPr>
        <p:txBody>
          <a:bodyPr wrap="square" lIns="0" tIns="0" rIns="0" bIns="0" anchor="ctr">
            <a:spAutoFit/>
          </a:bodyPr>
          <a:lstStyle/>
          <a:p>
            <a:pPr algn="l">
              <a:lnSpc>
                <a:spcPct val="100000"/>
              </a:lnSpc>
              <a:spcBef>
                <a:spcPts val="0"/>
              </a:spcBef>
              <a:spcAft>
                <a:spcPts val="400"/>
              </a:spcAft>
            </a:pPr>
            <a:r>
              <a:rPr sz="950" b="0" i="0">
                <a:solidFill>
                  <a:srgbClr val="FFFFFF"/>
                </a:solidFill>
                <a:latin typeface="Segoe UI"/>
                <a:cs typeface="Segoe UI"/>
              </a:rPr>
              <a:t>Chuyên đề 2 · Dinh dưỡng – nền tảng cho miễn dịch &amp; sự phát triển của trẻ  ·  TS. Lê Thị Thùy Dung</a:t>
            </a:r>
          </a:p>
        </p:txBody>
      </p:sp>
      <p:sp>
        <p:nvSpPr>
          <p:cNvPr id="8" name="TextBox 7"/>
          <p:cNvSpPr txBox="1"/>
          <p:nvPr/>
        </p:nvSpPr>
        <p:spPr>
          <a:xfrm>
            <a:off x="11185855" y="6492240"/>
            <a:ext cx="548640" cy="347472"/>
          </a:xfrm>
          <a:prstGeom prst="rect">
            <a:avLst/>
          </a:prstGeom>
          <a:noFill/>
        </p:spPr>
        <p:txBody>
          <a:bodyPr wrap="square" lIns="0" tIns="0" rIns="0" bIns="0" anchor="ctr">
            <a:spAutoFit/>
          </a:bodyPr>
          <a:lstStyle/>
          <a:p>
            <a:pPr algn="r">
              <a:lnSpc>
                <a:spcPct val="100000"/>
              </a:lnSpc>
              <a:spcBef>
                <a:spcPts val="0"/>
              </a:spcBef>
              <a:spcAft>
                <a:spcPts val="400"/>
              </a:spcAft>
            </a:pPr>
            <a:r>
              <a:rPr sz="1000" b="1" i="0">
                <a:solidFill>
                  <a:srgbClr val="FFFFFF"/>
                </a:solidFill>
                <a:latin typeface="Segoe UI"/>
                <a:cs typeface="Segoe UI"/>
              </a:rPr>
              <a:t>14</a:t>
            </a:r>
          </a:p>
        </p:txBody>
      </p:sp>
      <p:sp>
        <p:nvSpPr>
          <p:cNvPr id="9" name="TextBox 8"/>
          <p:cNvSpPr txBox="1"/>
          <p:nvPr/>
        </p:nvSpPr>
        <p:spPr>
          <a:xfrm>
            <a:off x="548640" y="841248"/>
            <a:ext cx="10881360" cy="566928"/>
          </a:xfrm>
          <a:prstGeom prst="rect">
            <a:avLst/>
          </a:prstGeom>
          <a:noFill/>
        </p:spPr>
        <p:txBody>
          <a:bodyPr wrap="square" lIns="0" tIns="0" rIns="0" bIns="0" anchor="t">
            <a:spAutoFit/>
          </a:bodyPr>
          <a:lstStyle/>
          <a:p>
            <a:pPr algn="l">
              <a:lnSpc>
                <a:spcPct val="100000"/>
              </a:lnSpc>
              <a:spcBef>
                <a:spcPts val="0"/>
              </a:spcBef>
              <a:spcAft>
                <a:spcPts val="400"/>
              </a:spcAft>
            </a:pPr>
            <a:r>
              <a:rPr sz="2700" b="1" i="0">
                <a:solidFill>
                  <a:srgbClr val="19A99D"/>
                </a:solidFill>
                <a:latin typeface="Segoe UI Semibold"/>
                <a:cs typeface="Segoe UI Semibold"/>
              </a:rPr>
              <a:t>Ba chất sinh năng lượng – tỷ lệ cân đối</a:t>
            </a:r>
          </a:p>
        </p:txBody>
      </p:sp>
      <p:sp>
        <p:nvSpPr>
          <p:cNvPr id="10" name="TextBox 9"/>
          <p:cNvSpPr txBox="1"/>
          <p:nvPr/>
        </p:nvSpPr>
        <p:spPr>
          <a:xfrm>
            <a:off x="548640" y="1408176"/>
            <a:ext cx="10881360" cy="365760"/>
          </a:xfrm>
          <a:prstGeom prst="rect">
            <a:avLst/>
          </a:prstGeom>
          <a:noFill/>
        </p:spPr>
        <p:txBody>
          <a:bodyPr wrap="square" lIns="0" tIns="0" rIns="0" bIns="0" anchor="t">
            <a:spAutoFit/>
          </a:bodyPr>
          <a:lstStyle/>
          <a:p>
            <a:pPr algn="l">
              <a:lnSpc>
                <a:spcPct val="100000"/>
              </a:lnSpc>
              <a:spcBef>
                <a:spcPts val="0"/>
              </a:spcBef>
              <a:spcAft>
                <a:spcPts val="400"/>
              </a:spcAft>
            </a:pPr>
            <a:r>
              <a:rPr sz="1500" b="0" i="1">
                <a:solidFill>
                  <a:srgbClr val="64748B"/>
                </a:solidFill>
                <a:latin typeface="Segoe UI"/>
                <a:cs typeface="Segoe UI"/>
              </a:rPr>
              <a:t>Cân đối khẩu phần quan trọng hơn ăn thật nhiều</a:t>
            </a:r>
          </a:p>
        </p:txBody>
      </p:sp>
      <p:graphicFrame>
        <p:nvGraphicFramePr>
          <p:cNvPr id="11" name="Chart 10"/>
          <p:cNvGraphicFramePr>
            <a:graphicFrameLocks noGrp="1"/>
          </p:cNvGraphicFramePr>
          <p:nvPr/>
        </p:nvGraphicFramePr>
        <p:xfrm>
          <a:off x="731520" y="1920240"/>
          <a:ext cx="4206240" cy="3931920"/>
        </p:xfrm>
        <a:graphic>
          <a:graphicData uri="http://schemas.openxmlformats.org/drawingml/2006/chart">
            <c:chart xmlns:c="http://schemas.openxmlformats.org/drawingml/2006/chart" xmlns:r="http://schemas.openxmlformats.org/officeDocument/2006/relationships" r:id="rId2"/>
          </a:graphicData>
        </a:graphic>
      </p:graphicFrame>
      <p:sp>
        <p:nvSpPr>
          <p:cNvPr id="12" name="Rounded Rectangle 11"/>
          <p:cNvSpPr/>
          <p:nvPr/>
        </p:nvSpPr>
        <p:spPr>
          <a:xfrm>
            <a:off x="5394960" y="2011680"/>
            <a:ext cx="6309360" cy="1143000"/>
          </a:xfrm>
          <a:prstGeom prst="roundRect">
            <a:avLst>
              <a:gd name="adj" fmla="val 6000"/>
            </a:avLst>
          </a:prstGeom>
          <a:solidFill>
            <a:srgbClr val="FFFFFF"/>
          </a:solidFill>
          <a:ln w="1905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623560" y="2157984"/>
            <a:ext cx="3108960" cy="457200"/>
          </a:xfrm>
          <a:prstGeom prst="rect">
            <a:avLst/>
          </a:prstGeom>
          <a:noFill/>
        </p:spPr>
        <p:txBody>
          <a:bodyPr wrap="square" lIns="0" tIns="0" rIns="0" bIns="0" anchor="t">
            <a:spAutoFit/>
          </a:bodyPr>
          <a:lstStyle/>
          <a:p>
            <a:pPr algn="l">
              <a:lnSpc>
                <a:spcPct val="100000"/>
              </a:lnSpc>
              <a:spcBef>
                <a:spcPts val="0"/>
              </a:spcBef>
              <a:spcAft>
                <a:spcPts val="400"/>
              </a:spcAft>
            </a:pPr>
            <a:r>
              <a:rPr sz="1650" b="1" i="0">
                <a:solidFill>
                  <a:srgbClr val="F59E0B"/>
                </a:solidFill>
                <a:latin typeface="Segoe UI Semibold"/>
                <a:cs typeface="Segoe UI Semibold"/>
              </a:rPr>
              <a:t>Chất bột đường</a:t>
            </a:r>
          </a:p>
        </p:txBody>
      </p:sp>
      <p:sp>
        <p:nvSpPr>
          <p:cNvPr id="14" name="TextBox 13"/>
          <p:cNvSpPr txBox="1"/>
          <p:nvPr/>
        </p:nvSpPr>
        <p:spPr>
          <a:xfrm>
            <a:off x="5623560" y="2615184"/>
            <a:ext cx="4023360" cy="457200"/>
          </a:xfrm>
          <a:prstGeom prst="rect">
            <a:avLst/>
          </a:prstGeom>
          <a:noFill/>
        </p:spPr>
        <p:txBody>
          <a:bodyPr wrap="square" lIns="0" tIns="0" rIns="0" bIns="0" anchor="t">
            <a:spAutoFit/>
          </a:bodyPr>
          <a:lstStyle/>
          <a:p>
            <a:pPr algn="l">
              <a:lnSpc>
                <a:spcPct val="100000"/>
              </a:lnSpc>
              <a:spcBef>
                <a:spcPts val="0"/>
              </a:spcBef>
              <a:spcAft>
                <a:spcPts val="400"/>
              </a:spcAft>
            </a:pPr>
            <a:r>
              <a:rPr sz="1250" b="0" i="0">
                <a:solidFill>
                  <a:srgbClr val="1E293B"/>
                </a:solidFill>
                <a:latin typeface="Segoe UI"/>
                <a:cs typeface="Segoe UI"/>
              </a:rPr>
              <a:t>Năng lượng cho não và vận động</a:t>
            </a:r>
          </a:p>
        </p:txBody>
      </p:sp>
      <p:sp>
        <p:nvSpPr>
          <p:cNvPr id="15" name="TextBox 14"/>
          <p:cNvSpPr txBox="1"/>
          <p:nvPr/>
        </p:nvSpPr>
        <p:spPr>
          <a:xfrm>
            <a:off x="9144000" y="2176272"/>
            <a:ext cx="2377440" cy="822960"/>
          </a:xfrm>
          <a:prstGeom prst="rect">
            <a:avLst/>
          </a:prstGeom>
          <a:noFill/>
        </p:spPr>
        <p:txBody>
          <a:bodyPr wrap="square" lIns="0" tIns="0" rIns="0" bIns="0" anchor="ctr">
            <a:spAutoFit/>
          </a:bodyPr>
          <a:lstStyle/>
          <a:p>
            <a:pPr algn="r">
              <a:lnSpc>
                <a:spcPct val="100000"/>
              </a:lnSpc>
              <a:spcBef>
                <a:spcPts val="0"/>
              </a:spcBef>
              <a:spcAft>
                <a:spcPts val="400"/>
              </a:spcAft>
            </a:pPr>
            <a:r>
              <a:rPr sz="2400" b="1" i="0">
                <a:solidFill>
                  <a:srgbClr val="F59E0B"/>
                </a:solidFill>
                <a:latin typeface="Segoe UI Semibold"/>
                <a:cs typeface="Segoe UI Semibold"/>
              </a:rPr>
              <a:t>55 – 65%</a:t>
            </a:r>
          </a:p>
        </p:txBody>
      </p:sp>
      <p:sp>
        <p:nvSpPr>
          <p:cNvPr id="16" name="Rounded Rectangle 15"/>
          <p:cNvSpPr/>
          <p:nvPr/>
        </p:nvSpPr>
        <p:spPr>
          <a:xfrm>
            <a:off x="5394960" y="3337560"/>
            <a:ext cx="6309360" cy="1143000"/>
          </a:xfrm>
          <a:prstGeom prst="roundRect">
            <a:avLst>
              <a:gd name="adj" fmla="val 6000"/>
            </a:avLst>
          </a:prstGeom>
          <a:solidFill>
            <a:srgbClr val="FFFFFF"/>
          </a:solidFill>
          <a:ln w="19050">
            <a:solidFill>
              <a:srgbClr val="E26D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623560" y="3483864"/>
            <a:ext cx="3108960" cy="457200"/>
          </a:xfrm>
          <a:prstGeom prst="rect">
            <a:avLst/>
          </a:prstGeom>
          <a:noFill/>
        </p:spPr>
        <p:txBody>
          <a:bodyPr wrap="square" lIns="0" tIns="0" rIns="0" bIns="0" anchor="t">
            <a:spAutoFit/>
          </a:bodyPr>
          <a:lstStyle/>
          <a:p>
            <a:pPr algn="l">
              <a:lnSpc>
                <a:spcPct val="100000"/>
              </a:lnSpc>
              <a:spcBef>
                <a:spcPts val="0"/>
              </a:spcBef>
              <a:spcAft>
                <a:spcPts val="400"/>
              </a:spcAft>
            </a:pPr>
            <a:r>
              <a:rPr sz="1650" b="1" i="0">
                <a:solidFill>
                  <a:srgbClr val="E26D5A"/>
                </a:solidFill>
                <a:latin typeface="Segoe UI Semibold"/>
                <a:cs typeface="Segoe UI Semibold"/>
              </a:rPr>
              <a:t>Chất đạm</a:t>
            </a:r>
          </a:p>
        </p:txBody>
      </p:sp>
      <p:sp>
        <p:nvSpPr>
          <p:cNvPr id="18" name="TextBox 17"/>
          <p:cNvSpPr txBox="1"/>
          <p:nvPr/>
        </p:nvSpPr>
        <p:spPr>
          <a:xfrm>
            <a:off x="5623560" y="3941064"/>
            <a:ext cx="4023360" cy="457200"/>
          </a:xfrm>
          <a:prstGeom prst="rect">
            <a:avLst/>
          </a:prstGeom>
          <a:noFill/>
        </p:spPr>
        <p:txBody>
          <a:bodyPr wrap="square" lIns="0" tIns="0" rIns="0" bIns="0" anchor="t">
            <a:spAutoFit/>
          </a:bodyPr>
          <a:lstStyle/>
          <a:p>
            <a:pPr algn="l">
              <a:lnSpc>
                <a:spcPct val="100000"/>
              </a:lnSpc>
              <a:spcBef>
                <a:spcPts val="0"/>
              </a:spcBef>
              <a:spcAft>
                <a:spcPts val="400"/>
              </a:spcAft>
            </a:pPr>
            <a:r>
              <a:rPr sz="1250" b="0" i="0">
                <a:solidFill>
                  <a:srgbClr val="1E293B"/>
                </a:solidFill>
                <a:latin typeface="Segoe UI"/>
                <a:cs typeface="Segoe UI"/>
              </a:rPr>
              <a:t>Xây dựng cơ – tế bào – kháng thể</a:t>
            </a:r>
          </a:p>
        </p:txBody>
      </p:sp>
      <p:sp>
        <p:nvSpPr>
          <p:cNvPr id="19" name="TextBox 18"/>
          <p:cNvSpPr txBox="1"/>
          <p:nvPr/>
        </p:nvSpPr>
        <p:spPr>
          <a:xfrm>
            <a:off x="9144000" y="3502152"/>
            <a:ext cx="2377440" cy="822960"/>
          </a:xfrm>
          <a:prstGeom prst="rect">
            <a:avLst/>
          </a:prstGeom>
          <a:noFill/>
        </p:spPr>
        <p:txBody>
          <a:bodyPr wrap="square" lIns="0" tIns="0" rIns="0" bIns="0" anchor="ctr">
            <a:spAutoFit/>
          </a:bodyPr>
          <a:lstStyle/>
          <a:p>
            <a:pPr algn="r">
              <a:lnSpc>
                <a:spcPct val="100000"/>
              </a:lnSpc>
              <a:spcBef>
                <a:spcPts val="0"/>
              </a:spcBef>
              <a:spcAft>
                <a:spcPts val="400"/>
              </a:spcAft>
            </a:pPr>
            <a:r>
              <a:rPr sz="2400" b="1" i="0">
                <a:solidFill>
                  <a:srgbClr val="E26D5A"/>
                </a:solidFill>
                <a:latin typeface="Segoe UI Semibold"/>
                <a:cs typeface="Segoe UI Semibold"/>
              </a:rPr>
              <a:t>13 – 20%</a:t>
            </a:r>
          </a:p>
        </p:txBody>
      </p:sp>
      <p:sp>
        <p:nvSpPr>
          <p:cNvPr id="20" name="Rounded Rectangle 19"/>
          <p:cNvSpPr/>
          <p:nvPr/>
        </p:nvSpPr>
        <p:spPr>
          <a:xfrm>
            <a:off x="5394960" y="4663440"/>
            <a:ext cx="6309360" cy="1143000"/>
          </a:xfrm>
          <a:prstGeom prst="roundRect">
            <a:avLst>
              <a:gd name="adj" fmla="val 6000"/>
            </a:avLst>
          </a:prstGeom>
          <a:solidFill>
            <a:srgbClr val="FFFFFF"/>
          </a:solidFill>
          <a:ln w="19050">
            <a:solidFill>
              <a:srgbClr val="2866A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623560" y="4809744"/>
            <a:ext cx="3108960" cy="457200"/>
          </a:xfrm>
          <a:prstGeom prst="rect">
            <a:avLst/>
          </a:prstGeom>
          <a:noFill/>
        </p:spPr>
        <p:txBody>
          <a:bodyPr wrap="square" lIns="0" tIns="0" rIns="0" bIns="0" anchor="t">
            <a:spAutoFit/>
          </a:bodyPr>
          <a:lstStyle/>
          <a:p>
            <a:pPr algn="l">
              <a:lnSpc>
                <a:spcPct val="100000"/>
              </a:lnSpc>
              <a:spcBef>
                <a:spcPts val="0"/>
              </a:spcBef>
              <a:spcAft>
                <a:spcPts val="400"/>
              </a:spcAft>
            </a:pPr>
            <a:r>
              <a:rPr sz="1650" b="1" i="0">
                <a:solidFill>
                  <a:srgbClr val="2866AB"/>
                </a:solidFill>
                <a:latin typeface="Segoe UI Semibold"/>
                <a:cs typeface="Segoe UI Semibold"/>
              </a:rPr>
              <a:t>Chất béo</a:t>
            </a:r>
          </a:p>
        </p:txBody>
      </p:sp>
      <p:sp>
        <p:nvSpPr>
          <p:cNvPr id="22" name="TextBox 21"/>
          <p:cNvSpPr txBox="1"/>
          <p:nvPr/>
        </p:nvSpPr>
        <p:spPr>
          <a:xfrm>
            <a:off x="5623560" y="5266944"/>
            <a:ext cx="4023360" cy="457200"/>
          </a:xfrm>
          <a:prstGeom prst="rect">
            <a:avLst/>
          </a:prstGeom>
          <a:noFill/>
        </p:spPr>
        <p:txBody>
          <a:bodyPr wrap="square" lIns="0" tIns="0" rIns="0" bIns="0" anchor="t">
            <a:spAutoFit/>
          </a:bodyPr>
          <a:lstStyle/>
          <a:p>
            <a:pPr algn="l">
              <a:lnSpc>
                <a:spcPct val="100000"/>
              </a:lnSpc>
              <a:spcBef>
                <a:spcPts val="0"/>
              </a:spcBef>
              <a:spcAft>
                <a:spcPts val="400"/>
              </a:spcAft>
            </a:pPr>
            <a:r>
              <a:rPr sz="1250" b="0" i="0">
                <a:solidFill>
                  <a:srgbClr val="1E293B"/>
                </a:solidFill>
                <a:latin typeface="Segoe UI"/>
                <a:cs typeface="Segoe UI"/>
              </a:rPr>
              <a:t>Hấp thu vitamin tan trong dầu</a:t>
            </a:r>
          </a:p>
        </p:txBody>
      </p:sp>
      <p:sp>
        <p:nvSpPr>
          <p:cNvPr id="23" name="TextBox 22"/>
          <p:cNvSpPr txBox="1"/>
          <p:nvPr/>
        </p:nvSpPr>
        <p:spPr>
          <a:xfrm>
            <a:off x="9144000" y="4828031"/>
            <a:ext cx="2377440" cy="822960"/>
          </a:xfrm>
          <a:prstGeom prst="rect">
            <a:avLst/>
          </a:prstGeom>
          <a:noFill/>
        </p:spPr>
        <p:txBody>
          <a:bodyPr wrap="square" lIns="0" tIns="0" rIns="0" bIns="0" anchor="ctr">
            <a:spAutoFit/>
          </a:bodyPr>
          <a:lstStyle/>
          <a:p>
            <a:pPr algn="r">
              <a:lnSpc>
                <a:spcPct val="100000"/>
              </a:lnSpc>
              <a:spcBef>
                <a:spcPts val="0"/>
              </a:spcBef>
              <a:spcAft>
                <a:spcPts val="400"/>
              </a:spcAft>
            </a:pPr>
            <a:r>
              <a:rPr sz="2400" b="1" i="0">
                <a:solidFill>
                  <a:srgbClr val="2866AB"/>
                </a:solidFill>
                <a:latin typeface="Segoe UI Semibold"/>
                <a:cs typeface="Segoe UI Semibold"/>
              </a:rPr>
              <a:t>20 – 30%</a:t>
            </a:r>
          </a:p>
        </p:txBody>
      </p:sp>
      <p:sp>
        <p:nvSpPr>
          <p:cNvPr id="24" name="TextBox 23"/>
          <p:cNvSpPr txBox="1"/>
          <p:nvPr/>
        </p:nvSpPr>
        <p:spPr>
          <a:xfrm>
            <a:off x="548640" y="6144768"/>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50" b="1" i="1">
                <a:solidFill>
                  <a:srgbClr val="19A99D"/>
                </a:solidFill>
                <a:latin typeface="Segoe UI"/>
                <a:cs typeface="Segoe UI"/>
              </a:rPr>
              <a:t>Nguồn: </a:t>
            </a:r>
            <a:r>
              <a:rPr sz="950" b="0" i="1">
                <a:solidFill>
                  <a:srgbClr val="64748B"/>
                </a:solidFill>
                <a:latin typeface="Segoe UI"/>
                <a:cs typeface="Segoe UI"/>
              </a:rPr>
              <a:t>Cẩm nang dinh dưỡng cho trẻ tiểu học, Viện Dinh dưỡng – Action Education (% năng lượng khẩu phần)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384048" y="274320"/>
            <a:ext cx="384048" cy="384048"/>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4068" y="329184"/>
            <a:ext cx="104241"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66344" y="406908"/>
            <a:ext cx="274320" cy="10424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274320"/>
            <a:ext cx="2926080" cy="402336"/>
          </a:xfrm>
          <a:prstGeom prst="rect">
            <a:avLst/>
          </a:prstGeom>
          <a:noFill/>
        </p:spPr>
        <p:txBody>
          <a:bodyPr wrap="square" lIns="0" tIns="0" rIns="0" bIns="0" anchor="ctr">
            <a:spAutoFit/>
          </a:bodyPr>
          <a:lstStyle/>
          <a:p>
            <a:pPr algn="l">
              <a:lnSpc>
                <a:spcPct val="100000"/>
              </a:lnSpc>
              <a:spcBef>
                <a:spcPts val="0"/>
              </a:spcBef>
              <a:spcAft>
                <a:spcPts val="400"/>
              </a:spcAft>
            </a:pPr>
            <a:r>
              <a:rPr sz="1300" b="1" i="0">
                <a:solidFill>
                  <a:srgbClr val="1E293B"/>
                </a:solidFill>
                <a:latin typeface="Segoe UI"/>
                <a:cs typeface="Segoe UI"/>
              </a:rPr>
              <a:t>DINH DƯỠNG </a:t>
            </a:r>
            <a:r>
              <a:rPr sz="1300" b="1" i="0">
                <a:solidFill>
                  <a:srgbClr val="19A99D"/>
                </a:solidFill>
                <a:latin typeface="Segoe UI"/>
                <a:cs typeface="Segoe UI"/>
              </a:rPr>
              <a:t>NHI KHOA</a:t>
            </a:r>
          </a:p>
        </p:txBody>
      </p:sp>
      <p:sp>
        <p:nvSpPr>
          <p:cNvPr id="6" name="Rectangle 5"/>
          <p:cNvSpPr/>
          <p:nvPr/>
        </p:nvSpPr>
        <p:spPr>
          <a:xfrm>
            <a:off x="0" y="6473952"/>
            <a:ext cx="12191695" cy="384048"/>
          </a:xfrm>
          <a:prstGeom prst="rect">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492240"/>
            <a:ext cx="9601200" cy="347472"/>
          </a:xfrm>
          <a:prstGeom prst="rect">
            <a:avLst/>
          </a:prstGeom>
          <a:noFill/>
        </p:spPr>
        <p:txBody>
          <a:bodyPr wrap="square" lIns="0" tIns="0" rIns="0" bIns="0" anchor="ctr">
            <a:spAutoFit/>
          </a:bodyPr>
          <a:lstStyle/>
          <a:p>
            <a:pPr algn="l">
              <a:lnSpc>
                <a:spcPct val="100000"/>
              </a:lnSpc>
              <a:spcBef>
                <a:spcPts val="0"/>
              </a:spcBef>
              <a:spcAft>
                <a:spcPts val="400"/>
              </a:spcAft>
            </a:pPr>
            <a:r>
              <a:rPr sz="950" b="0" i="0">
                <a:solidFill>
                  <a:srgbClr val="FFFFFF"/>
                </a:solidFill>
                <a:latin typeface="Segoe UI"/>
                <a:cs typeface="Segoe UI"/>
              </a:rPr>
              <a:t>Chuyên đề 2 · Dinh dưỡng – nền tảng cho miễn dịch &amp; sự phát triển của trẻ  ·  TS. Lê Thị Thùy Dung</a:t>
            </a:r>
          </a:p>
        </p:txBody>
      </p:sp>
      <p:sp>
        <p:nvSpPr>
          <p:cNvPr id="8" name="TextBox 7"/>
          <p:cNvSpPr txBox="1"/>
          <p:nvPr/>
        </p:nvSpPr>
        <p:spPr>
          <a:xfrm>
            <a:off x="11185855" y="6492240"/>
            <a:ext cx="548640" cy="347472"/>
          </a:xfrm>
          <a:prstGeom prst="rect">
            <a:avLst/>
          </a:prstGeom>
          <a:noFill/>
        </p:spPr>
        <p:txBody>
          <a:bodyPr wrap="square" lIns="0" tIns="0" rIns="0" bIns="0" anchor="ctr">
            <a:spAutoFit/>
          </a:bodyPr>
          <a:lstStyle/>
          <a:p>
            <a:pPr algn="r">
              <a:lnSpc>
                <a:spcPct val="100000"/>
              </a:lnSpc>
              <a:spcBef>
                <a:spcPts val="0"/>
              </a:spcBef>
              <a:spcAft>
                <a:spcPts val="400"/>
              </a:spcAft>
            </a:pPr>
            <a:r>
              <a:rPr sz="1000" b="1" i="0">
                <a:solidFill>
                  <a:srgbClr val="FFFFFF"/>
                </a:solidFill>
                <a:latin typeface="Segoe UI"/>
                <a:cs typeface="Segoe UI"/>
              </a:rPr>
              <a:t>15</a:t>
            </a:r>
          </a:p>
        </p:txBody>
      </p:sp>
      <p:sp>
        <p:nvSpPr>
          <p:cNvPr id="9" name="TextBox 8"/>
          <p:cNvSpPr txBox="1"/>
          <p:nvPr/>
        </p:nvSpPr>
        <p:spPr>
          <a:xfrm>
            <a:off x="548640" y="841248"/>
            <a:ext cx="10881360" cy="566928"/>
          </a:xfrm>
          <a:prstGeom prst="rect">
            <a:avLst/>
          </a:prstGeom>
          <a:noFill/>
        </p:spPr>
        <p:txBody>
          <a:bodyPr wrap="square" lIns="0" tIns="0" rIns="0" bIns="0" anchor="t">
            <a:spAutoFit/>
          </a:bodyPr>
          <a:lstStyle/>
          <a:p>
            <a:pPr algn="l">
              <a:lnSpc>
                <a:spcPct val="100000"/>
              </a:lnSpc>
              <a:spcBef>
                <a:spcPts val="0"/>
              </a:spcBef>
              <a:spcAft>
                <a:spcPts val="400"/>
              </a:spcAft>
            </a:pPr>
            <a:r>
              <a:rPr sz="2700" b="1" i="0" dirty="0" err="1">
                <a:solidFill>
                  <a:srgbClr val="19A99D"/>
                </a:solidFill>
                <a:latin typeface="Segoe UI Semibold"/>
                <a:cs typeface="Segoe UI Semibold"/>
              </a:rPr>
              <a:t>Bốn</a:t>
            </a:r>
            <a:r>
              <a:rPr sz="2700" b="1" i="0" dirty="0">
                <a:solidFill>
                  <a:srgbClr val="19A99D"/>
                </a:solidFill>
                <a:latin typeface="Segoe UI Semibold"/>
                <a:cs typeface="Segoe UI Semibold"/>
              </a:rPr>
              <a:t> vi </a:t>
            </a:r>
            <a:r>
              <a:rPr sz="2700" b="1" i="0" dirty="0" err="1">
                <a:solidFill>
                  <a:srgbClr val="19A99D"/>
                </a:solidFill>
                <a:latin typeface="Segoe UI Semibold"/>
                <a:cs typeface="Segoe UI Semibold"/>
              </a:rPr>
              <a:t>chất</a:t>
            </a:r>
            <a:r>
              <a:rPr sz="2700" b="1" i="0" dirty="0">
                <a:solidFill>
                  <a:srgbClr val="19A99D"/>
                </a:solidFill>
                <a:latin typeface="Segoe UI Semibold"/>
                <a:cs typeface="Segoe UI Semibold"/>
              </a:rPr>
              <a:t> “</a:t>
            </a:r>
            <a:r>
              <a:rPr sz="2700" b="1" i="0" dirty="0" err="1">
                <a:solidFill>
                  <a:srgbClr val="19A99D"/>
                </a:solidFill>
                <a:latin typeface="Segoe UI Semibold"/>
                <a:cs typeface="Segoe UI Semibold"/>
              </a:rPr>
              <a:t>vàng</a:t>
            </a:r>
            <a:r>
              <a:rPr sz="2700" b="1" i="0" dirty="0">
                <a:solidFill>
                  <a:srgbClr val="19A99D"/>
                </a:solidFill>
                <a:latin typeface="Segoe UI Semibold"/>
                <a:cs typeface="Segoe UI Semibold"/>
              </a:rPr>
              <a:t>” </a:t>
            </a:r>
            <a:r>
              <a:rPr sz="2700" b="1" i="0" dirty="0" err="1">
                <a:solidFill>
                  <a:srgbClr val="19A99D"/>
                </a:solidFill>
                <a:latin typeface="Segoe UI Semibold"/>
                <a:cs typeface="Segoe UI Semibold"/>
              </a:rPr>
              <a:t>cho</a:t>
            </a:r>
            <a:r>
              <a:rPr sz="2700" b="1" i="0" dirty="0">
                <a:solidFill>
                  <a:srgbClr val="19A99D"/>
                </a:solidFill>
                <a:latin typeface="Segoe UI Semibold"/>
                <a:cs typeface="Segoe UI Semibold"/>
              </a:rPr>
              <a:t> </a:t>
            </a:r>
            <a:r>
              <a:rPr sz="2700" b="1" i="0" dirty="0" err="1">
                <a:solidFill>
                  <a:srgbClr val="19A99D"/>
                </a:solidFill>
                <a:latin typeface="Segoe UI Semibold"/>
                <a:cs typeface="Segoe UI Semibold"/>
              </a:rPr>
              <a:t>chiều</a:t>
            </a:r>
            <a:r>
              <a:rPr sz="2700" b="1" i="0" dirty="0">
                <a:solidFill>
                  <a:srgbClr val="19A99D"/>
                </a:solidFill>
                <a:latin typeface="Segoe UI Semibold"/>
                <a:cs typeface="Segoe UI Semibold"/>
              </a:rPr>
              <a:t> </a:t>
            </a:r>
            <a:r>
              <a:rPr sz="2700" b="1" i="0" dirty="0" err="1">
                <a:solidFill>
                  <a:srgbClr val="19A99D"/>
                </a:solidFill>
                <a:latin typeface="Segoe UI Semibold"/>
                <a:cs typeface="Segoe UI Semibold"/>
              </a:rPr>
              <a:t>cao</a:t>
            </a:r>
            <a:r>
              <a:rPr sz="2700" b="1" i="0" dirty="0">
                <a:solidFill>
                  <a:srgbClr val="19A99D"/>
                </a:solidFill>
                <a:latin typeface="Segoe UI Semibold"/>
                <a:cs typeface="Segoe UI Semibold"/>
              </a:rPr>
              <a:t> &amp; </a:t>
            </a:r>
            <a:r>
              <a:rPr sz="2700" b="1" i="0" dirty="0" err="1">
                <a:solidFill>
                  <a:srgbClr val="19A99D"/>
                </a:solidFill>
                <a:latin typeface="Segoe UI Semibold"/>
                <a:cs typeface="Segoe UI Semibold"/>
              </a:rPr>
              <a:t>đề</a:t>
            </a:r>
            <a:r>
              <a:rPr sz="2700" b="1" i="0" dirty="0">
                <a:solidFill>
                  <a:srgbClr val="19A99D"/>
                </a:solidFill>
                <a:latin typeface="Segoe UI Semibold"/>
                <a:cs typeface="Segoe UI Semibold"/>
              </a:rPr>
              <a:t> </a:t>
            </a:r>
            <a:r>
              <a:rPr sz="2700" b="1" i="0" dirty="0" err="1">
                <a:solidFill>
                  <a:srgbClr val="19A99D"/>
                </a:solidFill>
                <a:latin typeface="Segoe UI Semibold"/>
                <a:cs typeface="Segoe UI Semibold"/>
              </a:rPr>
              <a:t>kháng</a:t>
            </a:r>
            <a:endParaRPr sz="2700" b="1" i="0" dirty="0">
              <a:solidFill>
                <a:srgbClr val="19A99D"/>
              </a:solidFill>
              <a:latin typeface="Segoe UI Semibold"/>
              <a:cs typeface="Segoe UI Semibold"/>
            </a:endParaRPr>
          </a:p>
        </p:txBody>
      </p:sp>
      <p:sp>
        <p:nvSpPr>
          <p:cNvPr id="10" name="TextBox 9"/>
          <p:cNvSpPr txBox="1"/>
          <p:nvPr/>
        </p:nvSpPr>
        <p:spPr>
          <a:xfrm>
            <a:off x="548640" y="1408176"/>
            <a:ext cx="10881360" cy="365760"/>
          </a:xfrm>
          <a:prstGeom prst="rect">
            <a:avLst/>
          </a:prstGeom>
          <a:noFill/>
        </p:spPr>
        <p:txBody>
          <a:bodyPr wrap="square" lIns="0" tIns="0" rIns="0" bIns="0" anchor="t">
            <a:spAutoFit/>
          </a:bodyPr>
          <a:lstStyle/>
          <a:p>
            <a:pPr algn="l">
              <a:lnSpc>
                <a:spcPct val="100000"/>
              </a:lnSpc>
              <a:spcBef>
                <a:spcPts val="0"/>
              </a:spcBef>
              <a:spcAft>
                <a:spcPts val="400"/>
              </a:spcAft>
            </a:pPr>
            <a:r>
              <a:rPr sz="1500" b="0" i="1">
                <a:solidFill>
                  <a:srgbClr val="64748B"/>
                </a:solidFill>
                <a:latin typeface="Segoe UI"/>
                <a:cs typeface="Segoe UI"/>
              </a:rPr>
              <a:t>Thiếu một lượng rất nhỏ cũng đủ ảnh hưởng lớn</a:t>
            </a:r>
          </a:p>
        </p:txBody>
      </p:sp>
      <p:sp>
        <p:nvSpPr>
          <p:cNvPr id="11" name="Rounded Rectangle 10"/>
          <p:cNvSpPr/>
          <p:nvPr/>
        </p:nvSpPr>
        <p:spPr>
          <a:xfrm>
            <a:off x="640080" y="1920240"/>
            <a:ext cx="2606040" cy="3383280"/>
          </a:xfrm>
          <a:prstGeom prst="roundRect">
            <a:avLst>
              <a:gd name="adj" fmla="val 6000"/>
            </a:avLst>
          </a:prstGeom>
          <a:solidFill>
            <a:srgbClr val="FFFFFF"/>
          </a:solidFill>
          <a:ln w="19050">
            <a:solidFill>
              <a:srgbClr val="3A6B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481328" y="2148840"/>
            <a:ext cx="914400" cy="914400"/>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2400" b="1" i="0">
                <a:solidFill>
                  <a:srgbClr val="FFFFFF"/>
                </a:solidFill>
                <a:latin typeface="Segoe UI"/>
                <a:cs typeface="Segoe UI"/>
              </a:rPr>
              <a:t>Ca</a:t>
            </a:r>
          </a:p>
        </p:txBody>
      </p:sp>
      <p:sp>
        <p:nvSpPr>
          <p:cNvPr id="13" name="TextBox 12"/>
          <p:cNvSpPr txBox="1"/>
          <p:nvPr/>
        </p:nvSpPr>
        <p:spPr>
          <a:xfrm>
            <a:off x="640080" y="3200400"/>
            <a:ext cx="2606040" cy="365760"/>
          </a:xfrm>
          <a:prstGeom prst="rect">
            <a:avLst/>
          </a:prstGeom>
          <a:noFill/>
        </p:spPr>
        <p:txBody>
          <a:bodyPr wrap="square" lIns="0" tIns="0" rIns="0" bIns="0" anchor="t">
            <a:spAutoFit/>
          </a:bodyPr>
          <a:lstStyle/>
          <a:p>
            <a:pPr algn="ctr">
              <a:lnSpc>
                <a:spcPct val="100000"/>
              </a:lnSpc>
              <a:spcBef>
                <a:spcPts val="0"/>
              </a:spcBef>
              <a:spcAft>
                <a:spcPts val="400"/>
              </a:spcAft>
            </a:pPr>
            <a:r>
              <a:rPr sz="1700" b="1" i="0">
                <a:solidFill>
                  <a:srgbClr val="3A6B35"/>
                </a:solidFill>
                <a:latin typeface="Segoe UI Semibold"/>
                <a:cs typeface="Segoe UI Semibold"/>
              </a:rPr>
              <a:t>Canxi</a:t>
            </a:r>
          </a:p>
        </p:txBody>
      </p:sp>
      <p:sp>
        <p:nvSpPr>
          <p:cNvPr id="14" name="TextBox 13"/>
          <p:cNvSpPr txBox="1"/>
          <p:nvPr/>
        </p:nvSpPr>
        <p:spPr>
          <a:xfrm>
            <a:off x="822959" y="3611880"/>
            <a:ext cx="2240280" cy="1097280"/>
          </a:xfrm>
          <a:prstGeom prst="rect">
            <a:avLst/>
          </a:prstGeom>
          <a:noFill/>
        </p:spPr>
        <p:txBody>
          <a:bodyPr wrap="square" lIns="0" tIns="0" rIns="0" bIns="0" anchor="t">
            <a:spAutoFit/>
          </a:bodyPr>
          <a:lstStyle/>
          <a:p>
            <a:pPr algn="ctr">
              <a:lnSpc>
                <a:spcPct val="106000"/>
              </a:lnSpc>
              <a:spcBef>
                <a:spcPts val="0"/>
              </a:spcBef>
              <a:spcAft>
                <a:spcPts val="400"/>
              </a:spcAft>
            </a:pPr>
            <a:r>
              <a:rPr sz="1200" b="0" i="0">
                <a:solidFill>
                  <a:srgbClr val="1E293B"/>
                </a:solidFill>
                <a:latin typeface="Segoe UI"/>
                <a:cs typeface="Segoe UI"/>
              </a:rPr>
              <a:t>Khung xương &amp; răng chắc khỏe – nền tảng chiều cao.</a:t>
            </a:r>
          </a:p>
        </p:txBody>
      </p:sp>
      <p:sp>
        <p:nvSpPr>
          <p:cNvPr id="15" name="Rounded Rectangle 14"/>
          <p:cNvSpPr/>
          <p:nvPr/>
        </p:nvSpPr>
        <p:spPr>
          <a:xfrm>
            <a:off x="822959" y="4709160"/>
            <a:ext cx="2240280" cy="457200"/>
          </a:xfrm>
          <a:prstGeom prst="roundRect">
            <a:avLst>
              <a:gd name="adj" fmla="val 12000"/>
            </a:avLst>
          </a:prstGeom>
          <a:solidFill>
            <a:srgbClr val="E0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68680" y="4736592"/>
            <a:ext cx="2148840" cy="411480"/>
          </a:xfrm>
          <a:prstGeom prst="rect">
            <a:avLst/>
          </a:prstGeom>
          <a:noFill/>
        </p:spPr>
        <p:txBody>
          <a:bodyPr wrap="square" lIns="0" tIns="0" rIns="0" bIns="0" anchor="ctr">
            <a:spAutoFit/>
          </a:bodyPr>
          <a:lstStyle/>
          <a:p>
            <a:pPr algn="ctr">
              <a:lnSpc>
                <a:spcPct val="100000"/>
              </a:lnSpc>
              <a:spcBef>
                <a:spcPts val="0"/>
              </a:spcBef>
              <a:spcAft>
                <a:spcPts val="400"/>
              </a:spcAft>
            </a:pPr>
            <a:r>
              <a:rPr sz="950" b="1" i="0">
                <a:solidFill>
                  <a:srgbClr val="19A99D"/>
                </a:solidFill>
                <a:latin typeface="Segoe UI"/>
                <a:cs typeface="Segoe UI"/>
              </a:rPr>
              <a:t>Có nhiều trong: </a:t>
            </a:r>
            <a:r>
              <a:rPr sz="950" b="0" i="0">
                <a:solidFill>
                  <a:srgbClr val="1E293B"/>
                </a:solidFill>
                <a:latin typeface="Segoe UI"/>
                <a:cs typeface="Segoe UI"/>
              </a:rPr>
              <a:t>Sữa, tôm, cua, cá nhỏ</a:t>
            </a:r>
          </a:p>
        </p:txBody>
      </p:sp>
      <p:sp>
        <p:nvSpPr>
          <p:cNvPr id="17" name="Rounded Rectangle 16"/>
          <p:cNvSpPr/>
          <p:nvPr/>
        </p:nvSpPr>
        <p:spPr>
          <a:xfrm>
            <a:off x="3447287" y="1920240"/>
            <a:ext cx="2606040" cy="3383280"/>
          </a:xfrm>
          <a:prstGeom prst="roundRect">
            <a:avLst>
              <a:gd name="adj" fmla="val 6000"/>
            </a:avLst>
          </a:prstGeom>
          <a:solidFill>
            <a:srgbClr val="FFFFFF"/>
          </a:solidFill>
          <a:ln w="1905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4288536" y="2148840"/>
            <a:ext cx="914400" cy="9144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2400" b="1" i="0">
                <a:solidFill>
                  <a:srgbClr val="FFFFFF"/>
                </a:solidFill>
                <a:latin typeface="Segoe UI"/>
                <a:cs typeface="Segoe UI"/>
              </a:rPr>
              <a:t>D</a:t>
            </a:r>
          </a:p>
        </p:txBody>
      </p:sp>
      <p:sp>
        <p:nvSpPr>
          <p:cNvPr id="19" name="TextBox 18"/>
          <p:cNvSpPr txBox="1"/>
          <p:nvPr/>
        </p:nvSpPr>
        <p:spPr>
          <a:xfrm>
            <a:off x="3447287" y="3200400"/>
            <a:ext cx="2606040" cy="365760"/>
          </a:xfrm>
          <a:prstGeom prst="rect">
            <a:avLst/>
          </a:prstGeom>
          <a:noFill/>
        </p:spPr>
        <p:txBody>
          <a:bodyPr wrap="square" lIns="0" tIns="0" rIns="0" bIns="0" anchor="t">
            <a:spAutoFit/>
          </a:bodyPr>
          <a:lstStyle/>
          <a:p>
            <a:pPr algn="ctr">
              <a:lnSpc>
                <a:spcPct val="100000"/>
              </a:lnSpc>
              <a:spcBef>
                <a:spcPts val="0"/>
              </a:spcBef>
              <a:spcAft>
                <a:spcPts val="400"/>
              </a:spcAft>
            </a:pPr>
            <a:r>
              <a:rPr sz="1700" b="1" i="0">
                <a:solidFill>
                  <a:srgbClr val="F59E0B"/>
                </a:solidFill>
                <a:latin typeface="Segoe UI Semibold"/>
                <a:cs typeface="Segoe UI Semibold"/>
              </a:rPr>
              <a:t>Vitamin D</a:t>
            </a:r>
          </a:p>
        </p:txBody>
      </p:sp>
      <p:sp>
        <p:nvSpPr>
          <p:cNvPr id="20" name="TextBox 19"/>
          <p:cNvSpPr txBox="1"/>
          <p:nvPr/>
        </p:nvSpPr>
        <p:spPr>
          <a:xfrm>
            <a:off x="3630168" y="3611880"/>
            <a:ext cx="2240280" cy="1097280"/>
          </a:xfrm>
          <a:prstGeom prst="rect">
            <a:avLst/>
          </a:prstGeom>
          <a:noFill/>
        </p:spPr>
        <p:txBody>
          <a:bodyPr wrap="square" lIns="0" tIns="0" rIns="0" bIns="0" anchor="t">
            <a:spAutoFit/>
          </a:bodyPr>
          <a:lstStyle/>
          <a:p>
            <a:pPr algn="ctr">
              <a:lnSpc>
                <a:spcPct val="106000"/>
              </a:lnSpc>
              <a:spcBef>
                <a:spcPts val="0"/>
              </a:spcBef>
              <a:spcAft>
                <a:spcPts val="400"/>
              </a:spcAft>
            </a:pPr>
            <a:r>
              <a:rPr sz="1200" b="0" i="0">
                <a:solidFill>
                  <a:srgbClr val="1E293B"/>
                </a:solidFill>
                <a:latin typeface="Segoe UI"/>
                <a:cs typeface="Segoe UI"/>
              </a:rPr>
              <a:t>Giúp hấp thu canxi vào xương – cần ánh nắng.</a:t>
            </a:r>
          </a:p>
        </p:txBody>
      </p:sp>
      <p:sp>
        <p:nvSpPr>
          <p:cNvPr id="21" name="Rounded Rectangle 20"/>
          <p:cNvSpPr/>
          <p:nvPr/>
        </p:nvSpPr>
        <p:spPr>
          <a:xfrm>
            <a:off x="3630168" y="4709160"/>
            <a:ext cx="2240280" cy="457200"/>
          </a:xfrm>
          <a:prstGeom prst="roundRect">
            <a:avLst>
              <a:gd name="adj" fmla="val 12000"/>
            </a:avLst>
          </a:prstGeom>
          <a:solidFill>
            <a:srgbClr val="E0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675887" y="4736592"/>
            <a:ext cx="2148840" cy="411480"/>
          </a:xfrm>
          <a:prstGeom prst="rect">
            <a:avLst/>
          </a:prstGeom>
          <a:noFill/>
        </p:spPr>
        <p:txBody>
          <a:bodyPr wrap="square" lIns="0" tIns="0" rIns="0" bIns="0" anchor="ctr">
            <a:spAutoFit/>
          </a:bodyPr>
          <a:lstStyle/>
          <a:p>
            <a:pPr algn="ctr">
              <a:lnSpc>
                <a:spcPct val="100000"/>
              </a:lnSpc>
              <a:spcBef>
                <a:spcPts val="0"/>
              </a:spcBef>
              <a:spcAft>
                <a:spcPts val="400"/>
              </a:spcAft>
            </a:pPr>
            <a:r>
              <a:rPr sz="950" b="1" i="0">
                <a:solidFill>
                  <a:srgbClr val="19A99D"/>
                </a:solidFill>
                <a:latin typeface="Segoe UI"/>
                <a:cs typeface="Segoe UI"/>
              </a:rPr>
              <a:t>Có nhiều trong: </a:t>
            </a:r>
            <a:r>
              <a:rPr sz="950" b="0" i="0">
                <a:solidFill>
                  <a:srgbClr val="1E293B"/>
                </a:solidFill>
                <a:latin typeface="Segoe UI"/>
                <a:cs typeface="Segoe UI"/>
              </a:rPr>
              <a:t>Nắng sớm, cá, trứng, sữa</a:t>
            </a:r>
          </a:p>
        </p:txBody>
      </p:sp>
      <p:sp>
        <p:nvSpPr>
          <p:cNvPr id="23" name="Rounded Rectangle 22"/>
          <p:cNvSpPr/>
          <p:nvPr/>
        </p:nvSpPr>
        <p:spPr>
          <a:xfrm>
            <a:off x="6254496" y="1920240"/>
            <a:ext cx="2606040" cy="3383280"/>
          </a:xfrm>
          <a:prstGeom prst="roundRect">
            <a:avLst>
              <a:gd name="adj" fmla="val 6000"/>
            </a:avLst>
          </a:prstGeom>
          <a:solidFill>
            <a:srgbClr val="FFFFFF"/>
          </a:solidFill>
          <a:ln w="19050">
            <a:solidFill>
              <a:srgbClr val="19A99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7095744" y="2148840"/>
            <a:ext cx="914400" cy="914400"/>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2400" b="1" i="0">
                <a:solidFill>
                  <a:srgbClr val="FFFFFF"/>
                </a:solidFill>
                <a:latin typeface="Segoe UI"/>
                <a:cs typeface="Segoe UI"/>
              </a:rPr>
              <a:t>Zn</a:t>
            </a:r>
          </a:p>
        </p:txBody>
      </p:sp>
      <p:sp>
        <p:nvSpPr>
          <p:cNvPr id="25" name="TextBox 24"/>
          <p:cNvSpPr txBox="1"/>
          <p:nvPr/>
        </p:nvSpPr>
        <p:spPr>
          <a:xfrm>
            <a:off x="6254496" y="3200400"/>
            <a:ext cx="2606040" cy="365760"/>
          </a:xfrm>
          <a:prstGeom prst="rect">
            <a:avLst/>
          </a:prstGeom>
          <a:noFill/>
        </p:spPr>
        <p:txBody>
          <a:bodyPr wrap="square" lIns="0" tIns="0" rIns="0" bIns="0" anchor="t">
            <a:spAutoFit/>
          </a:bodyPr>
          <a:lstStyle/>
          <a:p>
            <a:pPr algn="ctr">
              <a:lnSpc>
                <a:spcPct val="100000"/>
              </a:lnSpc>
              <a:spcBef>
                <a:spcPts val="0"/>
              </a:spcBef>
              <a:spcAft>
                <a:spcPts val="400"/>
              </a:spcAft>
            </a:pPr>
            <a:r>
              <a:rPr sz="1700" b="1" i="0">
                <a:solidFill>
                  <a:srgbClr val="19A99D"/>
                </a:solidFill>
                <a:latin typeface="Segoe UI Semibold"/>
                <a:cs typeface="Segoe UI Semibold"/>
              </a:rPr>
              <a:t>Kẽm</a:t>
            </a:r>
          </a:p>
        </p:txBody>
      </p:sp>
      <p:sp>
        <p:nvSpPr>
          <p:cNvPr id="26" name="TextBox 25"/>
          <p:cNvSpPr txBox="1"/>
          <p:nvPr/>
        </p:nvSpPr>
        <p:spPr>
          <a:xfrm>
            <a:off x="6437376" y="3611880"/>
            <a:ext cx="2240280" cy="1097280"/>
          </a:xfrm>
          <a:prstGeom prst="rect">
            <a:avLst/>
          </a:prstGeom>
          <a:noFill/>
        </p:spPr>
        <p:txBody>
          <a:bodyPr wrap="square" lIns="0" tIns="0" rIns="0" bIns="0" anchor="t">
            <a:spAutoFit/>
          </a:bodyPr>
          <a:lstStyle/>
          <a:p>
            <a:pPr algn="ctr">
              <a:lnSpc>
                <a:spcPct val="106000"/>
              </a:lnSpc>
              <a:spcBef>
                <a:spcPts val="0"/>
              </a:spcBef>
              <a:spcAft>
                <a:spcPts val="400"/>
              </a:spcAft>
            </a:pPr>
            <a:r>
              <a:rPr sz="1200" b="0" i="0">
                <a:solidFill>
                  <a:srgbClr val="1E293B"/>
                </a:solidFill>
                <a:latin typeface="Segoe UI"/>
                <a:cs typeface="Segoe UI"/>
              </a:rPr>
              <a:t>Ăn ngon miệng, tăng đề kháng, thúc đẩy tăng trưởng.</a:t>
            </a:r>
          </a:p>
        </p:txBody>
      </p:sp>
      <p:sp>
        <p:nvSpPr>
          <p:cNvPr id="27" name="Rounded Rectangle 26"/>
          <p:cNvSpPr/>
          <p:nvPr/>
        </p:nvSpPr>
        <p:spPr>
          <a:xfrm>
            <a:off x="6437376" y="4709160"/>
            <a:ext cx="2240280" cy="457200"/>
          </a:xfrm>
          <a:prstGeom prst="roundRect">
            <a:avLst>
              <a:gd name="adj" fmla="val 12000"/>
            </a:avLst>
          </a:prstGeom>
          <a:solidFill>
            <a:srgbClr val="E0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83096" y="4736592"/>
            <a:ext cx="2148840" cy="411480"/>
          </a:xfrm>
          <a:prstGeom prst="rect">
            <a:avLst/>
          </a:prstGeom>
          <a:noFill/>
        </p:spPr>
        <p:txBody>
          <a:bodyPr wrap="square" lIns="0" tIns="0" rIns="0" bIns="0" anchor="ctr">
            <a:spAutoFit/>
          </a:bodyPr>
          <a:lstStyle/>
          <a:p>
            <a:pPr algn="ctr">
              <a:lnSpc>
                <a:spcPct val="100000"/>
              </a:lnSpc>
              <a:spcBef>
                <a:spcPts val="0"/>
              </a:spcBef>
              <a:spcAft>
                <a:spcPts val="400"/>
              </a:spcAft>
            </a:pPr>
            <a:r>
              <a:rPr sz="950" b="1" i="0">
                <a:solidFill>
                  <a:srgbClr val="19A99D"/>
                </a:solidFill>
                <a:latin typeface="Segoe UI"/>
                <a:cs typeface="Segoe UI"/>
              </a:rPr>
              <a:t>Có nhiều trong: </a:t>
            </a:r>
            <a:r>
              <a:rPr sz="950" b="0" i="0">
                <a:solidFill>
                  <a:srgbClr val="1E293B"/>
                </a:solidFill>
                <a:latin typeface="Segoe UI"/>
                <a:cs typeface="Segoe UI"/>
              </a:rPr>
              <a:t>Hàu, sò, thịt, trứng, cá</a:t>
            </a:r>
          </a:p>
        </p:txBody>
      </p:sp>
      <p:sp>
        <p:nvSpPr>
          <p:cNvPr id="29" name="Rounded Rectangle 28"/>
          <p:cNvSpPr/>
          <p:nvPr/>
        </p:nvSpPr>
        <p:spPr>
          <a:xfrm>
            <a:off x="9061703" y="1920240"/>
            <a:ext cx="2606040" cy="3383280"/>
          </a:xfrm>
          <a:prstGeom prst="roundRect">
            <a:avLst>
              <a:gd name="adj" fmla="val 6000"/>
            </a:avLst>
          </a:prstGeom>
          <a:solidFill>
            <a:srgbClr val="FFFFFF"/>
          </a:solidFill>
          <a:ln w="19050">
            <a:solidFill>
              <a:srgbClr val="E26D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9902951" y="2148840"/>
            <a:ext cx="914400" cy="914400"/>
          </a:xfrm>
          <a:prstGeom prst="ellipse">
            <a:avLst/>
          </a:prstGeom>
          <a:solidFill>
            <a:srgbClr val="E26D5A"/>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2400" b="1" i="0">
                <a:solidFill>
                  <a:srgbClr val="FFFFFF"/>
                </a:solidFill>
                <a:latin typeface="Segoe UI"/>
                <a:cs typeface="Segoe UI"/>
              </a:rPr>
              <a:t>Fe</a:t>
            </a:r>
          </a:p>
        </p:txBody>
      </p:sp>
      <p:sp>
        <p:nvSpPr>
          <p:cNvPr id="31" name="TextBox 30"/>
          <p:cNvSpPr txBox="1"/>
          <p:nvPr/>
        </p:nvSpPr>
        <p:spPr>
          <a:xfrm>
            <a:off x="9061703" y="3200400"/>
            <a:ext cx="2606040" cy="365760"/>
          </a:xfrm>
          <a:prstGeom prst="rect">
            <a:avLst/>
          </a:prstGeom>
          <a:noFill/>
        </p:spPr>
        <p:txBody>
          <a:bodyPr wrap="square" lIns="0" tIns="0" rIns="0" bIns="0" anchor="t">
            <a:spAutoFit/>
          </a:bodyPr>
          <a:lstStyle/>
          <a:p>
            <a:pPr algn="ctr">
              <a:lnSpc>
                <a:spcPct val="100000"/>
              </a:lnSpc>
              <a:spcBef>
                <a:spcPts val="0"/>
              </a:spcBef>
              <a:spcAft>
                <a:spcPts val="400"/>
              </a:spcAft>
            </a:pPr>
            <a:r>
              <a:rPr sz="1700" b="1" i="0">
                <a:solidFill>
                  <a:srgbClr val="E26D5A"/>
                </a:solidFill>
                <a:latin typeface="Segoe UI Semibold"/>
                <a:cs typeface="Segoe UI Semibold"/>
              </a:rPr>
              <a:t>Sắt</a:t>
            </a:r>
          </a:p>
        </p:txBody>
      </p:sp>
      <p:sp>
        <p:nvSpPr>
          <p:cNvPr id="32" name="TextBox 31"/>
          <p:cNvSpPr txBox="1"/>
          <p:nvPr/>
        </p:nvSpPr>
        <p:spPr>
          <a:xfrm>
            <a:off x="9244583" y="3611880"/>
            <a:ext cx="2240280" cy="1097280"/>
          </a:xfrm>
          <a:prstGeom prst="rect">
            <a:avLst/>
          </a:prstGeom>
          <a:noFill/>
        </p:spPr>
        <p:txBody>
          <a:bodyPr wrap="square" lIns="0" tIns="0" rIns="0" bIns="0" anchor="t">
            <a:spAutoFit/>
          </a:bodyPr>
          <a:lstStyle/>
          <a:p>
            <a:pPr algn="ctr">
              <a:lnSpc>
                <a:spcPct val="106000"/>
              </a:lnSpc>
              <a:spcBef>
                <a:spcPts val="0"/>
              </a:spcBef>
              <a:spcAft>
                <a:spcPts val="400"/>
              </a:spcAft>
            </a:pPr>
            <a:r>
              <a:rPr sz="1200" b="0" i="0">
                <a:solidFill>
                  <a:srgbClr val="1E293B"/>
                </a:solidFill>
                <a:latin typeface="Segoe UI"/>
                <a:cs typeface="Segoe UI"/>
              </a:rPr>
              <a:t>Tạo máu, phòng thiếu máu, hỗ trợ miễn dịch &amp; trí não.</a:t>
            </a:r>
          </a:p>
        </p:txBody>
      </p:sp>
      <p:sp>
        <p:nvSpPr>
          <p:cNvPr id="33" name="Rounded Rectangle 32"/>
          <p:cNvSpPr/>
          <p:nvPr/>
        </p:nvSpPr>
        <p:spPr>
          <a:xfrm>
            <a:off x="9244583" y="4709160"/>
            <a:ext cx="2240280" cy="457200"/>
          </a:xfrm>
          <a:prstGeom prst="roundRect">
            <a:avLst>
              <a:gd name="adj" fmla="val 12000"/>
            </a:avLst>
          </a:prstGeom>
          <a:solidFill>
            <a:srgbClr val="E0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290303" y="4736592"/>
            <a:ext cx="2148840" cy="411480"/>
          </a:xfrm>
          <a:prstGeom prst="rect">
            <a:avLst/>
          </a:prstGeom>
          <a:noFill/>
        </p:spPr>
        <p:txBody>
          <a:bodyPr wrap="square" lIns="0" tIns="0" rIns="0" bIns="0" anchor="ctr">
            <a:spAutoFit/>
          </a:bodyPr>
          <a:lstStyle/>
          <a:p>
            <a:pPr algn="ctr">
              <a:lnSpc>
                <a:spcPct val="100000"/>
              </a:lnSpc>
              <a:spcBef>
                <a:spcPts val="0"/>
              </a:spcBef>
              <a:spcAft>
                <a:spcPts val="400"/>
              </a:spcAft>
            </a:pPr>
            <a:r>
              <a:rPr sz="950" b="1" i="0">
                <a:solidFill>
                  <a:srgbClr val="19A99D"/>
                </a:solidFill>
                <a:latin typeface="Segoe UI"/>
                <a:cs typeface="Segoe UI"/>
              </a:rPr>
              <a:t>Có nhiều trong: </a:t>
            </a:r>
            <a:r>
              <a:rPr sz="950" b="0" i="0">
                <a:solidFill>
                  <a:srgbClr val="1E293B"/>
                </a:solidFill>
                <a:latin typeface="Segoe UI"/>
                <a:cs typeface="Segoe UI"/>
              </a:rPr>
              <a:t>Thịt bò, gan, trứng, rau dền</a:t>
            </a:r>
          </a:p>
        </p:txBody>
      </p:sp>
      <p:sp>
        <p:nvSpPr>
          <p:cNvPr id="35" name="TextBox 34"/>
          <p:cNvSpPr txBox="1"/>
          <p:nvPr/>
        </p:nvSpPr>
        <p:spPr>
          <a:xfrm>
            <a:off x="548640" y="6144768"/>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50" b="1" i="1">
                <a:solidFill>
                  <a:srgbClr val="19A99D"/>
                </a:solidFill>
                <a:latin typeface="Segoe UI"/>
                <a:cs typeface="Segoe UI"/>
              </a:rPr>
              <a:t>Nguồn: </a:t>
            </a:r>
            <a:r>
              <a:rPr sz="950" b="0" i="1">
                <a:solidFill>
                  <a:srgbClr val="64748B"/>
                </a:solidFill>
                <a:latin typeface="Segoe UI"/>
                <a:cs typeface="Segoe UI"/>
              </a:rPr>
              <a:t>Cẩm nang dinh dưỡng trẻ tiểu học (Viện Dinh dưỡng); Pai UA et al. 2018</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384048" y="274320"/>
            <a:ext cx="384048" cy="384048"/>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4068" y="329184"/>
            <a:ext cx="104241"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66344" y="406908"/>
            <a:ext cx="274320" cy="10424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274320"/>
            <a:ext cx="2926080" cy="402336"/>
          </a:xfrm>
          <a:prstGeom prst="rect">
            <a:avLst/>
          </a:prstGeom>
          <a:noFill/>
        </p:spPr>
        <p:txBody>
          <a:bodyPr wrap="square" lIns="0" tIns="0" rIns="0" bIns="0" anchor="ctr">
            <a:spAutoFit/>
          </a:bodyPr>
          <a:lstStyle/>
          <a:p>
            <a:pPr algn="l">
              <a:lnSpc>
                <a:spcPct val="100000"/>
              </a:lnSpc>
              <a:spcBef>
                <a:spcPts val="0"/>
              </a:spcBef>
              <a:spcAft>
                <a:spcPts val="400"/>
              </a:spcAft>
            </a:pPr>
            <a:r>
              <a:rPr sz="1300" b="1" i="0">
                <a:solidFill>
                  <a:srgbClr val="1E293B"/>
                </a:solidFill>
                <a:latin typeface="Segoe UI"/>
                <a:cs typeface="Segoe UI"/>
              </a:rPr>
              <a:t>DINH DƯỠNG </a:t>
            </a:r>
            <a:r>
              <a:rPr sz="1300" b="1" i="0">
                <a:solidFill>
                  <a:srgbClr val="19A99D"/>
                </a:solidFill>
                <a:latin typeface="Segoe UI"/>
                <a:cs typeface="Segoe UI"/>
              </a:rPr>
              <a:t>NHI KHOA</a:t>
            </a:r>
          </a:p>
        </p:txBody>
      </p:sp>
      <p:sp>
        <p:nvSpPr>
          <p:cNvPr id="6" name="Rectangle 5"/>
          <p:cNvSpPr/>
          <p:nvPr/>
        </p:nvSpPr>
        <p:spPr>
          <a:xfrm>
            <a:off x="0" y="6473952"/>
            <a:ext cx="12191695" cy="384048"/>
          </a:xfrm>
          <a:prstGeom prst="rect">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492240"/>
            <a:ext cx="9601200" cy="347472"/>
          </a:xfrm>
          <a:prstGeom prst="rect">
            <a:avLst/>
          </a:prstGeom>
          <a:noFill/>
        </p:spPr>
        <p:txBody>
          <a:bodyPr wrap="square" lIns="0" tIns="0" rIns="0" bIns="0" anchor="ctr">
            <a:spAutoFit/>
          </a:bodyPr>
          <a:lstStyle/>
          <a:p>
            <a:pPr algn="l">
              <a:lnSpc>
                <a:spcPct val="100000"/>
              </a:lnSpc>
              <a:spcBef>
                <a:spcPts val="0"/>
              </a:spcBef>
              <a:spcAft>
                <a:spcPts val="400"/>
              </a:spcAft>
            </a:pPr>
            <a:r>
              <a:rPr sz="950" b="0" i="0">
                <a:solidFill>
                  <a:srgbClr val="FFFFFF"/>
                </a:solidFill>
                <a:latin typeface="Segoe UI"/>
                <a:cs typeface="Segoe UI"/>
              </a:rPr>
              <a:t>Chuyên đề 2 · Dinh dưỡng – nền tảng cho miễn dịch &amp; sự phát triển của trẻ  ·  TS. Lê Thị Thùy Dung</a:t>
            </a:r>
          </a:p>
        </p:txBody>
      </p:sp>
      <p:sp>
        <p:nvSpPr>
          <p:cNvPr id="8" name="TextBox 7"/>
          <p:cNvSpPr txBox="1"/>
          <p:nvPr/>
        </p:nvSpPr>
        <p:spPr>
          <a:xfrm>
            <a:off x="11185855" y="6492240"/>
            <a:ext cx="548640" cy="347472"/>
          </a:xfrm>
          <a:prstGeom prst="rect">
            <a:avLst/>
          </a:prstGeom>
          <a:noFill/>
        </p:spPr>
        <p:txBody>
          <a:bodyPr wrap="square" lIns="0" tIns="0" rIns="0" bIns="0" anchor="ctr">
            <a:spAutoFit/>
          </a:bodyPr>
          <a:lstStyle/>
          <a:p>
            <a:pPr algn="r">
              <a:lnSpc>
                <a:spcPct val="100000"/>
              </a:lnSpc>
              <a:spcBef>
                <a:spcPts val="0"/>
              </a:spcBef>
              <a:spcAft>
                <a:spcPts val="400"/>
              </a:spcAft>
            </a:pPr>
            <a:r>
              <a:rPr sz="1000" b="1" i="0">
                <a:solidFill>
                  <a:srgbClr val="FFFFFF"/>
                </a:solidFill>
                <a:latin typeface="Segoe UI"/>
                <a:cs typeface="Segoe UI"/>
              </a:rPr>
              <a:t>16</a:t>
            </a:r>
          </a:p>
        </p:txBody>
      </p:sp>
      <p:sp>
        <p:nvSpPr>
          <p:cNvPr id="9" name="TextBox 8"/>
          <p:cNvSpPr txBox="1"/>
          <p:nvPr/>
        </p:nvSpPr>
        <p:spPr>
          <a:xfrm>
            <a:off x="548640" y="841248"/>
            <a:ext cx="10881360" cy="566928"/>
          </a:xfrm>
          <a:prstGeom prst="rect">
            <a:avLst/>
          </a:prstGeom>
          <a:noFill/>
        </p:spPr>
        <p:txBody>
          <a:bodyPr wrap="square" lIns="0" tIns="0" rIns="0" bIns="0" anchor="t">
            <a:spAutoFit/>
          </a:bodyPr>
          <a:lstStyle/>
          <a:p>
            <a:pPr algn="l">
              <a:lnSpc>
                <a:spcPct val="100000"/>
              </a:lnSpc>
              <a:spcBef>
                <a:spcPts val="0"/>
              </a:spcBef>
              <a:spcAft>
                <a:spcPts val="400"/>
              </a:spcAft>
            </a:pPr>
            <a:r>
              <a:rPr sz="2700" b="1" i="0">
                <a:solidFill>
                  <a:srgbClr val="19A99D"/>
                </a:solidFill>
                <a:latin typeface="Segoe UI Semibold"/>
                <a:cs typeface="Segoe UI Semibold"/>
              </a:rPr>
              <a:t>Canxi &amp; Vitamin D – bộ đôi cho xương</a:t>
            </a:r>
          </a:p>
        </p:txBody>
      </p:sp>
      <p:sp>
        <p:nvSpPr>
          <p:cNvPr id="10" name="TextBox 9"/>
          <p:cNvSpPr txBox="1"/>
          <p:nvPr/>
        </p:nvSpPr>
        <p:spPr>
          <a:xfrm>
            <a:off x="548640" y="1408176"/>
            <a:ext cx="10881360" cy="365760"/>
          </a:xfrm>
          <a:prstGeom prst="rect">
            <a:avLst/>
          </a:prstGeom>
          <a:noFill/>
        </p:spPr>
        <p:txBody>
          <a:bodyPr wrap="square" lIns="0" tIns="0" rIns="0" bIns="0" anchor="t">
            <a:spAutoFit/>
          </a:bodyPr>
          <a:lstStyle/>
          <a:p>
            <a:pPr algn="l">
              <a:lnSpc>
                <a:spcPct val="100000"/>
              </a:lnSpc>
              <a:spcBef>
                <a:spcPts val="0"/>
              </a:spcBef>
              <a:spcAft>
                <a:spcPts val="400"/>
              </a:spcAft>
            </a:pPr>
            <a:r>
              <a:rPr sz="1500" b="0" i="1">
                <a:solidFill>
                  <a:srgbClr val="64748B"/>
                </a:solidFill>
                <a:latin typeface="Segoe UI"/>
                <a:cs typeface="Segoe UI"/>
              </a:rPr>
              <a:t>Có canxi mà thiếu vitamin D, xương vẫn không chắc</a:t>
            </a:r>
          </a:p>
        </p:txBody>
      </p:sp>
      <p:graphicFrame>
        <p:nvGraphicFramePr>
          <p:cNvPr id="11" name="Table 10"/>
          <p:cNvGraphicFramePr>
            <a:graphicFrameLocks noGrp="1"/>
          </p:cNvGraphicFramePr>
          <p:nvPr/>
        </p:nvGraphicFramePr>
        <p:xfrm>
          <a:off x="731520" y="2011680"/>
          <a:ext cx="4937760" cy="2468880"/>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tblGrid>
              <a:tr h="617220">
                <a:tc>
                  <a:txBody>
                    <a:bodyPr/>
                    <a:lstStyle/>
                    <a:p>
                      <a:pPr algn="ctr"/>
                      <a:r>
                        <a:rPr sz="1350" b="1" i="0">
                          <a:solidFill>
                            <a:srgbClr val="FFFFFF"/>
                          </a:solidFill>
                          <a:latin typeface="Segoe UI"/>
                          <a:cs typeface="Segoe UI"/>
                        </a:rPr>
                        <a:t>Độ tuổi</a:t>
                      </a:r>
                    </a:p>
                  </a:txBody>
                  <a:tcPr anchor="ctr">
                    <a:solidFill>
                      <a:srgbClr val="3A6B35"/>
                    </a:solidFill>
                  </a:tcPr>
                </a:tc>
                <a:tc>
                  <a:txBody>
                    <a:bodyPr/>
                    <a:lstStyle/>
                    <a:p>
                      <a:pPr algn="ctr"/>
                      <a:r>
                        <a:rPr sz="1350" b="1" i="0">
                          <a:solidFill>
                            <a:srgbClr val="FFFFFF"/>
                          </a:solidFill>
                          <a:latin typeface="Segoe UI"/>
                          <a:cs typeface="Segoe UI"/>
                        </a:rPr>
                        <a:t>Nhu cầu canxi (mg/ngày)</a:t>
                      </a:r>
                    </a:p>
                  </a:txBody>
                  <a:tcPr anchor="ctr">
                    <a:solidFill>
                      <a:srgbClr val="3A6B35"/>
                    </a:solidFill>
                  </a:tcPr>
                </a:tc>
                <a:extLst>
                  <a:ext uri="{0D108BD9-81ED-4DB2-BD59-A6C34878D82A}">
                    <a16:rowId xmlns:a16="http://schemas.microsoft.com/office/drawing/2014/main" val="10000"/>
                  </a:ext>
                </a:extLst>
              </a:tr>
              <a:tr h="617220">
                <a:tc>
                  <a:txBody>
                    <a:bodyPr/>
                    <a:lstStyle/>
                    <a:p>
                      <a:pPr algn="ctr"/>
                      <a:r>
                        <a:rPr sz="1350" b="0" i="0">
                          <a:solidFill>
                            <a:srgbClr val="1E293B"/>
                          </a:solidFill>
                          <a:latin typeface="Segoe UI"/>
                          <a:cs typeface="Segoe UI"/>
                        </a:rPr>
                        <a:t>6 tuổi</a:t>
                      </a:r>
                    </a:p>
                  </a:txBody>
                  <a:tcPr anchor="ctr">
                    <a:solidFill>
                      <a:srgbClr val="E0F5F4"/>
                    </a:solidFill>
                  </a:tcPr>
                </a:tc>
                <a:tc>
                  <a:txBody>
                    <a:bodyPr/>
                    <a:lstStyle/>
                    <a:p>
                      <a:pPr algn="ctr"/>
                      <a:r>
                        <a:rPr sz="1350" b="1" i="0">
                          <a:solidFill>
                            <a:srgbClr val="1E293B"/>
                          </a:solidFill>
                          <a:latin typeface="Segoe UI"/>
                          <a:cs typeface="Segoe UI"/>
                        </a:rPr>
                        <a:t>650</a:t>
                      </a:r>
                    </a:p>
                  </a:txBody>
                  <a:tcPr anchor="ctr">
                    <a:solidFill>
                      <a:srgbClr val="E0F5F4"/>
                    </a:solidFill>
                  </a:tcPr>
                </a:tc>
                <a:extLst>
                  <a:ext uri="{0D108BD9-81ED-4DB2-BD59-A6C34878D82A}">
                    <a16:rowId xmlns:a16="http://schemas.microsoft.com/office/drawing/2014/main" val="10001"/>
                  </a:ext>
                </a:extLst>
              </a:tr>
              <a:tr h="617220">
                <a:tc>
                  <a:txBody>
                    <a:bodyPr/>
                    <a:lstStyle/>
                    <a:p>
                      <a:pPr algn="ctr"/>
                      <a:r>
                        <a:rPr sz="1350" b="0" i="0">
                          <a:solidFill>
                            <a:srgbClr val="1E293B"/>
                          </a:solidFill>
                          <a:latin typeface="Segoe UI"/>
                          <a:cs typeface="Segoe UI"/>
                        </a:rPr>
                        <a:t>7 – 9 tuổi</a:t>
                      </a:r>
                    </a:p>
                  </a:txBody>
                  <a:tcPr anchor="ctr">
                    <a:solidFill>
                      <a:srgbClr val="FFFFFF"/>
                    </a:solidFill>
                  </a:tcPr>
                </a:tc>
                <a:tc>
                  <a:txBody>
                    <a:bodyPr/>
                    <a:lstStyle/>
                    <a:p>
                      <a:pPr algn="ctr"/>
                      <a:r>
                        <a:rPr sz="1350" b="1" i="0">
                          <a:solidFill>
                            <a:srgbClr val="1E293B"/>
                          </a:solidFill>
                          <a:latin typeface="Segoe UI"/>
                          <a:cs typeface="Segoe UI"/>
                        </a:rPr>
                        <a:t>700</a:t>
                      </a:r>
                    </a:p>
                  </a:txBody>
                  <a:tcPr anchor="ctr">
                    <a:solidFill>
                      <a:srgbClr val="FFFFFF"/>
                    </a:solidFill>
                  </a:tcPr>
                </a:tc>
                <a:extLst>
                  <a:ext uri="{0D108BD9-81ED-4DB2-BD59-A6C34878D82A}">
                    <a16:rowId xmlns:a16="http://schemas.microsoft.com/office/drawing/2014/main" val="10002"/>
                  </a:ext>
                </a:extLst>
              </a:tr>
              <a:tr h="617220">
                <a:tc>
                  <a:txBody>
                    <a:bodyPr/>
                    <a:lstStyle/>
                    <a:p>
                      <a:pPr algn="ctr"/>
                      <a:r>
                        <a:rPr sz="1350" b="0" i="0">
                          <a:solidFill>
                            <a:srgbClr val="1E293B"/>
                          </a:solidFill>
                          <a:latin typeface="Segoe UI"/>
                          <a:cs typeface="Segoe UI"/>
                        </a:rPr>
                        <a:t>10 – 11 tuổi</a:t>
                      </a:r>
                    </a:p>
                  </a:txBody>
                  <a:tcPr anchor="ctr">
                    <a:solidFill>
                      <a:srgbClr val="E0F5F4"/>
                    </a:solidFill>
                  </a:tcPr>
                </a:tc>
                <a:tc>
                  <a:txBody>
                    <a:bodyPr/>
                    <a:lstStyle/>
                    <a:p>
                      <a:pPr algn="ctr"/>
                      <a:r>
                        <a:rPr sz="1350" b="1" i="0">
                          <a:solidFill>
                            <a:srgbClr val="1E293B"/>
                          </a:solidFill>
                          <a:latin typeface="Segoe UI"/>
                          <a:cs typeface="Segoe UI"/>
                        </a:rPr>
                        <a:t>1000</a:t>
                      </a:r>
                    </a:p>
                  </a:txBody>
                  <a:tcPr anchor="ctr">
                    <a:solidFill>
                      <a:srgbClr val="E0F5F4"/>
                    </a:solidFill>
                  </a:tcPr>
                </a:tc>
                <a:extLst>
                  <a:ext uri="{0D108BD9-81ED-4DB2-BD59-A6C34878D82A}">
                    <a16:rowId xmlns:a16="http://schemas.microsoft.com/office/drawing/2014/main" val="10003"/>
                  </a:ext>
                </a:extLst>
              </a:tr>
            </a:tbl>
          </a:graphicData>
        </a:graphic>
      </p:graphicFrame>
      <p:sp>
        <p:nvSpPr>
          <p:cNvPr id="12" name="TextBox 11"/>
          <p:cNvSpPr txBox="1"/>
          <p:nvPr/>
        </p:nvSpPr>
        <p:spPr>
          <a:xfrm>
            <a:off x="6035040" y="2011680"/>
            <a:ext cx="5669280" cy="3657600"/>
          </a:xfrm>
          <a:prstGeom prst="rect">
            <a:avLst/>
          </a:prstGeom>
          <a:noFill/>
        </p:spPr>
        <p:txBody>
          <a:bodyPr wrap="square" lIns="0" tIns="0" rIns="0" bIns="0" anchor="t">
            <a:spAutoFit/>
          </a:bodyPr>
          <a:lstStyle/>
          <a:p>
            <a:pPr algn="l">
              <a:lnSpc>
                <a:spcPct val="112000"/>
              </a:lnSpc>
              <a:spcBef>
                <a:spcPts val="0"/>
              </a:spcBef>
              <a:spcAft>
                <a:spcPts val="1200"/>
              </a:spcAft>
            </a:pPr>
            <a:r>
              <a:rPr sz="1500" b="1" i="0">
                <a:solidFill>
                  <a:srgbClr val="3A6B35"/>
                </a:solidFill>
                <a:latin typeface="Segoe UI"/>
                <a:cs typeface="Segoe UI"/>
              </a:rPr>
              <a:t>Canxi </a:t>
            </a:r>
            <a:r>
              <a:rPr sz="1500" b="0" i="0">
                <a:solidFill>
                  <a:srgbClr val="1E293B"/>
                </a:solidFill>
                <a:latin typeface="Segoe UI"/>
                <a:cs typeface="Segoe UI"/>
              </a:rPr>
              <a:t>xây dựng hệ xương, răng chắc khỏe; nhu cầu tăng mạnh ở tuổi học đường.</a:t>
            </a:r>
          </a:p>
          <a:p>
            <a:pPr algn="l">
              <a:lnSpc>
                <a:spcPct val="112000"/>
              </a:lnSpc>
              <a:spcBef>
                <a:spcPts val="0"/>
              </a:spcBef>
              <a:spcAft>
                <a:spcPts val="1200"/>
              </a:spcAft>
            </a:pPr>
            <a:r>
              <a:rPr sz="1500" b="1" i="0">
                <a:solidFill>
                  <a:srgbClr val="F59E0B"/>
                </a:solidFill>
                <a:latin typeface="Segoe UI"/>
                <a:cs typeface="Segoe UI"/>
              </a:rPr>
              <a:t>Vitamin D </a:t>
            </a:r>
            <a:r>
              <a:rPr sz="1500" b="0" i="0">
                <a:solidFill>
                  <a:srgbClr val="1E293B"/>
                </a:solidFill>
                <a:latin typeface="Segoe UI"/>
                <a:cs typeface="Segoe UI"/>
              </a:rPr>
              <a:t>là “chìa khóa” đưa canxi vào xương. Cho trẻ </a:t>
            </a:r>
            <a:r>
              <a:rPr sz="1500" b="1" i="0">
                <a:solidFill>
                  <a:srgbClr val="F59E0B"/>
                </a:solidFill>
                <a:latin typeface="Segoe UI"/>
                <a:cs typeface="Segoe UI"/>
              </a:rPr>
              <a:t>tắm nắng buổi sáng 10–20 phút</a:t>
            </a:r>
            <a:r>
              <a:rPr sz="1500" b="0" i="0">
                <a:solidFill>
                  <a:srgbClr val="1E293B"/>
                </a:solidFill>
                <a:latin typeface="Segoe UI"/>
                <a:cs typeface="Segoe UI"/>
              </a:rPr>
              <a:t> và ăn cá, trứng, sữa.</a:t>
            </a:r>
          </a:p>
          <a:p>
            <a:pPr algn="l">
              <a:lnSpc>
                <a:spcPct val="112000"/>
              </a:lnSpc>
              <a:spcBef>
                <a:spcPts val="0"/>
              </a:spcBef>
              <a:spcAft>
                <a:spcPts val="1200"/>
              </a:spcAft>
            </a:pPr>
            <a:r>
              <a:rPr sz="1500" b="1" i="0">
                <a:solidFill>
                  <a:srgbClr val="19A99D"/>
                </a:solidFill>
                <a:latin typeface="Segoe UI"/>
                <a:cs typeface="Segoe UI"/>
              </a:rPr>
              <a:t>Nguồn canxi dễ tìm: </a:t>
            </a:r>
            <a:r>
              <a:rPr sz="1500" b="0" i="0">
                <a:solidFill>
                  <a:srgbClr val="1E293B"/>
                </a:solidFill>
                <a:latin typeface="Segoe UI"/>
                <a:cs typeface="Segoe UI"/>
              </a:rPr>
              <a:t>sữa và chế phẩm sữa, tôm, cua, cá nhỏ ăn cả xương, ốc, hến.</a:t>
            </a:r>
          </a:p>
          <a:p>
            <a:pPr algn="l">
              <a:lnSpc>
                <a:spcPct val="106000"/>
              </a:lnSpc>
              <a:spcBef>
                <a:spcPts val="0"/>
              </a:spcBef>
              <a:spcAft>
                <a:spcPts val="700"/>
              </a:spcAft>
            </a:pPr>
            <a:r>
              <a:rPr sz="1400" b="0" i="1">
                <a:solidFill>
                  <a:srgbClr val="64748B"/>
                </a:solidFill>
                <a:latin typeface="Segoe UI"/>
                <a:cs typeface="Segoe UI"/>
              </a:rPr>
              <a:t>Kết hợp vận động ngoài trời để xương dài ra và chắc khỏe.</a:t>
            </a:r>
          </a:p>
        </p:txBody>
      </p:sp>
      <p:sp>
        <p:nvSpPr>
          <p:cNvPr id="13" name="TextBox 12"/>
          <p:cNvSpPr txBox="1"/>
          <p:nvPr/>
        </p:nvSpPr>
        <p:spPr>
          <a:xfrm>
            <a:off x="548640" y="6144768"/>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50" b="1" i="1">
                <a:solidFill>
                  <a:srgbClr val="19A99D"/>
                </a:solidFill>
                <a:latin typeface="Segoe UI"/>
                <a:cs typeface="Segoe UI"/>
              </a:rPr>
              <a:t>Nguồn: </a:t>
            </a:r>
            <a:r>
              <a:rPr sz="950" b="0" i="1">
                <a:solidFill>
                  <a:srgbClr val="64748B"/>
                </a:solidFill>
                <a:latin typeface="Segoe UI"/>
                <a:cs typeface="Segoe UI"/>
              </a:rPr>
              <a:t>Cẩm nang dinh dưỡng cho trẻ tiểu học, Viện Dinh dưỡng – Action Education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384048" y="274320"/>
            <a:ext cx="384048" cy="384048"/>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4068" y="329184"/>
            <a:ext cx="104241"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66344" y="406908"/>
            <a:ext cx="274320" cy="10424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274320"/>
            <a:ext cx="2926080" cy="402336"/>
          </a:xfrm>
          <a:prstGeom prst="rect">
            <a:avLst/>
          </a:prstGeom>
          <a:noFill/>
        </p:spPr>
        <p:txBody>
          <a:bodyPr wrap="square" lIns="0" tIns="0" rIns="0" bIns="0" anchor="ctr">
            <a:spAutoFit/>
          </a:bodyPr>
          <a:lstStyle/>
          <a:p>
            <a:pPr algn="l">
              <a:lnSpc>
                <a:spcPct val="100000"/>
              </a:lnSpc>
              <a:spcBef>
                <a:spcPts val="0"/>
              </a:spcBef>
              <a:spcAft>
                <a:spcPts val="400"/>
              </a:spcAft>
            </a:pPr>
            <a:r>
              <a:rPr sz="1300" b="1" i="0">
                <a:solidFill>
                  <a:srgbClr val="1E293B"/>
                </a:solidFill>
                <a:latin typeface="Segoe UI"/>
                <a:cs typeface="Segoe UI"/>
              </a:rPr>
              <a:t>DINH DƯỠNG </a:t>
            </a:r>
            <a:r>
              <a:rPr sz="1300" b="1" i="0">
                <a:solidFill>
                  <a:srgbClr val="19A99D"/>
                </a:solidFill>
                <a:latin typeface="Segoe UI"/>
                <a:cs typeface="Segoe UI"/>
              </a:rPr>
              <a:t>NHI KHOA</a:t>
            </a:r>
          </a:p>
        </p:txBody>
      </p:sp>
      <p:sp>
        <p:nvSpPr>
          <p:cNvPr id="6" name="Rectangle 5"/>
          <p:cNvSpPr/>
          <p:nvPr/>
        </p:nvSpPr>
        <p:spPr>
          <a:xfrm>
            <a:off x="0" y="6473952"/>
            <a:ext cx="12191695" cy="384048"/>
          </a:xfrm>
          <a:prstGeom prst="rect">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492240"/>
            <a:ext cx="9601200" cy="347472"/>
          </a:xfrm>
          <a:prstGeom prst="rect">
            <a:avLst/>
          </a:prstGeom>
          <a:noFill/>
        </p:spPr>
        <p:txBody>
          <a:bodyPr wrap="square" lIns="0" tIns="0" rIns="0" bIns="0" anchor="ctr">
            <a:spAutoFit/>
          </a:bodyPr>
          <a:lstStyle/>
          <a:p>
            <a:pPr algn="l">
              <a:lnSpc>
                <a:spcPct val="100000"/>
              </a:lnSpc>
              <a:spcBef>
                <a:spcPts val="0"/>
              </a:spcBef>
              <a:spcAft>
                <a:spcPts val="400"/>
              </a:spcAft>
            </a:pPr>
            <a:r>
              <a:rPr sz="950" b="0" i="0">
                <a:solidFill>
                  <a:srgbClr val="FFFFFF"/>
                </a:solidFill>
                <a:latin typeface="Segoe UI"/>
                <a:cs typeface="Segoe UI"/>
              </a:rPr>
              <a:t>Chuyên đề 2 · Dinh dưỡng – nền tảng cho miễn dịch &amp; sự phát triển của trẻ  ·  TS. Lê Thị Thùy Dung</a:t>
            </a:r>
          </a:p>
        </p:txBody>
      </p:sp>
      <p:sp>
        <p:nvSpPr>
          <p:cNvPr id="8" name="TextBox 7"/>
          <p:cNvSpPr txBox="1"/>
          <p:nvPr/>
        </p:nvSpPr>
        <p:spPr>
          <a:xfrm>
            <a:off x="11185855" y="6492240"/>
            <a:ext cx="548640" cy="347472"/>
          </a:xfrm>
          <a:prstGeom prst="rect">
            <a:avLst/>
          </a:prstGeom>
          <a:noFill/>
        </p:spPr>
        <p:txBody>
          <a:bodyPr wrap="square" lIns="0" tIns="0" rIns="0" bIns="0" anchor="ctr">
            <a:spAutoFit/>
          </a:bodyPr>
          <a:lstStyle/>
          <a:p>
            <a:pPr algn="r">
              <a:lnSpc>
                <a:spcPct val="100000"/>
              </a:lnSpc>
              <a:spcBef>
                <a:spcPts val="0"/>
              </a:spcBef>
              <a:spcAft>
                <a:spcPts val="400"/>
              </a:spcAft>
            </a:pPr>
            <a:r>
              <a:rPr sz="1000" b="1" i="0">
                <a:solidFill>
                  <a:srgbClr val="FFFFFF"/>
                </a:solidFill>
                <a:latin typeface="Segoe UI"/>
                <a:cs typeface="Segoe UI"/>
              </a:rPr>
              <a:t>17</a:t>
            </a:r>
          </a:p>
        </p:txBody>
      </p:sp>
      <p:sp>
        <p:nvSpPr>
          <p:cNvPr id="9" name="TextBox 8"/>
          <p:cNvSpPr txBox="1"/>
          <p:nvPr/>
        </p:nvSpPr>
        <p:spPr>
          <a:xfrm>
            <a:off x="548640" y="841248"/>
            <a:ext cx="10881360" cy="566928"/>
          </a:xfrm>
          <a:prstGeom prst="rect">
            <a:avLst/>
          </a:prstGeom>
          <a:noFill/>
        </p:spPr>
        <p:txBody>
          <a:bodyPr wrap="square" lIns="0" tIns="0" rIns="0" bIns="0" anchor="t">
            <a:spAutoFit/>
          </a:bodyPr>
          <a:lstStyle/>
          <a:p>
            <a:pPr algn="l">
              <a:lnSpc>
                <a:spcPct val="100000"/>
              </a:lnSpc>
              <a:spcBef>
                <a:spcPts val="0"/>
              </a:spcBef>
              <a:spcAft>
                <a:spcPts val="400"/>
              </a:spcAft>
            </a:pPr>
            <a:r>
              <a:rPr sz="2700" b="1" i="0">
                <a:solidFill>
                  <a:srgbClr val="19A99D"/>
                </a:solidFill>
                <a:latin typeface="Segoe UI Semibold"/>
                <a:cs typeface="Segoe UI Semibold"/>
              </a:rPr>
              <a:t>Kẽm &amp; Sắt – đề kháng và tăng trưởng</a:t>
            </a:r>
          </a:p>
        </p:txBody>
      </p:sp>
      <p:sp>
        <p:nvSpPr>
          <p:cNvPr id="10" name="TextBox 9"/>
          <p:cNvSpPr txBox="1"/>
          <p:nvPr/>
        </p:nvSpPr>
        <p:spPr>
          <a:xfrm>
            <a:off x="548640" y="1408176"/>
            <a:ext cx="10881360" cy="365760"/>
          </a:xfrm>
          <a:prstGeom prst="rect">
            <a:avLst/>
          </a:prstGeom>
          <a:noFill/>
        </p:spPr>
        <p:txBody>
          <a:bodyPr wrap="square" lIns="0" tIns="0" rIns="0" bIns="0" anchor="t">
            <a:spAutoFit/>
          </a:bodyPr>
          <a:lstStyle/>
          <a:p>
            <a:pPr algn="l">
              <a:lnSpc>
                <a:spcPct val="100000"/>
              </a:lnSpc>
              <a:spcBef>
                <a:spcPts val="0"/>
              </a:spcBef>
              <a:spcAft>
                <a:spcPts val="400"/>
              </a:spcAft>
            </a:pPr>
            <a:r>
              <a:rPr sz="1500" b="0" i="1">
                <a:solidFill>
                  <a:srgbClr val="64748B"/>
                </a:solidFill>
                <a:latin typeface="Segoe UI"/>
                <a:cs typeface="Segoe UI"/>
              </a:rPr>
              <a:t>Hai vi chất trẻ Việt Nam hay thiếu nhất</a:t>
            </a:r>
          </a:p>
        </p:txBody>
      </p:sp>
      <p:sp>
        <p:nvSpPr>
          <p:cNvPr id="11" name="Rounded Rectangle 10"/>
          <p:cNvSpPr/>
          <p:nvPr/>
        </p:nvSpPr>
        <p:spPr>
          <a:xfrm>
            <a:off x="640080" y="1920240"/>
            <a:ext cx="5303520" cy="3840480"/>
          </a:xfrm>
          <a:prstGeom prst="roundRect">
            <a:avLst>
              <a:gd name="adj" fmla="val 6000"/>
            </a:avLst>
          </a:prstGeom>
          <a:solidFill>
            <a:srgbClr val="FFFFFF"/>
          </a:solidFill>
          <a:ln w="20320">
            <a:solidFill>
              <a:srgbClr val="19A99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914400" y="2194560"/>
            <a:ext cx="868680" cy="868680"/>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2400" b="1" i="0">
                <a:solidFill>
                  <a:srgbClr val="FFFFFF"/>
                </a:solidFill>
                <a:latin typeface="Segoe UI"/>
                <a:cs typeface="Segoe UI"/>
              </a:rPr>
              <a:t>Zn</a:t>
            </a:r>
          </a:p>
        </p:txBody>
      </p:sp>
      <p:sp>
        <p:nvSpPr>
          <p:cNvPr id="13" name="TextBox 12"/>
          <p:cNvSpPr txBox="1"/>
          <p:nvPr/>
        </p:nvSpPr>
        <p:spPr>
          <a:xfrm>
            <a:off x="1965960" y="2331720"/>
            <a:ext cx="3840480" cy="640080"/>
          </a:xfrm>
          <a:prstGeom prst="rect">
            <a:avLst/>
          </a:prstGeom>
          <a:noFill/>
        </p:spPr>
        <p:txBody>
          <a:bodyPr wrap="square" lIns="0" tIns="0" rIns="0" bIns="0" anchor="ctr">
            <a:spAutoFit/>
          </a:bodyPr>
          <a:lstStyle/>
          <a:p>
            <a:pPr algn="l">
              <a:lnSpc>
                <a:spcPct val="100000"/>
              </a:lnSpc>
              <a:spcBef>
                <a:spcPts val="0"/>
              </a:spcBef>
              <a:spcAft>
                <a:spcPts val="400"/>
              </a:spcAft>
            </a:pPr>
            <a:r>
              <a:rPr sz="2200" b="1" i="0">
                <a:solidFill>
                  <a:srgbClr val="19A99D"/>
                </a:solidFill>
                <a:latin typeface="Segoe UI Semibold"/>
                <a:cs typeface="Segoe UI Semibold"/>
              </a:rPr>
              <a:t>Kẽm</a:t>
            </a:r>
          </a:p>
        </p:txBody>
      </p:sp>
      <p:sp>
        <p:nvSpPr>
          <p:cNvPr id="14" name="TextBox 13"/>
          <p:cNvSpPr txBox="1"/>
          <p:nvPr/>
        </p:nvSpPr>
        <p:spPr>
          <a:xfrm>
            <a:off x="1051560" y="3246120"/>
            <a:ext cx="4663440" cy="2377440"/>
          </a:xfrm>
          <a:prstGeom prst="rect">
            <a:avLst/>
          </a:prstGeom>
          <a:noFill/>
        </p:spPr>
        <p:txBody>
          <a:bodyPr wrap="square" lIns="0" tIns="0" rIns="0" bIns="0" anchor="t">
            <a:spAutoFit/>
          </a:bodyPr>
          <a:lstStyle/>
          <a:p>
            <a:pPr algn="l">
              <a:lnSpc>
                <a:spcPct val="105000"/>
              </a:lnSpc>
              <a:spcBef>
                <a:spcPts val="0"/>
              </a:spcBef>
              <a:spcAft>
                <a:spcPts val="900"/>
              </a:spcAft>
            </a:pPr>
            <a:r>
              <a:rPr sz="1300" b="1" i="0">
                <a:solidFill>
                  <a:srgbClr val="19A99D"/>
                </a:solidFill>
                <a:latin typeface="Segoe UI"/>
                <a:cs typeface="Segoe UI"/>
              </a:rPr>
              <a:t>•  </a:t>
            </a:r>
            <a:r>
              <a:rPr sz="1300" b="0" i="0">
                <a:solidFill>
                  <a:srgbClr val="1E293B"/>
                </a:solidFill>
                <a:latin typeface="Segoe UI"/>
                <a:cs typeface="Segoe UI"/>
              </a:rPr>
              <a:t>Giúp trẻ ăn ngon miệng, tiêu hóa tốt.</a:t>
            </a:r>
          </a:p>
          <a:p>
            <a:pPr algn="l">
              <a:lnSpc>
                <a:spcPct val="105000"/>
              </a:lnSpc>
              <a:spcBef>
                <a:spcPts val="0"/>
              </a:spcBef>
              <a:spcAft>
                <a:spcPts val="900"/>
              </a:spcAft>
            </a:pPr>
            <a:r>
              <a:rPr sz="1300" b="1" i="0">
                <a:solidFill>
                  <a:srgbClr val="19A99D"/>
                </a:solidFill>
                <a:latin typeface="Segoe UI"/>
                <a:cs typeface="Segoe UI"/>
              </a:rPr>
              <a:t>•  </a:t>
            </a:r>
            <a:r>
              <a:rPr sz="1300" b="0" i="0">
                <a:solidFill>
                  <a:srgbClr val="1E293B"/>
                </a:solidFill>
                <a:latin typeface="Segoe UI"/>
                <a:cs typeface="Segoe UI"/>
              </a:rPr>
              <a:t>Tăng sức đề kháng, phòng tiêu chảy &amp; viêm hô hấp.</a:t>
            </a:r>
          </a:p>
          <a:p>
            <a:pPr algn="l">
              <a:lnSpc>
                <a:spcPct val="105000"/>
              </a:lnSpc>
              <a:spcBef>
                <a:spcPts val="0"/>
              </a:spcBef>
              <a:spcAft>
                <a:spcPts val="900"/>
              </a:spcAft>
            </a:pPr>
            <a:r>
              <a:rPr sz="1300" b="1" i="0">
                <a:solidFill>
                  <a:srgbClr val="19A99D"/>
                </a:solidFill>
                <a:latin typeface="Segoe UI"/>
                <a:cs typeface="Segoe UI"/>
              </a:rPr>
              <a:t>•  </a:t>
            </a:r>
            <a:r>
              <a:rPr sz="1300" b="0" i="0">
                <a:solidFill>
                  <a:srgbClr val="1E293B"/>
                </a:solidFill>
                <a:latin typeface="Segoe UI"/>
                <a:cs typeface="Segoe UI"/>
              </a:rPr>
              <a:t>Thúc đẩy tăng trưởng – rất quan trọng với tầm vóc, chiều cao.</a:t>
            </a:r>
          </a:p>
          <a:p>
            <a:pPr algn="l">
              <a:lnSpc>
                <a:spcPct val="105000"/>
              </a:lnSpc>
              <a:spcBef>
                <a:spcPts val="0"/>
              </a:spcBef>
              <a:spcAft>
                <a:spcPts val="900"/>
              </a:spcAft>
            </a:pPr>
            <a:r>
              <a:rPr sz="1300" b="1" i="0">
                <a:solidFill>
                  <a:srgbClr val="19A99D"/>
                </a:solidFill>
                <a:latin typeface="Segoe UI"/>
                <a:cs typeface="Segoe UI"/>
              </a:rPr>
              <a:t>•  </a:t>
            </a:r>
            <a:r>
              <a:rPr sz="1300" b="0" i="0">
                <a:solidFill>
                  <a:srgbClr val="1E293B"/>
                </a:solidFill>
                <a:latin typeface="Segoe UI"/>
                <a:cs typeface="Segoe UI"/>
              </a:rPr>
              <a:t>Nguồn: hàu, sò, thịt, trứng, cá, tôm, cua, lươn.</a:t>
            </a:r>
          </a:p>
        </p:txBody>
      </p:sp>
      <p:sp>
        <p:nvSpPr>
          <p:cNvPr id="15" name="Rounded Rectangle 14"/>
          <p:cNvSpPr/>
          <p:nvPr/>
        </p:nvSpPr>
        <p:spPr>
          <a:xfrm>
            <a:off x="6263640" y="1920240"/>
            <a:ext cx="5303520" cy="3840480"/>
          </a:xfrm>
          <a:prstGeom prst="roundRect">
            <a:avLst>
              <a:gd name="adj" fmla="val 6000"/>
            </a:avLst>
          </a:prstGeom>
          <a:solidFill>
            <a:srgbClr val="FFFFFF"/>
          </a:solidFill>
          <a:ln w="20320">
            <a:solidFill>
              <a:srgbClr val="E26D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537960" y="2194560"/>
            <a:ext cx="868680" cy="868680"/>
          </a:xfrm>
          <a:prstGeom prst="ellipse">
            <a:avLst/>
          </a:prstGeom>
          <a:solidFill>
            <a:srgbClr val="E26D5A"/>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2400" b="1" i="0">
                <a:solidFill>
                  <a:srgbClr val="FFFFFF"/>
                </a:solidFill>
                <a:latin typeface="Segoe UI"/>
                <a:cs typeface="Segoe UI"/>
              </a:rPr>
              <a:t>Fe</a:t>
            </a:r>
          </a:p>
        </p:txBody>
      </p:sp>
      <p:sp>
        <p:nvSpPr>
          <p:cNvPr id="17" name="TextBox 16"/>
          <p:cNvSpPr txBox="1"/>
          <p:nvPr/>
        </p:nvSpPr>
        <p:spPr>
          <a:xfrm>
            <a:off x="7589520" y="2331720"/>
            <a:ext cx="3840480" cy="640080"/>
          </a:xfrm>
          <a:prstGeom prst="rect">
            <a:avLst/>
          </a:prstGeom>
          <a:noFill/>
        </p:spPr>
        <p:txBody>
          <a:bodyPr wrap="square" lIns="0" tIns="0" rIns="0" bIns="0" anchor="ctr">
            <a:spAutoFit/>
          </a:bodyPr>
          <a:lstStyle/>
          <a:p>
            <a:pPr algn="l">
              <a:lnSpc>
                <a:spcPct val="100000"/>
              </a:lnSpc>
              <a:spcBef>
                <a:spcPts val="0"/>
              </a:spcBef>
              <a:spcAft>
                <a:spcPts val="400"/>
              </a:spcAft>
            </a:pPr>
            <a:r>
              <a:rPr sz="2200" b="1" i="0">
                <a:solidFill>
                  <a:srgbClr val="E26D5A"/>
                </a:solidFill>
                <a:latin typeface="Segoe UI Semibold"/>
                <a:cs typeface="Segoe UI Semibold"/>
              </a:rPr>
              <a:t>Sắt</a:t>
            </a:r>
          </a:p>
        </p:txBody>
      </p:sp>
      <p:sp>
        <p:nvSpPr>
          <p:cNvPr id="18" name="TextBox 17"/>
          <p:cNvSpPr txBox="1"/>
          <p:nvPr/>
        </p:nvSpPr>
        <p:spPr>
          <a:xfrm>
            <a:off x="6675120" y="3246120"/>
            <a:ext cx="4663440" cy="2377440"/>
          </a:xfrm>
          <a:prstGeom prst="rect">
            <a:avLst/>
          </a:prstGeom>
          <a:noFill/>
        </p:spPr>
        <p:txBody>
          <a:bodyPr wrap="square" lIns="0" tIns="0" rIns="0" bIns="0" anchor="t">
            <a:spAutoFit/>
          </a:bodyPr>
          <a:lstStyle/>
          <a:p>
            <a:pPr algn="l">
              <a:lnSpc>
                <a:spcPct val="105000"/>
              </a:lnSpc>
              <a:spcBef>
                <a:spcPts val="0"/>
              </a:spcBef>
              <a:spcAft>
                <a:spcPts val="900"/>
              </a:spcAft>
            </a:pPr>
            <a:r>
              <a:rPr sz="1300" b="1" i="0">
                <a:solidFill>
                  <a:srgbClr val="E26D5A"/>
                </a:solidFill>
                <a:latin typeface="Segoe UI"/>
                <a:cs typeface="Segoe UI"/>
              </a:rPr>
              <a:t>•  </a:t>
            </a:r>
            <a:r>
              <a:rPr sz="1300" b="0" i="0">
                <a:solidFill>
                  <a:srgbClr val="1E293B"/>
                </a:solidFill>
                <a:latin typeface="Segoe UI"/>
                <a:cs typeface="Segoe UI"/>
              </a:rPr>
              <a:t>Cùng protein tạo máu, vận chuyển oxy đi nuôi cơ thể.</a:t>
            </a:r>
          </a:p>
          <a:p>
            <a:pPr algn="l">
              <a:lnSpc>
                <a:spcPct val="105000"/>
              </a:lnSpc>
              <a:spcBef>
                <a:spcPts val="0"/>
              </a:spcBef>
              <a:spcAft>
                <a:spcPts val="900"/>
              </a:spcAft>
            </a:pPr>
            <a:r>
              <a:rPr sz="1300" b="1" i="0">
                <a:solidFill>
                  <a:srgbClr val="E26D5A"/>
                </a:solidFill>
                <a:latin typeface="Segoe UI"/>
                <a:cs typeface="Segoe UI"/>
              </a:rPr>
              <a:t>•  </a:t>
            </a:r>
            <a:r>
              <a:rPr sz="1300" b="0" i="0">
                <a:solidFill>
                  <a:srgbClr val="1E293B"/>
                </a:solidFill>
                <a:latin typeface="Segoe UI"/>
                <a:cs typeface="Segoe UI"/>
              </a:rPr>
              <a:t>Thiếu sắt → thiếu máu, xanh xao, mệt mỏi, kém tập trung.</a:t>
            </a:r>
          </a:p>
          <a:p>
            <a:pPr algn="l">
              <a:lnSpc>
                <a:spcPct val="105000"/>
              </a:lnSpc>
              <a:spcBef>
                <a:spcPts val="0"/>
              </a:spcBef>
              <a:spcAft>
                <a:spcPts val="900"/>
              </a:spcAft>
            </a:pPr>
            <a:r>
              <a:rPr sz="1300" b="1" i="0">
                <a:solidFill>
                  <a:srgbClr val="E26D5A"/>
                </a:solidFill>
                <a:latin typeface="Segoe UI"/>
                <a:cs typeface="Segoe UI"/>
              </a:rPr>
              <a:t>•  </a:t>
            </a:r>
            <a:r>
              <a:rPr sz="1300" b="0" i="0">
                <a:solidFill>
                  <a:srgbClr val="1E293B"/>
                </a:solidFill>
                <a:latin typeface="Segoe UI"/>
                <a:cs typeface="Segoe UI"/>
              </a:rPr>
              <a:t>Hỗ trợ hệ miễn dịch và phát triển trí não.</a:t>
            </a:r>
          </a:p>
          <a:p>
            <a:pPr algn="l">
              <a:lnSpc>
                <a:spcPct val="105000"/>
              </a:lnSpc>
              <a:spcBef>
                <a:spcPts val="0"/>
              </a:spcBef>
              <a:spcAft>
                <a:spcPts val="900"/>
              </a:spcAft>
            </a:pPr>
            <a:r>
              <a:rPr sz="1300" b="1" i="0">
                <a:solidFill>
                  <a:srgbClr val="E26D5A"/>
                </a:solidFill>
                <a:latin typeface="Segoe UI"/>
                <a:cs typeface="Segoe UI"/>
              </a:rPr>
              <a:t>•  </a:t>
            </a:r>
            <a:r>
              <a:rPr sz="1300" b="0" i="0">
                <a:solidFill>
                  <a:srgbClr val="1E293B"/>
                </a:solidFill>
                <a:latin typeface="Segoe UI"/>
                <a:cs typeface="Segoe UI"/>
              </a:rPr>
              <a:t>Nguồn: thịt bò, gan, trứng, rau dền đỏ; ăn kèm vitamin C.</a:t>
            </a:r>
          </a:p>
        </p:txBody>
      </p:sp>
      <p:sp>
        <p:nvSpPr>
          <p:cNvPr id="19" name="TextBox 18"/>
          <p:cNvSpPr txBox="1"/>
          <p:nvPr/>
        </p:nvSpPr>
        <p:spPr>
          <a:xfrm>
            <a:off x="548640" y="6144768"/>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50" b="1" i="1">
                <a:solidFill>
                  <a:srgbClr val="19A99D"/>
                </a:solidFill>
                <a:latin typeface="Segoe UI"/>
                <a:cs typeface="Segoe UI"/>
              </a:rPr>
              <a:t>Nguồn: </a:t>
            </a:r>
            <a:r>
              <a:rPr sz="950" b="0" i="1">
                <a:solidFill>
                  <a:srgbClr val="64748B"/>
                </a:solidFill>
                <a:latin typeface="Segoe UI"/>
                <a:cs typeface="Segoe UI"/>
              </a:rPr>
              <a:t>Cẩm nang dinh dưỡng trẻ tiểu học (Viện Dinh dưỡng); Pai UA et al. 2018</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384048" y="274320"/>
            <a:ext cx="384048" cy="384048"/>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4068" y="329184"/>
            <a:ext cx="104241"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66344" y="406908"/>
            <a:ext cx="274320" cy="10424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274320"/>
            <a:ext cx="2926080" cy="402336"/>
          </a:xfrm>
          <a:prstGeom prst="rect">
            <a:avLst/>
          </a:prstGeom>
          <a:noFill/>
        </p:spPr>
        <p:txBody>
          <a:bodyPr wrap="square" lIns="0" tIns="0" rIns="0" bIns="0" anchor="ctr">
            <a:spAutoFit/>
          </a:bodyPr>
          <a:lstStyle/>
          <a:p>
            <a:pPr algn="l">
              <a:lnSpc>
                <a:spcPct val="100000"/>
              </a:lnSpc>
              <a:spcBef>
                <a:spcPts val="0"/>
              </a:spcBef>
              <a:spcAft>
                <a:spcPts val="400"/>
              </a:spcAft>
            </a:pPr>
            <a:r>
              <a:rPr sz="1300" b="1" i="0">
                <a:solidFill>
                  <a:srgbClr val="1E293B"/>
                </a:solidFill>
                <a:latin typeface="Segoe UI"/>
                <a:cs typeface="Segoe UI"/>
              </a:rPr>
              <a:t>DINH DƯỠNG </a:t>
            </a:r>
            <a:r>
              <a:rPr sz="1300" b="1" i="0">
                <a:solidFill>
                  <a:srgbClr val="19A99D"/>
                </a:solidFill>
                <a:latin typeface="Segoe UI"/>
                <a:cs typeface="Segoe UI"/>
              </a:rPr>
              <a:t>NHI KHOA</a:t>
            </a:r>
          </a:p>
        </p:txBody>
      </p:sp>
      <p:sp>
        <p:nvSpPr>
          <p:cNvPr id="6" name="Rectangle 5"/>
          <p:cNvSpPr/>
          <p:nvPr/>
        </p:nvSpPr>
        <p:spPr>
          <a:xfrm>
            <a:off x="0" y="6473952"/>
            <a:ext cx="12191695" cy="384048"/>
          </a:xfrm>
          <a:prstGeom prst="rect">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492240"/>
            <a:ext cx="9601200" cy="347472"/>
          </a:xfrm>
          <a:prstGeom prst="rect">
            <a:avLst/>
          </a:prstGeom>
          <a:noFill/>
        </p:spPr>
        <p:txBody>
          <a:bodyPr wrap="square" lIns="0" tIns="0" rIns="0" bIns="0" anchor="ctr">
            <a:spAutoFit/>
          </a:bodyPr>
          <a:lstStyle/>
          <a:p>
            <a:pPr algn="l">
              <a:lnSpc>
                <a:spcPct val="100000"/>
              </a:lnSpc>
              <a:spcBef>
                <a:spcPts val="0"/>
              </a:spcBef>
              <a:spcAft>
                <a:spcPts val="400"/>
              </a:spcAft>
            </a:pPr>
            <a:r>
              <a:rPr sz="950" b="0" i="0">
                <a:solidFill>
                  <a:srgbClr val="FFFFFF"/>
                </a:solidFill>
                <a:latin typeface="Segoe UI"/>
                <a:cs typeface="Segoe UI"/>
              </a:rPr>
              <a:t>Chuyên đề 2 · Dinh dưỡng – nền tảng cho miễn dịch &amp; sự phát triển của trẻ  ·  TS. Lê Thị Thùy Dung</a:t>
            </a:r>
          </a:p>
        </p:txBody>
      </p:sp>
      <p:sp>
        <p:nvSpPr>
          <p:cNvPr id="8" name="TextBox 7"/>
          <p:cNvSpPr txBox="1"/>
          <p:nvPr/>
        </p:nvSpPr>
        <p:spPr>
          <a:xfrm>
            <a:off x="11185855" y="6492240"/>
            <a:ext cx="548640" cy="347472"/>
          </a:xfrm>
          <a:prstGeom prst="rect">
            <a:avLst/>
          </a:prstGeom>
          <a:noFill/>
        </p:spPr>
        <p:txBody>
          <a:bodyPr wrap="square" lIns="0" tIns="0" rIns="0" bIns="0" anchor="ctr">
            <a:spAutoFit/>
          </a:bodyPr>
          <a:lstStyle/>
          <a:p>
            <a:pPr algn="r">
              <a:lnSpc>
                <a:spcPct val="100000"/>
              </a:lnSpc>
              <a:spcBef>
                <a:spcPts val="0"/>
              </a:spcBef>
              <a:spcAft>
                <a:spcPts val="400"/>
              </a:spcAft>
            </a:pPr>
            <a:r>
              <a:rPr sz="1000" b="1" i="0">
                <a:solidFill>
                  <a:srgbClr val="FFFFFF"/>
                </a:solidFill>
                <a:latin typeface="Segoe UI"/>
                <a:cs typeface="Segoe UI"/>
              </a:rPr>
              <a:t>18</a:t>
            </a:r>
          </a:p>
        </p:txBody>
      </p:sp>
      <p:sp>
        <p:nvSpPr>
          <p:cNvPr id="9" name="TextBox 8"/>
          <p:cNvSpPr txBox="1"/>
          <p:nvPr/>
        </p:nvSpPr>
        <p:spPr>
          <a:xfrm>
            <a:off x="548640" y="841248"/>
            <a:ext cx="10881360" cy="566928"/>
          </a:xfrm>
          <a:prstGeom prst="rect">
            <a:avLst/>
          </a:prstGeom>
          <a:noFill/>
        </p:spPr>
        <p:txBody>
          <a:bodyPr wrap="square" lIns="0" tIns="0" rIns="0" bIns="0" anchor="t">
            <a:spAutoFit/>
          </a:bodyPr>
          <a:lstStyle/>
          <a:p>
            <a:pPr algn="l">
              <a:lnSpc>
                <a:spcPct val="100000"/>
              </a:lnSpc>
              <a:spcBef>
                <a:spcPts val="0"/>
              </a:spcBef>
              <a:spcAft>
                <a:spcPts val="400"/>
              </a:spcAft>
            </a:pPr>
            <a:r>
              <a:rPr sz="2700" b="1" i="0">
                <a:solidFill>
                  <a:srgbClr val="19A99D"/>
                </a:solidFill>
                <a:latin typeface="Segoe UI Semibold"/>
                <a:cs typeface="Segoe UI Semibold"/>
              </a:rPr>
              <a:t>0 – 6 tháng: Sữa mẹ là tất cả</a:t>
            </a:r>
          </a:p>
        </p:txBody>
      </p:sp>
      <p:sp>
        <p:nvSpPr>
          <p:cNvPr id="10" name="TextBox 9"/>
          <p:cNvSpPr txBox="1"/>
          <p:nvPr/>
        </p:nvSpPr>
        <p:spPr>
          <a:xfrm>
            <a:off x="548640" y="1408176"/>
            <a:ext cx="10881360" cy="365760"/>
          </a:xfrm>
          <a:prstGeom prst="rect">
            <a:avLst/>
          </a:prstGeom>
          <a:noFill/>
        </p:spPr>
        <p:txBody>
          <a:bodyPr wrap="square" lIns="0" tIns="0" rIns="0" bIns="0" anchor="t">
            <a:spAutoFit/>
          </a:bodyPr>
          <a:lstStyle/>
          <a:p>
            <a:pPr algn="l">
              <a:lnSpc>
                <a:spcPct val="100000"/>
              </a:lnSpc>
              <a:spcBef>
                <a:spcPts val="0"/>
              </a:spcBef>
              <a:spcAft>
                <a:spcPts val="400"/>
              </a:spcAft>
            </a:pPr>
            <a:r>
              <a:rPr sz="1500" b="0" i="1">
                <a:solidFill>
                  <a:srgbClr val="64748B"/>
                </a:solidFill>
                <a:latin typeface="Segoe UI"/>
                <a:cs typeface="Segoe UI"/>
              </a:rPr>
              <a:t>Bú mẹ hoàn toàn – không nước, không sữa ngoài, không ăn dặm</a:t>
            </a:r>
          </a:p>
        </p:txBody>
      </p:sp>
      <p:pic>
        <p:nvPicPr>
          <p:cNvPr id="11" name="Picture 10" descr="bf_mother.png"/>
          <p:cNvPicPr>
            <a:picLocks noChangeAspect="1"/>
          </p:cNvPicPr>
          <p:nvPr/>
        </p:nvPicPr>
        <p:blipFill>
          <a:blip r:embed="rId2"/>
          <a:stretch>
            <a:fillRect/>
          </a:stretch>
        </p:blipFill>
        <p:spPr>
          <a:xfrm>
            <a:off x="9537404" y="1691640"/>
            <a:ext cx="2063033" cy="2570050"/>
          </a:xfrm>
          <a:prstGeom prst="rect">
            <a:avLst/>
          </a:prstGeom>
        </p:spPr>
      </p:pic>
      <p:sp>
        <p:nvSpPr>
          <p:cNvPr id="12" name="TextBox 11"/>
          <p:cNvSpPr txBox="1"/>
          <p:nvPr/>
        </p:nvSpPr>
        <p:spPr>
          <a:xfrm>
            <a:off x="640080" y="1920240"/>
            <a:ext cx="7040880" cy="3840480"/>
          </a:xfrm>
          <a:prstGeom prst="rect">
            <a:avLst/>
          </a:prstGeom>
          <a:noFill/>
        </p:spPr>
        <p:txBody>
          <a:bodyPr wrap="square" lIns="0" tIns="0" rIns="0" bIns="0" anchor="t">
            <a:spAutoFit/>
          </a:bodyPr>
          <a:lstStyle/>
          <a:p>
            <a:pPr algn="l">
              <a:lnSpc>
                <a:spcPct val="106000"/>
              </a:lnSpc>
              <a:spcBef>
                <a:spcPts val="0"/>
              </a:spcBef>
              <a:spcAft>
                <a:spcPts val="1000"/>
              </a:spcAft>
            </a:pPr>
            <a:r>
              <a:rPr sz="1700" b="1" i="0" dirty="0" err="1">
                <a:solidFill>
                  <a:srgbClr val="19A99D"/>
                </a:solidFill>
                <a:latin typeface="Segoe UI"/>
                <a:cs typeface="Segoe UI"/>
              </a:rPr>
              <a:t>Bú</a:t>
            </a:r>
            <a:r>
              <a:rPr sz="1700" b="1" i="0" dirty="0">
                <a:solidFill>
                  <a:srgbClr val="19A99D"/>
                </a:solidFill>
                <a:latin typeface="Segoe UI"/>
                <a:cs typeface="Segoe UI"/>
              </a:rPr>
              <a:t> </a:t>
            </a:r>
            <a:r>
              <a:rPr sz="1700" b="1" i="0" dirty="0" err="1">
                <a:solidFill>
                  <a:srgbClr val="19A99D"/>
                </a:solidFill>
                <a:latin typeface="Segoe UI"/>
                <a:cs typeface="Segoe UI"/>
              </a:rPr>
              <a:t>mẹ</a:t>
            </a:r>
            <a:r>
              <a:rPr sz="1700" b="1" i="0" dirty="0">
                <a:solidFill>
                  <a:srgbClr val="19A99D"/>
                </a:solidFill>
                <a:latin typeface="Segoe UI"/>
                <a:cs typeface="Segoe UI"/>
              </a:rPr>
              <a:t> </a:t>
            </a:r>
            <a:r>
              <a:rPr sz="1700" b="1" i="0" dirty="0" err="1">
                <a:solidFill>
                  <a:srgbClr val="19A99D"/>
                </a:solidFill>
                <a:latin typeface="Segoe UI"/>
                <a:cs typeface="Segoe UI"/>
              </a:rPr>
              <a:t>hoàn</a:t>
            </a:r>
            <a:r>
              <a:rPr sz="1700" b="1" i="0" dirty="0">
                <a:solidFill>
                  <a:srgbClr val="19A99D"/>
                </a:solidFill>
                <a:latin typeface="Segoe UI"/>
                <a:cs typeface="Segoe UI"/>
              </a:rPr>
              <a:t> </a:t>
            </a:r>
            <a:r>
              <a:rPr sz="1700" b="1" i="0" dirty="0" err="1">
                <a:solidFill>
                  <a:srgbClr val="19A99D"/>
                </a:solidFill>
                <a:latin typeface="Segoe UI"/>
                <a:cs typeface="Segoe UI"/>
              </a:rPr>
              <a:t>toàn</a:t>
            </a:r>
            <a:r>
              <a:rPr sz="1700" b="1" i="0" dirty="0">
                <a:solidFill>
                  <a:srgbClr val="19A99D"/>
                </a:solidFill>
                <a:latin typeface="Segoe UI"/>
                <a:cs typeface="Segoe UI"/>
              </a:rPr>
              <a:t> </a:t>
            </a:r>
            <a:r>
              <a:rPr sz="1700" b="1" i="0" dirty="0" err="1">
                <a:solidFill>
                  <a:srgbClr val="19A99D"/>
                </a:solidFill>
                <a:latin typeface="Segoe UI"/>
                <a:cs typeface="Segoe UI"/>
              </a:rPr>
              <a:t>trong</a:t>
            </a:r>
            <a:r>
              <a:rPr sz="1700" b="1" i="0" dirty="0">
                <a:solidFill>
                  <a:srgbClr val="19A99D"/>
                </a:solidFill>
                <a:latin typeface="Segoe UI"/>
                <a:cs typeface="Segoe UI"/>
              </a:rPr>
              <a:t> 6 </a:t>
            </a:r>
            <a:r>
              <a:rPr sz="1700" b="1" i="0" dirty="0" err="1">
                <a:solidFill>
                  <a:srgbClr val="19A99D"/>
                </a:solidFill>
                <a:latin typeface="Segoe UI"/>
                <a:cs typeface="Segoe UI"/>
              </a:rPr>
              <a:t>tháng</a:t>
            </a:r>
            <a:r>
              <a:rPr sz="1700" b="1" i="0" dirty="0">
                <a:solidFill>
                  <a:srgbClr val="19A99D"/>
                </a:solidFill>
                <a:latin typeface="Segoe UI"/>
                <a:cs typeface="Segoe UI"/>
              </a:rPr>
              <a:t> </a:t>
            </a:r>
            <a:r>
              <a:rPr sz="1700" b="1" i="0" dirty="0" err="1">
                <a:solidFill>
                  <a:srgbClr val="19A99D"/>
                </a:solidFill>
                <a:latin typeface="Segoe UI"/>
                <a:cs typeface="Segoe UI"/>
              </a:rPr>
              <a:t>đầu</a:t>
            </a:r>
            <a:endParaRPr sz="1700" b="1" i="0" dirty="0">
              <a:solidFill>
                <a:srgbClr val="19A99D"/>
              </a:solidFill>
              <a:latin typeface="Segoe UI"/>
              <a:cs typeface="Segoe UI"/>
            </a:endParaRPr>
          </a:p>
          <a:p>
            <a:pPr algn="l">
              <a:lnSpc>
                <a:spcPct val="110000"/>
              </a:lnSpc>
              <a:spcBef>
                <a:spcPts val="0"/>
              </a:spcBef>
              <a:spcAft>
                <a:spcPts val="900"/>
              </a:spcAft>
            </a:pPr>
            <a:r>
              <a:rPr sz="1450" b="0" i="0" dirty="0" err="1">
                <a:solidFill>
                  <a:srgbClr val="1E293B"/>
                </a:solidFill>
                <a:latin typeface="Segoe UI"/>
                <a:cs typeface="Segoe UI"/>
              </a:rPr>
              <a:t>Sữa</a:t>
            </a:r>
            <a:r>
              <a:rPr sz="1450" b="0" i="0" dirty="0">
                <a:solidFill>
                  <a:srgbClr val="1E293B"/>
                </a:solidFill>
                <a:latin typeface="Segoe UI"/>
                <a:cs typeface="Segoe UI"/>
              </a:rPr>
              <a:t> </a:t>
            </a:r>
            <a:r>
              <a:rPr sz="1450" b="0" i="0" dirty="0" err="1">
                <a:solidFill>
                  <a:srgbClr val="1E293B"/>
                </a:solidFill>
                <a:latin typeface="Segoe UI"/>
                <a:cs typeface="Segoe UI"/>
              </a:rPr>
              <a:t>mẹ</a:t>
            </a:r>
            <a:r>
              <a:rPr sz="1450" b="0" i="0" dirty="0">
                <a:solidFill>
                  <a:srgbClr val="1E293B"/>
                </a:solidFill>
                <a:latin typeface="Segoe UI"/>
                <a:cs typeface="Segoe UI"/>
              </a:rPr>
              <a:t> </a:t>
            </a:r>
            <a:r>
              <a:rPr sz="1450" b="0" i="0" dirty="0" err="1">
                <a:solidFill>
                  <a:srgbClr val="1E293B"/>
                </a:solidFill>
                <a:latin typeface="Segoe UI"/>
                <a:cs typeface="Segoe UI"/>
              </a:rPr>
              <a:t>cung</a:t>
            </a:r>
            <a:r>
              <a:rPr sz="1450" b="0" i="0" dirty="0">
                <a:solidFill>
                  <a:srgbClr val="1E293B"/>
                </a:solidFill>
                <a:latin typeface="Segoe UI"/>
                <a:cs typeface="Segoe UI"/>
              </a:rPr>
              <a:t> </a:t>
            </a:r>
            <a:r>
              <a:rPr sz="1450" b="0" i="0" dirty="0" err="1">
                <a:solidFill>
                  <a:srgbClr val="1E293B"/>
                </a:solidFill>
                <a:latin typeface="Segoe UI"/>
                <a:cs typeface="Segoe UI"/>
              </a:rPr>
              <a:t>cấp</a:t>
            </a:r>
            <a:r>
              <a:rPr sz="1450" b="0" i="0" dirty="0">
                <a:solidFill>
                  <a:srgbClr val="1E293B"/>
                </a:solidFill>
                <a:latin typeface="Segoe UI"/>
                <a:cs typeface="Segoe UI"/>
              </a:rPr>
              <a:t> </a:t>
            </a:r>
            <a:r>
              <a:rPr sz="1450" b="0" i="0" dirty="0" err="1">
                <a:solidFill>
                  <a:srgbClr val="1E293B"/>
                </a:solidFill>
                <a:latin typeface="Segoe UI"/>
                <a:cs typeface="Segoe UI"/>
              </a:rPr>
              <a:t>đủ</a:t>
            </a:r>
            <a:r>
              <a:rPr sz="1450" b="0" i="0" dirty="0">
                <a:solidFill>
                  <a:srgbClr val="1E293B"/>
                </a:solidFill>
                <a:latin typeface="Segoe UI"/>
                <a:cs typeface="Segoe UI"/>
              </a:rPr>
              <a:t> </a:t>
            </a:r>
            <a:r>
              <a:rPr sz="1450" b="0" i="0" dirty="0" err="1">
                <a:solidFill>
                  <a:srgbClr val="1E293B"/>
                </a:solidFill>
                <a:latin typeface="Segoe UI"/>
                <a:cs typeface="Segoe UI"/>
              </a:rPr>
              <a:t>năng</a:t>
            </a:r>
            <a:r>
              <a:rPr sz="1450" b="0" i="0" dirty="0">
                <a:solidFill>
                  <a:srgbClr val="1E293B"/>
                </a:solidFill>
                <a:latin typeface="Segoe UI"/>
                <a:cs typeface="Segoe UI"/>
              </a:rPr>
              <a:t> </a:t>
            </a:r>
            <a:r>
              <a:rPr sz="1450" b="0" i="0" dirty="0" err="1">
                <a:solidFill>
                  <a:srgbClr val="1E293B"/>
                </a:solidFill>
                <a:latin typeface="Segoe UI"/>
                <a:cs typeface="Segoe UI"/>
              </a:rPr>
              <a:t>lượng</a:t>
            </a:r>
            <a:r>
              <a:rPr sz="1450" b="0" i="0" dirty="0">
                <a:solidFill>
                  <a:srgbClr val="1E293B"/>
                </a:solidFill>
                <a:latin typeface="Segoe UI"/>
                <a:cs typeface="Segoe UI"/>
              </a:rPr>
              <a:t>, </a:t>
            </a:r>
            <a:r>
              <a:rPr sz="1450" b="0" i="0" dirty="0" err="1">
                <a:solidFill>
                  <a:srgbClr val="1E293B"/>
                </a:solidFill>
                <a:latin typeface="Segoe UI"/>
                <a:cs typeface="Segoe UI"/>
              </a:rPr>
              <a:t>nước</a:t>
            </a:r>
            <a:r>
              <a:rPr sz="1450" b="0" i="0" dirty="0">
                <a:solidFill>
                  <a:srgbClr val="1E293B"/>
                </a:solidFill>
                <a:latin typeface="Segoe UI"/>
                <a:cs typeface="Segoe UI"/>
              </a:rPr>
              <a:t> </a:t>
            </a:r>
            <a:r>
              <a:rPr sz="1450" b="0" i="0" dirty="0" err="1">
                <a:solidFill>
                  <a:srgbClr val="1E293B"/>
                </a:solidFill>
                <a:latin typeface="Segoe UI"/>
                <a:cs typeface="Segoe UI"/>
              </a:rPr>
              <a:t>và</a:t>
            </a:r>
            <a:r>
              <a:rPr sz="1450" b="0" i="0" dirty="0">
                <a:solidFill>
                  <a:srgbClr val="1E293B"/>
                </a:solidFill>
                <a:latin typeface="Segoe UI"/>
                <a:cs typeface="Segoe UI"/>
              </a:rPr>
              <a:t> </a:t>
            </a:r>
            <a:r>
              <a:rPr sz="1450" b="0" i="0" dirty="0" err="1">
                <a:solidFill>
                  <a:srgbClr val="1E293B"/>
                </a:solidFill>
                <a:latin typeface="Segoe UI"/>
                <a:cs typeface="Segoe UI"/>
              </a:rPr>
              <a:t>dưỡng</a:t>
            </a:r>
            <a:r>
              <a:rPr sz="1450" b="0" i="0" dirty="0">
                <a:solidFill>
                  <a:srgbClr val="1E293B"/>
                </a:solidFill>
                <a:latin typeface="Segoe UI"/>
                <a:cs typeface="Segoe UI"/>
              </a:rPr>
              <a:t> </a:t>
            </a:r>
            <a:r>
              <a:rPr sz="1450" b="0" i="0" dirty="0" err="1">
                <a:solidFill>
                  <a:srgbClr val="1E293B"/>
                </a:solidFill>
                <a:latin typeface="Segoe UI"/>
                <a:cs typeface="Segoe UI"/>
              </a:rPr>
              <a:t>chất</a:t>
            </a:r>
            <a:r>
              <a:rPr sz="1450" b="0" i="0" dirty="0">
                <a:solidFill>
                  <a:srgbClr val="1E293B"/>
                </a:solidFill>
                <a:latin typeface="Segoe UI"/>
                <a:cs typeface="Segoe UI"/>
              </a:rPr>
              <a:t>; </a:t>
            </a:r>
            <a:r>
              <a:rPr sz="1450" b="0" i="0" dirty="0" err="1">
                <a:solidFill>
                  <a:srgbClr val="1E293B"/>
                </a:solidFill>
                <a:latin typeface="Segoe UI"/>
                <a:cs typeface="Segoe UI"/>
              </a:rPr>
              <a:t>trẻ</a:t>
            </a:r>
            <a:r>
              <a:rPr sz="1450" b="0" i="0" dirty="0">
                <a:solidFill>
                  <a:srgbClr val="1E293B"/>
                </a:solidFill>
                <a:latin typeface="Segoe UI"/>
                <a:cs typeface="Segoe UI"/>
              </a:rPr>
              <a:t> </a:t>
            </a:r>
            <a:r>
              <a:rPr sz="1450" b="1" i="0" dirty="0" err="1">
                <a:solidFill>
                  <a:srgbClr val="1E293B"/>
                </a:solidFill>
                <a:latin typeface="Segoe UI"/>
                <a:cs typeface="Segoe UI"/>
              </a:rPr>
              <a:t>không</a:t>
            </a:r>
            <a:r>
              <a:rPr sz="1450" b="1" i="0" dirty="0">
                <a:solidFill>
                  <a:srgbClr val="1E293B"/>
                </a:solidFill>
                <a:latin typeface="Segoe UI"/>
                <a:cs typeface="Segoe UI"/>
              </a:rPr>
              <a:t> </a:t>
            </a:r>
            <a:r>
              <a:rPr sz="1450" b="1" i="0" dirty="0" err="1">
                <a:solidFill>
                  <a:srgbClr val="1E293B"/>
                </a:solidFill>
                <a:latin typeface="Segoe UI"/>
                <a:cs typeface="Segoe UI"/>
              </a:rPr>
              <a:t>cần</a:t>
            </a:r>
            <a:r>
              <a:rPr sz="1450" b="1" i="0" dirty="0">
                <a:solidFill>
                  <a:srgbClr val="1E293B"/>
                </a:solidFill>
                <a:latin typeface="Segoe UI"/>
                <a:cs typeface="Segoe UI"/>
              </a:rPr>
              <a:t> </a:t>
            </a:r>
            <a:r>
              <a:rPr sz="1450" b="1" i="0" dirty="0" err="1">
                <a:solidFill>
                  <a:srgbClr val="1E293B"/>
                </a:solidFill>
                <a:latin typeface="Segoe UI"/>
                <a:cs typeface="Segoe UI"/>
              </a:rPr>
              <a:t>uống</a:t>
            </a:r>
            <a:r>
              <a:rPr sz="1450" b="1" i="0" dirty="0">
                <a:solidFill>
                  <a:srgbClr val="1E293B"/>
                </a:solidFill>
                <a:latin typeface="Segoe UI"/>
                <a:cs typeface="Segoe UI"/>
              </a:rPr>
              <a:t> </a:t>
            </a:r>
            <a:r>
              <a:rPr sz="1450" b="1" i="0" dirty="0" err="1">
                <a:solidFill>
                  <a:srgbClr val="1E293B"/>
                </a:solidFill>
                <a:latin typeface="Segoe UI"/>
                <a:cs typeface="Segoe UI"/>
              </a:rPr>
              <a:t>thêm</a:t>
            </a:r>
            <a:r>
              <a:rPr sz="1450" b="1" i="0" dirty="0">
                <a:solidFill>
                  <a:srgbClr val="1E293B"/>
                </a:solidFill>
                <a:latin typeface="Segoe UI"/>
                <a:cs typeface="Segoe UI"/>
              </a:rPr>
              <a:t> </a:t>
            </a:r>
            <a:r>
              <a:rPr sz="1450" b="1" i="0" dirty="0" err="1">
                <a:solidFill>
                  <a:srgbClr val="1E293B"/>
                </a:solidFill>
                <a:latin typeface="Segoe UI"/>
                <a:cs typeface="Segoe UI"/>
              </a:rPr>
              <a:t>nước</a:t>
            </a:r>
            <a:r>
              <a:rPr sz="1450" b="0" i="0" dirty="0">
                <a:solidFill>
                  <a:srgbClr val="1E293B"/>
                </a:solidFill>
                <a:latin typeface="Segoe UI"/>
                <a:cs typeface="Segoe UI"/>
              </a:rPr>
              <a:t> </a:t>
            </a:r>
            <a:r>
              <a:rPr sz="1450" b="0" i="0" dirty="0" err="1">
                <a:solidFill>
                  <a:srgbClr val="1E293B"/>
                </a:solidFill>
                <a:latin typeface="Segoe UI"/>
                <a:cs typeface="Segoe UI"/>
              </a:rPr>
              <a:t>kể</a:t>
            </a:r>
            <a:r>
              <a:rPr sz="1450" b="0" i="0" dirty="0">
                <a:solidFill>
                  <a:srgbClr val="1E293B"/>
                </a:solidFill>
                <a:latin typeface="Segoe UI"/>
                <a:cs typeface="Segoe UI"/>
              </a:rPr>
              <a:t> </a:t>
            </a:r>
            <a:r>
              <a:rPr sz="1450" b="0" i="0" dirty="0" err="1">
                <a:solidFill>
                  <a:srgbClr val="1E293B"/>
                </a:solidFill>
                <a:latin typeface="Segoe UI"/>
                <a:cs typeface="Segoe UI"/>
              </a:rPr>
              <a:t>cả</a:t>
            </a:r>
            <a:r>
              <a:rPr sz="1450" b="0" i="0" dirty="0">
                <a:solidFill>
                  <a:srgbClr val="1E293B"/>
                </a:solidFill>
                <a:latin typeface="Segoe UI"/>
                <a:cs typeface="Segoe UI"/>
              </a:rPr>
              <a:t> </a:t>
            </a:r>
            <a:r>
              <a:rPr sz="1450" b="0" i="0" dirty="0" err="1">
                <a:solidFill>
                  <a:srgbClr val="1E293B"/>
                </a:solidFill>
                <a:latin typeface="Segoe UI"/>
                <a:cs typeface="Segoe UI"/>
              </a:rPr>
              <a:t>khi</a:t>
            </a:r>
            <a:r>
              <a:rPr sz="1450" b="0" i="0" dirty="0">
                <a:solidFill>
                  <a:srgbClr val="1E293B"/>
                </a:solidFill>
                <a:latin typeface="Segoe UI"/>
                <a:cs typeface="Segoe UI"/>
              </a:rPr>
              <a:t> </a:t>
            </a:r>
            <a:r>
              <a:rPr sz="1450" b="0" i="0" dirty="0" err="1">
                <a:solidFill>
                  <a:srgbClr val="1E293B"/>
                </a:solidFill>
                <a:latin typeface="Segoe UI"/>
                <a:cs typeface="Segoe UI"/>
              </a:rPr>
              <a:t>trời</a:t>
            </a:r>
            <a:r>
              <a:rPr sz="1450" b="0" i="0" dirty="0">
                <a:solidFill>
                  <a:srgbClr val="1E293B"/>
                </a:solidFill>
                <a:latin typeface="Segoe UI"/>
                <a:cs typeface="Segoe UI"/>
              </a:rPr>
              <a:t> </a:t>
            </a:r>
            <a:r>
              <a:rPr sz="1450" b="0" i="0" dirty="0" err="1">
                <a:solidFill>
                  <a:srgbClr val="1E293B"/>
                </a:solidFill>
                <a:latin typeface="Segoe UI"/>
                <a:cs typeface="Segoe UI"/>
              </a:rPr>
              <a:t>nóng</a:t>
            </a:r>
            <a:r>
              <a:rPr sz="1450" b="0" i="0" dirty="0">
                <a:solidFill>
                  <a:srgbClr val="1E293B"/>
                </a:solidFill>
                <a:latin typeface="Segoe UI"/>
                <a:cs typeface="Segoe UI"/>
              </a:rPr>
              <a:t>.</a:t>
            </a:r>
          </a:p>
          <a:p>
            <a:pPr algn="l">
              <a:lnSpc>
                <a:spcPct val="106000"/>
              </a:lnSpc>
              <a:spcBef>
                <a:spcPts val="0"/>
              </a:spcBef>
              <a:spcAft>
                <a:spcPts val="1000"/>
              </a:spcAft>
            </a:pPr>
            <a:r>
              <a:rPr sz="1700" b="1" i="0" dirty="0">
                <a:solidFill>
                  <a:srgbClr val="3A6B35"/>
                </a:solidFill>
                <a:latin typeface="Segoe UI"/>
                <a:cs typeface="Segoe UI"/>
              </a:rPr>
              <a:t>Cho </a:t>
            </a:r>
            <a:r>
              <a:rPr sz="1700" b="1" i="0" dirty="0" err="1">
                <a:solidFill>
                  <a:srgbClr val="3A6B35"/>
                </a:solidFill>
                <a:latin typeface="Segoe UI"/>
                <a:cs typeface="Segoe UI"/>
              </a:rPr>
              <a:t>bú</a:t>
            </a:r>
            <a:r>
              <a:rPr sz="1700" b="1" i="0" dirty="0">
                <a:solidFill>
                  <a:srgbClr val="3A6B35"/>
                </a:solidFill>
                <a:latin typeface="Segoe UI"/>
                <a:cs typeface="Segoe UI"/>
              </a:rPr>
              <a:t> </a:t>
            </a:r>
            <a:r>
              <a:rPr sz="1700" b="1" i="0" dirty="0" err="1">
                <a:solidFill>
                  <a:srgbClr val="3A6B35"/>
                </a:solidFill>
                <a:latin typeface="Segoe UI"/>
                <a:cs typeface="Segoe UI"/>
              </a:rPr>
              <a:t>sớm</a:t>
            </a:r>
            <a:r>
              <a:rPr sz="1700" b="1" i="0" dirty="0">
                <a:solidFill>
                  <a:srgbClr val="3A6B35"/>
                </a:solidFill>
                <a:latin typeface="Segoe UI"/>
                <a:cs typeface="Segoe UI"/>
              </a:rPr>
              <a:t> </a:t>
            </a:r>
            <a:r>
              <a:rPr sz="1700" b="1" i="0" dirty="0" err="1">
                <a:solidFill>
                  <a:srgbClr val="3A6B35"/>
                </a:solidFill>
                <a:latin typeface="Segoe UI"/>
                <a:cs typeface="Segoe UI"/>
              </a:rPr>
              <a:t>trong</a:t>
            </a:r>
            <a:r>
              <a:rPr sz="1700" b="1" i="0" dirty="0">
                <a:solidFill>
                  <a:srgbClr val="3A6B35"/>
                </a:solidFill>
                <a:latin typeface="Segoe UI"/>
                <a:cs typeface="Segoe UI"/>
              </a:rPr>
              <a:t> 1 </a:t>
            </a:r>
            <a:r>
              <a:rPr sz="1700" b="1" i="0" dirty="0" err="1">
                <a:solidFill>
                  <a:srgbClr val="3A6B35"/>
                </a:solidFill>
                <a:latin typeface="Segoe UI"/>
                <a:cs typeface="Segoe UI"/>
              </a:rPr>
              <a:t>giờ</a:t>
            </a:r>
            <a:r>
              <a:rPr sz="1700" b="1" i="0" dirty="0">
                <a:solidFill>
                  <a:srgbClr val="3A6B35"/>
                </a:solidFill>
                <a:latin typeface="Segoe UI"/>
                <a:cs typeface="Segoe UI"/>
              </a:rPr>
              <a:t> </a:t>
            </a:r>
            <a:r>
              <a:rPr sz="1700" b="1" i="0" dirty="0" err="1">
                <a:solidFill>
                  <a:srgbClr val="3A6B35"/>
                </a:solidFill>
                <a:latin typeface="Segoe UI"/>
                <a:cs typeface="Segoe UI"/>
              </a:rPr>
              <a:t>đầu</a:t>
            </a:r>
            <a:r>
              <a:rPr sz="1700" b="1" i="0" dirty="0">
                <a:solidFill>
                  <a:srgbClr val="3A6B35"/>
                </a:solidFill>
                <a:latin typeface="Segoe UI"/>
                <a:cs typeface="Segoe UI"/>
              </a:rPr>
              <a:t> </a:t>
            </a:r>
            <a:r>
              <a:rPr sz="1700" b="1" i="0" dirty="0" err="1">
                <a:solidFill>
                  <a:srgbClr val="3A6B35"/>
                </a:solidFill>
                <a:latin typeface="Segoe UI"/>
                <a:cs typeface="Segoe UI"/>
              </a:rPr>
              <a:t>sau</a:t>
            </a:r>
            <a:r>
              <a:rPr sz="1700" b="1" i="0" dirty="0">
                <a:solidFill>
                  <a:srgbClr val="3A6B35"/>
                </a:solidFill>
                <a:latin typeface="Segoe UI"/>
                <a:cs typeface="Segoe UI"/>
              </a:rPr>
              <a:t> </a:t>
            </a:r>
            <a:r>
              <a:rPr sz="1700" b="1" i="0" dirty="0" err="1">
                <a:solidFill>
                  <a:srgbClr val="3A6B35"/>
                </a:solidFill>
                <a:latin typeface="Segoe UI"/>
                <a:cs typeface="Segoe UI"/>
              </a:rPr>
              <a:t>sinh</a:t>
            </a:r>
            <a:endParaRPr sz="1700" b="1" i="0" dirty="0">
              <a:solidFill>
                <a:srgbClr val="3A6B35"/>
              </a:solidFill>
              <a:latin typeface="Segoe UI"/>
              <a:cs typeface="Segoe UI"/>
            </a:endParaRPr>
          </a:p>
          <a:p>
            <a:pPr algn="l">
              <a:lnSpc>
                <a:spcPct val="110000"/>
              </a:lnSpc>
              <a:spcBef>
                <a:spcPts val="0"/>
              </a:spcBef>
              <a:spcAft>
                <a:spcPts val="900"/>
              </a:spcAft>
            </a:pPr>
            <a:r>
              <a:rPr sz="1450" b="0" i="0" dirty="0" err="1">
                <a:solidFill>
                  <a:srgbClr val="1E293B"/>
                </a:solidFill>
                <a:latin typeface="Segoe UI"/>
                <a:cs typeface="Segoe UI"/>
              </a:rPr>
              <a:t>Sữa</a:t>
            </a:r>
            <a:r>
              <a:rPr sz="1450" b="0" i="0" dirty="0">
                <a:solidFill>
                  <a:srgbClr val="1E293B"/>
                </a:solidFill>
                <a:latin typeface="Segoe UI"/>
                <a:cs typeface="Segoe UI"/>
              </a:rPr>
              <a:t> non (3 </a:t>
            </a:r>
            <a:r>
              <a:rPr sz="1450" b="0" i="0" dirty="0" err="1">
                <a:solidFill>
                  <a:srgbClr val="1E293B"/>
                </a:solidFill>
                <a:latin typeface="Segoe UI"/>
                <a:cs typeface="Segoe UI"/>
              </a:rPr>
              <a:t>ngày</a:t>
            </a:r>
            <a:r>
              <a:rPr sz="1450" b="0" i="0" dirty="0">
                <a:solidFill>
                  <a:srgbClr val="1E293B"/>
                </a:solidFill>
                <a:latin typeface="Segoe UI"/>
                <a:cs typeface="Segoe UI"/>
              </a:rPr>
              <a:t> </a:t>
            </a:r>
            <a:r>
              <a:rPr sz="1450" b="0" i="0" dirty="0" err="1">
                <a:solidFill>
                  <a:srgbClr val="1E293B"/>
                </a:solidFill>
                <a:latin typeface="Segoe UI"/>
                <a:cs typeface="Segoe UI"/>
              </a:rPr>
              <a:t>đầu</a:t>
            </a:r>
            <a:r>
              <a:rPr sz="1450" b="0" i="0" dirty="0">
                <a:solidFill>
                  <a:srgbClr val="1E293B"/>
                </a:solidFill>
                <a:latin typeface="Segoe UI"/>
                <a:cs typeface="Segoe UI"/>
              </a:rPr>
              <a:t>) </a:t>
            </a:r>
            <a:r>
              <a:rPr sz="1450" b="0" i="0" dirty="0" err="1">
                <a:solidFill>
                  <a:srgbClr val="1E293B"/>
                </a:solidFill>
                <a:latin typeface="Segoe UI"/>
                <a:cs typeface="Segoe UI"/>
              </a:rPr>
              <a:t>rất</a:t>
            </a:r>
            <a:r>
              <a:rPr sz="1450" b="0" i="0" dirty="0">
                <a:solidFill>
                  <a:srgbClr val="1E293B"/>
                </a:solidFill>
                <a:latin typeface="Segoe UI"/>
                <a:cs typeface="Segoe UI"/>
              </a:rPr>
              <a:t> </a:t>
            </a:r>
            <a:r>
              <a:rPr sz="1450" b="0" i="0" dirty="0" err="1">
                <a:solidFill>
                  <a:srgbClr val="1E293B"/>
                </a:solidFill>
                <a:latin typeface="Segoe UI"/>
                <a:cs typeface="Segoe UI"/>
              </a:rPr>
              <a:t>đậm</a:t>
            </a:r>
            <a:r>
              <a:rPr sz="1450" b="0" i="0" dirty="0">
                <a:solidFill>
                  <a:srgbClr val="1E293B"/>
                </a:solidFill>
                <a:latin typeface="Segoe UI"/>
                <a:cs typeface="Segoe UI"/>
              </a:rPr>
              <a:t> </a:t>
            </a:r>
            <a:r>
              <a:rPr sz="1450" b="0" i="0" dirty="0" err="1">
                <a:solidFill>
                  <a:srgbClr val="1E293B"/>
                </a:solidFill>
                <a:latin typeface="Segoe UI"/>
                <a:cs typeface="Segoe UI"/>
              </a:rPr>
              <a:t>đặc</a:t>
            </a:r>
            <a:r>
              <a:rPr sz="1450" b="0" i="0" dirty="0">
                <a:solidFill>
                  <a:srgbClr val="1E293B"/>
                </a:solidFill>
                <a:latin typeface="Segoe UI"/>
                <a:cs typeface="Segoe UI"/>
              </a:rPr>
              <a:t> – </a:t>
            </a:r>
            <a:r>
              <a:rPr sz="1450" b="0" i="0" dirty="0" err="1">
                <a:solidFill>
                  <a:srgbClr val="1E293B"/>
                </a:solidFill>
                <a:latin typeface="Segoe UI"/>
                <a:cs typeface="Segoe UI"/>
              </a:rPr>
              <a:t>nhiều</a:t>
            </a:r>
            <a:r>
              <a:rPr sz="1450" b="0" i="0" dirty="0">
                <a:solidFill>
                  <a:srgbClr val="1E293B"/>
                </a:solidFill>
                <a:latin typeface="Segoe UI"/>
                <a:cs typeface="Segoe UI"/>
              </a:rPr>
              <a:t> </a:t>
            </a:r>
            <a:r>
              <a:rPr sz="1450" b="1" i="0" dirty="0" err="1">
                <a:solidFill>
                  <a:srgbClr val="F59E0B"/>
                </a:solidFill>
                <a:latin typeface="Segoe UI"/>
                <a:cs typeface="Segoe UI"/>
              </a:rPr>
              <a:t>kháng</a:t>
            </a:r>
            <a:r>
              <a:rPr sz="1450" b="1" i="0" dirty="0">
                <a:solidFill>
                  <a:srgbClr val="F59E0B"/>
                </a:solidFill>
                <a:latin typeface="Segoe UI"/>
                <a:cs typeface="Segoe UI"/>
              </a:rPr>
              <a:t> </a:t>
            </a:r>
            <a:r>
              <a:rPr sz="1450" b="1" i="0" dirty="0" err="1">
                <a:solidFill>
                  <a:srgbClr val="F59E0B"/>
                </a:solidFill>
                <a:latin typeface="Segoe UI"/>
                <a:cs typeface="Segoe UI"/>
              </a:rPr>
              <a:t>thể</a:t>
            </a:r>
            <a:r>
              <a:rPr sz="1450" b="1" i="0" dirty="0">
                <a:solidFill>
                  <a:srgbClr val="F59E0B"/>
                </a:solidFill>
                <a:latin typeface="Segoe UI"/>
                <a:cs typeface="Segoe UI"/>
              </a:rPr>
              <a:t>, vitamin A, </a:t>
            </a:r>
            <a:r>
              <a:rPr sz="1450" b="1" i="0" dirty="0" err="1">
                <a:solidFill>
                  <a:srgbClr val="F59E0B"/>
                </a:solidFill>
                <a:latin typeface="Segoe UI"/>
                <a:cs typeface="Segoe UI"/>
              </a:rPr>
              <a:t>đạm</a:t>
            </a:r>
            <a:r>
              <a:rPr sz="1450" b="0" i="0" dirty="0">
                <a:solidFill>
                  <a:srgbClr val="1E293B"/>
                </a:solidFill>
                <a:latin typeface="Segoe UI"/>
                <a:cs typeface="Segoe UI"/>
              </a:rPr>
              <a:t> – </a:t>
            </a:r>
            <a:r>
              <a:rPr sz="1450" b="0" i="0" dirty="0" err="1">
                <a:solidFill>
                  <a:srgbClr val="1E293B"/>
                </a:solidFill>
                <a:latin typeface="Segoe UI"/>
                <a:cs typeface="Segoe UI"/>
              </a:rPr>
              <a:t>là</a:t>
            </a:r>
            <a:r>
              <a:rPr sz="1450" b="0" i="0" dirty="0">
                <a:solidFill>
                  <a:srgbClr val="1E293B"/>
                </a:solidFill>
                <a:latin typeface="Segoe UI"/>
                <a:cs typeface="Segoe UI"/>
              </a:rPr>
              <a:t> “</a:t>
            </a:r>
            <a:r>
              <a:rPr sz="1450" b="0" i="0" dirty="0" err="1">
                <a:solidFill>
                  <a:srgbClr val="1E293B"/>
                </a:solidFill>
                <a:latin typeface="Segoe UI"/>
                <a:cs typeface="Segoe UI"/>
              </a:rPr>
              <a:t>liều</a:t>
            </a:r>
            <a:r>
              <a:rPr sz="1450" b="0" i="0" dirty="0">
                <a:solidFill>
                  <a:srgbClr val="1E293B"/>
                </a:solidFill>
                <a:latin typeface="Segoe UI"/>
                <a:cs typeface="Segoe UI"/>
              </a:rPr>
              <a:t> </a:t>
            </a:r>
            <a:r>
              <a:rPr sz="1450" b="0" i="0" dirty="0" err="1">
                <a:solidFill>
                  <a:srgbClr val="1E293B"/>
                </a:solidFill>
                <a:latin typeface="Segoe UI"/>
                <a:cs typeface="Segoe UI"/>
              </a:rPr>
              <a:t>vắc-xin</a:t>
            </a:r>
            <a:r>
              <a:rPr sz="1450" b="0" i="0" dirty="0">
                <a:solidFill>
                  <a:srgbClr val="1E293B"/>
                </a:solidFill>
                <a:latin typeface="Segoe UI"/>
                <a:cs typeface="Segoe UI"/>
              </a:rPr>
              <a:t> </a:t>
            </a:r>
            <a:r>
              <a:rPr sz="1450" b="0" i="0" dirty="0" err="1">
                <a:solidFill>
                  <a:srgbClr val="1E293B"/>
                </a:solidFill>
                <a:latin typeface="Segoe UI"/>
                <a:cs typeface="Segoe UI"/>
              </a:rPr>
              <a:t>tự</a:t>
            </a:r>
            <a:r>
              <a:rPr sz="1450" b="0" i="0" dirty="0">
                <a:solidFill>
                  <a:srgbClr val="1E293B"/>
                </a:solidFill>
                <a:latin typeface="Segoe UI"/>
                <a:cs typeface="Segoe UI"/>
              </a:rPr>
              <a:t> </a:t>
            </a:r>
            <a:r>
              <a:rPr sz="1450" b="0" i="0" dirty="0" err="1">
                <a:solidFill>
                  <a:srgbClr val="1E293B"/>
                </a:solidFill>
                <a:latin typeface="Segoe UI"/>
                <a:cs typeface="Segoe UI"/>
              </a:rPr>
              <a:t>nhiên</a:t>
            </a:r>
            <a:r>
              <a:rPr sz="1450" b="0" i="0" dirty="0">
                <a:solidFill>
                  <a:srgbClr val="1E293B"/>
                </a:solidFill>
                <a:latin typeface="Segoe UI"/>
                <a:cs typeface="Segoe UI"/>
              </a:rPr>
              <a:t>” </a:t>
            </a:r>
            <a:r>
              <a:rPr sz="1450" b="0" i="0" dirty="0" err="1">
                <a:solidFill>
                  <a:srgbClr val="1E293B"/>
                </a:solidFill>
                <a:latin typeface="Segoe UI"/>
                <a:cs typeface="Segoe UI"/>
              </a:rPr>
              <a:t>đầu</a:t>
            </a:r>
            <a:r>
              <a:rPr sz="1450" b="0" i="0" dirty="0">
                <a:solidFill>
                  <a:srgbClr val="1E293B"/>
                </a:solidFill>
                <a:latin typeface="Segoe UI"/>
                <a:cs typeface="Segoe UI"/>
              </a:rPr>
              <a:t> </a:t>
            </a:r>
            <a:r>
              <a:rPr sz="1450" b="0" i="0" dirty="0" err="1">
                <a:solidFill>
                  <a:srgbClr val="1E293B"/>
                </a:solidFill>
                <a:latin typeface="Segoe UI"/>
                <a:cs typeface="Segoe UI"/>
              </a:rPr>
              <a:t>đời</a:t>
            </a:r>
            <a:r>
              <a:rPr sz="1450" b="0" i="0" dirty="0">
                <a:solidFill>
                  <a:srgbClr val="1E293B"/>
                </a:solidFill>
                <a:latin typeface="Segoe UI"/>
                <a:cs typeface="Segoe UI"/>
              </a:rPr>
              <a:t>.</a:t>
            </a:r>
          </a:p>
          <a:p>
            <a:pPr algn="l">
              <a:lnSpc>
                <a:spcPct val="106000"/>
              </a:lnSpc>
              <a:spcBef>
                <a:spcPts val="0"/>
              </a:spcBef>
              <a:spcAft>
                <a:spcPts val="1000"/>
              </a:spcAft>
            </a:pPr>
            <a:r>
              <a:rPr sz="1700" b="1" i="0" dirty="0" err="1">
                <a:solidFill>
                  <a:srgbClr val="2866AB"/>
                </a:solidFill>
                <a:latin typeface="Segoe UI"/>
                <a:cs typeface="Segoe UI"/>
              </a:rPr>
              <a:t>Lợi</a:t>
            </a:r>
            <a:r>
              <a:rPr sz="1700" b="1" i="0" dirty="0">
                <a:solidFill>
                  <a:srgbClr val="2866AB"/>
                </a:solidFill>
                <a:latin typeface="Segoe UI"/>
                <a:cs typeface="Segoe UI"/>
              </a:rPr>
              <a:t> </a:t>
            </a:r>
            <a:r>
              <a:rPr sz="1700" b="1" i="0" dirty="0" err="1">
                <a:solidFill>
                  <a:srgbClr val="2866AB"/>
                </a:solidFill>
                <a:latin typeface="Segoe UI"/>
                <a:cs typeface="Segoe UI"/>
              </a:rPr>
              <a:t>ích</a:t>
            </a:r>
            <a:r>
              <a:rPr sz="1700" b="1" i="0" dirty="0">
                <a:solidFill>
                  <a:srgbClr val="2866AB"/>
                </a:solidFill>
                <a:latin typeface="Segoe UI"/>
                <a:cs typeface="Segoe UI"/>
              </a:rPr>
              <a:t> </a:t>
            </a:r>
            <a:r>
              <a:rPr sz="1700" b="1" i="0" dirty="0" err="1">
                <a:solidFill>
                  <a:srgbClr val="2866AB"/>
                </a:solidFill>
                <a:latin typeface="Segoe UI"/>
                <a:cs typeface="Segoe UI"/>
              </a:rPr>
              <a:t>kép</a:t>
            </a:r>
            <a:endParaRPr sz="1700" b="1" i="0" dirty="0">
              <a:solidFill>
                <a:srgbClr val="2866AB"/>
              </a:solidFill>
              <a:latin typeface="Segoe UI"/>
              <a:cs typeface="Segoe UI"/>
            </a:endParaRPr>
          </a:p>
          <a:p>
            <a:pPr algn="l">
              <a:lnSpc>
                <a:spcPct val="110000"/>
              </a:lnSpc>
              <a:spcBef>
                <a:spcPts val="0"/>
              </a:spcBef>
              <a:spcAft>
                <a:spcPts val="700"/>
              </a:spcAft>
            </a:pPr>
            <a:r>
              <a:rPr sz="1450" b="0" i="0" dirty="0" err="1">
                <a:solidFill>
                  <a:srgbClr val="1E293B"/>
                </a:solidFill>
                <a:latin typeface="Segoe UI"/>
                <a:cs typeface="Segoe UI"/>
              </a:rPr>
              <a:t>Bảo</a:t>
            </a:r>
            <a:r>
              <a:rPr sz="1450" b="0" i="0" dirty="0">
                <a:solidFill>
                  <a:srgbClr val="1E293B"/>
                </a:solidFill>
                <a:latin typeface="Segoe UI"/>
                <a:cs typeface="Segoe UI"/>
              </a:rPr>
              <a:t> </a:t>
            </a:r>
            <a:r>
              <a:rPr sz="1450" b="0" i="0" dirty="0" err="1">
                <a:solidFill>
                  <a:srgbClr val="1E293B"/>
                </a:solidFill>
                <a:latin typeface="Segoe UI"/>
                <a:cs typeface="Segoe UI"/>
              </a:rPr>
              <a:t>vệ</a:t>
            </a:r>
            <a:r>
              <a:rPr sz="1450" b="0" i="0" dirty="0">
                <a:solidFill>
                  <a:srgbClr val="1E293B"/>
                </a:solidFill>
                <a:latin typeface="Segoe UI"/>
                <a:cs typeface="Segoe UI"/>
              </a:rPr>
              <a:t> </a:t>
            </a:r>
            <a:r>
              <a:rPr sz="1450" b="0" i="0" dirty="0" err="1">
                <a:solidFill>
                  <a:srgbClr val="1E293B"/>
                </a:solidFill>
                <a:latin typeface="Segoe UI"/>
                <a:cs typeface="Segoe UI"/>
              </a:rPr>
              <a:t>trẻ</a:t>
            </a:r>
            <a:r>
              <a:rPr sz="1450" b="0" i="0" dirty="0">
                <a:solidFill>
                  <a:srgbClr val="1E293B"/>
                </a:solidFill>
                <a:latin typeface="Segoe UI"/>
                <a:cs typeface="Segoe UI"/>
              </a:rPr>
              <a:t> </a:t>
            </a:r>
            <a:r>
              <a:rPr sz="1450" b="0" i="0" dirty="0" err="1">
                <a:solidFill>
                  <a:srgbClr val="1E293B"/>
                </a:solidFill>
                <a:latin typeface="Segoe UI"/>
                <a:cs typeface="Segoe UI"/>
              </a:rPr>
              <a:t>khỏi</a:t>
            </a:r>
            <a:r>
              <a:rPr sz="1450" b="0" i="0" dirty="0">
                <a:solidFill>
                  <a:srgbClr val="1E293B"/>
                </a:solidFill>
                <a:latin typeface="Segoe UI"/>
                <a:cs typeface="Segoe UI"/>
              </a:rPr>
              <a:t> </a:t>
            </a:r>
            <a:r>
              <a:rPr sz="1450" b="0" i="0" dirty="0" err="1">
                <a:solidFill>
                  <a:srgbClr val="1E293B"/>
                </a:solidFill>
                <a:latin typeface="Segoe UI"/>
                <a:cs typeface="Segoe UI"/>
              </a:rPr>
              <a:t>tiêu</a:t>
            </a:r>
            <a:r>
              <a:rPr sz="1450" b="0" i="0" dirty="0">
                <a:solidFill>
                  <a:srgbClr val="1E293B"/>
                </a:solidFill>
                <a:latin typeface="Segoe UI"/>
                <a:cs typeface="Segoe UI"/>
              </a:rPr>
              <a:t> </a:t>
            </a:r>
            <a:r>
              <a:rPr sz="1450" b="0" i="0" dirty="0" err="1">
                <a:solidFill>
                  <a:srgbClr val="1E293B"/>
                </a:solidFill>
                <a:latin typeface="Segoe UI"/>
                <a:cs typeface="Segoe UI"/>
              </a:rPr>
              <a:t>chảy</a:t>
            </a:r>
            <a:r>
              <a:rPr sz="1450" b="0" i="0" dirty="0">
                <a:solidFill>
                  <a:srgbClr val="1E293B"/>
                </a:solidFill>
                <a:latin typeface="Segoe UI"/>
                <a:cs typeface="Segoe UI"/>
              </a:rPr>
              <a:t>, </a:t>
            </a:r>
            <a:r>
              <a:rPr sz="1450" b="0" i="0" dirty="0" err="1">
                <a:solidFill>
                  <a:srgbClr val="1E293B"/>
                </a:solidFill>
                <a:latin typeface="Segoe UI"/>
                <a:cs typeface="Segoe UI"/>
              </a:rPr>
              <a:t>nhiễm</a:t>
            </a:r>
            <a:r>
              <a:rPr sz="1450" b="0" i="0" dirty="0">
                <a:solidFill>
                  <a:srgbClr val="1E293B"/>
                </a:solidFill>
                <a:latin typeface="Segoe UI"/>
                <a:cs typeface="Segoe UI"/>
              </a:rPr>
              <a:t> </a:t>
            </a:r>
            <a:r>
              <a:rPr sz="1450" b="0" i="0" dirty="0" err="1">
                <a:solidFill>
                  <a:srgbClr val="1E293B"/>
                </a:solidFill>
                <a:latin typeface="Segoe UI"/>
                <a:cs typeface="Segoe UI"/>
              </a:rPr>
              <a:t>khuẩn</a:t>
            </a:r>
            <a:r>
              <a:rPr sz="1450" b="0" i="0" dirty="0">
                <a:solidFill>
                  <a:srgbClr val="1E293B"/>
                </a:solidFill>
                <a:latin typeface="Segoe UI"/>
                <a:cs typeface="Segoe UI"/>
              </a:rPr>
              <a:t> </a:t>
            </a:r>
            <a:r>
              <a:rPr sz="1450" b="0" i="0" dirty="0" err="1">
                <a:solidFill>
                  <a:srgbClr val="1E293B"/>
                </a:solidFill>
                <a:latin typeface="Segoe UI"/>
                <a:cs typeface="Segoe UI"/>
              </a:rPr>
              <a:t>hô</a:t>
            </a:r>
            <a:r>
              <a:rPr sz="1450" b="0" i="0" dirty="0">
                <a:solidFill>
                  <a:srgbClr val="1E293B"/>
                </a:solidFill>
                <a:latin typeface="Segoe UI"/>
                <a:cs typeface="Segoe UI"/>
              </a:rPr>
              <a:t> </a:t>
            </a:r>
            <a:r>
              <a:rPr sz="1450" b="0" i="0" dirty="0" err="1">
                <a:solidFill>
                  <a:srgbClr val="1E293B"/>
                </a:solidFill>
                <a:latin typeface="Segoe UI"/>
                <a:cs typeface="Segoe UI"/>
              </a:rPr>
              <a:t>hấp</a:t>
            </a:r>
            <a:r>
              <a:rPr sz="1450" b="0" i="0" dirty="0">
                <a:solidFill>
                  <a:srgbClr val="1E293B"/>
                </a:solidFill>
                <a:latin typeface="Segoe UI"/>
                <a:cs typeface="Segoe UI"/>
              </a:rPr>
              <a:t>; </a:t>
            </a:r>
            <a:r>
              <a:rPr sz="1450" b="0" i="0" dirty="0" err="1">
                <a:solidFill>
                  <a:srgbClr val="1E293B"/>
                </a:solidFill>
                <a:latin typeface="Segoe UI"/>
                <a:cs typeface="Segoe UI"/>
              </a:rPr>
              <a:t>gắn</a:t>
            </a:r>
            <a:r>
              <a:rPr sz="1450" b="0" i="0" dirty="0">
                <a:solidFill>
                  <a:srgbClr val="1E293B"/>
                </a:solidFill>
                <a:latin typeface="Segoe UI"/>
                <a:cs typeface="Segoe UI"/>
              </a:rPr>
              <a:t> </a:t>
            </a:r>
            <a:r>
              <a:rPr sz="1450" b="0" i="0" dirty="0" err="1">
                <a:solidFill>
                  <a:srgbClr val="1E293B"/>
                </a:solidFill>
                <a:latin typeface="Segoe UI"/>
                <a:cs typeface="Segoe UI"/>
              </a:rPr>
              <a:t>kết</a:t>
            </a:r>
            <a:r>
              <a:rPr sz="1450" b="0" i="0" dirty="0">
                <a:solidFill>
                  <a:srgbClr val="1E293B"/>
                </a:solidFill>
                <a:latin typeface="Segoe UI"/>
                <a:cs typeface="Segoe UI"/>
              </a:rPr>
              <a:t> </a:t>
            </a:r>
            <a:r>
              <a:rPr sz="1450" b="0" i="0" dirty="0" err="1">
                <a:solidFill>
                  <a:srgbClr val="1E293B"/>
                </a:solidFill>
                <a:latin typeface="Segoe UI"/>
                <a:cs typeface="Segoe UI"/>
              </a:rPr>
              <a:t>mẹ</a:t>
            </a:r>
            <a:r>
              <a:rPr sz="1450" b="0" i="0" dirty="0">
                <a:solidFill>
                  <a:srgbClr val="1E293B"/>
                </a:solidFill>
                <a:latin typeface="Segoe UI"/>
                <a:cs typeface="Segoe UI"/>
              </a:rPr>
              <a:t> – con; </a:t>
            </a:r>
            <a:r>
              <a:rPr sz="1450" b="0" i="0" dirty="0" err="1">
                <a:solidFill>
                  <a:srgbClr val="1E293B"/>
                </a:solidFill>
                <a:latin typeface="Segoe UI"/>
                <a:cs typeface="Segoe UI"/>
              </a:rPr>
              <a:t>tiết</a:t>
            </a:r>
            <a:r>
              <a:rPr sz="1450" b="0" i="0" dirty="0">
                <a:solidFill>
                  <a:srgbClr val="1E293B"/>
                </a:solidFill>
                <a:latin typeface="Segoe UI"/>
                <a:cs typeface="Segoe UI"/>
              </a:rPr>
              <a:t> </a:t>
            </a:r>
            <a:r>
              <a:rPr sz="1450" b="0" i="0" dirty="0" err="1">
                <a:solidFill>
                  <a:srgbClr val="1E293B"/>
                </a:solidFill>
                <a:latin typeface="Segoe UI"/>
                <a:cs typeface="Segoe UI"/>
              </a:rPr>
              <a:t>kiệm</a:t>
            </a:r>
            <a:r>
              <a:rPr sz="1450" b="0" i="0" dirty="0">
                <a:solidFill>
                  <a:srgbClr val="1E293B"/>
                </a:solidFill>
                <a:latin typeface="Segoe UI"/>
                <a:cs typeface="Segoe UI"/>
              </a:rPr>
              <a:t> </a:t>
            </a:r>
            <a:r>
              <a:rPr sz="1450" b="0" i="0" dirty="0" err="1">
                <a:solidFill>
                  <a:srgbClr val="1E293B"/>
                </a:solidFill>
                <a:latin typeface="Segoe UI"/>
                <a:cs typeface="Segoe UI"/>
              </a:rPr>
              <a:t>và</a:t>
            </a:r>
            <a:r>
              <a:rPr sz="1450" b="0" i="0" dirty="0">
                <a:solidFill>
                  <a:srgbClr val="1E293B"/>
                </a:solidFill>
                <a:latin typeface="Segoe UI"/>
                <a:cs typeface="Segoe UI"/>
              </a:rPr>
              <a:t> an </a:t>
            </a:r>
            <a:r>
              <a:rPr sz="1450" b="0" i="0" dirty="0" err="1">
                <a:solidFill>
                  <a:srgbClr val="1E293B"/>
                </a:solidFill>
                <a:latin typeface="Segoe UI"/>
                <a:cs typeface="Segoe UI"/>
              </a:rPr>
              <a:t>toàn</a:t>
            </a:r>
            <a:r>
              <a:rPr sz="1450" b="0" i="0" dirty="0">
                <a:solidFill>
                  <a:srgbClr val="1E293B"/>
                </a:solidFill>
                <a:latin typeface="Segoe UI"/>
                <a:cs typeface="Segoe UI"/>
              </a:rPr>
              <a:t>.</a:t>
            </a:r>
          </a:p>
        </p:txBody>
      </p:sp>
      <p:sp>
        <p:nvSpPr>
          <p:cNvPr id="13" name="TextBox 12"/>
          <p:cNvSpPr txBox="1"/>
          <p:nvPr/>
        </p:nvSpPr>
        <p:spPr>
          <a:xfrm>
            <a:off x="548640" y="6144768"/>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50" b="1" i="1">
                <a:solidFill>
                  <a:srgbClr val="19A99D"/>
                </a:solidFill>
                <a:latin typeface="Segoe UI"/>
                <a:cs typeface="Segoe UI"/>
              </a:rPr>
              <a:t>Nguồn: </a:t>
            </a:r>
            <a:r>
              <a:rPr sz="950" b="0" i="1">
                <a:solidFill>
                  <a:srgbClr val="64748B"/>
                </a:solidFill>
                <a:latin typeface="Segoe UI"/>
                <a:cs typeface="Segoe UI"/>
              </a:rPr>
              <a:t>Nuôi dưỡng trẻ nhỏ 0–24 tháng, Bộ Y tế 2015; Pai UA et al. 2018 (breast milk &amp; immunity)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384048" y="274320"/>
            <a:ext cx="384048" cy="384048"/>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4068" y="329184"/>
            <a:ext cx="104241"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66344" y="406908"/>
            <a:ext cx="274320" cy="10424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274320"/>
            <a:ext cx="2926080" cy="402336"/>
          </a:xfrm>
          <a:prstGeom prst="rect">
            <a:avLst/>
          </a:prstGeom>
          <a:noFill/>
        </p:spPr>
        <p:txBody>
          <a:bodyPr wrap="square" lIns="0" tIns="0" rIns="0" bIns="0" anchor="ctr">
            <a:spAutoFit/>
          </a:bodyPr>
          <a:lstStyle/>
          <a:p>
            <a:pPr algn="l">
              <a:lnSpc>
                <a:spcPct val="100000"/>
              </a:lnSpc>
              <a:spcBef>
                <a:spcPts val="0"/>
              </a:spcBef>
              <a:spcAft>
                <a:spcPts val="400"/>
              </a:spcAft>
            </a:pPr>
            <a:r>
              <a:rPr sz="1300" b="1" i="0">
                <a:solidFill>
                  <a:srgbClr val="1E293B"/>
                </a:solidFill>
                <a:latin typeface="Segoe UI"/>
                <a:cs typeface="Segoe UI"/>
              </a:rPr>
              <a:t>DINH DƯỠNG </a:t>
            </a:r>
            <a:r>
              <a:rPr sz="1300" b="1" i="0">
                <a:solidFill>
                  <a:srgbClr val="19A99D"/>
                </a:solidFill>
                <a:latin typeface="Segoe UI"/>
                <a:cs typeface="Segoe UI"/>
              </a:rPr>
              <a:t>NHI KHOA</a:t>
            </a:r>
          </a:p>
        </p:txBody>
      </p:sp>
      <p:sp>
        <p:nvSpPr>
          <p:cNvPr id="6" name="Rectangle 5"/>
          <p:cNvSpPr/>
          <p:nvPr/>
        </p:nvSpPr>
        <p:spPr>
          <a:xfrm>
            <a:off x="0" y="6473952"/>
            <a:ext cx="12191695" cy="384048"/>
          </a:xfrm>
          <a:prstGeom prst="rect">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492240"/>
            <a:ext cx="9601200" cy="347472"/>
          </a:xfrm>
          <a:prstGeom prst="rect">
            <a:avLst/>
          </a:prstGeom>
          <a:noFill/>
        </p:spPr>
        <p:txBody>
          <a:bodyPr wrap="square" lIns="0" tIns="0" rIns="0" bIns="0" anchor="ctr">
            <a:spAutoFit/>
          </a:bodyPr>
          <a:lstStyle/>
          <a:p>
            <a:pPr algn="l">
              <a:lnSpc>
                <a:spcPct val="100000"/>
              </a:lnSpc>
              <a:spcBef>
                <a:spcPts val="0"/>
              </a:spcBef>
              <a:spcAft>
                <a:spcPts val="400"/>
              </a:spcAft>
            </a:pPr>
            <a:r>
              <a:rPr sz="950" b="0" i="0">
                <a:solidFill>
                  <a:srgbClr val="FFFFFF"/>
                </a:solidFill>
                <a:latin typeface="Segoe UI"/>
                <a:cs typeface="Segoe UI"/>
              </a:rPr>
              <a:t>Chuyên đề 2 · Dinh dưỡng – nền tảng cho miễn dịch &amp; sự phát triển của trẻ  ·  TS. Lê Thị Thùy Dung</a:t>
            </a:r>
          </a:p>
        </p:txBody>
      </p:sp>
      <p:sp>
        <p:nvSpPr>
          <p:cNvPr id="8" name="TextBox 7"/>
          <p:cNvSpPr txBox="1"/>
          <p:nvPr/>
        </p:nvSpPr>
        <p:spPr>
          <a:xfrm>
            <a:off x="11185855" y="6492240"/>
            <a:ext cx="548640" cy="347472"/>
          </a:xfrm>
          <a:prstGeom prst="rect">
            <a:avLst/>
          </a:prstGeom>
          <a:noFill/>
        </p:spPr>
        <p:txBody>
          <a:bodyPr wrap="square" lIns="0" tIns="0" rIns="0" bIns="0" anchor="ctr">
            <a:spAutoFit/>
          </a:bodyPr>
          <a:lstStyle/>
          <a:p>
            <a:pPr algn="r">
              <a:lnSpc>
                <a:spcPct val="100000"/>
              </a:lnSpc>
              <a:spcBef>
                <a:spcPts val="0"/>
              </a:spcBef>
              <a:spcAft>
                <a:spcPts val="400"/>
              </a:spcAft>
            </a:pPr>
            <a:r>
              <a:rPr sz="1000" b="1" i="0">
                <a:solidFill>
                  <a:srgbClr val="FFFFFF"/>
                </a:solidFill>
                <a:latin typeface="Segoe UI"/>
                <a:cs typeface="Segoe UI"/>
              </a:rPr>
              <a:t>19</a:t>
            </a:r>
          </a:p>
        </p:txBody>
      </p:sp>
      <p:sp>
        <p:nvSpPr>
          <p:cNvPr id="9" name="TextBox 8"/>
          <p:cNvSpPr txBox="1"/>
          <p:nvPr/>
        </p:nvSpPr>
        <p:spPr>
          <a:xfrm>
            <a:off x="548640" y="841248"/>
            <a:ext cx="10881360" cy="566928"/>
          </a:xfrm>
          <a:prstGeom prst="rect">
            <a:avLst/>
          </a:prstGeom>
          <a:noFill/>
        </p:spPr>
        <p:txBody>
          <a:bodyPr wrap="square" lIns="0" tIns="0" rIns="0" bIns="0" anchor="t">
            <a:spAutoFit/>
          </a:bodyPr>
          <a:lstStyle/>
          <a:p>
            <a:pPr algn="l">
              <a:lnSpc>
                <a:spcPct val="100000"/>
              </a:lnSpc>
              <a:spcBef>
                <a:spcPts val="0"/>
              </a:spcBef>
              <a:spcAft>
                <a:spcPts val="400"/>
              </a:spcAft>
            </a:pPr>
            <a:r>
              <a:rPr sz="2700" b="1" i="0">
                <a:solidFill>
                  <a:srgbClr val="19A99D"/>
                </a:solidFill>
                <a:latin typeface="Segoe UI Semibold"/>
                <a:cs typeface="Segoe UI Semibold"/>
              </a:rPr>
              <a:t>6 – 24 tháng: Ăn bổ sung hợp lý</a:t>
            </a:r>
          </a:p>
        </p:txBody>
      </p:sp>
      <p:sp>
        <p:nvSpPr>
          <p:cNvPr id="10" name="TextBox 9"/>
          <p:cNvSpPr txBox="1"/>
          <p:nvPr/>
        </p:nvSpPr>
        <p:spPr>
          <a:xfrm>
            <a:off x="548640" y="1408176"/>
            <a:ext cx="10881360" cy="365760"/>
          </a:xfrm>
          <a:prstGeom prst="rect">
            <a:avLst/>
          </a:prstGeom>
          <a:noFill/>
        </p:spPr>
        <p:txBody>
          <a:bodyPr wrap="square" lIns="0" tIns="0" rIns="0" bIns="0" anchor="t">
            <a:spAutoFit/>
          </a:bodyPr>
          <a:lstStyle/>
          <a:p>
            <a:pPr algn="l">
              <a:lnSpc>
                <a:spcPct val="100000"/>
              </a:lnSpc>
              <a:spcBef>
                <a:spcPts val="0"/>
              </a:spcBef>
              <a:spcAft>
                <a:spcPts val="400"/>
              </a:spcAft>
            </a:pPr>
            <a:r>
              <a:rPr sz="1500" b="0" i="1">
                <a:solidFill>
                  <a:srgbClr val="64748B"/>
                </a:solidFill>
                <a:latin typeface="Segoe UI"/>
                <a:cs typeface="Segoe UI"/>
              </a:rPr>
              <a:t>Tiếp tục bú mẹ + tăng dần lượng, độ đặc và sự đa dạng</a:t>
            </a:r>
          </a:p>
        </p:txBody>
      </p:sp>
      <p:graphicFrame>
        <p:nvGraphicFramePr>
          <p:cNvPr id="11" name="Table 10"/>
          <p:cNvGraphicFramePr>
            <a:graphicFrameLocks noGrp="1"/>
          </p:cNvGraphicFramePr>
          <p:nvPr/>
        </p:nvGraphicFramePr>
        <p:xfrm>
          <a:off x="731520" y="1965960"/>
          <a:ext cx="7315200" cy="228600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2560320">
                  <a:extLst>
                    <a:ext uri="{9D8B030D-6E8A-4147-A177-3AD203B41FA5}">
                      <a16:colId xmlns:a16="http://schemas.microsoft.com/office/drawing/2014/main" val="20003"/>
                    </a:ext>
                  </a:extLst>
                </a:gridCol>
              </a:tblGrid>
              <a:tr h="571500">
                <a:tc>
                  <a:txBody>
                    <a:bodyPr/>
                    <a:lstStyle/>
                    <a:p>
                      <a:pPr algn="ctr"/>
                      <a:r>
                        <a:rPr sz="1250" b="1" i="0">
                          <a:solidFill>
                            <a:srgbClr val="FFFFFF"/>
                          </a:solidFill>
                          <a:latin typeface="Segoe UI"/>
                          <a:cs typeface="Segoe UI"/>
                        </a:rPr>
                        <a:t>Độ tuổi</a:t>
                      </a:r>
                    </a:p>
                  </a:txBody>
                  <a:tcPr anchor="ctr">
                    <a:solidFill>
                      <a:srgbClr val="19A99D"/>
                    </a:solidFill>
                  </a:tcPr>
                </a:tc>
                <a:tc>
                  <a:txBody>
                    <a:bodyPr/>
                    <a:lstStyle/>
                    <a:p>
                      <a:pPr algn="ctr"/>
                      <a:r>
                        <a:rPr sz="1250" b="1" i="0">
                          <a:solidFill>
                            <a:srgbClr val="FFFFFF"/>
                          </a:solidFill>
                          <a:latin typeface="Segoe UI"/>
                          <a:cs typeface="Segoe UI"/>
                        </a:rPr>
                        <a:t>Bữa chính</a:t>
                      </a:r>
                    </a:p>
                  </a:txBody>
                  <a:tcPr anchor="ctr">
                    <a:solidFill>
                      <a:srgbClr val="19A99D"/>
                    </a:solidFill>
                  </a:tcPr>
                </a:tc>
                <a:tc>
                  <a:txBody>
                    <a:bodyPr/>
                    <a:lstStyle/>
                    <a:p>
                      <a:pPr algn="ctr"/>
                      <a:r>
                        <a:rPr sz="1250" b="1" i="0">
                          <a:solidFill>
                            <a:srgbClr val="FFFFFF"/>
                          </a:solidFill>
                          <a:latin typeface="Segoe UI"/>
                          <a:cs typeface="Segoe UI"/>
                        </a:rPr>
                        <a:t>Bữa phụ</a:t>
                      </a:r>
                    </a:p>
                  </a:txBody>
                  <a:tcPr anchor="ctr">
                    <a:solidFill>
                      <a:srgbClr val="19A99D"/>
                    </a:solidFill>
                  </a:tcPr>
                </a:tc>
                <a:tc>
                  <a:txBody>
                    <a:bodyPr/>
                    <a:lstStyle/>
                    <a:p>
                      <a:pPr algn="ctr"/>
                      <a:r>
                        <a:rPr sz="1250" b="1" i="0">
                          <a:solidFill>
                            <a:srgbClr val="FFFFFF"/>
                          </a:solidFill>
                          <a:latin typeface="Segoe UI"/>
                          <a:cs typeface="Segoe UI"/>
                        </a:rPr>
                        <a:t>Lượng mỗi bữa</a:t>
                      </a:r>
                    </a:p>
                  </a:txBody>
                  <a:tcPr anchor="ctr">
                    <a:solidFill>
                      <a:srgbClr val="19A99D"/>
                    </a:solidFill>
                  </a:tcPr>
                </a:tc>
                <a:extLst>
                  <a:ext uri="{0D108BD9-81ED-4DB2-BD59-A6C34878D82A}">
                    <a16:rowId xmlns:a16="http://schemas.microsoft.com/office/drawing/2014/main" val="10000"/>
                  </a:ext>
                </a:extLst>
              </a:tr>
              <a:tr h="571500">
                <a:tc>
                  <a:txBody>
                    <a:bodyPr/>
                    <a:lstStyle/>
                    <a:p>
                      <a:pPr algn="ctr"/>
                      <a:r>
                        <a:rPr sz="1200" b="1" i="0">
                          <a:solidFill>
                            <a:srgbClr val="3A6B35"/>
                          </a:solidFill>
                          <a:latin typeface="Segoe UI"/>
                          <a:cs typeface="Segoe UI"/>
                        </a:rPr>
                        <a:t>6 – 8 tháng</a:t>
                      </a:r>
                    </a:p>
                  </a:txBody>
                  <a:tcPr anchor="ctr">
                    <a:solidFill>
                      <a:srgbClr val="E0F5F4"/>
                    </a:solidFill>
                  </a:tcPr>
                </a:tc>
                <a:tc>
                  <a:txBody>
                    <a:bodyPr/>
                    <a:lstStyle/>
                    <a:p>
                      <a:pPr algn="ctr"/>
                      <a:r>
                        <a:rPr sz="1200" b="0" i="0">
                          <a:solidFill>
                            <a:srgbClr val="1E293B"/>
                          </a:solidFill>
                          <a:latin typeface="Segoe UI"/>
                          <a:cs typeface="Segoe UI"/>
                        </a:rPr>
                        <a:t>2 – 3 bữa</a:t>
                      </a:r>
                    </a:p>
                  </a:txBody>
                  <a:tcPr anchor="ctr">
                    <a:solidFill>
                      <a:srgbClr val="E0F5F4"/>
                    </a:solidFill>
                  </a:tcPr>
                </a:tc>
                <a:tc>
                  <a:txBody>
                    <a:bodyPr/>
                    <a:lstStyle/>
                    <a:p>
                      <a:pPr algn="ctr"/>
                      <a:r>
                        <a:rPr sz="1200" b="0" i="0">
                          <a:solidFill>
                            <a:srgbClr val="1E293B"/>
                          </a:solidFill>
                          <a:latin typeface="Segoe UI"/>
                          <a:cs typeface="Segoe UI"/>
                        </a:rPr>
                        <a:t>1 – 2</a:t>
                      </a:r>
                    </a:p>
                  </a:txBody>
                  <a:tcPr anchor="ctr">
                    <a:solidFill>
                      <a:srgbClr val="E0F5F4"/>
                    </a:solidFill>
                  </a:tcPr>
                </a:tc>
                <a:tc>
                  <a:txBody>
                    <a:bodyPr/>
                    <a:lstStyle/>
                    <a:p>
                      <a:pPr algn="ctr"/>
                      <a:r>
                        <a:rPr sz="1200" b="0" i="0">
                          <a:solidFill>
                            <a:srgbClr val="1E293B"/>
                          </a:solidFill>
                          <a:latin typeface="Segoe UI"/>
                          <a:cs typeface="Segoe UI"/>
                        </a:rPr>
                        <a:t>2–3 thìa → ½ bát (250 ml)</a:t>
                      </a:r>
                    </a:p>
                  </a:txBody>
                  <a:tcPr anchor="ctr">
                    <a:solidFill>
                      <a:srgbClr val="E0F5F4"/>
                    </a:solidFill>
                  </a:tcPr>
                </a:tc>
                <a:extLst>
                  <a:ext uri="{0D108BD9-81ED-4DB2-BD59-A6C34878D82A}">
                    <a16:rowId xmlns:a16="http://schemas.microsoft.com/office/drawing/2014/main" val="10001"/>
                  </a:ext>
                </a:extLst>
              </a:tr>
              <a:tr h="571500">
                <a:tc>
                  <a:txBody>
                    <a:bodyPr/>
                    <a:lstStyle/>
                    <a:p>
                      <a:pPr algn="ctr"/>
                      <a:r>
                        <a:rPr sz="1200" b="1" i="0">
                          <a:solidFill>
                            <a:srgbClr val="3A6B35"/>
                          </a:solidFill>
                          <a:latin typeface="Segoe UI"/>
                          <a:cs typeface="Segoe UI"/>
                        </a:rPr>
                        <a:t>9 – 11 tháng</a:t>
                      </a:r>
                    </a:p>
                  </a:txBody>
                  <a:tcPr anchor="ctr">
                    <a:solidFill>
                      <a:srgbClr val="FFFFFF"/>
                    </a:solidFill>
                  </a:tcPr>
                </a:tc>
                <a:tc>
                  <a:txBody>
                    <a:bodyPr/>
                    <a:lstStyle/>
                    <a:p>
                      <a:pPr algn="ctr"/>
                      <a:r>
                        <a:rPr sz="1200" b="0" i="0">
                          <a:solidFill>
                            <a:srgbClr val="1E293B"/>
                          </a:solidFill>
                          <a:latin typeface="Segoe UI"/>
                          <a:cs typeface="Segoe UI"/>
                        </a:rPr>
                        <a:t>3 – 4 bữa</a:t>
                      </a:r>
                    </a:p>
                  </a:txBody>
                  <a:tcPr anchor="ctr">
                    <a:solidFill>
                      <a:srgbClr val="FFFFFF"/>
                    </a:solidFill>
                  </a:tcPr>
                </a:tc>
                <a:tc>
                  <a:txBody>
                    <a:bodyPr/>
                    <a:lstStyle/>
                    <a:p>
                      <a:pPr algn="ctr"/>
                      <a:r>
                        <a:rPr sz="1200" b="0" i="0">
                          <a:solidFill>
                            <a:srgbClr val="1E293B"/>
                          </a:solidFill>
                          <a:latin typeface="Segoe UI"/>
                          <a:cs typeface="Segoe UI"/>
                        </a:rPr>
                        <a:t>1 – 2</a:t>
                      </a:r>
                    </a:p>
                  </a:txBody>
                  <a:tcPr anchor="ctr">
                    <a:solidFill>
                      <a:srgbClr val="FFFFFF"/>
                    </a:solidFill>
                  </a:tcPr>
                </a:tc>
                <a:tc>
                  <a:txBody>
                    <a:bodyPr/>
                    <a:lstStyle/>
                    <a:p>
                      <a:pPr algn="ctr"/>
                      <a:r>
                        <a:rPr sz="1200" b="0" i="0">
                          <a:solidFill>
                            <a:srgbClr val="1E293B"/>
                          </a:solidFill>
                          <a:latin typeface="Segoe UI"/>
                          <a:cs typeface="Segoe UI"/>
                        </a:rPr>
                        <a:t>½ → ¾ bát (250 ml)</a:t>
                      </a:r>
                    </a:p>
                  </a:txBody>
                  <a:tcPr anchor="ctr">
                    <a:solidFill>
                      <a:srgbClr val="FFFFFF"/>
                    </a:solidFill>
                  </a:tcPr>
                </a:tc>
                <a:extLst>
                  <a:ext uri="{0D108BD9-81ED-4DB2-BD59-A6C34878D82A}">
                    <a16:rowId xmlns:a16="http://schemas.microsoft.com/office/drawing/2014/main" val="10002"/>
                  </a:ext>
                </a:extLst>
              </a:tr>
              <a:tr h="571500">
                <a:tc>
                  <a:txBody>
                    <a:bodyPr/>
                    <a:lstStyle/>
                    <a:p>
                      <a:pPr algn="ctr"/>
                      <a:r>
                        <a:rPr sz="1200" b="1" i="0">
                          <a:solidFill>
                            <a:srgbClr val="3A6B35"/>
                          </a:solidFill>
                          <a:latin typeface="Segoe UI"/>
                          <a:cs typeface="Segoe UI"/>
                        </a:rPr>
                        <a:t>12 – 24 tháng</a:t>
                      </a:r>
                    </a:p>
                  </a:txBody>
                  <a:tcPr anchor="ctr">
                    <a:solidFill>
                      <a:srgbClr val="E0F5F4"/>
                    </a:solidFill>
                  </a:tcPr>
                </a:tc>
                <a:tc>
                  <a:txBody>
                    <a:bodyPr/>
                    <a:lstStyle/>
                    <a:p>
                      <a:pPr algn="ctr"/>
                      <a:r>
                        <a:rPr sz="1200" b="0" i="0">
                          <a:solidFill>
                            <a:srgbClr val="1E293B"/>
                          </a:solidFill>
                          <a:latin typeface="Segoe UI"/>
                          <a:cs typeface="Segoe UI"/>
                        </a:rPr>
                        <a:t>3 – 4 bữa</a:t>
                      </a:r>
                    </a:p>
                  </a:txBody>
                  <a:tcPr anchor="ctr">
                    <a:solidFill>
                      <a:srgbClr val="E0F5F4"/>
                    </a:solidFill>
                  </a:tcPr>
                </a:tc>
                <a:tc>
                  <a:txBody>
                    <a:bodyPr/>
                    <a:lstStyle/>
                    <a:p>
                      <a:pPr algn="ctr"/>
                      <a:r>
                        <a:rPr sz="1200" b="0" i="0">
                          <a:solidFill>
                            <a:srgbClr val="1E293B"/>
                          </a:solidFill>
                          <a:latin typeface="Segoe UI"/>
                          <a:cs typeface="Segoe UI"/>
                        </a:rPr>
                        <a:t>2</a:t>
                      </a:r>
                    </a:p>
                  </a:txBody>
                  <a:tcPr anchor="ctr">
                    <a:solidFill>
                      <a:srgbClr val="E0F5F4"/>
                    </a:solidFill>
                  </a:tcPr>
                </a:tc>
                <a:tc>
                  <a:txBody>
                    <a:bodyPr/>
                    <a:lstStyle/>
                    <a:p>
                      <a:pPr algn="ctr"/>
                      <a:r>
                        <a:rPr sz="1200" b="0" i="0">
                          <a:solidFill>
                            <a:srgbClr val="1E293B"/>
                          </a:solidFill>
                          <a:latin typeface="Segoe UI"/>
                          <a:cs typeface="Segoe UI"/>
                        </a:rPr>
                        <a:t>¾ → 1 bát (250 ml)</a:t>
                      </a:r>
                    </a:p>
                  </a:txBody>
                  <a:tcPr anchor="ctr">
                    <a:solidFill>
                      <a:srgbClr val="E0F5F4"/>
                    </a:solidFill>
                  </a:tcPr>
                </a:tc>
                <a:extLst>
                  <a:ext uri="{0D108BD9-81ED-4DB2-BD59-A6C34878D82A}">
                    <a16:rowId xmlns:a16="http://schemas.microsoft.com/office/drawing/2014/main" val="10003"/>
                  </a:ext>
                </a:extLst>
              </a:tr>
            </a:tbl>
          </a:graphicData>
        </a:graphic>
      </p:graphicFrame>
      <p:sp>
        <p:nvSpPr>
          <p:cNvPr id="12" name="Rounded Rectangle 11"/>
          <p:cNvSpPr/>
          <p:nvPr/>
        </p:nvSpPr>
        <p:spPr>
          <a:xfrm>
            <a:off x="8321040" y="1965960"/>
            <a:ext cx="3383280" cy="3886200"/>
          </a:xfrm>
          <a:prstGeom prst="roundRect">
            <a:avLst>
              <a:gd name="adj" fmla="val 6000"/>
            </a:avLst>
          </a:prstGeom>
          <a:solidFill>
            <a:srgbClr val="E0F5F4"/>
          </a:solidFill>
          <a:ln w="17780">
            <a:solidFill>
              <a:srgbClr val="19A99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503920" y="2148840"/>
            <a:ext cx="3108960" cy="365760"/>
          </a:xfrm>
          <a:prstGeom prst="rect">
            <a:avLst/>
          </a:prstGeom>
          <a:noFill/>
        </p:spPr>
        <p:txBody>
          <a:bodyPr wrap="square" lIns="0" tIns="0" rIns="0" bIns="0" anchor="t">
            <a:spAutoFit/>
          </a:bodyPr>
          <a:lstStyle/>
          <a:p>
            <a:pPr algn="l">
              <a:lnSpc>
                <a:spcPct val="100000"/>
              </a:lnSpc>
              <a:spcBef>
                <a:spcPts val="0"/>
              </a:spcBef>
              <a:spcAft>
                <a:spcPts val="400"/>
              </a:spcAft>
            </a:pPr>
            <a:r>
              <a:rPr sz="1500" b="1" i="0">
                <a:solidFill>
                  <a:srgbClr val="19A99D"/>
                </a:solidFill>
                <a:latin typeface="Segoe UI Semibold"/>
                <a:cs typeface="Segoe UI Semibold"/>
              </a:rPr>
              <a:t>4 nguyên tắc vàng</a:t>
            </a:r>
          </a:p>
        </p:txBody>
      </p:sp>
      <p:sp>
        <p:nvSpPr>
          <p:cNvPr id="14" name="TextBox 13"/>
          <p:cNvSpPr txBox="1"/>
          <p:nvPr/>
        </p:nvSpPr>
        <p:spPr>
          <a:xfrm>
            <a:off x="8549640" y="2606040"/>
            <a:ext cx="3063240" cy="3108960"/>
          </a:xfrm>
          <a:prstGeom prst="rect">
            <a:avLst/>
          </a:prstGeom>
          <a:noFill/>
        </p:spPr>
        <p:txBody>
          <a:bodyPr wrap="square" lIns="0" tIns="0" rIns="0" bIns="0" anchor="t">
            <a:spAutoFit/>
          </a:bodyPr>
          <a:lstStyle/>
          <a:p>
            <a:pPr algn="l">
              <a:lnSpc>
                <a:spcPct val="105000"/>
              </a:lnSpc>
              <a:spcBef>
                <a:spcPts val="0"/>
              </a:spcBef>
              <a:spcAft>
                <a:spcPts val="1100"/>
              </a:spcAft>
            </a:pPr>
            <a:r>
              <a:rPr sz="1300" b="1" i="0">
                <a:solidFill>
                  <a:srgbClr val="3A6B35"/>
                </a:solidFill>
                <a:latin typeface="Segoe UI"/>
                <a:cs typeface="Segoe UI"/>
              </a:rPr>
              <a:t>✓  </a:t>
            </a:r>
            <a:r>
              <a:rPr sz="1250" b="0" i="0">
                <a:solidFill>
                  <a:srgbClr val="1E293B"/>
                </a:solidFill>
                <a:latin typeface="Segoe UI"/>
                <a:cs typeface="Segoe UI"/>
              </a:rPr>
              <a:t>Đủ số lượng theo tuổi</a:t>
            </a:r>
          </a:p>
          <a:p>
            <a:pPr algn="l">
              <a:lnSpc>
                <a:spcPct val="105000"/>
              </a:lnSpc>
              <a:spcBef>
                <a:spcPts val="0"/>
              </a:spcBef>
              <a:spcAft>
                <a:spcPts val="1100"/>
              </a:spcAft>
            </a:pPr>
            <a:r>
              <a:rPr sz="1300" b="1" i="0">
                <a:solidFill>
                  <a:srgbClr val="3A6B35"/>
                </a:solidFill>
                <a:latin typeface="Segoe UI"/>
                <a:cs typeface="Segoe UI"/>
              </a:rPr>
              <a:t>✓  </a:t>
            </a:r>
            <a:r>
              <a:rPr sz="1250" b="0" i="0">
                <a:solidFill>
                  <a:srgbClr val="1E293B"/>
                </a:solidFill>
                <a:latin typeface="Segoe UI"/>
                <a:cs typeface="Segoe UI"/>
              </a:rPr>
              <a:t>Đa dạng – đủ 4 nhóm mỗi ngày</a:t>
            </a:r>
          </a:p>
          <a:p>
            <a:pPr algn="l">
              <a:lnSpc>
                <a:spcPct val="105000"/>
              </a:lnSpc>
              <a:spcBef>
                <a:spcPts val="0"/>
              </a:spcBef>
              <a:spcAft>
                <a:spcPts val="1100"/>
              </a:spcAft>
            </a:pPr>
            <a:r>
              <a:rPr sz="1300" b="1" i="0">
                <a:solidFill>
                  <a:srgbClr val="3A6B35"/>
                </a:solidFill>
                <a:latin typeface="Segoe UI"/>
                <a:cs typeface="Segoe UI"/>
              </a:rPr>
              <a:t>✓  </a:t>
            </a:r>
            <a:r>
              <a:rPr sz="1250" b="0" i="0">
                <a:solidFill>
                  <a:srgbClr val="1E293B"/>
                </a:solidFill>
                <a:latin typeface="Segoe UI"/>
                <a:cs typeface="Segoe UI"/>
              </a:rPr>
              <a:t>Tiếp tục bú mẹ đến 24 tháng</a:t>
            </a:r>
          </a:p>
          <a:p>
            <a:pPr algn="l">
              <a:lnSpc>
                <a:spcPct val="105000"/>
              </a:lnSpc>
              <a:spcBef>
                <a:spcPts val="0"/>
              </a:spcBef>
              <a:spcAft>
                <a:spcPts val="1100"/>
              </a:spcAft>
            </a:pPr>
            <a:r>
              <a:rPr sz="1300" b="1" i="0">
                <a:solidFill>
                  <a:srgbClr val="3A6B35"/>
                </a:solidFill>
                <a:latin typeface="Segoe UI"/>
                <a:cs typeface="Segoe UI"/>
              </a:rPr>
              <a:t>✓  </a:t>
            </a:r>
            <a:r>
              <a:rPr sz="1250" b="0" i="0">
                <a:solidFill>
                  <a:srgbClr val="1E293B"/>
                </a:solidFill>
                <a:latin typeface="Segoe UI"/>
                <a:cs typeface="Segoe UI"/>
              </a:rPr>
              <a:t>Đảm bảo vệ sinh an toàn</a:t>
            </a:r>
          </a:p>
        </p:txBody>
      </p:sp>
      <p:sp>
        <p:nvSpPr>
          <p:cNvPr id="15" name="TextBox 14"/>
          <p:cNvSpPr txBox="1"/>
          <p:nvPr/>
        </p:nvSpPr>
        <p:spPr>
          <a:xfrm>
            <a:off x="731520" y="4526280"/>
            <a:ext cx="7315200" cy="914400"/>
          </a:xfrm>
          <a:prstGeom prst="rect">
            <a:avLst/>
          </a:prstGeom>
          <a:noFill/>
        </p:spPr>
        <p:txBody>
          <a:bodyPr wrap="square" lIns="0" tIns="0" rIns="0" bIns="0" anchor="t">
            <a:spAutoFit/>
          </a:bodyPr>
          <a:lstStyle/>
          <a:p>
            <a:pPr algn="l">
              <a:lnSpc>
                <a:spcPct val="110000"/>
              </a:lnSpc>
              <a:spcBef>
                <a:spcPts val="0"/>
              </a:spcBef>
              <a:spcAft>
                <a:spcPts val="400"/>
              </a:spcAft>
            </a:pPr>
            <a:r>
              <a:rPr sz="1400" b="1" i="0">
                <a:solidFill>
                  <a:srgbClr val="F59E0B"/>
                </a:solidFill>
                <a:latin typeface="Segoe UI"/>
                <a:cs typeface="Segoe UI"/>
              </a:rPr>
              <a:t>Mẹo “tô màu bát bột”: </a:t>
            </a:r>
            <a:r>
              <a:rPr sz="1400" b="0" i="0">
                <a:solidFill>
                  <a:srgbClr val="1E293B"/>
                </a:solidFill>
                <a:latin typeface="Segoe UI"/>
                <a:cs typeface="Segoe UI"/>
              </a:rPr>
              <a:t>mỗi bát luôn có màu trắng (bột/cháo), nâu/đỏ (đạm), xanh (rau), vàng (dầu mỡ) – là đã đủ 4 nhóm.</a:t>
            </a:r>
          </a:p>
        </p:txBody>
      </p:sp>
      <p:sp>
        <p:nvSpPr>
          <p:cNvPr id="16" name="TextBox 15"/>
          <p:cNvSpPr txBox="1"/>
          <p:nvPr/>
        </p:nvSpPr>
        <p:spPr>
          <a:xfrm>
            <a:off x="548640" y="6144768"/>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50" b="1" i="1">
                <a:solidFill>
                  <a:srgbClr val="19A99D"/>
                </a:solidFill>
                <a:latin typeface="Segoe UI"/>
                <a:cs typeface="Segoe UI"/>
              </a:rPr>
              <a:t>Nguồn: </a:t>
            </a:r>
            <a:r>
              <a:rPr sz="950" b="0" i="1">
                <a:solidFill>
                  <a:srgbClr val="64748B"/>
                </a:solidFill>
                <a:latin typeface="Segoe UI"/>
                <a:cs typeface="Segoe UI"/>
              </a:rPr>
              <a:t>Nuôi dưỡng trẻ nhỏ 0–24 tháng, Bộ Y tế 2015 (Tranh 25–27)</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384048" y="274320"/>
            <a:ext cx="384048" cy="384048"/>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4068" y="329184"/>
            <a:ext cx="104241"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66344" y="406908"/>
            <a:ext cx="274320" cy="10424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274320"/>
            <a:ext cx="2926080" cy="402336"/>
          </a:xfrm>
          <a:prstGeom prst="rect">
            <a:avLst/>
          </a:prstGeom>
          <a:noFill/>
        </p:spPr>
        <p:txBody>
          <a:bodyPr wrap="square" lIns="0" tIns="0" rIns="0" bIns="0" anchor="ctr">
            <a:spAutoFit/>
          </a:bodyPr>
          <a:lstStyle/>
          <a:p>
            <a:pPr algn="l">
              <a:lnSpc>
                <a:spcPct val="100000"/>
              </a:lnSpc>
              <a:spcBef>
                <a:spcPts val="0"/>
              </a:spcBef>
              <a:spcAft>
                <a:spcPts val="400"/>
              </a:spcAft>
            </a:pPr>
            <a:r>
              <a:rPr sz="1300" b="1" i="0">
                <a:solidFill>
                  <a:srgbClr val="1E293B"/>
                </a:solidFill>
                <a:latin typeface="Segoe UI"/>
                <a:cs typeface="Segoe UI"/>
              </a:rPr>
              <a:t>DINH DƯỠNG </a:t>
            </a:r>
            <a:r>
              <a:rPr sz="1300" b="1" i="0">
                <a:solidFill>
                  <a:srgbClr val="19A99D"/>
                </a:solidFill>
                <a:latin typeface="Segoe UI"/>
                <a:cs typeface="Segoe UI"/>
              </a:rPr>
              <a:t>NHI KHOA</a:t>
            </a:r>
          </a:p>
        </p:txBody>
      </p:sp>
      <p:sp>
        <p:nvSpPr>
          <p:cNvPr id="6" name="Rectangle 5"/>
          <p:cNvSpPr/>
          <p:nvPr/>
        </p:nvSpPr>
        <p:spPr>
          <a:xfrm>
            <a:off x="0" y="6473952"/>
            <a:ext cx="12191695" cy="384048"/>
          </a:xfrm>
          <a:prstGeom prst="rect">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492240"/>
            <a:ext cx="9601200" cy="347472"/>
          </a:xfrm>
          <a:prstGeom prst="rect">
            <a:avLst/>
          </a:prstGeom>
          <a:noFill/>
        </p:spPr>
        <p:txBody>
          <a:bodyPr wrap="square" lIns="0" tIns="0" rIns="0" bIns="0" anchor="ctr">
            <a:spAutoFit/>
          </a:bodyPr>
          <a:lstStyle/>
          <a:p>
            <a:pPr algn="l">
              <a:lnSpc>
                <a:spcPct val="100000"/>
              </a:lnSpc>
              <a:spcBef>
                <a:spcPts val="0"/>
              </a:spcBef>
              <a:spcAft>
                <a:spcPts val="400"/>
              </a:spcAft>
            </a:pPr>
            <a:r>
              <a:rPr sz="950" b="0" i="0">
                <a:solidFill>
                  <a:srgbClr val="FFFFFF"/>
                </a:solidFill>
                <a:latin typeface="Segoe UI"/>
                <a:cs typeface="Segoe UI"/>
              </a:rPr>
              <a:t>Chuyên đề 2 · Dinh dưỡng – nền tảng cho miễn dịch &amp; sự phát triển của trẻ  ·  TS. Lê Thị Thùy Dung</a:t>
            </a:r>
          </a:p>
        </p:txBody>
      </p:sp>
      <p:sp>
        <p:nvSpPr>
          <p:cNvPr id="8" name="TextBox 7"/>
          <p:cNvSpPr txBox="1"/>
          <p:nvPr/>
        </p:nvSpPr>
        <p:spPr>
          <a:xfrm>
            <a:off x="11185855" y="6492240"/>
            <a:ext cx="548640" cy="347472"/>
          </a:xfrm>
          <a:prstGeom prst="rect">
            <a:avLst/>
          </a:prstGeom>
          <a:noFill/>
        </p:spPr>
        <p:txBody>
          <a:bodyPr wrap="square" lIns="0" tIns="0" rIns="0" bIns="0" anchor="ctr">
            <a:spAutoFit/>
          </a:bodyPr>
          <a:lstStyle/>
          <a:p>
            <a:pPr algn="r">
              <a:lnSpc>
                <a:spcPct val="100000"/>
              </a:lnSpc>
              <a:spcBef>
                <a:spcPts val="0"/>
              </a:spcBef>
              <a:spcAft>
                <a:spcPts val="400"/>
              </a:spcAft>
            </a:pPr>
            <a:r>
              <a:rPr sz="1000" b="1" i="0">
                <a:solidFill>
                  <a:srgbClr val="FFFFFF"/>
                </a:solidFill>
                <a:latin typeface="Segoe UI"/>
                <a:cs typeface="Segoe UI"/>
              </a:rPr>
              <a:t>20</a:t>
            </a:r>
          </a:p>
        </p:txBody>
      </p:sp>
      <p:sp>
        <p:nvSpPr>
          <p:cNvPr id="9" name="TextBox 8"/>
          <p:cNvSpPr txBox="1"/>
          <p:nvPr/>
        </p:nvSpPr>
        <p:spPr>
          <a:xfrm>
            <a:off x="548640" y="841248"/>
            <a:ext cx="10881360" cy="566928"/>
          </a:xfrm>
          <a:prstGeom prst="rect">
            <a:avLst/>
          </a:prstGeom>
          <a:noFill/>
        </p:spPr>
        <p:txBody>
          <a:bodyPr wrap="square" lIns="0" tIns="0" rIns="0" bIns="0" anchor="t">
            <a:spAutoFit/>
          </a:bodyPr>
          <a:lstStyle/>
          <a:p>
            <a:pPr algn="l">
              <a:lnSpc>
                <a:spcPct val="100000"/>
              </a:lnSpc>
              <a:spcBef>
                <a:spcPts val="0"/>
              </a:spcBef>
              <a:spcAft>
                <a:spcPts val="400"/>
              </a:spcAft>
            </a:pPr>
            <a:r>
              <a:rPr sz="2700" b="1" i="0">
                <a:solidFill>
                  <a:srgbClr val="19A99D"/>
                </a:solidFill>
                <a:latin typeface="Segoe UI Semibold"/>
                <a:cs typeface="Segoe UI Semibold"/>
              </a:rPr>
              <a:t>Trẻ tuổi học đường (6 – 11 tuổi)</a:t>
            </a:r>
          </a:p>
        </p:txBody>
      </p:sp>
      <p:sp>
        <p:nvSpPr>
          <p:cNvPr id="10" name="TextBox 9"/>
          <p:cNvSpPr txBox="1"/>
          <p:nvPr/>
        </p:nvSpPr>
        <p:spPr>
          <a:xfrm>
            <a:off x="548640" y="1408176"/>
            <a:ext cx="10881360" cy="365760"/>
          </a:xfrm>
          <a:prstGeom prst="rect">
            <a:avLst/>
          </a:prstGeom>
          <a:noFill/>
        </p:spPr>
        <p:txBody>
          <a:bodyPr wrap="square" lIns="0" tIns="0" rIns="0" bIns="0" anchor="t">
            <a:spAutoFit/>
          </a:bodyPr>
          <a:lstStyle/>
          <a:p>
            <a:pPr algn="l">
              <a:lnSpc>
                <a:spcPct val="100000"/>
              </a:lnSpc>
              <a:spcBef>
                <a:spcPts val="0"/>
              </a:spcBef>
              <a:spcAft>
                <a:spcPts val="400"/>
              </a:spcAft>
            </a:pPr>
            <a:r>
              <a:rPr sz="1500" b="0" i="1">
                <a:solidFill>
                  <a:srgbClr val="64748B"/>
                </a:solidFill>
                <a:latin typeface="Segoe UI"/>
                <a:cs typeface="Segoe UI"/>
              </a:rPr>
              <a:t>Ăn đa dạng + vận động để cao lớn và học tốt</a:t>
            </a:r>
          </a:p>
        </p:txBody>
      </p:sp>
      <p:sp>
        <p:nvSpPr>
          <p:cNvPr id="11" name="Oval 10"/>
          <p:cNvSpPr/>
          <p:nvPr/>
        </p:nvSpPr>
        <p:spPr>
          <a:xfrm>
            <a:off x="640080" y="182880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1700" b="1" i="0">
                <a:solidFill>
                  <a:srgbClr val="FFFFFF"/>
                </a:solidFill>
                <a:latin typeface="Segoe UI"/>
                <a:cs typeface="Segoe UI"/>
              </a:rPr>
              <a:t>1</a:t>
            </a:r>
          </a:p>
        </p:txBody>
      </p:sp>
      <p:sp>
        <p:nvSpPr>
          <p:cNvPr id="12" name="TextBox 11"/>
          <p:cNvSpPr txBox="1"/>
          <p:nvPr/>
        </p:nvSpPr>
        <p:spPr>
          <a:xfrm>
            <a:off x="1371600" y="1792224"/>
            <a:ext cx="10241280" cy="411480"/>
          </a:xfrm>
          <a:prstGeom prst="rect">
            <a:avLst/>
          </a:prstGeom>
          <a:noFill/>
        </p:spPr>
        <p:txBody>
          <a:bodyPr wrap="square" lIns="0" tIns="0" rIns="0" bIns="0" anchor="t">
            <a:spAutoFit/>
          </a:bodyPr>
          <a:lstStyle/>
          <a:p>
            <a:pPr algn="l">
              <a:lnSpc>
                <a:spcPct val="100000"/>
              </a:lnSpc>
              <a:spcBef>
                <a:spcPts val="0"/>
              </a:spcBef>
              <a:spcAft>
                <a:spcPts val="400"/>
              </a:spcAft>
            </a:pPr>
            <a:r>
              <a:rPr sz="1600" b="1" i="0">
                <a:solidFill>
                  <a:srgbClr val="F59E0B"/>
                </a:solidFill>
                <a:latin typeface="Segoe UI Semibold"/>
                <a:cs typeface="Segoe UI Semibold"/>
              </a:rPr>
              <a:t>Năng lượng tăng cao</a:t>
            </a:r>
          </a:p>
        </p:txBody>
      </p:sp>
      <p:sp>
        <p:nvSpPr>
          <p:cNvPr id="13" name="TextBox 12"/>
          <p:cNvSpPr txBox="1"/>
          <p:nvPr/>
        </p:nvSpPr>
        <p:spPr>
          <a:xfrm>
            <a:off x="1371600" y="2194560"/>
            <a:ext cx="10241280" cy="411480"/>
          </a:xfrm>
          <a:prstGeom prst="rect">
            <a:avLst/>
          </a:prstGeom>
          <a:noFill/>
        </p:spPr>
        <p:txBody>
          <a:bodyPr wrap="square" lIns="0" tIns="0" rIns="0" bIns="0" anchor="t">
            <a:spAutoFit/>
          </a:bodyPr>
          <a:lstStyle/>
          <a:p>
            <a:pPr algn="l">
              <a:lnSpc>
                <a:spcPct val="100000"/>
              </a:lnSpc>
              <a:spcBef>
                <a:spcPts val="0"/>
              </a:spcBef>
              <a:spcAft>
                <a:spcPts val="400"/>
              </a:spcAft>
            </a:pPr>
            <a:r>
              <a:rPr sz="1250" b="0" i="0">
                <a:solidFill>
                  <a:srgbClr val="1E293B"/>
                </a:solidFill>
                <a:latin typeface="Segoe UI"/>
                <a:cs typeface="Segoe UI"/>
              </a:rPr>
              <a:t>Theo tuổi, giới và mức vận động; ăn đủ 3 bữa chính + 1–2 bữa phụ.</a:t>
            </a:r>
          </a:p>
        </p:txBody>
      </p:sp>
      <p:sp>
        <p:nvSpPr>
          <p:cNvPr id="14" name="Oval 13"/>
          <p:cNvSpPr/>
          <p:nvPr/>
        </p:nvSpPr>
        <p:spPr>
          <a:xfrm>
            <a:off x="640080" y="2697480"/>
            <a:ext cx="548640" cy="548640"/>
          </a:xfrm>
          <a:prstGeom prst="ellipse">
            <a:avLst/>
          </a:prstGeom>
          <a:solidFill>
            <a:srgbClr val="E26D5A"/>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1700" b="1" i="0">
                <a:solidFill>
                  <a:srgbClr val="FFFFFF"/>
                </a:solidFill>
                <a:latin typeface="Segoe UI"/>
                <a:cs typeface="Segoe UI"/>
              </a:rPr>
              <a:t>2</a:t>
            </a:r>
          </a:p>
        </p:txBody>
      </p:sp>
      <p:sp>
        <p:nvSpPr>
          <p:cNvPr id="15" name="TextBox 14"/>
          <p:cNvSpPr txBox="1"/>
          <p:nvPr/>
        </p:nvSpPr>
        <p:spPr>
          <a:xfrm>
            <a:off x="1371600" y="2660904"/>
            <a:ext cx="10241280" cy="411480"/>
          </a:xfrm>
          <a:prstGeom prst="rect">
            <a:avLst/>
          </a:prstGeom>
          <a:noFill/>
        </p:spPr>
        <p:txBody>
          <a:bodyPr wrap="square" lIns="0" tIns="0" rIns="0" bIns="0" anchor="t">
            <a:spAutoFit/>
          </a:bodyPr>
          <a:lstStyle/>
          <a:p>
            <a:pPr algn="l">
              <a:lnSpc>
                <a:spcPct val="100000"/>
              </a:lnSpc>
              <a:spcBef>
                <a:spcPts val="0"/>
              </a:spcBef>
              <a:spcAft>
                <a:spcPts val="400"/>
              </a:spcAft>
            </a:pPr>
            <a:r>
              <a:rPr sz="1600" b="1" i="0">
                <a:solidFill>
                  <a:srgbClr val="E26D5A"/>
                </a:solidFill>
                <a:latin typeface="Segoe UI Semibold"/>
                <a:cs typeface="Segoe UI Semibold"/>
              </a:rPr>
              <a:t>Đủ đạm động – thực vật</a:t>
            </a:r>
          </a:p>
        </p:txBody>
      </p:sp>
      <p:sp>
        <p:nvSpPr>
          <p:cNvPr id="16" name="TextBox 15"/>
          <p:cNvSpPr txBox="1"/>
          <p:nvPr/>
        </p:nvSpPr>
        <p:spPr>
          <a:xfrm>
            <a:off x="1371600" y="3063240"/>
            <a:ext cx="10241280" cy="411480"/>
          </a:xfrm>
          <a:prstGeom prst="rect">
            <a:avLst/>
          </a:prstGeom>
          <a:noFill/>
        </p:spPr>
        <p:txBody>
          <a:bodyPr wrap="square" lIns="0" tIns="0" rIns="0" bIns="0" anchor="t">
            <a:spAutoFit/>
          </a:bodyPr>
          <a:lstStyle/>
          <a:p>
            <a:pPr algn="l">
              <a:lnSpc>
                <a:spcPct val="100000"/>
              </a:lnSpc>
              <a:spcBef>
                <a:spcPts val="0"/>
              </a:spcBef>
              <a:spcAft>
                <a:spcPts val="400"/>
              </a:spcAft>
            </a:pPr>
            <a:r>
              <a:rPr sz="1250" b="0" i="0">
                <a:solidFill>
                  <a:srgbClr val="1E293B"/>
                </a:solidFill>
                <a:latin typeface="Segoe UI"/>
                <a:cs typeface="Segoe UI"/>
              </a:rPr>
              <a:t>Đạm chiếm 13–20% năng lượng; ưu tiên cá, trứng, thịt, đậu.</a:t>
            </a:r>
          </a:p>
        </p:txBody>
      </p:sp>
      <p:sp>
        <p:nvSpPr>
          <p:cNvPr id="17" name="Oval 16"/>
          <p:cNvSpPr/>
          <p:nvPr/>
        </p:nvSpPr>
        <p:spPr>
          <a:xfrm>
            <a:off x="640080" y="3566160"/>
            <a:ext cx="548640" cy="548640"/>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1700" b="1" i="0">
                <a:solidFill>
                  <a:srgbClr val="FFFFFF"/>
                </a:solidFill>
                <a:latin typeface="Segoe UI"/>
                <a:cs typeface="Segoe UI"/>
              </a:rPr>
              <a:t>3</a:t>
            </a:r>
          </a:p>
        </p:txBody>
      </p:sp>
      <p:sp>
        <p:nvSpPr>
          <p:cNvPr id="18" name="TextBox 17"/>
          <p:cNvSpPr txBox="1"/>
          <p:nvPr/>
        </p:nvSpPr>
        <p:spPr>
          <a:xfrm>
            <a:off x="1371600" y="3529584"/>
            <a:ext cx="10241280" cy="411480"/>
          </a:xfrm>
          <a:prstGeom prst="rect">
            <a:avLst/>
          </a:prstGeom>
          <a:noFill/>
        </p:spPr>
        <p:txBody>
          <a:bodyPr wrap="square" lIns="0" tIns="0" rIns="0" bIns="0" anchor="t">
            <a:spAutoFit/>
          </a:bodyPr>
          <a:lstStyle/>
          <a:p>
            <a:pPr algn="l">
              <a:lnSpc>
                <a:spcPct val="100000"/>
              </a:lnSpc>
              <a:spcBef>
                <a:spcPts val="0"/>
              </a:spcBef>
              <a:spcAft>
                <a:spcPts val="400"/>
              </a:spcAft>
            </a:pPr>
            <a:r>
              <a:rPr sz="1600" b="1" i="0">
                <a:solidFill>
                  <a:srgbClr val="3A6B35"/>
                </a:solidFill>
                <a:latin typeface="Segoe UI Semibold"/>
                <a:cs typeface="Segoe UI Semibold"/>
              </a:rPr>
              <a:t>Rau xanh &amp; trái cây mỗi ngày</a:t>
            </a:r>
          </a:p>
        </p:txBody>
      </p:sp>
      <p:sp>
        <p:nvSpPr>
          <p:cNvPr id="19" name="TextBox 18"/>
          <p:cNvSpPr txBox="1"/>
          <p:nvPr/>
        </p:nvSpPr>
        <p:spPr>
          <a:xfrm>
            <a:off x="1371600" y="3931920"/>
            <a:ext cx="10241280" cy="411480"/>
          </a:xfrm>
          <a:prstGeom prst="rect">
            <a:avLst/>
          </a:prstGeom>
          <a:noFill/>
        </p:spPr>
        <p:txBody>
          <a:bodyPr wrap="square" lIns="0" tIns="0" rIns="0" bIns="0" anchor="t">
            <a:spAutoFit/>
          </a:bodyPr>
          <a:lstStyle/>
          <a:p>
            <a:pPr algn="l">
              <a:lnSpc>
                <a:spcPct val="100000"/>
              </a:lnSpc>
              <a:spcBef>
                <a:spcPts val="0"/>
              </a:spcBef>
              <a:spcAft>
                <a:spcPts val="400"/>
              </a:spcAft>
            </a:pPr>
            <a:r>
              <a:rPr sz="1250" b="0" i="0">
                <a:solidFill>
                  <a:srgbClr val="1E293B"/>
                </a:solidFill>
                <a:latin typeface="Segoe UI"/>
                <a:cs typeface="Segoe UI"/>
              </a:rPr>
              <a:t>Cung cấp vitamin, khoáng, chất xơ; phòng táo bón, tăng đề kháng.</a:t>
            </a:r>
          </a:p>
        </p:txBody>
      </p:sp>
      <p:sp>
        <p:nvSpPr>
          <p:cNvPr id="20" name="Oval 19"/>
          <p:cNvSpPr/>
          <p:nvPr/>
        </p:nvSpPr>
        <p:spPr>
          <a:xfrm>
            <a:off x="640080" y="4434840"/>
            <a:ext cx="548640" cy="548640"/>
          </a:xfrm>
          <a:prstGeom prst="ellipse">
            <a:avLst/>
          </a:prstGeom>
          <a:solidFill>
            <a:srgbClr val="2866A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1700" b="1" i="0">
                <a:solidFill>
                  <a:srgbClr val="FFFFFF"/>
                </a:solidFill>
                <a:latin typeface="Segoe UI"/>
                <a:cs typeface="Segoe UI"/>
              </a:rPr>
              <a:t>4</a:t>
            </a:r>
          </a:p>
        </p:txBody>
      </p:sp>
      <p:sp>
        <p:nvSpPr>
          <p:cNvPr id="21" name="TextBox 20"/>
          <p:cNvSpPr txBox="1"/>
          <p:nvPr/>
        </p:nvSpPr>
        <p:spPr>
          <a:xfrm>
            <a:off x="1371600" y="4398264"/>
            <a:ext cx="10241280" cy="411480"/>
          </a:xfrm>
          <a:prstGeom prst="rect">
            <a:avLst/>
          </a:prstGeom>
          <a:noFill/>
        </p:spPr>
        <p:txBody>
          <a:bodyPr wrap="square" lIns="0" tIns="0" rIns="0" bIns="0" anchor="t">
            <a:spAutoFit/>
          </a:bodyPr>
          <a:lstStyle/>
          <a:p>
            <a:pPr algn="l">
              <a:lnSpc>
                <a:spcPct val="100000"/>
              </a:lnSpc>
              <a:spcBef>
                <a:spcPts val="0"/>
              </a:spcBef>
              <a:spcAft>
                <a:spcPts val="400"/>
              </a:spcAft>
            </a:pPr>
            <a:r>
              <a:rPr sz="1600" b="1" i="0">
                <a:solidFill>
                  <a:srgbClr val="2866AB"/>
                </a:solidFill>
                <a:latin typeface="Segoe UI Semibold"/>
                <a:cs typeface="Segoe UI Semibold"/>
              </a:rPr>
              <a:t>Uống đủ nước, hạn chế đồ ngọt</a:t>
            </a:r>
          </a:p>
        </p:txBody>
      </p:sp>
      <p:sp>
        <p:nvSpPr>
          <p:cNvPr id="22" name="TextBox 21"/>
          <p:cNvSpPr txBox="1"/>
          <p:nvPr/>
        </p:nvSpPr>
        <p:spPr>
          <a:xfrm>
            <a:off x="1371600" y="4800600"/>
            <a:ext cx="10241280" cy="411480"/>
          </a:xfrm>
          <a:prstGeom prst="rect">
            <a:avLst/>
          </a:prstGeom>
          <a:noFill/>
        </p:spPr>
        <p:txBody>
          <a:bodyPr wrap="square" lIns="0" tIns="0" rIns="0" bIns="0" anchor="t">
            <a:spAutoFit/>
          </a:bodyPr>
          <a:lstStyle/>
          <a:p>
            <a:pPr algn="l">
              <a:lnSpc>
                <a:spcPct val="100000"/>
              </a:lnSpc>
              <a:spcBef>
                <a:spcPts val="0"/>
              </a:spcBef>
              <a:spcAft>
                <a:spcPts val="400"/>
              </a:spcAft>
            </a:pPr>
            <a:r>
              <a:rPr sz="1250" b="0" i="0">
                <a:solidFill>
                  <a:srgbClr val="1E293B"/>
                </a:solidFill>
                <a:latin typeface="Segoe UI"/>
                <a:cs typeface="Segoe UI"/>
              </a:rPr>
              <a:t>Nước lọc thay nước ngọt; giảm bánh kẹo, đồ chiên rán.</a:t>
            </a:r>
          </a:p>
        </p:txBody>
      </p:sp>
      <p:sp>
        <p:nvSpPr>
          <p:cNvPr id="23" name="Oval 22"/>
          <p:cNvSpPr/>
          <p:nvPr/>
        </p:nvSpPr>
        <p:spPr>
          <a:xfrm>
            <a:off x="640080" y="5303520"/>
            <a:ext cx="548640" cy="548640"/>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1700" b="1" i="0">
                <a:solidFill>
                  <a:srgbClr val="FFFFFF"/>
                </a:solidFill>
                <a:latin typeface="Segoe UI"/>
                <a:cs typeface="Segoe UI"/>
              </a:rPr>
              <a:t>5</a:t>
            </a:r>
          </a:p>
        </p:txBody>
      </p:sp>
      <p:sp>
        <p:nvSpPr>
          <p:cNvPr id="24" name="TextBox 23"/>
          <p:cNvSpPr txBox="1"/>
          <p:nvPr/>
        </p:nvSpPr>
        <p:spPr>
          <a:xfrm>
            <a:off x="1371600" y="5266944"/>
            <a:ext cx="10241280" cy="411480"/>
          </a:xfrm>
          <a:prstGeom prst="rect">
            <a:avLst/>
          </a:prstGeom>
          <a:noFill/>
        </p:spPr>
        <p:txBody>
          <a:bodyPr wrap="square" lIns="0" tIns="0" rIns="0" bIns="0" anchor="t">
            <a:spAutoFit/>
          </a:bodyPr>
          <a:lstStyle/>
          <a:p>
            <a:pPr algn="l">
              <a:lnSpc>
                <a:spcPct val="100000"/>
              </a:lnSpc>
              <a:spcBef>
                <a:spcPts val="0"/>
              </a:spcBef>
              <a:spcAft>
                <a:spcPts val="400"/>
              </a:spcAft>
            </a:pPr>
            <a:r>
              <a:rPr sz="1600" b="1" i="0">
                <a:solidFill>
                  <a:srgbClr val="19A99D"/>
                </a:solidFill>
                <a:latin typeface="Segoe UI Semibold"/>
                <a:cs typeface="Segoe UI Semibold"/>
              </a:rPr>
              <a:t>Vận động thể lực ≥ 60 phút/ngày</a:t>
            </a:r>
          </a:p>
        </p:txBody>
      </p:sp>
      <p:sp>
        <p:nvSpPr>
          <p:cNvPr id="25" name="TextBox 24"/>
          <p:cNvSpPr txBox="1"/>
          <p:nvPr/>
        </p:nvSpPr>
        <p:spPr>
          <a:xfrm>
            <a:off x="1371600" y="5669280"/>
            <a:ext cx="10241280" cy="411480"/>
          </a:xfrm>
          <a:prstGeom prst="rect">
            <a:avLst/>
          </a:prstGeom>
          <a:noFill/>
        </p:spPr>
        <p:txBody>
          <a:bodyPr wrap="square" lIns="0" tIns="0" rIns="0" bIns="0" anchor="t">
            <a:spAutoFit/>
          </a:bodyPr>
          <a:lstStyle/>
          <a:p>
            <a:pPr algn="l">
              <a:lnSpc>
                <a:spcPct val="100000"/>
              </a:lnSpc>
              <a:spcBef>
                <a:spcPts val="0"/>
              </a:spcBef>
              <a:spcAft>
                <a:spcPts val="400"/>
              </a:spcAft>
            </a:pPr>
            <a:r>
              <a:rPr sz="1250" b="0" i="0">
                <a:solidFill>
                  <a:srgbClr val="1E293B"/>
                </a:solidFill>
                <a:latin typeface="Segoe UI"/>
                <a:cs typeface="Segoe UI"/>
              </a:rPr>
              <a:t>Chạy nhảy, thể thao giúp xương dài ra, ăn ngon, ngủ tốt.</a:t>
            </a:r>
          </a:p>
        </p:txBody>
      </p:sp>
      <p:sp>
        <p:nvSpPr>
          <p:cNvPr id="26" name="TextBox 25"/>
          <p:cNvSpPr txBox="1"/>
          <p:nvPr/>
        </p:nvSpPr>
        <p:spPr>
          <a:xfrm>
            <a:off x="548640" y="6144768"/>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50" b="1" i="1">
                <a:solidFill>
                  <a:srgbClr val="19A99D"/>
                </a:solidFill>
                <a:latin typeface="Segoe UI"/>
                <a:cs typeface="Segoe UI"/>
              </a:rPr>
              <a:t>Nguồn: </a:t>
            </a:r>
            <a:r>
              <a:rPr sz="950" b="0" i="1">
                <a:solidFill>
                  <a:srgbClr val="64748B"/>
                </a:solidFill>
                <a:latin typeface="Segoe UI"/>
                <a:cs typeface="Segoe UI"/>
              </a:rPr>
              <a:t>Cẩm nang dinh dưỡng cho trẻ tiểu học, Viện Dinh dưỡng – Action Education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2A6041"/>
        </a:solidFill>
        <a:effectLst/>
      </p:bgPr>
    </p:bg>
    <p:spTree>
      <p:nvGrpSpPr>
        <p:cNvPr id="1" name=""/>
        <p:cNvGrpSpPr/>
        <p:nvPr/>
      </p:nvGrpSpPr>
      <p:grpSpPr>
        <a:xfrm>
          <a:off x="0" y="0"/>
          <a:ext cx="0" cy="0"/>
          <a:chOff x="0" y="0"/>
          <a:chExt cx="0" cy="0"/>
        </a:xfrm>
      </p:grpSpPr>
      <p:sp>
        <p:nvSpPr>
          <p:cNvPr id="2" name="Oval 1"/>
          <p:cNvSpPr/>
          <p:nvPr/>
        </p:nvSpPr>
        <p:spPr>
          <a:xfrm>
            <a:off x="10332720" y="502920"/>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0479024" y="502920"/>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0625328" y="502920"/>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0771632" y="502920"/>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917936" y="502920"/>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1064240" y="502920"/>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332720" y="649224"/>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0479024" y="649224"/>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0625328" y="649224"/>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10771632" y="649224"/>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0917936" y="649224"/>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1064240" y="649224"/>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0332720" y="795528"/>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0479024" y="795528"/>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0625328" y="795528"/>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0771632" y="795528"/>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0917936" y="795528"/>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1064240" y="795528"/>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0332720" y="941832"/>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10479024" y="941832"/>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0625328" y="941832"/>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0771632" y="941832"/>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0917936" y="941832"/>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1064240" y="941832"/>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548640" y="5852160"/>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694944" y="5852160"/>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841247" y="5852160"/>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987552" y="5852160"/>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1133856" y="5852160"/>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1280160" y="5852160"/>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548640" y="5998464"/>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694944" y="5998464"/>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841247" y="5998464"/>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987552" y="5998464"/>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1133856" y="5998464"/>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1280160" y="5998464"/>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548640" y="6144768"/>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694944" y="6144768"/>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841247" y="6144768"/>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987552" y="6144768"/>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1133856" y="6144768"/>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1280160" y="6144768"/>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548640" y="6291072"/>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694944" y="6291072"/>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841247" y="6291072"/>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987552" y="6291072"/>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1133856" y="6291072"/>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1280160" y="6291072"/>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822960" y="2468880"/>
            <a:ext cx="1463040" cy="1463040"/>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2000" b="1" i="0">
                <a:solidFill>
                  <a:srgbClr val="FFFFFF"/>
                </a:solidFill>
                <a:latin typeface="Segoe UI"/>
                <a:cs typeface="Segoe UI"/>
              </a:rPr>
              <a:t>3</a:t>
            </a:r>
          </a:p>
        </p:txBody>
      </p:sp>
      <p:sp>
        <p:nvSpPr>
          <p:cNvPr id="51" name="TextBox 50"/>
          <p:cNvSpPr txBox="1"/>
          <p:nvPr/>
        </p:nvSpPr>
        <p:spPr>
          <a:xfrm>
            <a:off x="2697480" y="2286000"/>
            <a:ext cx="8686800" cy="548640"/>
          </a:xfrm>
          <a:prstGeom prst="rect">
            <a:avLst/>
          </a:prstGeom>
          <a:noFill/>
        </p:spPr>
        <p:txBody>
          <a:bodyPr wrap="square" lIns="0" tIns="0" rIns="0" bIns="0" anchor="t">
            <a:spAutoFit/>
          </a:bodyPr>
          <a:lstStyle/>
          <a:p>
            <a:pPr algn="l">
              <a:lnSpc>
                <a:spcPct val="100000"/>
              </a:lnSpc>
              <a:spcBef>
                <a:spcPts val="0"/>
              </a:spcBef>
              <a:spcAft>
                <a:spcPts val="400"/>
              </a:spcAft>
            </a:pPr>
            <a:r>
              <a:rPr sz="1800" b="1" i="0">
                <a:solidFill>
                  <a:srgbClr val="E0F5F4"/>
                </a:solidFill>
                <a:latin typeface="Segoe UI Semibold"/>
                <a:cs typeface="Segoe UI Semibold"/>
              </a:rPr>
              <a:t>PHẦN 3</a:t>
            </a:r>
          </a:p>
        </p:txBody>
      </p:sp>
      <p:sp>
        <p:nvSpPr>
          <p:cNvPr id="52" name="TextBox 51"/>
          <p:cNvSpPr txBox="1"/>
          <p:nvPr/>
        </p:nvSpPr>
        <p:spPr>
          <a:xfrm>
            <a:off x="2697480" y="2788920"/>
            <a:ext cx="8961120" cy="1463040"/>
          </a:xfrm>
          <a:prstGeom prst="rect">
            <a:avLst/>
          </a:prstGeom>
          <a:noFill/>
        </p:spPr>
        <p:txBody>
          <a:bodyPr wrap="square" lIns="0" tIns="0" rIns="0" bIns="0" anchor="t">
            <a:spAutoFit/>
          </a:bodyPr>
          <a:lstStyle/>
          <a:p>
            <a:pPr algn="l">
              <a:lnSpc>
                <a:spcPct val="100000"/>
              </a:lnSpc>
              <a:spcBef>
                <a:spcPts val="0"/>
              </a:spcBef>
              <a:spcAft>
                <a:spcPts val="400"/>
              </a:spcAft>
            </a:pPr>
            <a:r>
              <a:rPr sz="3400" b="1" i="0">
                <a:solidFill>
                  <a:srgbClr val="FFFFFF"/>
                </a:solidFill>
                <a:latin typeface="Segoe UI Semibold"/>
                <a:cs typeface="Segoe UI Semibold"/>
              </a:rPr>
              <a:t>Tăng cường miễn dịch qua dinh dưỡng</a:t>
            </a:r>
          </a:p>
        </p:txBody>
      </p:sp>
      <p:sp>
        <p:nvSpPr>
          <p:cNvPr id="53" name="TextBox 52"/>
          <p:cNvSpPr txBox="1"/>
          <p:nvPr/>
        </p:nvSpPr>
        <p:spPr>
          <a:xfrm>
            <a:off x="2697480" y="4251960"/>
            <a:ext cx="8778240" cy="640080"/>
          </a:xfrm>
          <a:prstGeom prst="rect">
            <a:avLst/>
          </a:prstGeom>
          <a:noFill/>
        </p:spPr>
        <p:txBody>
          <a:bodyPr wrap="square" lIns="0" tIns="0" rIns="0" bIns="0" anchor="t">
            <a:spAutoFit/>
          </a:bodyPr>
          <a:lstStyle/>
          <a:p>
            <a:pPr algn="l">
              <a:lnSpc>
                <a:spcPct val="100000"/>
              </a:lnSpc>
              <a:spcBef>
                <a:spcPts val="0"/>
              </a:spcBef>
              <a:spcAft>
                <a:spcPts val="400"/>
              </a:spcAft>
            </a:pPr>
            <a:r>
              <a:rPr sz="1600" b="0" i="1">
                <a:solidFill>
                  <a:srgbClr val="E0F5F4"/>
                </a:solidFill>
                <a:latin typeface="Segoe UI"/>
                <a:cs typeface="Segoe UI"/>
              </a:rPr>
              <a:t>“Dinh dưỡng miễn dịch” – ăn để khỏe và ít ốm</a:t>
            </a:r>
          </a:p>
        </p:txBody>
      </p:sp>
      <p:sp>
        <p:nvSpPr>
          <p:cNvPr id="54" name="Rectangle 53"/>
          <p:cNvSpPr/>
          <p:nvPr/>
        </p:nvSpPr>
        <p:spPr>
          <a:xfrm>
            <a:off x="0" y="6473952"/>
            <a:ext cx="12191695" cy="384048"/>
          </a:xfrm>
          <a:prstGeom prst="rect">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457200" y="6492240"/>
            <a:ext cx="9601200" cy="347472"/>
          </a:xfrm>
          <a:prstGeom prst="rect">
            <a:avLst/>
          </a:prstGeom>
          <a:noFill/>
        </p:spPr>
        <p:txBody>
          <a:bodyPr wrap="square" lIns="0" tIns="0" rIns="0" bIns="0" anchor="ctr">
            <a:spAutoFit/>
          </a:bodyPr>
          <a:lstStyle/>
          <a:p>
            <a:pPr algn="l">
              <a:lnSpc>
                <a:spcPct val="100000"/>
              </a:lnSpc>
              <a:spcBef>
                <a:spcPts val="0"/>
              </a:spcBef>
              <a:spcAft>
                <a:spcPts val="400"/>
              </a:spcAft>
            </a:pPr>
            <a:r>
              <a:rPr sz="950" b="0" i="0">
                <a:solidFill>
                  <a:srgbClr val="FFFFFF"/>
                </a:solidFill>
                <a:latin typeface="Segoe UI"/>
                <a:cs typeface="Segoe UI"/>
              </a:rPr>
              <a:t>Chuyên đề 2 · Dinh dưỡng – nền tảng cho miễn dịch &amp; sự phát triển của trẻ  ·  TS. Lê Thị Thùy Dung</a:t>
            </a:r>
          </a:p>
        </p:txBody>
      </p:sp>
      <p:sp>
        <p:nvSpPr>
          <p:cNvPr id="56" name="TextBox 55"/>
          <p:cNvSpPr txBox="1"/>
          <p:nvPr/>
        </p:nvSpPr>
        <p:spPr>
          <a:xfrm>
            <a:off x="11185855" y="6492240"/>
            <a:ext cx="548640" cy="347472"/>
          </a:xfrm>
          <a:prstGeom prst="rect">
            <a:avLst/>
          </a:prstGeom>
          <a:noFill/>
        </p:spPr>
        <p:txBody>
          <a:bodyPr wrap="square" lIns="0" tIns="0" rIns="0" bIns="0" anchor="ctr">
            <a:spAutoFit/>
          </a:bodyPr>
          <a:lstStyle/>
          <a:p>
            <a:pPr algn="r">
              <a:lnSpc>
                <a:spcPct val="100000"/>
              </a:lnSpc>
              <a:spcBef>
                <a:spcPts val="0"/>
              </a:spcBef>
              <a:spcAft>
                <a:spcPts val="400"/>
              </a:spcAft>
            </a:pPr>
            <a:r>
              <a:rPr sz="1000" b="1" i="0">
                <a:solidFill>
                  <a:srgbClr val="FFFFFF"/>
                </a:solidFill>
                <a:latin typeface="Segoe UI"/>
                <a:cs typeface="Segoe UI"/>
              </a:rPr>
              <a:t>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384048" y="274320"/>
            <a:ext cx="384048" cy="384048"/>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4068" y="329184"/>
            <a:ext cx="104241"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66344" y="406908"/>
            <a:ext cx="274320" cy="10424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274320"/>
            <a:ext cx="2926080" cy="402336"/>
          </a:xfrm>
          <a:prstGeom prst="rect">
            <a:avLst/>
          </a:prstGeom>
          <a:noFill/>
        </p:spPr>
        <p:txBody>
          <a:bodyPr wrap="square" lIns="0" tIns="0" rIns="0" bIns="0" anchor="ctr">
            <a:spAutoFit/>
          </a:bodyPr>
          <a:lstStyle/>
          <a:p>
            <a:pPr algn="l">
              <a:lnSpc>
                <a:spcPct val="100000"/>
              </a:lnSpc>
              <a:spcBef>
                <a:spcPts val="0"/>
              </a:spcBef>
              <a:spcAft>
                <a:spcPts val="400"/>
              </a:spcAft>
            </a:pPr>
            <a:r>
              <a:rPr sz="1300" b="1" i="0">
                <a:solidFill>
                  <a:srgbClr val="1E293B"/>
                </a:solidFill>
                <a:latin typeface="Segoe UI"/>
                <a:cs typeface="Segoe UI"/>
              </a:rPr>
              <a:t>DINH DƯỠNG </a:t>
            </a:r>
            <a:r>
              <a:rPr sz="1300" b="1" i="0">
                <a:solidFill>
                  <a:srgbClr val="19A99D"/>
                </a:solidFill>
                <a:latin typeface="Segoe UI"/>
                <a:cs typeface="Segoe UI"/>
              </a:rPr>
              <a:t>NHI KHOA</a:t>
            </a:r>
          </a:p>
        </p:txBody>
      </p:sp>
      <p:sp>
        <p:nvSpPr>
          <p:cNvPr id="6" name="Rectangle 5"/>
          <p:cNvSpPr/>
          <p:nvPr/>
        </p:nvSpPr>
        <p:spPr>
          <a:xfrm>
            <a:off x="0" y="6473952"/>
            <a:ext cx="12191695" cy="384048"/>
          </a:xfrm>
          <a:prstGeom prst="rect">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492240"/>
            <a:ext cx="9601200" cy="347472"/>
          </a:xfrm>
          <a:prstGeom prst="rect">
            <a:avLst/>
          </a:prstGeom>
          <a:noFill/>
        </p:spPr>
        <p:txBody>
          <a:bodyPr wrap="square" lIns="0" tIns="0" rIns="0" bIns="0" anchor="ctr">
            <a:spAutoFit/>
          </a:bodyPr>
          <a:lstStyle/>
          <a:p>
            <a:pPr algn="l">
              <a:lnSpc>
                <a:spcPct val="100000"/>
              </a:lnSpc>
              <a:spcBef>
                <a:spcPts val="0"/>
              </a:spcBef>
              <a:spcAft>
                <a:spcPts val="400"/>
              </a:spcAft>
            </a:pPr>
            <a:r>
              <a:rPr sz="950" b="0" i="0">
                <a:solidFill>
                  <a:srgbClr val="FFFFFF"/>
                </a:solidFill>
                <a:latin typeface="Segoe UI"/>
                <a:cs typeface="Segoe UI"/>
              </a:rPr>
              <a:t>Chuyên đề 2 · Dinh dưỡng – nền tảng cho miễn dịch &amp; sự phát triển của trẻ  ·  TS. Lê Thị Thùy Dung</a:t>
            </a:r>
          </a:p>
        </p:txBody>
      </p:sp>
      <p:sp>
        <p:nvSpPr>
          <p:cNvPr id="8" name="TextBox 7"/>
          <p:cNvSpPr txBox="1"/>
          <p:nvPr/>
        </p:nvSpPr>
        <p:spPr>
          <a:xfrm>
            <a:off x="11185855" y="6492240"/>
            <a:ext cx="548640" cy="347472"/>
          </a:xfrm>
          <a:prstGeom prst="rect">
            <a:avLst/>
          </a:prstGeom>
          <a:noFill/>
        </p:spPr>
        <p:txBody>
          <a:bodyPr wrap="square" lIns="0" tIns="0" rIns="0" bIns="0" anchor="ctr">
            <a:spAutoFit/>
          </a:bodyPr>
          <a:lstStyle/>
          <a:p>
            <a:pPr algn="r">
              <a:lnSpc>
                <a:spcPct val="100000"/>
              </a:lnSpc>
              <a:spcBef>
                <a:spcPts val="0"/>
              </a:spcBef>
              <a:spcAft>
                <a:spcPts val="400"/>
              </a:spcAft>
            </a:pPr>
            <a:r>
              <a:rPr sz="1000" b="1" i="0">
                <a:solidFill>
                  <a:srgbClr val="FFFFFF"/>
                </a:solidFill>
                <a:latin typeface="Segoe UI"/>
                <a:cs typeface="Segoe UI"/>
              </a:rPr>
              <a:t>22</a:t>
            </a:r>
          </a:p>
        </p:txBody>
      </p:sp>
      <p:sp>
        <p:nvSpPr>
          <p:cNvPr id="9" name="TextBox 8"/>
          <p:cNvSpPr txBox="1"/>
          <p:nvPr/>
        </p:nvSpPr>
        <p:spPr>
          <a:xfrm>
            <a:off x="548640" y="841248"/>
            <a:ext cx="10881360" cy="566928"/>
          </a:xfrm>
          <a:prstGeom prst="rect">
            <a:avLst/>
          </a:prstGeom>
          <a:noFill/>
        </p:spPr>
        <p:txBody>
          <a:bodyPr wrap="square" lIns="0" tIns="0" rIns="0" bIns="0" anchor="t">
            <a:spAutoFit/>
          </a:bodyPr>
          <a:lstStyle/>
          <a:p>
            <a:pPr algn="l">
              <a:lnSpc>
                <a:spcPct val="100000"/>
              </a:lnSpc>
              <a:spcBef>
                <a:spcPts val="0"/>
              </a:spcBef>
              <a:spcAft>
                <a:spcPts val="400"/>
              </a:spcAft>
            </a:pPr>
            <a:r>
              <a:rPr sz="2700" b="1" i="0">
                <a:solidFill>
                  <a:srgbClr val="19A99D"/>
                </a:solidFill>
                <a:latin typeface="Segoe UI Semibold"/>
                <a:cs typeface="Segoe UI Semibold"/>
              </a:rPr>
              <a:t>Hệ miễn dịch hình thành từ trong bụng mẹ</a:t>
            </a:r>
          </a:p>
        </p:txBody>
      </p:sp>
      <p:sp>
        <p:nvSpPr>
          <p:cNvPr id="10" name="TextBox 9"/>
          <p:cNvSpPr txBox="1"/>
          <p:nvPr/>
        </p:nvSpPr>
        <p:spPr>
          <a:xfrm>
            <a:off x="548640" y="1408176"/>
            <a:ext cx="10881360" cy="365760"/>
          </a:xfrm>
          <a:prstGeom prst="rect">
            <a:avLst/>
          </a:prstGeom>
          <a:noFill/>
        </p:spPr>
        <p:txBody>
          <a:bodyPr wrap="square" lIns="0" tIns="0" rIns="0" bIns="0" anchor="t">
            <a:spAutoFit/>
          </a:bodyPr>
          <a:lstStyle/>
          <a:p>
            <a:pPr algn="l">
              <a:lnSpc>
                <a:spcPct val="100000"/>
              </a:lnSpc>
              <a:spcBef>
                <a:spcPts val="0"/>
              </a:spcBef>
              <a:spcAft>
                <a:spcPts val="400"/>
              </a:spcAft>
            </a:pPr>
            <a:r>
              <a:rPr sz="1500" b="0" i="1">
                <a:solidFill>
                  <a:srgbClr val="64748B"/>
                </a:solidFill>
                <a:latin typeface="Segoe UI"/>
                <a:cs typeface="Segoe UI"/>
              </a:rPr>
              <a:t>Dinh dưỡng của mẹ lập trình đề kháng cho con</a:t>
            </a:r>
          </a:p>
        </p:txBody>
      </p:sp>
      <p:sp>
        <p:nvSpPr>
          <p:cNvPr id="11" name="Rectangle 10"/>
          <p:cNvSpPr/>
          <p:nvPr/>
        </p:nvSpPr>
        <p:spPr>
          <a:xfrm>
            <a:off x="1097280" y="2788920"/>
            <a:ext cx="9784080" cy="54864"/>
          </a:xfrm>
          <a:prstGeom prst="rect">
            <a:avLst/>
          </a:prstGeom>
          <a:solidFill>
            <a:srgbClr val="E0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417320" y="2606040"/>
            <a:ext cx="457200" cy="457200"/>
          </a:xfrm>
          <a:prstGeom prst="ellipse">
            <a:avLst/>
          </a:prstGeom>
          <a:solidFill>
            <a:srgbClr val="2866A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1400" b="1" i="0">
                <a:solidFill>
                  <a:srgbClr val="FFFFFF"/>
                </a:solidFill>
                <a:latin typeface="Segoe UI"/>
                <a:cs typeface="Segoe UI"/>
              </a:rPr>
              <a:t>1</a:t>
            </a:r>
          </a:p>
        </p:txBody>
      </p:sp>
      <p:sp>
        <p:nvSpPr>
          <p:cNvPr id="13" name="TextBox 12"/>
          <p:cNvSpPr txBox="1"/>
          <p:nvPr/>
        </p:nvSpPr>
        <p:spPr>
          <a:xfrm>
            <a:off x="502920" y="2057400"/>
            <a:ext cx="2286000" cy="365760"/>
          </a:xfrm>
          <a:prstGeom prst="rect">
            <a:avLst/>
          </a:prstGeom>
          <a:noFill/>
        </p:spPr>
        <p:txBody>
          <a:bodyPr wrap="square" lIns="0" tIns="0" rIns="0" bIns="0" anchor="t">
            <a:spAutoFit/>
          </a:bodyPr>
          <a:lstStyle/>
          <a:p>
            <a:pPr algn="ctr">
              <a:lnSpc>
                <a:spcPct val="100000"/>
              </a:lnSpc>
              <a:spcBef>
                <a:spcPts val="0"/>
              </a:spcBef>
              <a:spcAft>
                <a:spcPts val="400"/>
              </a:spcAft>
            </a:pPr>
            <a:r>
              <a:rPr sz="1500" b="1" i="0">
                <a:solidFill>
                  <a:srgbClr val="2866AB"/>
                </a:solidFill>
                <a:latin typeface="Segoe UI Semibold"/>
                <a:cs typeface="Segoe UI Semibold"/>
              </a:rPr>
              <a:t>Tuần 7</a:t>
            </a:r>
          </a:p>
        </p:txBody>
      </p:sp>
      <p:sp>
        <p:nvSpPr>
          <p:cNvPr id="14" name="Rounded Rectangle 13"/>
          <p:cNvSpPr/>
          <p:nvPr/>
        </p:nvSpPr>
        <p:spPr>
          <a:xfrm>
            <a:off x="411480" y="3291840"/>
            <a:ext cx="2468880" cy="1554480"/>
          </a:xfrm>
          <a:prstGeom prst="roundRect">
            <a:avLst>
              <a:gd name="adj" fmla="val 6000"/>
            </a:avLst>
          </a:prstGeom>
          <a:solidFill>
            <a:srgbClr val="E0F5F4"/>
          </a:solidFill>
          <a:ln w="13970">
            <a:solidFill>
              <a:srgbClr val="2866A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94360" y="3456432"/>
            <a:ext cx="2103120" cy="1280160"/>
          </a:xfrm>
          <a:prstGeom prst="rect">
            <a:avLst/>
          </a:prstGeom>
          <a:noFill/>
        </p:spPr>
        <p:txBody>
          <a:bodyPr wrap="square" lIns="0" tIns="0" rIns="0" bIns="0" anchor="t">
            <a:spAutoFit/>
          </a:bodyPr>
          <a:lstStyle/>
          <a:p>
            <a:pPr algn="ctr">
              <a:lnSpc>
                <a:spcPct val="108000"/>
              </a:lnSpc>
              <a:spcBef>
                <a:spcPts val="0"/>
              </a:spcBef>
              <a:spcAft>
                <a:spcPts val="400"/>
              </a:spcAft>
            </a:pPr>
            <a:r>
              <a:rPr sz="1200" b="0" i="0">
                <a:solidFill>
                  <a:srgbClr val="1E293B"/>
                </a:solidFill>
                <a:latin typeface="Segoe UI"/>
                <a:cs typeface="Segoe UI"/>
              </a:rPr>
              <a:t>Tuyến ức bắt đầu hình thành</a:t>
            </a:r>
          </a:p>
        </p:txBody>
      </p:sp>
      <p:sp>
        <p:nvSpPr>
          <p:cNvPr id="16" name="Oval 15"/>
          <p:cNvSpPr/>
          <p:nvPr/>
        </p:nvSpPr>
        <p:spPr>
          <a:xfrm>
            <a:off x="4160520" y="2606040"/>
            <a:ext cx="457200" cy="457200"/>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1400" b="1" i="0">
                <a:solidFill>
                  <a:srgbClr val="FFFFFF"/>
                </a:solidFill>
                <a:latin typeface="Segoe UI"/>
                <a:cs typeface="Segoe UI"/>
              </a:rPr>
              <a:t>2</a:t>
            </a:r>
          </a:p>
        </p:txBody>
      </p:sp>
      <p:sp>
        <p:nvSpPr>
          <p:cNvPr id="17" name="TextBox 16"/>
          <p:cNvSpPr txBox="1"/>
          <p:nvPr/>
        </p:nvSpPr>
        <p:spPr>
          <a:xfrm>
            <a:off x="3246120" y="2057400"/>
            <a:ext cx="2286000" cy="365760"/>
          </a:xfrm>
          <a:prstGeom prst="rect">
            <a:avLst/>
          </a:prstGeom>
          <a:noFill/>
        </p:spPr>
        <p:txBody>
          <a:bodyPr wrap="square" lIns="0" tIns="0" rIns="0" bIns="0" anchor="t">
            <a:spAutoFit/>
          </a:bodyPr>
          <a:lstStyle/>
          <a:p>
            <a:pPr algn="ctr">
              <a:lnSpc>
                <a:spcPct val="100000"/>
              </a:lnSpc>
              <a:spcBef>
                <a:spcPts val="0"/>
              </a:spcBef>
              <a:spcAft>
                <a:spcPts val="400"/>
              </a:spcAft>
            </a:pPr>
            <a:r>
              <a:rPr sz="1500" b="1" i="0">
                <a:solidFill>
                  <a:srgbClr val="19A99D"/>
                </a:solidFill>
                <a:latin typeface="Segoe UI Semibold"/>
                <a:cs typeface="Segoe UI Semibold"/>
              </a:rPr>
              <a:t>Tuần 20</a:t>
            </a:r>
          </a:p>
        </p:txBody>
      </p:sp>
      <p:sp>
        <p:nvSpPr>
          <p:cNvPr id="18" name="Rounded Rectangle 17"/>
          <p:cNvSpPr/>
          <p:nvPr/>
        </p:nvSpPr>
        <p:spPr>
          <a:xfrm>
            <a:off x="3154679" y="3291840"/>
            <a:ext cx="2468880" cy="1554480"/>
          </a:xfrm>
          <a:prstGeom prst="roundRect">
            <a:avLst>
              <a:gd name="adj" fmla="val 6000"/>
            </a:avLst>
          </a:prstGeom>
          <a:solidFill>
            <a:srgbClr val="E0F5F4"/>
          </a:solidFill>
          <a:ln w="13970">
            <a:solidFill>
              <a:srgbClr val="19A99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337559" y="3456432"/>
            <a:ext cx="2103120" cy="1280160"/>
          </a:xfrm>
          <a:prstGeom prst="rect">
            <a:avLst/>
          </a:prstGeom>
          <a:noFill/>
        </p:spPr>
        <p:txBody>
          <a:bodyPr wrap="square" lIns="0" tIns="0" rIns="0" bIns="0" anchor="t">
            <a:spAutoFit/>
          </a:bodyPr>
          <a:lstStyle/>
          <a:p>
            <a:pPr algn="ctr">
              <a:lnSpc>
                <a:spcPct val="108000"/>
              </a:lnSpc>
              <a:spcBef>
                <a:spcPts val="0"/>
              </a:spcBef>
              <a:spcAft>
                <a:spcPts val="400"/>
              </a:spcAft>
            </a:pPr>
            <a:r>
              <a:rPr sz="1200" b="0" i="0">
                <a:solidFill>
                  <a:srgbClr val="1E293B"/>
                </a:solidFill>
                <a:latin typeface="Segoe UI"/>
                <a:cs typeface="Segoe UI"/>
              </a:rPr>
              <a:t>Tủy xương phát triển; mẹ truyền kháng thể qua nhau thai</a:t>
            </a:r>
          </a:p>
        </p:txBody>
      </p:sp>
      <p:sp>
        <p:nvSpPr>
          <p:cNvPr id="20" name="Oval 19"/>
          <p:cNvSpPr/>
          <p:nvPr/>
        </p:nvSpPr>
        <p:spPr>
          <a:xfrm>
            <a:off x="6903720" y="2606040"/>
            <a:ext cx="457200" cy="457200"/>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1400" b="1" i="0">
                <a:solidFill>
                  <a:srgbClr val="FFFFFF"/>
                </a:solidFill>
                <a:latin typeface="Segoe UI"/>
                <a:cs typeface="Segoe UI"/>
              </a:rPr>
              <a:t>3</a:t>
            </a:r>
          </a:p>
        </p:txBody>
      </p:sp>
      <p:sp>
        <p:nvSpPr>
          <p:cNvPr id="21" name="TextBox 20"/>
          <p:cNvSpPr txBox="1"/>
          <p:nvPr/>
        </p:nvSpPr>
        <p:spPr>
          <a:xfrm>
            <a:off x="5989320" y="2057400"/>
            <a:ext cx="2286000" cy="365760"/>
          </a:xfrm>
          <a:prstGeom prst="rect">
            <a:avLst/>
          </a:prstGeom>
          <a:noFill/>
        </p:spPr>
        <p:txBody>
          <a:bodyPr wrap="square" lIns="0" tIns="0" rIns="0" bIns="0" anchor="t">
            <a:spAutoFit/>
          </a:bodyPr>
          <a:lstStyle/>
          <a:p>
            <a:pPr algn="ctr">
              <a:lnSpc>
                <a:spcPct val="100000"/>
              </a:lnSpc>
              <a:spcBef>
                <a:spcPts val="0"/>
              </a:spcBef>
              <a:spcAft>
                <a:spcPts val="400"/>
              </a:spcAft>
            </a:pPr>
            <a:r>
              <a:rPr sz="1500" b="1" i="0">
                <a:solidFill>
                  <a:srgbClr val="3A6B35"/>
                </a:solidFill>
                <a:latin typeface="Segoe UI Semibold"/>
                <a:cs typeface="Segoe UI Semibold"/>
              </a:rPr>
              <a:t>Khi sinh</a:t>
            </a:r>
          </a:p>
        </p:txBody>
      </p:sp>
      <p:sp>
        <p:nvSpPr>
          <p:cNvPr id="22" name="Rounded Rectangle 21"/>
          <p:cNvSpPr/>
          <p:nvPr/>
        </p:nvSpPr>
        <p:spPr>
          <a:xfrm>
            <a:off x="5897879" y="3291840"/>
            <a:ext cx="2468880" cy="1554480"/>
          </a:xfrm>
          <a:prstGeom prst="roundRect">
            <a:avLst>
              <a:gd name="adj" fmla="val 6000"/>
            </a:avLst>
          </a:prstGeom>
          <a:solidFill>
            <a:srgbClr val="E0F5F4"/>
          </a:solidFill>
          <a:ln w="13970">
            <a:solidFill>
              <a:srgbClr val="3A6B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080759" y="3456432"/>
            <a:ext cx="2103120" cy="1280160"/>
          </a:xfrm>
          <a:prstGeom prst="rect">
            <a:avLst/>
          </a:prstGeom>
          <a:noFill/>
        </p:spPr>
        <p:txBody>
          <a:bodyPr wrap="square" lIns="0" tIns="0" rIns="0" bIns="0" anchor="t">
            <a:spAutoFit/>
          </a:bodyPr>
          <a:lstStyle/>
          <a:p>
            <a:pPr algn="ctr">
              <a:lnSpc>
                <a:spcPct val="108000"/>
              </a:lnSpc>
              <a:spcBef>
                <a:spcPts val="0"/>
              </a:spcBef>
              <a:spcAft>
                <a:spcPts val="400"/>
              </a:spcAft>
            </a:pPr>
            <a:r>
              <a:rPr sz="1200" b="0" i="0">
                <a:solidFill>
                  <a:srgbClr val="1E293B"/>
                </a:solidFill>
                <a:latin typeface="Segoe UI"/>
                <a:cs typeface="Segoe UI"/>
              </a:rPr>
              <a:t>Hệ bạch huyết đã có nhưng còn “non”, chưa hoàn thiện</a:t>
            </a:r>
          </a:p>
        </p:txBody>
      </p:sp>
      <p:sp>
        <p:nvSpPr>
          <p:cNvPr id="24" name="Oval 23"/>
          <p:cNvSpPr/>
          <p:nvPr/>
        </p:nvSpPr>
        <p:spPr>
          <a:xfrm>
            <a:off x="9646919" y="260604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1400" b="1" i="0">
                <a:solidFill>
                  <a:srgbClr val="FFFFFF"/>
                </a:solidFill>
                <a:latin typeface="Segoe UI"/>
                <a:cs typeface="Segoe UI"/>
              </a:rPr>
              <a:t>4</a:t>
            </a:r>
          </a:p>
        </p:txBody>
      </p:sp>
      <p:sp>
        <p:nvSpPr>
          <p:cNvPr id="25" name="TextBox 24"/>
          <p:cNvSpPr txBox="1"/>
          <p:nvPr/>
        </p:nvSpPr>
        <p:spPr>
          <a:xfrm>
            <a:off x="8732519" y="2057400"/>
            <a:ext cx="2286000" cy="365760"/>
          </a:xfrm>
          <a:prstGeom prst="rect">
            <a:avLst/>
          </a:prstGeom>
          <a:noFill/>
        </p:spPr>
        <p:txBody>
          <a:bodyPr wrap="square" lIns="0" tIns="0" rIns="0" bIns="0" anchor="t">
            <a:spAutoFit/>
          </a:bodyPr>
          <a:lstStyle/>
          <a:p>
            <a:pPr algn="ctr">
              <a:lnSpc>
                <a:spcPct val="100000"/>
              </a:lnSpc>
              <a:spcBef>
                <a:spcPts val="0"/>
              </a:spcBef>
              <a:spcAft>
                <a:spcPts val="400"/>
              </a:spcAft>
            </a:pPr>
            <a:r>
              <a:rPr sz="1500" b="1" i="0">
                <a:solidFill>
                  <a:srgbClr val="F59E0B"/>
                </a:solidFill>
                <a:latin typeface="Segoe UI Semibold"/>
                <a:cs typeface="Segoe UI Semibold"/>
              </a:rPr>
              <a:t>0 – 6 tháng</a:t>
            </a:r>
          </a:p>
        </p:txBody>
      </p:sp>
      <p:sp>
        <p:nvSpPr>
          <p:cNvPr id="26" name="Rounded Rectangle 25"/>
          <p:cNvSpPr/>
          <p:nvPr/>
        </p:nvSpPr>
        <p:spPr>
          <a:xfrm>
            <a:off x="8641080" y="3291840"/>
            <a:ext cx="2468880" cy="1554480"/>
          </a:xfrm>
          <a:prstGeom prst="roundRect">
            <a:avLst>
              <a:gd name="adj" fmla="val 6000"/>
            </a:avLst>
          </a:prstGeom>
          <a:solidFill>
            <a:srgbClr val="E0F5F4"/>
          </a:solidFill>
          <a:ln w="1397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823960" y="3456432"/>
            <a:ext cx="2103120" cy="1280160"/>
          </a:xfrm>
          <a:prstGeom prst="rect">
            <a:avLst/>
          </a:prstGeom>
          <a:noFill/>
        </p:spPr>
        <p:txBody>
          <a:bodyPr wrap="square" lIns="0" tIns="0" rIns="0" bIns="0" anchor="t">
            <a:spAutoFit/>
          </a:bodyPr>
          <a:lstStyle/>
          <a:p>
            <a:pPr algn="ctr">
              <a:lnSpc>
                <a:spcPct val="108000"/>
              </a:lnSpc>
              <a:spcBef>
                <a:spcPts val="0"/>
              </a:spcBef>
              <a:spcAft>
                <a:spcPts val="400"/>
              </a:spcAft>
            </a:pPr>
            <a:r>
              <a:rPr sz="1200" b="0" i="0">
                <a:solidFill>
                  <a:srgbClr val="1E293B"/>
                </a:solidFill>
                <a:latin typeface="Segoe UI"/>
                <a:cs typeface="Segoe UI"/>
              </a:rPr>
              <a:t>Kháng thể mẹ (IgG, IgA) bảo vệ trẻ</a:t>
            </a:r>
          </a:p>
        </p:txBody>
      </p:sp>
      <p:sp>
        <p:nvSpPr>
          <p:cNvPr id="28" name="TextBox 27"/>
          <p:cNvSpPr txBox="1"/>
          <p:nvPr/>
        </p:nvSpPr>
        <p:spPr>
          <a:xfrm>
            <a:off x="1097280" y="5166360"/>
            <a:ext cx="9784080" cy="640080"/>
          </a:xfrm>
          <a:prstGeom prst="rect">
            <a:avLst/>
          </a:prstGeom>
          <a:noFill/>
        </p:spPr>
        <p:txBody>
          <a:bodyPr wrap="square" lIns="0" tIns="0" rIns="0" bIns="0" anchor="t">
            <a:spAutoFit/>
          </a:bodyPr>
          <a:lstStyle/>
          <a:p>
            <a:pPr algn="ctr">
              <a:lnSpc>
                <a:spcPct val="110000"/>
              </a:lnSpc>
              <a:spcBef>
                <a:spcPts val="0"/>
              </a:spcBef>
              <a:spcAft>
                <a:spcPts val="400"/>
              </a:spcAft>
            </a:pPr>
            <a:r>
              <a:rPr sz="1350" b="0" i="0">
                <a:solidFill>
                  <a:srgbClr val="1E293B"/>
                </a:solidFill>
                <a:latin typeface="Segoe UI"/>
                <a:cs typeface="Segoe UI"/>
              </a:rPr>
              <a:t>Thiếu dinh dưỡng khi mang thai có thể làm tổn thương tuyến ức và tế bào miễn dịch, </a:t>
            </a:r>
            <a:r>
              <a:rPr sz="1350" b="1" i="0">
                <a:solidFill>
                  <a:srgbClr val="E26D5A"/>
                </a:solidFill>
                <a:latin typeface="Segoe UI"/>
                <a:cs typeface="Segoe UI"/>
              </a:rPr>
              <a:t>để lại hậu quả lâu dài</a:t>
            </a:r>
            <a:r>
              <a:rPr sz="1350" b="0" i="0">
                <a:solidFill>
                  <a:srgbClr val="1E293B"/>
                </a:solidFill>
                <a:latin typeface="Segoe UI"/>
                <a:cs typeface="Segoe UI"/>
              </a:rPr>
              <a:t> cho sức đề kháng của trẻ.</a:t>
            </a:r>
          </a:p>
        </p:txBody>
      </p:sp>
      <p:sp>
        <p:nvSpPr>
          <p:cNvPr id="29" name="TextBox 28"/>
          <p:cNvSpPr txBox="1"/>
          <p:nvPr/>
        </p:nvSpPr>
        <p:spPr>
          <a:xfrm>
            <a:off x="548640" y="6144768"/>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50" b="1" i="1">
                <a:solidFill>
                  <a:srgbClr val="19A99D"/>
                </a:solidFill>
                <a:latin typeface="Segoe UI"/>
                <a:cs typeface="Segoe UI"/>
              </a:rPr>
              <a:t>Nguồn: </a:t>
            </a:r>
            <a:r>
              <a:rPr sz="950" b="0" i="1">
                <a:solidFill>
                  <a:srgbClr val="64748B"/>
                </a:solidFill>
                <a:latin typeface="Segoe UI"/>
                <a:cs typeface="Segoe UI"/>
              </a:rPr>
              <a:t>Pai UA et al., Clin Epidemiol Glob Health 2018 (immune system development)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384048" y="274320"/>
            <a:ext cx="384048" cy="384048"/>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4068" y="329184"/>
            <a:ext cx="104241"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66344" y="406908"/>
            <a:ext cx="274320" cy="10424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274320"/>
            <a:ext cx="2926080" cy="402336"/>
          </a:xfrm>
          <a:prstGeom prst="rect">
            <a:avLst/>
          </a:prstGeom>
          <a:noFill/>
        </p:spPr>
        <p:txBody>
          <a:bodyPr wrap="square" lIns="0" tIns="0" rIns="0" bIns="0" anchor="ctr">
            <a:spAutoFit/>
          </a:bodyPr>
          <a:lstStyle/>
          <a:p>
            <a:pPr algn="l">
              <a:lnSpc>
                <a:spcPct val="100000"/>
              </a:lnSpc>
              <a:spcBef>
                <a:spcPts val="0"/>
              </a:spcBef>
              <a:spcAft>
                <a:spcPts val="400"/>
              </a:spcAft>
            </a:pPr>
            <a:r>
              <a:rPr sz="1300" b="1" i="0">
                <a:solidFill>
                  <a:srgbClr val="1E293B"/>
                </a:solidFill>
                <a:latin typeface="Segoe UI"/>
                <a:cs typeface="Segoe UI"/>
              </a:rPr>
              <a:t>DINH DƯỠNG </a:t>
            </a:r>
            <a:r>
              <a:rPr sz="1300" b="1" i="0">
                <a:solidFill>
                  <a:srgbClr val="19A99D"/>
                </a:solidFill>
                <a:latin typeface="Segoe UI"/>
                <a:cs typeface="Segoe UI"/>
              </a:rPr>
              <a:t>NHI KHOA</a:t>
            </a:r>
          </a:p>
        </p:txBody>
      </p:sp>
      <p:sp>
        <p:nvSpPr>
          <p:cNvPr id="6" name="Rectangle 5"/>
          <p:cNvSpPr/>
          <p:nvPr/>
        </p:nvSpPr>
        <p:spPr>
          <a:xfrm>
            <a:off x="0" y="6473952"/>
            <a:ext cx="12191695" cy="384048"/>
          </a:xfrm>
          <a:prstGeom prst="rect">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492240"/>
            <a:ext cx="9601200" cy="347472"/>
          </a:xfrm>
          <a:prstGeom prst="rect">
            <a:avLst/>
          </a:prstGeom>
          <a:noFill/>
        </p:spPr>
        <p:txBody>
          <a:bodyPr wrap="square" lIns="0" tIns="0" rIns="0" bIns="0" anchor="ctr">
            <a:spAutoFit/>
          </a:bodyPr>
          <a:lstStyle/>
          <a:p>
            <a:pPr algn="l">
              <a:lnSpc>
                <a:spcPct val="100000"/>
              </a:lnSpc>
              <a:spcBef>
                <a:spcPts val="0"/>
              </a:spcBef>
              <a:spcAft>
                <a:spcPts val="400"/>
              </a:spcAft>
            </a:pPr>
            <a:r>
              <a:rPr sz="950" b="0" i="0">
                <a:solidFill>
                  <a:srgbClr val="FFFFFF"/>
                </a:solidFill>
                <a:latin typeface="Segoe UI"/>
                <a:cs typeface="Segoe UI"/>
              </a:rPr>
              <a:t>Chuyên đề 2 · Dinh dưỡng – nền tảng cho miễn dịch &amp; sự phát triển của trẻ  ·  TS. Lê Thị Thùy Dung</a:t>
            </a:r>
          </a:p>
        </p:txBody>
      </p:sp>
      <p:sp>
        <p:nvSpPr>
          <p:cNvPr id="8" name="TextBox 7"/>
          <p:cNvSpPr txBox="1"/>
          <p:nvPr/>
        </p:nvSpPr>
        <p:spPr>
          <a:xfrm>
            <a:off x="11185855" y="6492240"/>
            <a:ext cx="548640" cy="347472"/>
          </a:xfrm>
          <a:prstGeom prst="rect">
            <a:avLst/>
          </a:prstGeom>
          <a:noFill/>
        </p:spPr>
        <p:txBody>
          <a:bodyPr wrap="square" lIns="0" tIns="0" rIns="0" bIns="0" anchor="ctr">
            <a:spAutoFit/>
          </a:bodyPr>
          <a:lstStyle/>
          <a:p>
            <a:pPr algn="r">
              <a:lnSpc>
                <a:spcPct val="100000"/>
              </a:lnSpc>
              <a:spcBef>
                <a:spcPts val="0"/>
              </a:spcBef>
              <a:spcAft>
                <a:spcPts val="400"/>
              </a:spcAft>
            </a:pPr>
            <a:r>
              <a:rPr sz="1000" b="1" i="0">
                <a:solidFill>
                  <a:srgbClr val="FFFFFF"/>
                </a:solidFill>
                <a:latin typeface="Segoe UI"/>
                <a:cs typeface="Segoe UI"/>
              </a:rPr>
              <a:t>23</a:t>
            </a:r>
          </a:p>
        </p:txBody>
      </p:sp>
      <p:sp>
        <p:nvSpPr>
          <p:cNvPr id="9" name="TextBox 8"/>
          <p:cNvSpPr txBox="1"/>
          <p:nvPr/>
        </p:nvSpPr>
        <p:spPr>
          <a:xfrm>
            <a:off x="548640" y="841248"/>
            <a:ext cx="10881360" cy="566928"/>
          </a:xfrm>
          <a:prstGeom prst="rect">
            <a:avLst/>
          </a:prstGeom>
          <a:noFill/>
        </p:spPr>
        <p:txBody>
          <a:bodyPr wrap="square" lIns="0" tIns="0" rIns="0" bIns="0" anchor="t">
            <a:spAutoFit/>
          </a:bodyPr>
          <a:lstStyle/>
          <a:p>
            <a:pPr algn="l">
              <a:lnSpc>
                <a:spcPct val="100000"/>
              </a:lnSpc>
              <a:spcBef>
                <a:spcPts val="0"/>
              </a:spcBef>
              <a:spcAft>
                <a:spcPts val="400"/>
              </a:spcAft>
            </a:pPr>
            <a:r>
              <a:rPr sz="2700" b="1" i="0">
                <a:solidFill>
                  <a:srgbClr val="19A99D"/>
                </a:solidFill>
                <a:latin typeface="Segoe UI Semibold"/>
                <a:cs typeface="Segoe UI Semibold"/>
              </a:rPr>
              <a:t>“Khoảng trống miễn dịch”: 6 tháng – 3 tuổi</a:t>
            </a:r>
          </a:p>
        </p:txBody>
      </p:sp>
      <p:sp>
        <p:nvSpPr>
          <p:cNvPr id="10" name="TextBox 9"/>
          <p:cNvSpPr txBox="1"/>
          <p:nvPr/>
        </p:nvSpPr>
        <p:spPr>
          <a:xfrm>
            <a:off x="548640" y="1408176"/>
            <a:ext cx="10881360" cy="365760"/>
          </a:xfrm>
          <a:prstGeom prst="rect">
            <a:avLst/>
          </a:prstGeom>
          <a:noFill/>
        </p:spPr>
        <p:txBody>
          <a:bodyPr wrap="square" lIns="0" tIns="0" rIns="0" bIns="0" anchor="t">
            <a:spAutoFit/>
          </a:bodyPr>
          <a:lstStyle/>
          <a:p>
            <a:pPr algn="l">
              <a:lnSpc>
                <a:spcPct val="100000"/>
              </a:lnSpc>
              <a:spcBef>
                <a:spcPts val="0"/>
              </a:spcBef>
              <a:spcAft>
                <a:spcPts val="400"/>
              </a:spcAft>
            </a:pPr>
            <a:r>
              <a:rPr sz="1500" b="0" i="1">
                <a:solidFill>
                  <a:srgbClr val="64748B"/>
                </a:solidFill>
                <a:latin typeface="Segoe UI"/>
                <a:cs typeface="Segoe UI"/>
              </a:rPr>
              <a:t>Giai đoạn trẻ dễ ốm vặt nhất – cần được hỗ trợ</a:t>
            </a:r>
          </a:p>
        </p:txBody>
      </p:sp>
      <p:graphicFrame>
        <p:nvGraphicFramePr>
          <p:cNvPr id="11" name="Chart 10"/>
          <p:cNvGraphicFramePr>
            <a:graphicFrameLocks noGrp="1"/>
          </p:cNvGraphicFramePr>
          <p:nvPr/>
        </p:nvGraphicFramePr>
        <p:xfrm>
          <a:off x="731520" y="1920240"/>
          <a:ext cx="6035040" cy="3657600"/>
        </p:xfrm>
        <a:graphic>
          <a:graphicData uri="http://schemas.openxmlformats.org/drawingml/2006/chart">
            <c:chart xmlns:c="http://schemas.openxmlformats.org/drawingml/2006/chart" xmlns:r="http://schemas.openxmlformats.org/officeDocument/2006/relationships" r:id="rId2"/>
          </a:graphicData>
        </a:graphic>
      </p:graphicFrame>
      <p:sp>
        <p:nvSpPr>
          <p:cNvPr id="12" name="TextBox 11"/>
          <p:cNvSpPr txBox="1"/>
          <p:nvPr/>
        </p:nvSpPr>
        <p:spPr>
          <a:xfrm>
            <a:off x="7040880" y="2011680"/>
            <a:ext cx="4754880" cy="3657600"/>
          </a:xfrm>
          <a:prstGeom prst="rect">
            <a:avLst/>
          </a:prstGeom>
          <a:noFill/>
        </p:spPr>
        <p:txBody>
          <a:bodyPr wrap="square" lIns="0" tIns="0" rIns="0" bIns="0" anchor="t">
            <a:spAutoFit/>
          </a:bodyPr>
          <a:lstStyle/>
          <a:p>
            <a:pPr algn="l">
              <a:lnSpc>
                <a:spcPct val="112000"/>
              </a:lnSpc>
              <a:spcBef>
                <a:spcPts val="0"/>
              </a:spcBef>
              <a:spcAft>
                <a:spcPts val="1200"/>
              </a:spcAft>
            </a:pPr>
            <a:r>
              <a:rPr sz="1450" b="0" i="0">
                <a:solidFill>
                  <a:srgbClr val="1E293B"/>
                </a:solidFill>
                <a:latin typeface="Segoe UI"/>
                <a:cs typeface="Segoe UI"/>
              </a:rPr>
              <a:t>Trẻ 6 tháng – 3 tuổi nằm trong “vùng trũng”: </a:t>
            </a:r>
            <a:r>
              <a:rPr sz="1450" b="1" i="0">
                <a:solidFill>
                  <a:srgbClr val="F59E0B"/>
                </a:solidFill>
                <a:latin typeface="Segoe UI"/>
                <a:cs typeface="Segoe UI"/>
              </a:rPr>
              <a:t>kháng thể từ mẹ đã giảm</a:t>
            </a:r>
            <a:r>
              <a:rPr sz="1450" b="0" i="0">
                <a:solidFill>
                  <a:srgbClr val="1E293B"/>
                </a:solidFill>
                <a:latin typeface="Segoe UI"/>
                <a:cs typeface="Segoe UI"/>
              </a:rPr>
              <a:t> nhưng </a:t>
            </a:r>
            <a:r>
              <a:rPr sz="1450" b="1" i="0">
                <a:solidFill>
                  <a:srgbClr val="19A99D"/>
                </a:solidFill>
                <a:latin typeface="Segoe UI"/>
                <a:cs typeface="Segoe UI"/>
              </a:rPr>
              <a:t>miễn dịch của bản thân chưa hoàn thiện.</a:t>
            </a:r>
          </a:p>
          <a:p>
            <a:pPr algn="l">
              <a:lnSpc>
                <a:spcPct val="112000"/>
              </a:lnSpc>
              <a:spcBef>
                <a:spcPts val="0"/>
              </a:spcBef>
              <a:spcAft>
                <a:spcPts val="1200"/>
              </a:spcAft>
            </a:pPr>
            <a:r>
              <a:rPr sz="1450" b="0" i="0">
                <a:solidFill>
                  <a:srgbClr val="1E293B"/>
                </a:solidFill>
                <a:latin typeface="Segoe UI"/>
                <a:cs typeface="Segoe UI"/>
              </a:rPr>
              <a:t>Đây là lúc trẻ </a:t>
            </a:r>
            <a:r>
              <a:rPr sz="1450" b="1" i="0">
                <a:solidFill>
                  <a:srgbClr val="E26D5A"/>
                </a:solidFill>
                <a:latin typeface="Segoe UI"/>
                <a:cs typeface="Segoe UI"/>
              </a:rPr>
              <a:t>hay mắc tiêu chảy, ho, sốt, viêm hô hấp</a:t>
            </a:r>
            <a:r>
              <a:rPr sz="1450" b="0" i="0">
                <a:solidFill>
                  <a:srgbClr val="1E293B"/>
                </a:solidFill>
                <a:latin typeface="Segoe UI"/>
                <a:cs typeface="Segoe UI"/>
              </a:rPr>
              <a:t> nhất.</a:t>
            </a:r>
          </a:p>
          <a:p>
            <a:pPr algn="l">
              <a:lnSpc>
                <a:spcPct val="112000"/>
              </a:lnSpc>
              <a:spcBef>
                <a:spcPts val="0"/>
              </a:spcBef>
              <a:spcAft>
                <a:spcPts val="700"/>
              </a:spcAft>
            </a:pPr>
            <a:r>
              <a:rPr sz="1450" b="0" i="0">
                <a:solidFill>
                  <a:srgbClr val="1E293B"/>
                </a:solidFill>
                <a:latin typeface="Segoe UI"/>
                <a:cs typeface="Segoe UI"/>
              </a:rPr>
              <a:t>Dinh dưỡng hợp lý + bú mẹ + vi chất giúp </a:t>
            </a:r>
            <a:r>
              <a:rPr sz="1450" b="1" i="0">
                <a:solidFill>
                  <a:srgbClr val="3A6B35"/>
                </a:solidFill>
                <a:latin typeface="Segoe UI"/>
                <a:cs typeface="Segoe UI"/>
              </a:rPr>
              <a:t>“lấp đầy” khoảng trống</a:t>
            </a:r>
            <a:r>
              <a:rPr sz="1450" b="0" i="0">
                <a:solidFill>
                  <a:srgbClr val="1E293B"/>
                </a:solidFill>
                <a:latin typeface="Segoe UI"/>
                <a:cs typeface="Segoe UI"/>
              </a:rPr>
              <a:t> này.</a:t>
            </a:r>
          </a:p>
        </p:txBody>
      </p:sp>
      <p:sp>
        <p:nvSpPr>
          <p:cNvPr id="13" name="TextBox 12"/>
          <p:cNvSpPr txBox="1"/>
          <p:nvPr/>
        </p:nvSpPr>
        <p:spPr>
          <a:xfrm>
            <a:off x="548640" y="6144768"/>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50" b="1" i="1">
                <a:solidFill>
                  <a:srgbClr val="19A99D"/>
                </a:solidFill>
                <a:latin typeface="Segoe UI"/>
                <a:cs typeface="Segoe UI"/>
              </a:rPr>
              <a:t>Nguồn: </a:t>
            </a:r>
            <a:r>
              <a:rPr sz="950" b="0" i="1">
                <a:solidFill>
                  <a:srgbClr val="64748B"/>
                </a:solidFill>
                <a:latin typeface="Segoe UI"/>
                <a:cs typeface="Segoe UI"/>
              </a:rPr>
              <a:t>PGS.TS Nguyễn Thị Việt Hà, ĐH Y Hà Nội; Butler &amp; Wertz, Front Immunol 2012 (biểu đồ minh họa)</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384048" y="274320"/>
            <a:ext cx="384048" cy="384048"/>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4068" y="329184"/>
            <a:ext cx="104241"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66344" y="406908"/>
            <a:ext cx="274320" cy="10424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274320"/>
            <a:ext cx="2926080" cy="402336"/>
          </a:xfrm>
          <a:prstGeom prst="rect">
            <a:avLst/>
          </a:prstGeom>
          <a:noFill/>
        </p:spPr>
        <p:txBody>
          <a:bodyPr wrap="square" lIns="0" tIns="0" rIns="0" bIns="0" anchor="ctr">
            <a:spAutoFit/>
          </a:bodyPr>
          <a:lstStyle/>
          <a:p>
            <a:pPr algn="l">
              <a:lnSpc>
                <a:spcPct val="100000"/>
              </a:lnSpc>
              <a:spcBef>
                <a:spcPts val="0"/>
              </a:spcBef>
              <a:spcAft>
                <a:spcPts val="400"/>
              </a:spcAft>
            </a:pPr>
            <a:r>
              <a:rPr sz="1300" b="1" i="0">
                <a:solidFill>
                  <a:srgbClr val="1E293B"/>
                </a:solidFill>
                <a:latin typeface="Segoe UI"/>
                <a:cs typeface="Segoe UI"/>
              </a:rPr>
              <a:t>DINH DƯỠNG </a:t>
            </a:r>
            <a:r>
              <a:rPr sz="1300" b="1" i="0">
                <a:solidFill>
                  <a:srgbClr val="19A99D"/>
                </a:solidFill>
                <a:latin typeface="Segoe UI"/>
                <a:cs typeface="Segoe UI"/>
              </a:rPr>
              <a:t>NHI KHOA</a:t>
            </a:r>
          </a:p>
        </p:txBody>
      </p:sp>
      <p:sp>
        <p:nvSpPr>
          <p:cNvPr id="6" name="Rectangle 5"/>
          <p:cNvSpPr/>
          <p:nvPr/>
        </p:nvSpPr>
        <p:spPr>
          <a:xfrm>
            <a:off x="0" y="6473952"/>
            <a:ext cx="12191695" cy="384048"/>
          </a:xfrm>
          <a:prstGeom prst="rect">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492240"/>
            <a:ext cx="9601200" cy="347472"/>
          </a:xfrm>
          <a:prstGeom prst="rect">
            <a:avLst/>
          </a:prstGeom>
          <a:noFill/>
        </p:spPr>
        <p:txBody>
          <a:bodyPr wrap="square" lIns="0" tIns="0" rIns="0" bIns="0" anchor="ctr">
            <a:spAutoFit/>
          </a:bodyPr>
          <a:lstStyle/>
          <a:p>
            <a:pPr algn="l">
              <a:lnSpc>
                <a:spcPct val="100000"/>
              </a:lnSpc>
              <a:spcBef>
                <a:spcPts val="0"/>
              </a:spcBef>
              <a:spcAft>
                <a:spcPts val="400"/>
              </a:spcAft>
            </a:pPr>
            <a:r>
              <a:rPr sz="950" b="0" i="0">
                <a:solidFill>
                  <a:srgbClr val="FFFFFF"/>
                </a:solidFill>
                <a:latin typeface="Segoe UI"/>
                <a:cs typeface="Segoe UI"/>
              </a:rPr>
              <a:t>Chuyên đề 2 · Dinh dưỡng – nền tảng cho miễn dịch &amp; sự phát triển của trẻ  ·  TS. Lê Thị Thùy Dung</a:t>
            </a:r>
          </a:p>
        </p:txBody>
      </p:sp>
      <p:sp>
        <p:nvSpPr>
          <p:cNvPr id="8" name="TextBox 7"/>
          <p:cNvSpPr txBox="1"/>
          <p:nvPr/>
        </p:nvSpPr>
        <p:spPr>
          <a:xfrm>
            <a:off x="11185855" y="6492240"/>
            <a:ext cx="548640" cy="347472"/>
          </a:xfrm>
          <a:prstGeom prst="rect">
            <a:avLst/>
          </a:prstGeom>
          <a:noFill/>
        </p:spPr>
        <p:txBody>
          <a:bodyPr wrap="square" lIns="0" tIns="0" rIns="0" bIns="0" anchor="ctr">
            <a:spAutoFit/>
          </a:bodyPr>
          <a:lstStyle/>
          <a:p>
            <a:pPr algn="r">
              <a:lnSpc>
                <a:spcPct val="100000"/>
              </a:lnSpc>
              <a:spcBef>
                <a:spcPts val="0"/>
              </a:spcBef>
              <a:spcAft>
                <a:spcPts val="400"/>
              </a:spcAft>
            </a:pPr>
            <a:r>
              <a:rPr sz="1000" b="1" i="0">
                <a:solidFill>
                  <a:srgbClr val="FFFFFF"/>
                </a:solidFill>
                <a:latin typeface="Segoe UI"/>
                <a:cs typeface="Segoe UI"/>
              </a:rPr>
              <a:t>24</a:t>
            </a:r>
          </a:p>
        </p:txBody>
      </p:sp>
      <p:sp>
        <p:nvSpPr>
          <p:cNvPr id="9" name="TextBox 8"/>
          <p:cNvSpPr txBox="1"/>
          <p:nvPr/>
        </p:nvSpPr>
        <p:spPr>
          <a:xfrm>
            <a:off x="548640" y="841248"/>
            <a:ext cx="10881360" cy="566928"/>
          </a:xfrm>
          <a:prstGeom prst="rect">
            <a:avLst/>
          </a:prstGeom>
          <a:noFill/>
        </p:spPr>
        <p:txBody>
          <a:bodyPr wrap="square" lIns="0" tIns="0" rIns="0" bIns="0" anchor="t">
            <a:spAutoFit/>
          </a:bodyPr>
          <a:lstStyle/>
          <a:p>
            <a:pPr algn="l">
              <a:lnSpc>
                <a:spcPct val="100000"/>
              </a:lnSpc>
              <a:spcBef>
                <a:spcPts val="0"/>
              </a:spcBef>
              <a:spcAft>
                <a:spcPts val="400"/>
              </a:spcAft>
            </a:pPr>
            <a:r>
              <a:rPr sz="2700" b="1" i="0">
                <a:solidFill>
                  <a:srgbClr val="19A99D"/>
                </a:solidFill>
                <a:latin typeface="Segoe UI Semibold"/>
                <a:cs typeface="Segoe UI Semibold"/>
              </a:rPr>
              <a:t>“Dinh dưỡng miễn dịch” là gì?</a:t>
            </a:r>
          </a:p>
        </p:txBody>
      </p:sp>
      <p:sp>
        <p:nvSpPr>
          <p:cNvPr id="10" name="TextBox 9"/>
          <p:cNvSpPr txBox="1"/>
          <p:nvPr/>
        </p:nvSpPr>
        <p:spPr>
          <a:xfrm>
            <a:off x="548640" y="1408176"/>
            <a:ext cx="10881360" cy="365760"/>
          </a:xfrm>
          <a:prstGeom prst="rect">
            <a:avLst/>
          </a:prstGeom>
          <a:noFill/>
        </p:spPr>
        <p:txBody>
          <a:bodyPr wrap="square" lIns="0" tIns="0" rIns="0" bIns="0" anchor="t">
            <a:spAutoFit/>
          </a:bodyPr>
          <a:lstStyle/>
          <a:p>
            <a:pPr algn="l">
              <a:lnSpc>
                <a:spcPct val="100000"/>
              </a:lnSpc>
              <a:spcBef>
                <a:spcPts val="0"/>
              </a:spcBef>
              <a:spcAft>
                <a:spcPts val="400"/>
              </a:spcAft>
            </a:pPr>
            <a:r>
              <a:rPr sz="1500" b="0" i="1">
                <a:solidFill>
                  <a:srgbClr val="64748B"/>
                </a:solidFill>
                <a:latin typeface="Segoe UI"/>
                <a:cs typeface="Segoe UI"/>
              </a:rPr>
              <a:t>Bổ sung dưỡng chất có hoạt tính để điều hòa hệ miễn dịch</a:t>
            </a:r>
          </a:p>
        </p:txBody>
      </p:sp>
      <p:sp>
        <p:nvSpPr>
          <p:cNvPr id="11" name="Rounded Rectangle 10"/>
          <p:cNvSpPr/>
          <p:nvPr/>
        </p:nvSpPr>
        <p:spPr>
          <a:xfrm>
            <a:off x="731520" y="1874519"/>
            <a:ext cx="10881360" cy="1051560"/>
          </a:xfrm>
          <a:prstGeom prst="roundRect">
            <a:avLst>
              <a:gd name="adj" fmla="val 6000"/>
            </a:avLst>
          </a:prstGeom>
          <a:solidFill>
            <a:srgbClr val="E0F5F4"/>
          </a:solidFill>
          <a:ln w="19050">
            <a:solidFill>
              <a:srgbClr val="19A99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05840" y="2011680"/>
            <a:ext cx="10332720" cy="822960"/>
          </a:xfrm>
          <a:prstGeom prst="rect">
            <a:avLst/>
          </a:prstGeom>
          <a:noFill/>
        </p:spPr>
        <p:txBody>
          <a:bodyPr wrap="square" lIns="0" tIns="0" rIns="0" bIns="0" anchor="ctr">
            <a:spAutoFit/>
          </a:bodyPr>
          <a:lstStyle/>
          <a:p>
            <a:pPr algn="l">
              <a:lnSpc>
                <a:spcPct val="110000"/>
              </a:lnSpc>
              <a:spcBef>
                <a:spcPts val="0"/>
              </a:spcBef>
              <a:spcAft>
                <a:spcPts val="400"/>
              </a:spcAft>
            </a:pPr>
            <a:r>
              <a:rPr sz="1550" b="0" i="1">
                <a:solidFill>
                  <a:srgbClr val="1E293B"/>
                </a:solidFill>
                <a:latin typeface="Segoe UI"/>
                <a:cs typeface="Segoe UI"/>
              </a:rPr>
              <a:t>Là việc bổ sung các chất dinh dưỡng đặc biệt có hoạt tính miễn dịch nhằm điều hòa hệ thống miễn dịch, tạo đáp ứng tốt nhất chống lại bệnh tật.</a:t>
            </a:r>
          </a:p>
        </p:txBody>
      </p:sp>
      <p:sp>
        <p:nvSpPr>
          <p:cNvPr id="13" name="Rounded Rectangle 12"/>
          <p:cNvSpPr/>
          <p:nvPr/>
        </p:nvSpPr>
        <p:spPr>
          <a:xfrm>
            <a:off x="731520" y="3200400"/>
            <a:ext cx="5212080" cy="1143000"/>
          </a:xfrm>
          <a:prstGeom prst="roundRect">
            <a:avLst>
              <a:gd name="adj" fmla="val 6000"/>
            </a:avLst>
          </a:prstGeom>
          <a:solidFill>
            <a:srgbClr val="FFFFFF"/>
          </a:solidFill>
          <a:ln w="17780">
            <a:solidFill>
              <a:srgbClr val="2866A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960120" y="3493008"/>
            <a:ext cx="566928" cy="566928"/>
          </a:xfrm>
          <a:prstGeom prst="ellipse">
            <a:avLst/>
          </a:prstGeom>
          <a:solidFill>
            <a:srgbClr val="2866A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1700" b="1" i="0">
                <a:solidFill>
                  <a:srgbClr val="FFFFFF"/>
                </a:solidFill>
                <a:latin typeface="Segoe UI"/>
                <a:cs typeface="Segoe UI"/>
              </a:rPr>
              <a:t>1</a:t>
            </a:r>
          </a:p>
        </p:txBody>
      </p:sp>
      <p:sp>
        <p:nvSpPr>
          <p:cNvPr id="15" name="TextBox 14"/>
          <p:cNvSpPr txBox="1"/>
          <p:nvPr/>
        </p:nvSpPr>
        <p:spPr>
          <a:xfrm>
            <a:off x="1691640" y="3346704"/>
            <a:ext cx="4114800" cy="41148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2866AB"/>
                </a:solidFill>
                <a:latin typeface="Segoe UI Semibold"/>
                <a:cs typeface="Segoe UI Semibold"/>
              </a:rPr>
              <a:t>Chống viêm</a:t>
            </a:r>
          </a:p>
        </p:txBody>
      </p:sp>
      <p:sp>
        <p:nvSpPr>
          <p:cNvPr id="16" name="TextBox 15"/>
          <p:cNvSpPr txBox="1"/>
          <p:nvPr/>
        </p:nvSpPr>
        <p:spPr>
          <a:xfrm>
            <a:off x="1691640" y="3730752"/>
            <a:ext cx="4160520" cy="548640"/>
          </a:xfrm>
          <a:prstGeom prst="rect">
            <a:avLst/>
          </a:prstGeom>
          <a:noFill/>
        </p:spPr>
        <p:txBody>
          <a:bodyPr wrap="square" lIns="0" tIns="0" rIns="0" bIns="0" anchor="t">
            <a:spAutoFit/>
          </a:bodyPr>
          <a:lstStyle/>
          <a:p>
            <a:pPr algn="l">
              <a:lnSpc>
                <a:spcPct val="104000"/>
              </a:lnSpc>
              <a:spcBef>
                <a:spcPts val="0"/>
              </a:spcBef>
              <a:spcAft>
                <a:spcPts val="400"/>
              </a:spcAft>
            </a:pPr>
            <a:r>
              <a:rPr sz="1150" b="0" i="0">
                <a:solidFill>
                  <a:srgbClr val="1E293B"/>
                </a:solidFill>
                <a:latin typeface="Segoe UI"/>
                <a:cs typeface="Segoe UI"/>
              </a:rPr>
              <a:t>Omega-3, Omega-6 (acid béo không no) – điều hòa phản ứng viêm.</a:t>
            </a:r>
          </a:p>
        </p:txBody>
      </p:sp>
      <p:sp>
        <p:nvSpPr>
          <p:cNvPr id="17" name="Rounded Rectangle 16"/>
          <p:cNvSpPr/>
          <p:nvPr/>
        </p:nvSpPr>
        <p:spPr>
          <a:xfrm>
            <a:off x="6263640" y="3200400"/>
            <a:ext cx="5212080" cy="1143000"/>
          </a:xfrm>
          <a:prstGeom prst="roundRect">
            <a:avLst>
              <a:gd name="adj" fmla="val 6000"/>
            </a:avLst>
          </a:prstGeom>
          <a:solidFill>
            <a:srgbClr val="FFFFFF"/>
          </a:solidFill>
          <a:ln w="17780">
            <a:solidFill>
              <a:srgbClr val="3A6B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6492240" y="3493008"/>
            <a:ext cx="566928" cy="566928"/>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1700" b="1" i="0">
                <a:solidFill>
                  <a:srgbClr val="FFFFFF"/>
                </a:solidFill>
                <a:latin typeface="Segoe UI"/>
                <a:cs typeface="Segoe UI"/>
              </a:rPr>
              <a:t>2</a:t>
            </a:r>
          </a:p>
        </p:txBody>
      </p:sp>
      <p:sp>
        <p:nvSpPr>
          <p:cNvPr id="19" name="TextBox 18"/>
          <p:cNvSpPr txBox="1"/>
          <p:nvPr/>
        </p:nvSpPr>
        <p:spPr>
          <a:xfrm>
            <a:off x="7223759" y="3346704"/>
            <a:ext cx="4114800" cy="41148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3A6B35"/>
                </a:solidFill>
                <a:latin typeface="Segoe UI Semibold"/>
                <a:cs typeface="Segoe UI Semibold"/>
              </a:rPr>
              <a:t>Chống oxy hóa</a:t>
            </a:r>
          </a:p>
        </p:txBody>
      </p:sp>
      <p:sp>
        <p:nvSpPr>
          <p:cNvPr id="20" name="TextBox 19"/>
          <p:cNvSpPr txBox="1"/>
          <p:nvPr/>
        </p:nvSpPr>
        <p:spPr>
          <a:xfrm>
            <a:off x="7223759" y="3730752"/>
            <a:ext cx="4160520" cy="548640"/>
          </a:xfrm>
          <a:prstGeom prst="rect">
            <a:avLst/>
          </a:prstGeom>
          <a:noFill/>
        </p:spPr>
        <p:txBody>
          <a:bodyPr wrap="square" lIns="0" tIns="0" rIns="0" bIns="0" anchor="t">
            <a:spAutoFit/>
          </a:bodyPr>
          <a:lstStyle/>
          <a:p>
            <a:pPr algn="l">
              <a:lnSpc>
                <a:spcPct val="104000"/>
              </a:lnSpc>
              <a:spcBef>
                <a:spcPts val="0"/>
              </a:spcBef>
              <a:spcAft>
                <a:spcPts val="400"/>
              </a:spcAft>
            </a:pPr>
            <a:r>
              <a:rPr sz="1150" b="0" i="0">
                <a:solidFill>
                  <a:srgbClr val="1E293B"/>
                </a:solidFill>
                <a:latin typeface="Segoe UI"/>
                <a:cs typeface="Segoe UI"/>
              </a:rPr>
              <a:t>β-caroten, Vitamin C, E, Selen, Kẽm, Đồng, Arginine, Glutamine.</a:t>
            </a:r>
          </a:p>
        </p:txBody>
      </p:sp>
      <p:sp>
        <p:nvSpPr>
          <p:cNvPr id="21" name="Rounded Rectangle 20"/>
          <p:cNvSpPr/>
          <p:nvPr/>
        </p:nvSpPr>
        <p:spPr>
          <a:xfrm>
            <a:off x="731520" y="4526280"/>
            <a:ext cx="5212080" cy="1143000"/>
          </a:xfrm>
          <a:prstGeom prst="roundRect">
            <a:avLst>
              <a:gd name="adj" fmla="val 6000"/>
            </a:avLst>
          </a:prstGeom>
          <a:solidFill>
            <a:srgbClr val="FFFFFF"/>
          </a:solidFill>
          <a:ln w="17780">
            <a:solidFill>
              <a:srgbClr val="19A99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960120" y="4818888"/>
            <a:ext cx="566928" cy="566928"/>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1700" b="1" i="0">
                <a:solidFill>
                  <a:srgbClr val="FFFFFF"/>
                </a:solidFill>
                <a:latin typeface="Segoe UI"/>
                <a:cs typeface="Segoe UI"/>
              </a:rPr>
              <a:t>3</a:t>
            </a:r>
          </a:p>
        </p:txBody>
      </p:sp>
      <p:sp>
        <p:nvSpPr>
          <p:cNvPr id="23" name="TextBox 22"/>
          <p:cNvSpPr txBox="1"/>
          <p:nvPr/>
        </p:nvSpPr>
        <p:spPr>
          <a:xfrm>
            <a:off x="1691640" y="4672584"/>
            <a:ext cx="4114800" cy="41148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9A99D"/>
                </a:solidFill>
                <a:latin typeface="Segoe UI Semibold"/>
                <a:cs typeface="Segoe UI Semibold"/>
              </a:rPr>
              <a:t>Tăng miễn dịch trực tiếp</a:t>
            </a:r>
          </a:p>
        </p:txBody>
      </p:sp>
      <p:sp>
        <p:nvSpPr>
          <p:cNvPr id="24" name="TextBox 23"/>
          <p:cNvSpPr txBox="1"/>
          <p:nvPr/>
        </p:nvSpPr>
        <p:spPr>
          <a:xfrm>
            <a:off x="1691640" y="5056632"/>
            <a:ext cx="4160520" cy="548640"/>
          </a:xfrm>
          <a:prstGeom prst="rect">
            <a:avLst/>
          </a:prstGeom>
          <a:noFill/>
        </p:spPr>
        <p:txBody>
          <a:bodyPr wrap="square" lIns="0" tIns="0" rIns="0" bIns="0" anchor="t">
            <a:spAutoFit/>
          </a:bodyPr>
          <a:lstStyle/>
          <a:p>
            <a:pPr algn="l">
              <a:lnSpc>
                <a:spcPct val="104000"/>
              </a:lnSpc>
              <a:spcBef>
                <a:spcPts val="0"/>
              </a:spcBef>
              <a:spcAft>
                <a:spcPts val="400"/>
              </a:spcAft>
            </a:pPr>
            <a:r>
              <a:rPr sz="1150" b="0" i="0">
                <a:solidFill>
                  <a:srgbClr val="1E293B"/>
                </a:solidFill>
                <a:latin typeface="Segoe UI"/>
                <a:cs typeface="Segoe UI"/>
              </a:rPr>
              <a:t>Kháng thể IgG từ sữa non (sữa mẹ, sữa non bò).</a:t>
            </a:r>
          </a:p>
        </p:txBody>
      </p:sp>
      <p:sp>
        <p:nvSpPr>
          <p:cNvPr id="25" name="Rounded Rectangle 24"/>
          <p:cNvSpPr/>
          <p:nvPr/>
        </p:nvSpPr>
        <p:spPr>
          <a:xfrm>
            <a:off x="6263640" y="4526280"/>
            <a:ext cx="5212080" cy="1143000"/>
          </a:xfrm>
          <a:prstGeom prst="roundRect">
            <a:avLst>
              <a:gd name="adj" fmla="val 6000"/>
            </a:avLst>
          </a:prstGeom>
          <a:solidFill>
            <a:srgbClr val="FFFFFF"/>
          </a:solidFill>
          <a:ln w="1778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6492240" y="4818888"/>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1700" b="1" i="0">
                <a:solidFill>
                  <a:srgbClr val="FFFFFF"/>
                </a:solidFill>
                <a:latin typeface="Segoe UI"/>
                <a:cs typeface="Segoe UI"/>
              </a:rPr>
              <a:t>4</a:t>
            </a:r>
          </a:p>
        </p:txBody>
      </p:sp>
      <p:sp>
        <p:nvSpPr>
          <p:cNvPr id="27" name="TextBox 26"/>
          <p:cNvSpPr txBox="1"/>
          <p:nvPr/>
        </p:nvSpPr>
        <p:spPr>
          <a:xfrm>
            <a:off x="7223759" y="4672584"/>
            <a:ext cx="4114800" cy="41148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F59E0B"/>
                </a:solidFill>
                <a:latin typeface="Segoe UI Semibold"/>
                <a:cs typeface="Segoe UI Semibold"/>
              </a:rPr>
              <a:t>Bảo vệ hàng rào ruột</a:t>
            </a:r>
          </a:p>
        </p:txBody>
      </p:sp>
      <p:sp>
        <p:nvSpPr>
          <p:cNvPr id="28" name="TextBox 27"/>
          <p:cNvSpPr txBox="1"/>
          <p:nvPr/>
        </p:nvSpPr>
        <p:spPr>
          <a:xfrm>
            <a:off x="7223759" y="5056632"/>
            <a:ext cx="4160520" cy="548640"/>
          </a:xfrm>
          <a:prstGeom prst="rect">
            <a:avLst/>
          </a:prstGeom>
          <a:noFill/>
        </p:spPr>
        <p:txBody>
          <a:bodyPr wrap="square" lIns="0" tIns="0" rIns="0" bIns="0" anchor="t">
            <a:spAutoFit/>
          </a:bodyPr>
          <a:lstStyle/>
          <a:p>
            <a:pPr algn="l">
              <a:lnSpc>
                <a:spcPct val="104000"/>
              </a:lnSpc>
              <a:spcBef>
                <a:spcPts val="0"/>
              </a:spcBef>
              <a:spcAft>
                <a:spcPts val="400"/>
              </a:spcAft>
            </a:pPr>
            <a:r>
              <a:rPr sz="1150" b="0" i="0">
                <a:solidFill>
                  <a:srgbClr val="1E293B"/>
                </a:solidFill>
                <a:latin typeface="Segoe UI"/>
                <a:cs typeface="Segoe UI"/>
              </a:rPr>
              <a:t>Chất xơ hòa tan: HMO, FOS, GOS – nuôi lợi khuẩn đường ruột.</a:t>
            </a:r>
          </a:p>
        </p:txBody>
      </p:sp>
      <p:sp>
        <p:nvSpPr>
          <p:cNvPr id="29" name="TextBox 28"/>
          <p:cNvSpPr txBox="1"/>
          <p:nvPr/>
        </p:nvSpPr>
        <p:spPr>
          <a:xfrm>
            <a:off x="548640" y="6144768"/>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50" b="1" i="1">
                <a:solidFill>
                  <a:srgbClr val="19A99D"/>
                </a:solidFill>
                <a:latin typeface="Segoe UI"/>
                <a:cs typeface="Segoe UI"/>
              </a:rPr>
              <a:t>Nguồn: </a:t>
            </a:r>
            <a:r>
              <a:rPr sz="950" b="0" i="1">
                <a:solidFill>
                  <a:srgbClr val="64748B"/>
                </a:solidFill>
                <a:latin typeface="Segoe UI"/>
                <a:cs typeface="Segoe UI"/>
              </a:rPr>
              <a:t>PGS.TS Nguyễn Thị Việt Hà, ĐH Y Hà Nội; Słotwiński R, Cent Eur J Immunol 2012</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384048" y="274320"/>
            <a:ext cx="384048" cy="384048"/>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4068" y="329184"/>
            <a:ext cx="104241"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66344" y="406908"/>
            <a:ext cx="274320" cy="10424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274320"/>
            <a:ext cx="2926080" cy="402336"/>
          </a:xfrm>
          <a:prstGeom prst="rect">
            <a:avLst/>
          </a:prstGeom>
          <a:noFill/>
        </p:spPr>
        <p:txBody>
          <a:bodyPr wrap="square" lIns="0" tIns="0" rIns="0" bIns="0" anchor="ctr">
            <a:spAutoFit/>
          </a:bodyPr>
          <a:lstStyle/>
          <a:p>
            <a:pPr algn="l">
              <a:lnSpc>
                <a:spcPct val="100000"/>
              </a:lnSpc>
              <a:spcBef>
                <a:spcPts val="0"/>
              </a:spcBef>
              <a:spcAft>
                <a:spcPts val="400"/>
              </a:spcAft>
            </a:pPr>
            <a:r>
              <a:rPr sz="1300" b="1" i="0">
                <a:solidFill>
                  <a:srgbClr val="1E293B"/>
                </a:solidFill>
                <a:latin typeface="Segoe UI"/>
                <a:cs typeface="Segoe UI"/>
              </a:rPr>
              <a:t>DINH DƯỠNG </a:t>
            </a:r>
            <a:r>
              <a:rPr sz="1300" b="1" i="0">
                <a:solidFill>
                  <a:srgbClr val="19A99D"/>
                </a:solidFill>
                <a:latin typeface="Segoe UI"/>
                <a:cs typeface="Segoe UI"/>
              </a:rPr>
              <a:t>NHI KHOA</a:t>
            </a:r>
          </a:p>
        </p:txBody>
      </p:sp>
      <p:sp>
        <p:nvSpPr>
          <p:cNvPr id="6" name="Rectangle 5"/>
          <p:cNvSpPr/>
          <p:nvPr/>
        </p:nvSpPr>
        <p:spPr>
          <a:xfrm>
            <a:off x="0" y="6473952"/>
            <a:ext cx="12191695" cy="384048"/>
          </a:xfrm>
          <a:prstGeom prst="rect">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492240"/>
            <a:ext cx="9601200" cy="347472"/>
          </a:xfrm>
          <a:prstGeom prst="rect">
            <a:avLst/>
          </a:prstGeom>
          <a:noFill/>
        </p:spPr>
        <p:txBody>
          <a:bodyPr wrap="square" lIns="0" tIns="0" rIns="0" bIns="0" anchor="ctr">
            <a:spAutoFit/>
          </a:bodyPr>
          <a:lstStyle/>
          <a:p>
            <a:pPr algn="l">
              <a:lnSpc>
                <a:spcPct val="100000"/>
              </a:lnSpc>
              <a:spcBef>
                <a:spcPts val="0"/>
              </a:spcBef>
              <a:spcAft>
                <a:spcPts val="400"/>
              </a:spcAft>
            </a:pPr>
            <a:r>
              <a:rPr sz="950" b="0" i="0">
                <a:solidFill>
                  <a:srgbClr val="FFFFFF"/>
                </a:solidFill>
                <a:latin typeface="Segoe UI"/>
                <a:cs typeface="Segoe UI"/>
              </a:rPr>
              <a:t>Chuyên đề 2 · Dinh dưỡng – nền tảng cho miễn dịch &amp; sự phát triển của trẻ  ·  TS. Lê Thị Thùy Dung</a:t>
            </a:r>
          </a:p>
        </p:txBody>
      </p:sp>
      <p:sp>
        <p:nvSpPr>
          <p:cNvPr id="8" name="TextBox 7"/>
          <p:cNvSpPr txBox="1"/>
          <p:nvPr/>
        </p:nvSpPr>
        <p:spPr>
          <a:xfrm>
            <a:off x="11185855" y="6492240"/>
            <a:ext cx="548640" cy="347472"/>
          </a:xfrm>
          <a:prstGeom prst="rect">
            <a:avLst/>
          </a:prstGeom>
          <a:noFill/>
        </p:spPr>
        <p:txBody>
          <a:bodyPr wrap="square" lIns="0" tIns="0" rIns="0" bIns="0" anchor="ctr">
            <a:spAutoFit/>
          </a:bodyPr>
          <a:lstStyle/>
          <a:p>
            <a:pPr algn="r">
              <a:lnSpc>
                <a:spcPct val="100000"/>
              </a:lnSpc>
              <a:spcBef>
                <a:spcPts val="0"/>
              </a:spcBef>
              <a:spcAft>
                <a:spcPts val="400"/>
              </a:spcAft>
            </a:pPr>
            <a:r>
              <a:rPr sz="1000" b="1" i="0">
                <a:solidFill>
                  <a:srgbClr val="FFFFFF"/>
                </a:solidFill>
                <a:latin typeface="Segoe UI"/>
                <a:cs typeface="Segoe UI"/>
              </a:rPr>
              <a:t>25</a:t>
            </a:r>
          </a:p>
        </p:txBody>
      </p:sp>
      <p:sp>
        <p:nvSpPr>
          <p:cNvPr id="9" name="TextBox 8"/>
          <p:cNvSpPr txBox="1"/>
          <p:nvPr/>
        </p:nvSpPr>
        <p:spPr>
          <a:xfrm>
            <a:off x="548640" y="841248"/>
            <a:ext cx="10881360" cy="566928"/>
          </a:xfrm>
          <a:prstGeom prst="rect">
            <a:avLst/>
          </a:prstGeom>
          <a:noFill/>
        </p:spPr>
        <p:txBody>
          <a:bodyPr wrap="square" lIns="0" tIns="0" rIns="0" bIns="0" anchor="t">
            <a:spAutoFit/>
          </a:bodyPr>
          <a:lstStyle/>
          <a:p>
            <a:pPr algn="l">
              <a:lnSpc>
                <a:spcPct val="100000"/>
              </a:lnSpc>
              <a:spcBef>
                <a:spcPts val="0"/>
              </a:spcBef>
              <a:spcAft>
                <a:spcPts val="400"/>
              </a:spcAft>
            </a:pPr>
            <a:r>
              <a:rPr sz="2700" b="1" i="0">
                <a:solidFill>
                  <a:srgbClr val="19A99D"/>
                </a:solidFill>
                <a:latin typeface="Segoe UI Semibold"/>
                <a:cs typeface="Segoe UI Semibold"/>
              </a:rPr>
              <a:t>Sữa mẹ – “liều vắc-xin” đầu đời</a:t>
            </a:r>
          </a:p>
        </p:txBody>
      </p:sp>
      <p:sp>
        <p:nvSpPr>
          <p:cNvPr id="10" name="TextBox 9"/>
          <p:cNvSpPr txBox="1"/>
          <p:nvPr/>
        </p:nvSpPr>
        <p:spPr>
          <a:xfrm>
            <a:off x="548640" y="1408176"/>
            <a:ext cx="10881360" cy="365760"/>
          </a:xfrm>
          <a:prstGeom prst="rect">
            <a:avLst/>
          </a:prstGeom>
          <a:noFill/>
        </p:spPr>
        <p:txBody>
          <a:bodyPr wrap="square" lIns="0" tIns="0" rIns="0" bIns="0" anchor="t">
            <a:spAutoFit/>
          </a:bodyPr>
          <a:lstStyle/>
          <a:p>
            <a:pPr algn="l">
              <a:lnSpc>
                <a:spcPct val="100000"/>
              </a:lnSpc>
              <a:spcBef>
                <a:spcPts val="0"/>
              </a:spcBef>
              <a:spcAft>
                <a:spcPts val="400"/>
              </a:spcAft>
            </a:pPr>
            <a:r>
              <a:rPr sz="1500" b="0" i="1">
                <a:solidFill>
                  <a:srgbClr val="64748B"/>
                </a:solidFill>
                <a:latin typeface="Segoe UI"/>
                <a:cs typeface="Segoe UI"/>
              </a:rPr>
              <a:t>Vừa nuôi dưỡng, vừa lập trình hệ miễn dịch</a:t>
            </a:r>
          </a:p>
        </p:txBody>
      </p:sp>
      <p:pic>
        <p:nvPicPr>
          <p:cNvPr id="11" name="Picture 10" descr="bf_toddler.png"/>
          <p:cNvPicPr>
            <a:picLocks noChangeAspect="1"/>
          </p:cNvPicPr>
          <p:nvPr/>
        </p:nvPicPr>
        <p:blipFill>
          <a:blip r:embed="rId2"/>
          <a:stretch>
            <a:fillRect/>
          </a:stretch>
        </p:blipFill>
        <p:spPr>
          <a:xfrm>
            <a:off x="7955279" y="2014486"/>
            <a:ext cx="3840480" cy="3560547"/>
          </a:xfrm>
          <a:prstGeom prst="rect">
            <a:avLst/>
          </a:prstGeom>
        </p:spPr>
      </p:pic>
      <p:sp>
        <p:nvSpPr>
          <p:cNvPr id="12" name="TextBox 11"/>
          <p:cNvSpPr txBox="1"/>
          <p:nvPr/>
        </p:nvSpPr>
        <p:spPr>
          <a:xfrm>
            <a:off x="640080" y="1920240"/>
            <a:ext cx="7040880" cy="3840480"/>
          </a:xfrm>
          <a:prstGeom prst="rect">
            <a:avLst/>
          </a:prstGeom>
          <a:noFill/>
        </p:spPr>
        <p:txBody>
          <a:bodyPr wrap="square" lIns="0" tIns="0" rIns="0" bIns="0" anchor="t">
            <a:spAutoFit/>
          </a:bodyPr>
          <a:lstStyle/>
          <a:p>
            <a:pPr algn="l">
              <a:lnSpc>
                <a:spcPct val="110000"/>
              </a:lnSpc>
              <a:spcBef>
                <a:spcPts val="0"/>
              </a:spcBef>
              <a:spcAft>
                <a:spcPts val="1100"/>
              </a:spcAft>
            </a:pPr>
            <a:r>
              <a:rPr sz="1550" b="1" i="0">
                <a:solidFill>
                  <a:srgbClr val="19A99D"/>
                </a:solidFill>
                <a:latin typeface="Segoe UI"/>
                <a:cs typeface="Segoe UI"/>
              </a:rPr>
              <a:t>Kháng thể IgG &amp; IgA</a:t>
            </a:r>
            <a:r>
              <a:rPr sz="1450" b="0" i="0">
                <a:solidFill>
                  <a:srgbClr val="1E293B"/>
                </a:solidFill>
                <a:latin typeface="Segoe UI"/>
                <a:cs typeface="Segoe UI"/>
              </a:rPr>
              <a:t> – truyền miễn dịch thụ động từ mẹ, bảo vệ trẻ khỏi nhiễm khuẩn.</a:t>
            </a:r>
          </a:p>
          <a:p>
            <a:pPr algn="l">
              <a:lnSpc>
                <a:spcPct val="110000"/>
              </a:lnSpc>
              <a:spcBef>
                <a:spcPts val="0"/>
              </a:spcBef>
              <a:spcAft>
                <a:spcPts val="1100"/>
              </a:spcAft>
            </a:pPr>
            <a:r>
              <a:rPr sz="1550" b="1" i="0">
                <a:solidFill>
                  <a:srgbClr val="3A6B35"/>
                </a:solidFill>
                <a:latin typeface="Segoe UI"/>
                <a:cs typeface="Segoe UI"/>
              </a:rPr>
              <a:t>Peptide kháng khuẩn</a:t>
            </a:r>
            <a:r>
              <a:rPr sz="1450" b="0" i="0">
                <a:solidFill>
                  <a:srgbClr val="1E293B"/>
                </a:solidFill>
                <a:latin typeface="Segoe UI"/>
                <a:cs typeface="Segoe UI"/>
              </a:rPr>
              <a:t> (defensin, cathelicidin) – tiêu diệt vi khuẩn, hỗ trợ lành niêm mạc.</a:t>
            </a:r>
          </a:p>
          <a:p>
            <a:pPr algn="l">
              <a:lnSpc>
                <a:spcPct val="110000"/>
              </a:lnSpc>
              <a:spcBef>
                <a:spcPts val="0"/>
              </a:spcBef>
              <a:spcAft>
                <a:spcPts val="1100"/>
              </a:spcAft>
            </a:pPr>
            <a:r>
              <a:rPr sz="1550" b="1" i="0">
                <a:solidFill>
                  <a:srgbClr val="2866AB"/>
                </a:solidFill>
                <a:latin typeface="Segoe UI"/>
                <a:cs typeface="Segoe UI"/>
              </a:rPr>
              <a:t>HMO &amp; lợi khuẩn</a:t>
            </a:r>
            <a:r>
              <a:rPr sz="1450" b="0" i="0">
                <a:solidFill>
                  <a:srgbClr val="1E293B"/>
                </a:solidFill>
                <a:latin typeface="Segoe UI"/>
                <a:cs typeface="Segoe UI"/>
              </a:rPr>
              <a:t> – nuôi hệ vi sinh đường ruột, nơi tập trung phần lớn tế bào miễn dịch.</a:t>
            </a:r>
          </a:p>
          <a:p>
            <a:pPr algn="l">
              <a:lnSpc>
                <a:spcPct val="110000"/>
              </a:lnSpc>
              <a:spcBef>
                <a:spcPts val="0"/>
              </a:spcBef>
              <a:spcAft>
                <a:spcPts val="700"/>
              </a:spcAft>
            </a:pPr>
            <a:r>
              <a:rPr sz="1450" b="1" i="1">
                <a:solidFill>
                  <a:srgbClr val="19A99D"/>
                </a:solidFill>
                <a:latin typeface="Segoe UI"/>
                <a:cs typeface="Segoe UI"/>
              </a:rPr>
              <a:t>→ Bú mẹ là cách tăng đề kháng tự nhiên, an toàn và tiết kiệm nhất cho trẻ.</a:t>
            </a:r>
          </a:p>
        </p:txBody>
      </p:sp>
      <p:sp>
        <p:nvSpPr>
          <p:cNvPr id="13" name="TextBox 12"/>
          <p:cNvSpPr txBox="1"/>
          <p:nvPr/>
        </p:nvSpPr>
        <p:spPr>
          <a:xfrm>
            <a:off x="548640" y="6144768"/>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50" b="1" i="1">
                <a:solidFill>
                  <a:srgbClr val="19A99D"/>
                </a:solidFill>
                <a:latin typeface="Segoe UI"/>
                <a:cs typeface="Segoe UI"/>
              </a:rPr>
              <a:t>Nguồn: </a:t>
            </a:r>
            <a:r>
              <a:rPr sz="950" b="0" i="1">
                <a:solidFill>
                  <a:srgbClr val="64748B"/>
                </a:solidFill>
                <a:latin typeface="Segoe UI"/>
                <a:cs typeface="Segoe UI"/>
              </a:rPr>
              <a:t>Pai UA et al. 2018; Plaza-Díaz J et al., Nutrients 2018 (HMO &amp; immune system)</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384048" y="274320"/>
            <a:ext cx="384048" cy="384048"/>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4068" y="329184"/>
            <a:ext cx="104241"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66344" y="406908"/>
            <a:ext cx="274320" cy="10424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274320"/>
            <a:ext cx="2926080" cy="402336"/>
          </a:xfrm>
          <a:prstGeom prst="rect">
            <a:avLst/>
          </a:prstGeom>
          <a:noFill/>
        </p:spPr>
        <p:txBody>
          <a:bodyPr wrap="square" lIns="0" tIns="0" rIns="0" bIns="0" anchor="ctr">
            <a:spAutoFit/>
          </a:bodyPr>
          <a:lstStyle/>
          <a:p>
            <a:pPr algn="l">
              <a:lnSpc>
                <a:spcPct val="100000"/>
              </a:lnSpc>
              <a:spcBef>
                <a:spcPts val="0"/>
              </a:spcBef>
              <a:spcAft>
                <a:spcPts val="400"/>
              </a:spcAft>
            </a:pPr>
            <a:r>
              <a:rPr sz="1300" b="1" i="0">
                <a:solidFill>
                  <a:srgbClr val="1E293B"/>
                </a:solidFill>
                <a:latin typeface="Segoe UI"/>
                <a:cs typeface="Segoe UI"/>
              </a:rPr>
              <a:t>DINH DƯỠNG </a:t>
            </a:r>
            <a:r>
              <a:rPr sz="1300" b="1" i="0">
                <a:solidFill>
                  <a:srgbClr val="19A99D"/>
                </a:solidFill>
                <a:latin typeface="Segoe UI"/>
                <a:cs typeface="Segoe UI"/>
              </a:rPr>
              <a:t>NHI KHOA</a:t>
            </a:r>
          </a:p>
        </p:txBody>
      </p:sp>
      <p:sp>
        <p:nvSpPr>
          <p:cNvPr id="6" name="Rectangle 5"/>
          <p:cNvSpPr/>
          <p:nvPr/>
        </p:nvSpPr>
        <p:spPr>
          <a:xfrm>
            <a:off x="0" y="6473952"/>
            <a:ext cx="12191695" cy="384048"/>
          </a:xfrm>
          <a:prstGeom prst="rect">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492240"/>
            <a:ext cx="9601200" cy="347472"/>
          </a:xfrm>
          <a:prstGeom prst="rect">
            <a:avLst/>
          </a:prstGeom>
          <a:noFill/>
        </p:spPr>
        <p:txBody>
          <a:bodyPr wrap="square" lIns="0" tIns="0" rIns="0" bIns="0" anchor="ctr">
            <a:spAutoFit/>
          </a:bodyPr>
          <a:lstStyle/>
          <a:p>
            <a:pPr algn="l">
              <a:lnSpc>
                <a:spcPct val="100000"/>
              </a:lnSpc>
              <a:spcBef>
                <a:spcPts val="0"/>
              </a:spcBef>
              <a:spcAft>
                <a:spcPts val="400"/>
              </a:spcAft>
            </a:pPr>
            <a:r>
              <a:rPr sz="950" b="0" i="0">
                <a:solidFill>
                  <a:srgbClr val="FFFFFF"/>
                </a:solidFill>
                <a:latin typeface="Segoe UI"/>
                <a:cs typeface="Segoe UI"/>
              </a:rPr>
              <a:t>Chuyên đề 2 · Dinh dưỡng – nền tảng cho miễn dịch &amp; sự phát triển của trẻ  ·  TS. Lê Thị Thùy Dung</a:t>
            </a:r>
          </a:p>
        </p:txBody>
      </p:sp>
      <p:sp>
        <p:nvSpPr>
          <p:cNvPr id="8" name="TextBox 7"/>
          <p:cNvSpPr txBox="1"/>
          <p:nvPr/>
        </p:nvSpPr>
        <p:spPr>
          <a:xfrm>
            <a:off x="11185855" y="6492240"/>
            <a:ext cx="548640" cy="347472"/>
          </a:xfrm>
          <a:prstGeom prst="rect">
            <a:avLst/>
          </a:prstGeom>
          <a:noFill/>
        </p:spPr>
        <p:txBody>
          <a:bodyPr wrap="square" lIns="0" tIns="0" rIns="0" bIns="0" anchor="ctr">
            <a:spAutoFit/>
          </a:bodyPr>
          <a:lstStyle/>
          <a:p>
            <a:pPr algn="r">
              <a:lnSpc>
                <a:spcPct val="100000"/>
              </a:lnSpc>
              <a:spcBef>
                <a:spcPts val="0"/>
              </a:spcBef>
              <a:spcAft>
                <a:spcPts val="400"/>
              </a:spcAft>
            </a:pPr>
            <a:r>
              <a:rPr sz="1000" b="1" i="0">
                <a:solidFill>
                  <a:srgbClr val="FFFFFF"/>
                </a:solidFill>
                <a:latin typeface="Segoe UI"/>
                <a:cs typeface="Segoe UI"/>
              </a:rPr>
              <a:t>26</a:t>
            </a:r>
          </a:p>
        </p:txBody>
      </p:sp>
      <p:sp>
        <p:nvSpPr>
          <p:cNvPr id="9" name="TextBox 8"/>
          <p:cNvSpPr txBox="1"/>
          <p:nvPr/>
        </p:nvSpPr>
        <p:spPr>
          <a:xfrm>
            <a:off x="548640" y="841248"/>
            <a:ext cx="10881360" cy="566928"/>
          </a:xfrm>
          <a:prstGeom prst="rect">
            <a:avLst/>
          </a:prstGeom>
          <a:noFill/>
        </p:spPr>
        <p:txBody>
          <a:bodyPr wrap="square" lIns="0" tIns="0" rIns="0" bIns="0" anchor="t">
            <a:spAutoFit/>
          </a:bodyPr>
          <a:lstStyle/>
          <a:p>
            <a:pPr algn="l">
              <a:lnSpc>
                <a:spcPct val="100000"/>
              </a:lnSpc>
              <a:spcBef>
                <a:spcPts val="0"/>
              </a:spcBef>
              <a:spcAft>
                <a:spcPts val="400"/>
              </a:spcAft>
            </a:pPr>
            <a:r>
              <a:rPr sz="2700" b="1" i="0">
                <a:solidFill>
                  <a:srgbClr val="19A99D"/>
                </a:solidFill>
                <a:latin typeface="Segoe UI Semibold"/>
                <a:cs typeface="Segoe UI Semibold"/>
              </a:rPr>
              <a:t>Vi chất “gác cổng” cho hệ miễn dịch</a:t>
            </a:r>
          </a:p>
        </p:txBody>
      </p:sp>
      <p:sp>
        <p:nvSpPr>
          <p:cNvPr id="10" name="TextBox 9"/>
          <p:cNvSpPr txBox="1"/>
          <p:nvPr/>
        </p:nvSpPr>
        <p:spPr>
          <a:xfrm>
            <a:off x="548640" y="1408176"/>
            <a:ext cx="10881360" cy="365760"/>
          </a:xfrm>
          <a:prstGeom prst="rect">
            <a:avLst/>
          </a:prstGeom>
          <a:noFill/>
        </p:spPr>
        <p:txBody>
          <a:bodyPr wrap="square" lIns="0" tIns="0" rIns="0" bIns="0" anchor="t">
            <a:spAutoFit/>
          </a:bodyPr>
          <a:lstStyle/>
          <a:p>
            <a:pPr algn="l">
              <a:lnSpc>
                <a:spcPct val="100000"/>
              </a:lnSpc>
              <a:spcBef>
                <a:spcPts val="0"/>
              </a:spcBef>
              <a:spcAft>
                <a:spcPts val="400"/>
              </a:spcAft>
            </a:pPr>
            <a:r>
              <a:rPr sz="1500" b="0" i="1">
                <a:solidFill>
                  <a:srgbClr val="64748B"/>
                </a:solidFill>
                <a:latin typeface="Segoe UI"/>
                <a:cs typeface="Segoe UI"/>
              </a:rPr>
              <a:t>Thiếu vi chất = hàng rào phòng thủ có lỗ hổng</a:t>
            </a:r>
          </a:p>
        </p:txBody>
      </p:sp>
      <p:sp>
        <p:nvSpPr>
          <p:cNvPr id="11" name="Rounded Rectangle 10"/>
          <p:cNvSpPr/>
          <p:nvPr/>
        </p:nvSpPr>
        <p:spPr>
          <a:xfrm>
            <a:off x="640080" y="1965960"/>
            <a:ext cx="2606040" cy="1554480"/>
          </a:xfrm>
          <a:prstGeom prst="roundRect">
            <a:avLst>
              <a:gd name="adj" fmla="val 6000"/>
            </a:avLst>
          </a:prstGeom>
          <a:solidFill>
            <a:srgbClr val="FFFFFF"/>
          </a:solidFill>
          <a:ln w="16510">
            <a:solidFill>
              <a:srgbClr val="E26D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822959" y="2286000"/>
            <a:ext cx="777240" cy="777240"/>
          </a:xfrm>
          <a:prstGeom prst="ellipse">
            <a:avLst/>
          </a:prstGeom>
          <a:solidFill>
            <a:srgbClr val="E26D5A"/>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1900" b="1" i="0">
                <a:solidFill>
                  <a:srgbClr val="FFFFFF"/>
                </a:solidFill>
                <a:latin typeface="Segoe UI"/>
                <a:cs typeface="Segoe UI"/>
              </a:rPr>
              <a:t>Fe</a:t>
            </a:r>
          </a:p>
        </p:txBody>
      </p:sp>
      <p:sp>
        <p:nvSpPr>
          <p:cNvPr id="13" name="TextBox 12"/>
          <p:cNvSpPr txBox="1"/>
          <p:nvPr/>
        </p:nvSpPr>
        <p:spPr>
          <a:xfrm>
            <a:off x="1691639" y="2167128"/>
            <a:ext cx="1508760" cy="457200"/>
          </a:xfrm>
          <a:prstGeom prst="rect">
            <a:avLst/>
          </a:prstGeom>
          <a:noFill/>
        </p:spPr>
        <p:txBody>
          <a:bodyPr wrap="square" lIns="0" tIns="0" rIns="0" bIns="0" anchor="t">
            <a:spAutoFit/>
          </a:bodyPr>
          <a:lstStyle/>
          <a:p>
            <a:pPr algn="l">
              <a:lnSpc>
                <a:spcPct val="100000"/>
              </a:lnSpc>
              <a:spcBef>
                <a:spcPts val="0"/>
              </a:spcBef>
              <a:spcAft>
                <a:spcPts val="400"/>
              </a:spcAft>
            </a:pPr>
            <a:r>
              <a:rPr sz="1400" b="1" i="0">
                <a:solidFill>
                  <a:srgbClr val="E26D5A"/>
                </a:solidFill>
                <a:latin typeface="Segoe UI Semibold"/>
                <a:cs typeface="Segoe UI Semibold"/>
              </a:rPr>
              <a:t>Sắt</a:t>
            </a:r>
          </a:p>
        </p:txBody>
      </p:sp>
      <p:sp>
        <p:nvSpPr>
          <p:cNvPr id="14" name="TextBox 13"/>
          <p:cNvSpPr txBox="1"/>
          <p:nvPr/>
        </p:nvSpPr>
        <p:spPr>
          <a:xfrm>
            <a:off x="1691639" y="2587752"/>
            <a:ext cx="1508760" cy="822960"/>
          </a:xfrm>
          <a:prstGeom prst="rect">
            <a:avLst/>
          </a:prstGeom>
          <a:noFill/>
        </p:spPr>
        <p:txBody>
          <a:bodyPr wrap="square" lIns="0" tIns="0" rIns="0" bIns="0" anchor="t">
            <a:spAutoFit/>
          </a:bodyPr>
          <a:lstStyle/>
          <a:p>
            <a:pPr algn="l">
              <a:lnSpc>
                <a:spcPct val="102000"/>
              </a:lnSpc>
              <a:spcBef>
                <a:spcPts val="0"/>
              </a:spcBef>
              <a:spcAft>
                <a:spcPts val="400"/>
              </a:spcAft>
            </a:pPr>
            <a:r>
              <a:rPr sz="1050" b="0" i="0">
                <a:solidFill>
                  <a:srgbClr val="1E293B"/>
                </a:solidFill>
                <a:latin typeface="Segoe UI"/>
                <a:cs typeface="Segoe UI"/>
              </a:rPr>
              <a:t>Cần cho tế bào miễn dịch &amp; tạo máu</a:t>
            </a:r>
          </a:p>
        </p:txBody>
      </p:sp>
      <p:sp>
        <p:nvSpPr>
          <p:cNvPr id="15" name="Rounded Rectangle 14"/>
          <p:cNvSpPr/>
          <p:nvPr/>
        </p:nvSpPr>
        <p:spPr>
          <a:xfrm>
            <a:off x="3447287" y="1965960"/>
            <a:ext cx="2606040" cy="1554480"/>
          </a:xfrm>
          <a:prstGeom prst="roundRect">
            <a:avLst>
              <a:gd name="adj" fmla="val 6000"/>
            </a:avLst>
          </a:prstGeom>
          <a:solidFill>
            <a:srgbClr val="FFFFFF"/>
          </a:solidFill>
          <a:ln w="16510">
            <a:solidFill>
              <a:srgbClr val="19A99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3630168" y="2286000"/>
            <a:ext cx="777240" cy="777240"/>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1900" b="1" i="0">
                <a:solidFill>
                  <a:srgbClr val="FFFFFF"/>
                </a:solidFill>
                <a:latin typeface="Segoe UI"/>
                <a:cs typeface="Segoe UI"/>
              </a:rPr>
              <a:t>Zn</a:t>
            </a:r>
          </a:p>
        </p:txBody>
      </p:sp>
      <p:sp>
        <p:nvSpPr>
          <p:cNvPr id="17" name="TextBox 16"/>
          <p:cNvSpPr txBox="1"/>
          <p:nvPr/>
        </p:nvSpPr>
        <p:spPr>
          <a:xfrm>
            <a:off x="4498848" y="2167128"/>
            <a:ext cx="1508760" cy="457200"/>
          </a:xfrm>
          <a:prstGeom prst="rect">
            <a:avLst/>
          </a:prstGeom>
          <a:noFill/>
        </p:spPr>
        <p:txBody>
          <a:bodyPr wrap="square" lIns="0" tIns="0" rIns="0" bIns="0" anchor="t">
            <a:spAutoFit/>
          </a:bodyPr>
          <a:lstStyle/>
          <a:p>
            <a:pPr algn="l">
              <a:lnSpc>
                <a:spcPct val="100000"/>
              </a:lnSpc>
              <a:spcBef>
                <a:spcPts val="0"/>
              </a:spcBef>
              <a:spcAft>
                <a:spcPts val="400"/>
              </a:spcAft>
            </a:pPr>
            <a:r>
              <a:rPr sz="1400" b="1" i="0">
                <a:solidFill>
                  <a:srgbClr val="19A99D"/>
                </a:solidFill>
                <a:latin typeface="Segoe UI Semibold"/>
                <a:cs typeface="Segoe UI Semibold"/>
              </a:rPr>
              <a:t>Kẽm</a:t>
            </a:r>
          </a:p>
        </p:txBody>
      </p:sp>
      <p:sp>
        <p:nvSpPr>
          <p:cNvPr id="18" name="TextBox 17"/>
          <p:cNvSpPr txBox="1"/>
          <p:nvPr/>
        </p:nvSpPr>
        <p:spPr>
          <a:xfrm>
            <a:off x="4498848" y="2587752"/>
            <a:ext cx="1508760" cy="822960"/>
          </a:xfrm>
          <a:prstGeom prst="rect">
            <a:avLst/>
          </a:prstGeom>
          <a:noFill/>
        </p:spPr>
        <p:txBody>
          <a:bodyPr wrap="square" lIns="0" tIns="0" rIns="0" bIns="0" anchor="t">
            <a:spAutoFit/>
          </a:bodyPr>
          <a:lstStyle/>
          <a:p>
            <a:pPr algn="l">
              <a:lnSpc>
                <a:spcPct val="102000"/>
              </a:lnSpc>
              <a:spcBef>
                <a:spcPts val="0"/>
              </a:spcBef>
              <a:spcAft>
                <a:spcPts val="400"/>
              </a:spcAft>
            </a:pPr>
            <a:r>
              <a:rPr sz="1050" b="0" i="0">
                <a:solidFill>
                  <a:srgbClr val="1E293B"/>
                </a:solidFill>
                <a:latin typeface="Segoe UI"/>
                <a:cs typeface="Segoe UI"/>
              </a:rPr>
              <a:t>Phát triển &amp; hoạt hóa tế bào lympho</a:t>
            </a:r>
          </a:p>
        </p:txBody>
      </p:sp>
      <p:sp>
        <p:nvSpPr>
          <p:cNvPr id="19" name="Rounded Rectangle 18"/>
          <p:cNvSpPr/>
          <p:nvPr/>
        </p:nvSpPr>
        <p:spPr>
          <a:xfrm>
            <a:off x="6254496" y="1965960"/>
            <a:ext cx="2606040" cy="1554480"/>
          </a:xfrm>
          <a:prstGeom prst="roundRect">
            <a:avLst>
              <a:gd name="adj" fmla="val 6000"/>
            </a:avLst>
          </a:prstGeom>
          <a:solidFill>
            <a:srgbClr val="FFFFFF"/>
          </a:solidFill>
          <a:ln w="16510">
            <a:solidFill>
              <a:srgbClr val="3A6B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6437376" y="2286000"/>
            <a:ext cx="777240" cy="777240"/>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1900" b="1" i="0">
                <a:solidFill>
                  <a:srgbClr val="FFFFFF"/>
                </a:solidFill>
                <a:latin typeface="Segoe UI"/>
                <a:cs typeface="Segoe UI"/>
              </a:rPr>
              <a:t>Se</a:t>
            </a:r>
          </a:p>
        </p:txBody>
      </p:sp>
      <p:sp>
        <p:nvSpPr>
          <p:cNvPr id="21" name="TextBox 20"/>
          <p:cNvSpPr txBox="1"/>
          <p:nvPr/>
        </p:nvSpPr>
        <p:spPr>
          <a:xfrm>
            <a:off x="7306056" y="2167128"/>
            <a:ext cx="1508760" cy="457200"/>
          </a:xfrm>
          <a:prstGeom prst="rect">
            <a:avLst/>
          </a:prstGeom>
          <a:noFill/>
        </p:spPr>
        <p:txBody>
          <a:bodyPr wrap="square" lIns="0" tIns="0" rIns="0" bIns="0" anchor="t">
            <a:spAutoFit/>
          </a:bodyPr>
          <a:lstStyle/>
          <a:p>
            <a:pPr algn="l">
              <a:lnSpc>
                <a:spcPct val="100000"/>
              </a:lnSpc>
              <a:spcBef>
                <a:spcPts val="0"/>
              </a:spcBef>
              <a:spcAft>
                <a:spcPts val="400"/>
              </a:spcAft>
            </a:pPr>
            <a:r>
              <a:rPr sz="1400" b="1" i="0">
                <a:solidFill>
                  <a:srgbClr val="3A6B35"/>
                </a:solidFill>
                <a:latin typeface="Segoe UI Semibold"/>
                <a:cs typeface="Segoe UI Semibold"/>
              </a:rPr>
              <a:t>Selen</a:t>
            </a:r>
          </a:p>
        </p:txBody>
      </p:sp>
      <p:sp>
        <p:nvSpPr>
          <p:cNvPr id="22" name="TextBox 21"/>
          <p:cNvSpPr txBox="1"/>
          <p:nvPr/>
        </p:nvSpPr>
        <p:spPr>
          <a:xfrm>
            <a:off x="7306056" y="2587752"/>
            <a:ext cx="1508760" cy="822960"/>
          </a:xfrm>
          <a:prstGeom prst="rect">
            <a:avLst/>
          </a:prstGeom>
          <a:noFill/>
        </p:spPr>
        <p:txBody>
          <a:bodyPr wrap="square" lIns="0" tIns="0" rIns="0" bIns="0" anchor="t">
            <a:spAutoFit/>
          </a:bodyPr>
          <a:lstStyle/>
          <a:p>
            <a:pPr algn="l">
              <a:lnSpc>
                <a:spcPct val="102000"/>
              </a:lnSpc>
              <a:spcBef>
                <a:spcPts val="0"/>
              </a:spcBef>
              <a:spcAft>
                <a:spcPts val="400"/>
              </a:spcAft>
            </a:pPr>
            <a:r>
              <a:rPr sz="1050" b="0" i="0">
                <a:solidFill>
                  <a:srgbClr val="1E293B"/>
                </a:solidFill>
                <a:latin typeface="Segoe UI"/>
                <a:cs typeface="Segoe UI"/>
              </a:rPr>
              <a:t>Chống oxy hóa, bảo vệ tế bào</a:t>
            </a:r>
          </a:p>
        </p:txBody>
      </p:sp>
      <p:sp>
        <p:nvSpPr>
          <p:cNvPr id="23" name="Rounded Rectangle 22"/>
          <p:cNvSpPr/>
          <p:nvPr/>
        </p:nvSpPr>
        <p:spPr>
          <a:xfrm>
            <a:off x="9061703" y="1965960"/>
            <a:ext cx="2606040" cy="1554480"/>
          </a:xfrm>
          <a:prstGeom prst="roundRect">
            <a:avLst>
              <a:gd name="adj" fmla="val 6000"/>
            </a:avLst>
          </a:prstGeom>
          <a:solidFill>
            <a:srgbClr val="FFFFFF"/>
          </a:solidFill>
          <a:ln w="1651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9244583" y="2286000"/>
            <a:ext cx="777240" cy="7772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1900" b="1" i="0">
                <a:solidFill>
                  <a:srgbClr val="FFFFFF"/>
                </a:solidFill>
                <a:latin typeface="Segoe UI"/>
                <a:cs typeface="Segoe UI"/>
              </a:rPr>
              <a:t>A</a:t>
            </a:r>
          </a:p>
        </p:txBody>
      </p:sp>
      <p:sp>
        <p:nvSpPr>
          <p:cNvPr id="25" name="TextBox 24"/>
          <p:cNvSpPr txBox="1"/>
          <p:nvPr/>
        </p:nvSpPr>
        <p:spPr>
          <a:xfrm>
            <a:off x="10113263" y="2167128"/>
            <a:ext cx="1508760" cy="457200"/>
          </a:xfrm>
          <a:prstGeom prst="rect">
            <a:avLst/>
          </a:prstGeom>
          <a:noFill/>
        </p:spPr>
        <p:txBody>
          <a:bodyPr wrap="square" lIns="0" tIns="0" rIns="0" bIns="0" anchor="t">
            <a:spAutoFit/>
          </a:bodyPr>
          <a:lstStyle/>
          <a:p>
            <a:pPr algn="l">
              <a:lnSpc>
                <a:spcPct val="100000"/>
              </a:lnSpc>
              <a:spcBef>
                <a:spcPts val="0"/>
              </a:spcBef>
              <a:spcAft>
                <a:spcPts val="400"/>
              </a:spcAft>
            </a:pPr>
            <a:r>
              <a:rPr sz="1400" b="1" i="0">
                <a:solidFill>
                  <a:srgbClr val="F59E0B"/>
                </a:solidFill>
                <a:latin typeface="Segoe UI Semibold"/>
                <a:cs typeface="Segoe UI Semibold"/>
              </a:rPr>
              <a:t>Vitamin A</a:t>
            </a:r>
          </a:p>
        </p:txBody>
      </p:sp>
      <p:sp>
        <p:nvSpPr>
          <p:cNvPr id="26" name="TextBox 25"/>
          <p:cNvSpPr txBox="1"/>
          <p:nvPr/>
        </p:nvSpPr>
        <p:spPr>
          <a:xfrm>
            <a:off x="10113263" y="2587752"/>
            <a:ext cx="1508760" cy="822960"/>
          </a:xfrm>
          <a:prstGeom prst="rect">
            <a:avLst/>
          </a:prstGeom>
          <a:noFill/>
        </p:spPr>
        <p:txBody>
          <a:bodyPr wrap="square" lIns="0" tIns="0" rIns="0" bIns="0" anchor="t">
            <a:spAutoFit/>
          </a:bodyPr>
          <a:lstStyle/>
          <a:p>
            <a:pPr algn="l">
              <a:lnSpc>
                <a:spcPct val="102000"/>
              </a:lnSpc>
              <a:spcBef>
                <a:spcPts val="0"/>
              </a:spcBef>
              <a:spcAft>
                <a:spcPts val="400"/>
              </a:spcAft>
            </a:pPr>
            <a:r>
              <a:rPr sz="1050" b="0" i="0">
                <a:solidFill>
                  <a:srgbClr val="1E293B"/>
                </a:solidFill>
                <a:latin typeface="Segoe UI"/>
                <a:cs typeface="Segoe UI"/>
              </a:rPr>
              <a:t>Bảo vệ niêm mạc mắt, hô hấp, ruột</a:t>
            </a:r>
          </a:p>
        </p:txBody>
      </p:sp>
      <p:sp>
        <p:nvSpPr>
          <p:cNvPr id="27" name="Rounded Rectangle 26"/>
          <p:cNvSpPr/>
          <p:nvPr/>
        </p:nvSpPr>
        <p:spPr>
          <a:xfrm>
            <a:off x="640080" y="3749039"/>
            <a:ext cx="2606040" cy="1554480"/>
          </a:xfrm>
          <a:prstGeom prst="roundRect">
            <a:avLst>
              <a:gd name="adj" fmla="val 6000"/>
            </a:avLst>
          </a:prstGeom>
          <a:solidFill>
            <a:srgbClr val="FFFFFF"/>
          </a:solidFill>
          <a:ln w="16510">
            <a:solidFill>
              <a:srgbClr val="2866A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822959" y="4069079"/>
            <a:ext cx="777240" cy="777240"/>
          </a:xfrm>
          <a:prstGeom prst="ellipse">
            <a:avLst/>
          </a:prstGeom>
          <a:solidFill>
            <a:srgbClr val="2866A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1900" b="1" i="0">
                <a:solidFill>
                  <a:srgbClr val="FFFFFF"/>
                </a:solidFill>
                <a:latin typeface="Segoe UI"/>
                <a:cs typeface="Segoe UI"/>
              </a:rPr>
              <a:t>C</a:t>
            </a:r>
          </a:p>
        </p:txBody>
      </p:sp>
      <p:sp>
        <p:nvSpPr>
          <p:cNvPr id="29" name="TextBox 28"/>
          <p:cNvSpPr txBox="1"/>
          <p:nvPr/>
        </p:nvSpPr>
        <p:spPr>
          <a:xfrm>
            <a:off x="1691639" y="3950207"/>
            <a:ext cx="1508760" cy="457200"/>
          </a:xfrm>
          <a:prstGeom prst="rect">
            <a:avLst/>
          </a:prstGeom>
          <a:noFill/>
        </p:spPr>
        <p:txBody>
          <a:bodyPr wrap="square" lIns="0" tIns="0" rIns="0" bIns="0" anchor="t">
            <a:spAutoFit/>
          </a:bodyPr>
          <a:lstStyle/>
          <a:p>
            <a:pPr algn="l">
              <a:lnSpc>
                <a:spcPct val="100000"/>
              </a:lnSpc>
              <a:spcBef>
                <a:spcPts val="0"/>
              </a:spcBef>
              <a:spcAft>
                <a:spcPts val="400"/>
              </a:spcAft>
            </a:pPr>
            <a:r>
              <a:rPr sz="1400" b="1" i="0">
                <a:solidFill>
                  <a:srgbClr val="2866AB"/>
                </a:solidFill>
                <a:latin typeface="Segoe UI Semibold"/>
                <a:cs typeface="Segoe UI Semibold"/>
              </a:rPr>
              <a:t>Vitamin C</a:t>
            </a:r>
          </a:p>
        </p:txBody>
      </p:sp>
      <p:sp>
        <p:nvSpPr>
          <p:cNvPr id="30" name="TextBox 29"/>
          <p:cNvSpPr txBox="1"/>
          <p:nvPr/>
        </p:nvSpPr>
        <p:spPr>
          <a:xfrm>
            <a:off x="1691639" y="4370831"/>
            <a:ext cx="1508760" cy="822960"/>
          </a:xfrm>
          <a:prstGeom prst="rect">
            <a:avLst/>
          </a:prstGeom>
          <a:noFill/>
        </p:spPr>
        <p:txBody>
          <a:bodyPr wrap="square" lIns="0" tIns="0" rIns="0" bIns="0" anchor="t">
            <a:spAutoFit/>
          </a:bodyPr>
          <a:lstStyle/>
          <a:p>
            <a:pPr algn="l">
              <a:lnSpc>
                <a:spcPct val="102000"/>
              </a:lnSpc>
              <a:spcBef>
                <a:spcPts val="0"/>
              </a:spcBef>
              <a:spcAft>
                <a:spcPts val="400"/>
              </a:spcAft>
            </a:pPr>
            <a:r>
              <a:rPr sz="1050" b="0" i="0">
                <a:solidFill>
                  <a:srgbClr val="1E293B"/>
                </a:solidFill>
                <a:latin typeface="Segoe UI"/>
                <a:cs typeface="Segoe UI"/>
              </a:rPr>
              <a:t>Tăng hoạt động bạch cầu, chống oxy hóa</a:t>
            </a:r>
          </a:p>
        </p:txBody>
      </p:sp>
      <p:sp>
        <p:nvSpPr>
          <p:cNvPr id="31" name="Rounded Rectangle 30"/>
          <p:cNvSpPr/>
          <p:nvPr/>
        </p:nvSpPr>
        <p:spPr>
          <a:xfrm>
            <a:off x="3447287" y="3749039"/>
            <a:ext cx="2606040" cy="1554480"/>
          </a:xfrm>
          <a:prstGeom prst="roundRect">
            <a:avLst>
              <a:gd name="adj" fmla="val 6000"/>
            </a:avLst>
          </a:prstGeom>
          <a:solidFill>
            <a:srgbClr val="FFFFFF"/>
          </a:solidFill>
          <a:ln w="16510">
            <a:solidFill>
              <a:srgbClr val="7C5C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3630168" y="4069079"/>
            <a:ext cx="777240" cy="777240"/>
          </a:xfrm>
          <a:prstGeom prst="ellipse">
            <a:avLst/>
          </a:prstGeom>
          <a:solidFill>
            <a:srgbClr val="7C5CB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1900" b="1" i="0">
                <a:solidFill>
                  <a:srgbClr val="FFFFFF"/>
                </a:solidFill>
                <a:latin typeface="Segoe UI"/>
                <a:cs typeface="Segoe UI"/>
              </a:rPr>
              <a:t>D</a:t>
            </a:r>
          </a:p>
        </p:txBody>
      </p:sp>
      <p:sp>
        <p:nvSpPr>
          <p:cNvPr id="33" name="TextBox 32"/>
          <p:cNvSpPr txBox="1"/>
          <p:nvPr/>
        </p:nvSpPr>
        <p:spPr>
          <a:xfrm>
            <a:off x="4498848" y="3950207"/>
            <a:ext cx="1508760" cy="457200"/>
          </a:xfrm>
          <a:prstGeom prst="rect">
            <a:avLst/>
          </a:prstGeom>
          <a:noFill/>
        </p:spPr>
        <p:txBody>
          <a:bodyPr wrap="square" lIns="0" tIns="0" rIns="0" bIns="0" anchor="t">
            <a:spAutoFit/>
          </a:bodyPr>
          <a:lstStyle/>
          <a:p>
            <a:pPr algn="l">
              <a:lnSpc>
                <a:spcPct val="100000"/>
              </a:lnSpc>
              <a:spcBef>
                <a:spcPts val="0"/>
              </a:spcBef>
              <a:spcAft>
                <a:spcPts val="400"/>
              </a:spcAft>
            </a:pPr>
            <a:r>
              <a:rPr sz="1400" b="1" i="0">
                <a:solidFill>
                  <a:srgbClr val="7C5CBF"/>
                </a:solidFill>
                <a:latin typeface="Segoe UI Semibold"/>
                <a:cs typeface="Segoe UI Semibold"/>
              </a:rPr>
              <a:t>Vitamin D</a:t>
            </a:r>
          </a:p>
        </p:txBody>
      </p:sp>
      <p:sp>
        <p:nvSpPr>
          <p:cNvPr id="34" name="TextBox 33"/>
          <p:cNvSpPr txBox="1"/>
          <p:nvPr/>
        </p:nvSpPr>
        <p:spPr>
          <a:xfrm>
            <a:off x="4498848" y="4370831"/>
            <a:ext cx="1508760" cy="822960"/>
          </a:xfrm>
          <a:prstGeom prst="rect">
            <a:avLst/>
          </a:prstGeom>
          <a:noFill/>
        </p:spPr>
        <p:txBody>
          <a:bodyPr wrap="square" lIns="0" tIns="0" rIns="0" bIns="0" anchor="t">
            <a:spAutoFit/>
          </a:bodyPr>
          <a:lstStyle/>
          <a:p>
            <a:pPr algn="l">
              <a:lnSpc>
                <a:spcPct val="102000"/>
              </a:lnSpc>
              <a:spcBef>
                <a:spcPts val="0"/>
              </a:spcBef>
              <a:spcAft>
                <a:spcPts val="400"/>
              </a:spcAft>
            </a:pPr>
            <a:r>
              <a:rPr sz="1050" b="0" i="0">
                <a:solidFill>
                  <a:srgbClr val="1E293B"/>
                </a:solidFill>
                <a:latin typeface="Segoe UI"/>
                <a:cs typeface="Segoe UI"/>
              </a:rPr>
              <a:t>Điều hòa đáp ứng miễn dịch</a:t>
            </a:r>
          </a:p>
        </p:txBody>
      </p:sp>
      <p:sp>
        <p:nvSpPr>
          <p:cNvPr id="35" name="Rounded Rectangle 34"/>
          <p:cNvSpPr/>
          <p:nvPr/>
        </p:nvSpPr>
        <p:spPr>
          <a:xfrm>
            <a:off x="6254496" y="3749039"/>
            <a:ext cx="2606040" cy="1554480"/>
          </a:xfrm>
          <a:prstGeom prst="roundRect">
            <a:avLst>
              <a:gd name="adj" fmla="val 6000"/>
            </a:avLst>
          </a:prstGeom>
          <a:solidFill>
            <a:srgbClr val="FFFFFF"/>
          </a:solidFill>
          <a:ln w="1651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6437376" y="4069079"/>
            <a:ext cx="777240" cy="777240"/>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1900" b="1" i="0">
                <a:solidFill>
                  <a:srgbClr val="FFFFFF"/>
                </a:solidFill>
                <a:latin typeface="Segoe UI"/>
                <a:cs typeface="Segoe UI"/>
              </a:rPr>
              <a:t>E</a:t>
            </a:r>
          </a:p>
        </p:txBody>
      </p:sp>
      <p:sp>
        <p:nvSpPr>
          <p:cNvPr id="37" name="TextBox 36"/>
          <p:cNvSpPr txBox="1"/>
          <p:nvPr/>
        </p:nvSpPr>
        <p:spPr>
          <a:xfrm>
            <a:off x="7306056" y="3950207"/>
            <a:ext cx="1508760" cy="457200"/>
          </a:xfrm>
          <a:prstGeom prst="rect">
            <a:avLst/>
          </a:prstGeom>
          <a:noFill/>
        </p:spPr>
        <p:txBody>
          <a:bodyPr wrap="square" lIns="0" tIns="0" rIns="0" bIns="0" anchor="t">
            <a:spAutoFit/>
          </a:bodyPr>
          <a:lstStyle/>
          <a:p>
            <a:pPr algn="l">
              <a:lnSpc>
                <a:spcPct val="100000"/>
              </a:lnSpc>
              <a:spcBef>
                <a:spcPts val="0"/>
              </a:spcBef>
              <a:spcAft>
                <a:spcPts val="400"/>
              </a:spcAft>
            </a:pPr>
            <a:r>
              <a:rPr sz="1400" b="1" i="0">
                <a:solidFill>
                  <a:srgbClr val="0E7C86"/>
                </a:solidFill>
                <a:latin typeface="Segoe UI Semibold"/>
                <a:cs typeface="Segoe UI Semibold"/>
              </a:rPr>
              <a:t>Vitamin E</a:t>
            </a:r>
          </a:p>
        </p:txBody>
      </p:sp>
      <p:sp>
        <p:nvSpPr>
          <p:cNvPr id="38" name="TextBox 37"/>
          <p:cNvSpPr txBox="1"/>
          <p:nvPr/>
        </p:nvSpPr>
        <p:spPr>
          <a:xfrm>
            <a:off x="7306056" y="4370831"/>
            <a:ext cx="1508760" cy="822960"/>
          </a:xfrm>
          <a:prstGeom prst="rect">
            <a:avLst/>
          </a:prstGeom>
          <a:noFill/>
        </p:spPr>
        <p:txBody>
          <a:bodyPr wrap="square" lIns="0" tIns="0" rIns="0" bIns="0" anchor="t">
            <a:spAutoFit/>
          </a:bodyPr>
          <a:lstStyle/>
          <a:p>
            <a:pPr algn="l">
              <a:lnSpc>
                <a:spcPct val="102000"/>
              </a:lnSpc>
              <a:spcBef>
                <a:spcPts val="0"/>
              </a:spcBef>
              <a:spcAft>
                <a:spcPts val="400"/>
              </a:spcAft>
            </a:pPr>
            <a:r>
              <a:rPr sz="1050" b="0" i="0">
                <a:solidFill>
                  <a:srgbClr val="1E293B"/>
                </a:solidFill>
                <a:latin typeface="Segoe UI"/>
                <a:cs typeface="Segoe UI"/>
              </a:rPr>
              <a:t>Chống oxy hóa màng tế bào</a:t>
            </a:r>
          </a:p>
        </p:txBody>
      </p:sp>
      <p:sp>
        <p:nvSpPr>
          <p:cNvPr id="39" name="Rounded Rectangle 38"/>
          <p:cNvSpPr/>
          <p:nvPr/>
        </p:nvSpPr>
        <p:spPr>
          <a:xfrm>
            <a:off x="9061703" y="3749039"/>
            <a:ext cx="2606040" cy="1554480"/>
          </a:xfrm>
          <a:prstGeom prst="roundRect">
            <a:avLst>
              <a:gd name="adj" fmla="val 6000"/>
            </a:avLst>
          </a:prstGeom>
          <a:solidFill>
            <a:srgbClr val="FFFFFF"/>
          </a:solidFill>
          <a:ln w="16510">
            <a:solidFill>
              <a:srgbClr val="B571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9244583" y="4069079"/>
            <a:ext cx="777240" cy="777240"/>
          </a:xfrm>
          <a:prstGeom prst="ellipse">
            <a:avLst/>
          </a:prstGeom>
          <a:solidFill>
            <a:srgbClr val="B5712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1900" b="1" i="0">
                <a:solidFill>
                  <a:srgbClr val="FFFFFF"/>
                </a:solidFill>
                <a:latin typeface="Segoe UI"/>
                <a:cs typeface="Segoe UI"/>
              </a:rPr>
              <a:t>Cu</a:t>
            </a:r>
          </a:p>
        </p:txBody>
      </p:sp>
      <p:sp>
        <p:nvSpPr>
          <p:cNvPr id="41" name="TextBox 40"/>
          <p:cNvSpPr txBox="1"/>
          <p:nvPr/>
        </p:nvSpPr>
        <p:spPr>
          <a:xfrm>
            <a:off x="10113263" y="3950207"/>
            <a:ext cx="1508760" cy="457200"/>
          </a:xfrm>
          <a:prstGeom prst="rect">
            <a:avLst/>
          </a:prstGeom>
          <a:noFill/>
        </p:spPr>
        <p:txBody>
          <a:bodyPr wrap="square" lIns="0" tIns="0" rIns="0" bIns="0" anchor="t">
            <a:spAutoFit/>
          </a:bodyPr>
          <a:lstStyle/>
          <a:p>
            <a:pPr algn="l">
              <a:lnSpc>
                <a:spcPct val="100000"/>
              </a:lnSpc>
              <a:spcBef>
                <a:spcPts val="0"/>
              </a:spcBef>
              <a:spcAft>
                <a:spcPts val="400"/>
              </a:spcAft>
            </a:pPr>
            <a:r>
              <a:rPr sz="1400" b="1" i="0">
                <a:solidFill>
                  <a:srgbClr val="B5712C"/>
                </a:solidFill>
                <a:latin typeface="Segoe UI Semibold"/>
                <a:cs typeface="Segoe UI Semibold"/>
              </a:rPr>
              <a:t>Đồng</a:t>
            </a:r>
          </a:p>
        </p:txBody>
      </p:sp>
      <p:sp>
        <p:nvSpPr>
          <p:cNvPr id="42" name="TextBox 41"/>
          <p:cNvSpPr txBox="1"/>
          <p:nvPr/>
        </p:nvSpPr>
        <p:spPr>
          <a:xfrm>
            <a:off x="10113263" y="4370831"/>
            <a:ext cx="1508760" cy="822960"/>
          </a:xfrm>
          <a:prstGeom prst="rect">
            <a:avLst/>
          </a:prstGeom>
          <a:noFill/>
        </p:spPr>
        <p:txBody>
          <a:bodyPr wrap="square" lIns="0" tIns="0" rIns="0" bIns="0" anchor="t">
            <a:spAutoFit/>
          </a:bodyPr>
          <a:lstStyle/>
          <a:p>
            <a:pPr algn="l">
              <a:lnSpc>
                <a:spcPct val="102000"/>
              </a:lnSpc>
              <a:spcBef>
                <a:spcPts val="0"/>
              </a:spcBef>
              <a:spcAft>
                <a:spcPts val="400"/>
              </a:spcAft>
            </a:pPr>
            <a:r>
              <a:rPr sz="1050" b="0" i="0">
                <a:solidFill>
                  <a:srgbClr val="1E293B"/>
                </a:solidFill>
                <a:latin typeface="Segoe UI"/>
                <a:cs typeface="Segoe UI"/>
              </a:rPr>
              <a:t>Hỗ trợ tế bào lympho T</a:t>
            </a:r>
          </a:p>
        </p:txBody>
      </p:sp>
      <p:sp>
        <p:nvSpPr>
          <p:cNvPr id="43" name="TextBox 42"/>
          <p:cNvSpPr txBox="1"/>
          <p:nvPr/>
        </p:nvSpPr>
        <p:spPr>
          <a:xfrm>
            <a:off x="548640" y="6144768"/>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50" b="1" i="1">
                <a:solidFill>
                  <a:srgbClr val="19A99D"/>
                </a:solidFill>
                <a:latin typeface="Segoe UI"/>
                <a:cs typeface="Segoe UI"/>
              </a:rPr>
              <a:t>Nguồn: </a:t>
            </a:r>
            <a:r>
              <a:rPr sz="950" b="0" i="1">
                <a:solidFill>
                  <a:srgbClr val="64748B"/>
                </a:solidFill>
                <a:latin typeface="Segoe UI"/>
                <a:cs typeface="Segoe UI"/>
              </a:rPr>
              <a:t>Pai UA et al., Clin Epidemiol Glob Health 2018 (micronutrients &amp; immunity)</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384048" y="274320"/>
            <a:ext cx="384048" cy="384048"/>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4068" y="329184"/>
            <a:ext cx="104241"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66344" y="406908"/>
            <a:ext cx="274320" cy="10424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274320"/>
            <a:ext cx="2926080" cy="402336"/>
          </a:xfrm>
          <a:prstGeom prst="rect">
            <a:avLst/>
          </a:prstGeom>
          <a:noFill/>
        </p:spPr>
        <p:txBody>
          <a:bodyPr wrap="square" lIns="0" tIns="0" rIns="0" bIns="0" anchor="ctr">
            <a:spAutoFit/>
          </a:bodyPr>
          <a:lstStyle/>
          <a:p>
            <a:pPr algn="l">
              <a:lnSpc>
                <a:spcPct val="100000"/>
              </a:lnSpc>
              <a:spcBef>
                <a:spcPts val="0"/>
              </a:spcBef>
              <a:spcAft>
                <a:spcPts val="400"/>
              </a:spcAft>
            </a:pPr>
            <a:r>
              <a:rPr sz="1300" b="1" i="0">
                <a:solidFill>
                  <a:srgbClr val="1E293B"/>
                </a:solidFill>
                <a:latin typeface="Segoe UI"/>
                <a:cs typeface="Segoe UI"/>
              </a:rPr>
              <a:t>DINH DƯỠNG </a:t>
            </a:r>
            <a:r>
              <a:rPr sz="1300" b="1" i="0">
                <a:solidFill>
                  <a:srgbClr val="19A99D"/>
                </a:solidFill>
                <a:latin typeface="Segoe UI"/>
                <a:cs typeface="Segoe UI"/>
              </a:rPr>
              <a:t>NHI KHOA</a:t>
            </a:r>
          </a:p>
        </p:txBody>
      </p:sp>
      <p:sp>
        <p:nvSpPr>
          <p:cNvPr id="6" name="Rectangle 5"/>
          <p:cNvSpPr/>
          <p:nvPr/>
        </p:nvSpPr>
        <p:spPr>
          <a:xfrm>
            <a:off x="0" y="6473952"/>
            <a:ext cx="12191695" cy="384048"/>
          </a:xfrm>
          <a:prstGeom prst="rect">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492240"/>
            <a:ext cx="9601200" cy="347472"/>
          </a:xfrm>
          <a:prstGeom prst="rect">
            <a:avLst/>
          </a:prstGeom>
          <a:noFill/>
        </p:spPr>
        <p:txBody>
          <a:bodyPr wrap="square" lIns="0" tIns="0" rIns="0" bIns="0" anchor="ctr">
            <a:spAutoFit/>
          </a:bodyPr>
          <a:lstStyle/>
          <a:p>
            <a:pPr algn="l">
              <a:lnSpc>
                <a:spcPct val="100000"/>
              </a:lnSpc>
              <a:spcBef>
                <a:spcPts val="0"/>
              </a:spcBef>
              <a:spcAft>
                <a:spcPts val="400"/>
              </a:spcAft>
            </a:pPr>
            <a:r>
              <a:rPr sz="950" b="0" i="0">
                <a:solidFill>
                  <a:srgbClr val="FFFFFF"/>
                </a:solidFill>
                <a:latin typeface="Segoe UI"/>
                <a:cs typeface="Segoe UI"/>
              </a:rPr>
              <a:t>Chuyên đề 2 · Dinh dưỡng – nền tảng cho miễn dịch &amp; sự phát triển của trẻ  ·  TS. Lê Thị Thùy Dung</a:t>
            </a:r>
          </a:p>
        </p:txBody>
      </p:sp>
      <p:sp>
        <p:nvSpPr>
          <p:cNvPr id="8" name="TextBox 7"/>
          <p:cNvSpPr txBox="1"/>
          <p:nvPr/>
        </p:nvSpPr>
        <p:spPr>
          <a:xfrm>
            <a:off x="11185855" y="6492240"/>
            <a:ext cx="548640" cy="347472"/>
          </a:xfrm>
          <a:prstGeom prst="rect">
            <a:avLst/>
          </a:prstGeom>
          <a:noFill/>
        </p:spPr>
        <p:txBody>
          <a:bodyPr wrap="square" lIns="0" tIns="0" rIns="0" bIns="0" anchor="ctr">
            <a:spAutoFit/>
          </a:bodyPr>
          <a:lstStyle/>
          <a:p>
            <a:pPr algn="r">
              <a:lnSpc>
                <a:spcPct val="100000"/>
              </a:lnSpc>
              <a:spcBef>
                <a:spcPts val="0"/>
              </a:spcBef>
              <a:spcAft>
                <a:spcPts val="400"/>
              </a:spcAft>
            </a:pPr>
            <a:r>
              <a:rPr sz="1000" b="1" i="0">
                <a:solidFill>
                  <a:srgbClr val="FFFFFF"/>
                </a:solidFill>
                <a:latin typeface="Segoe UI"/>
                <a:cs typeface="Segoe UI"/>
              </a:rPr>
              <a:t>27</a:t>
            </a:r>
          </a:p>
        </p:txBody>
      </p:sp>
      <p:sp>
        <p:nvSpPr>
          <p:cNvPr id="9" name="TextBox 8"/>
          <p:cNvSpPr txBox="1"/>
          <p:nvPr/>
        </p:nvSpPr>
        <p:spPr>
          <a:xfrm>
            <a:off x="548640" y="841248"/>
            <a:ext cx="10881360" cy="566928"/>
          </a:xfrm>
          <a:prstGeom prst="rect">
            <a:avLst/>
          </a:prstGeom>
          <a:noFill/>
        </p:spPr>
        <p:txBody>
          <a:bodyPr wrap="square" lIns="0" tIns="0" rIns="0" bIns="0" anchor="t">
            <a:spAutoFit/>
          </a:bodyPr>
          <a:lstStyle/>
          <a:p>
            <a:pPr algn="l">
              <a:lnSpc>
                <a:spcPct val="100000"/>
              </a:lnSpc>
              <a:spcBef>
                <a:spcPts val="0"/>
              </a:spcBef>
              <a:spcAft>
                <a:spcPts val="400"/>
              </a:spcAft>
            </a:pPr>
            <a:r>
              <a:rPr sz="2700" b="1" i="0">
                <a:solidFill>
                  <a:srgbClr val="19A99D"/>
                </a:solidFill>
                <a:latin typeface="Segoe UI Semibold"/>
                <a:cs typeface="Segoe UI Semibold"/>
              </a:rPr>
              <a:t>Đường ruột khỏe – miễn dịch khỏe</a:t>
            </a:r>
          </a:p>
        </p:txBody>
      </p:sp>
      <p:sp>
        <p:nvSpPr>
          <p:cNvPr id="10" name="TextBox 9"/>
          <p:cNvSpPr txBox="1"/>
          <p:nvPr/>
        </p:nvSpPr>
        <p:spPr>
          <a:xfrm>
            <a:off x="548640" y="1408176"/>
            <a:ext cx="10881360" cy="365760"/>
          </a:xfrm>
          <a:prstGeom prst="rect">
            <a:avLst/>
          </a:prstGeom>
          <a:noFill/>
        </p:spPr>
        <p:txBody>
          <a:bodyPr wrap="square" lIns="0" tIns="0" rIns="0" bIns="0" anchor="t">
            <a:spAutoFit/>
          </a:bodyPr>
          <a:lstStyle/>
          <a:p>
            <a:pPr algn="l">
              <a:lnSpc>
                <a:spcPct val="100000"/>
              </a:lnSpc>
              <a:spcBef>
                <a:spcPts val="0"/>
              </a:spcBef>
              <a:spcAft>
                <a:spcPts val="400"/>
              </a:spcAft>
            </a:pPr>
            <a:r>
              <a:rPr sz="1500" b="0" i="1">
                <a:solidFill>
                  <a:srgbClr val="64748B"/>
                </a:solidFill>
                <a:latin typeface="Segoe UI"/>
                <a:cs typeface="Segoe UI"/>
              </a:rPr>
              <a:t>≈ 70% tế bào miễn dịch nằm ở đường ruột</a:t>
            </a:r>
          </a:p>
        </p:txBody>
      </p:sp>
      <p:sp>
        <p:nvSpPr>
          <p:cNvPr id="11" name="Rounded Rectangle 10"/>
          <p:cNvSpPr/>
          <p:nvPr/>
        </p:nvSpPr>
        <p:spPr>
          <a:xfrm>
            <a:off x="685800" y="2011680"/>
            <a:ext cx="3383280" cy="2743200"/>
          </a:xfrm>
          <a:prstGeom prst="roundRect">
            <a:avLst>
              <a:gd name="adj" fmla="val 6000"/>
            </a:avLst>
          </a:prstGeom>
          <a:solidFill>
            <a:srgbClr val="FFFFFF"/>
          </a:solidFill>
          <a:ln w="20320">
            <a:solidFill>
              <a:srgbClr val="3A6B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2011680" y="2240280"/>
            <a:ext cx="731520" cy="731520"/>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2400" b="1" i="0">
                <a:solidFill>
                  <a:srgbClr val="FFFFFF"/>
                </a:solidFill>
                <a:latin typeface="Segoe UI"/>
                <a:cs typeface="Segoe UI"/>
              </a:rPr>
              <a:t>1</a:t>
            </a:r>
          </a:p>
        </p:txBody>
      </p:sp>
      <p:sp>
        <p:nvSpPr>
          <p:cNvPr id="13" name="TextBox 12"/>
          <p:cNvSpPr txBox="1"/>
          <p:nvPr/>
        </p:nvSpPr>
        <p:spPr>
          <a:xfrm>
            <a:off x="685800" y="3127248"/>
            <a:ext cx="3383280" cy="457200"/>
          </a:xfrm>
          <a:prstGeom prst="rect">
            <a:avLst/>
          </a:prstGeom>
          <a:noFill/>
        </p:spPr>
        <p:txBody>
          <a:bodyPr wrap="square" lIns="0" tIns="0" rIns="0" bIns="0" anchor="t">
            <a:spAutoFit/>
          </a:bodyPr>
          <a:lstStyle/>
          <a:p>
            <a:pPr algn="ctr">
              <a:lnSpc>
                <a:spcPct val="100000"/>
              </a:lnSpc>
              <a:spcBef>
                <a:spcPts val="0"/>
              </a:spcBef>
              <a:spcAft>
                <a:spcPts val="400"/>
              </a:spcAft>
            </a:pPr>
            <a:r>
              <a:rPr sz="1550" b="1" i="0">
                <a:solidFill>
                  <a:srgbClr val="3A6B35"/>
                </a:solidFill>
                <a:latin typeface="Segoe UI Semibold"/>
                <a:cs typeface="Segoe UI Semibold"/>
              </a:rPr>
              <a:t>Prebiotics (chất xơ)</a:t>
            </a:r>
          </a:p>
        </p:txBody>
      </p:sp>
      <p:sp>
        <p:nvSpPr>
          <p:cNvPr id="14" name="TextBox 13"/>
          <p:cNvSpPr txBox="1"/>
          <p:nvPr/>
        </p:nvSpPr>
        <p:spPr>
          <a:xfrm>
            <a:off x="960120" y="3611880"/>
            <a:ext cx="2834640" cy="1097280"/>
          </a:xfrm>
          <a:prstGeom prst="rect">
            <a:avLst/>
          </a:prstGeom>
          <a:noFill/>
        </p:spPr>
        <p:txBody>
          <a:bodyPr wrap="square" lIns="0" tIns="0" rIns="0" bIns="0" anchor="t">
            <a:spAutoFit/>
          </a:bodyPr>
          <a:lstStyle/>
          <a:p>
            <a:pPr algn="ctr">
              <a:lnSpc>
                <a:spcPct val="108000"/>
              </a:lnSpc>
              <a:spcBef>
                <a:spcPts val="0"/>
              </a:spcBef>
              <a:spcAft>
                <a:spcPts val="400"/>
              </a:spcAft>
            </a:pPr>
            <a:r>
              <a:rPr sz="1200" b="0" i="0">
                <a:solidFill>
                  <a:srgbClr val="1E293B"/>
                </a:solidFill>
                <a:latin typeface="Segoe UI"/>
                <a:cs typeface="Segoe UI"/>
              </a:rPr>
              <a:t>“Thức ăn” cho lợi khuẩn: HMO trong sữa mẹ, FOS, GOS, rau củ quả, ngũ cốc nguyên hạt.</a:t>
            </a:r>
          </a:p>
        </p:txBody>
      </p:sp>
      <p:sp>
        <p:nvSpPr>
          <p:cNvPr id="15" name="Rounded Rectangle 14"/>
          <p:cNvSpPr/>
          <p:nvPr/>
        </p:nvSpPr>
        <p:spPr>
          <a:xfrm>
            <a:off x="4434840" y="2011680"/>
            <a:ext cx="3383280" cy="2743200"/>
          </a:xfrm>
          <a:prstGeom prst="roundRect">
            <a:avLst>
              <a:gd name="adj" fmla="val 6000"/>
            </a:avLst>
          </a:prstGeom>
          <a:solidFill>
            <a:srgbClr val="FFFFFF"/>
          </a:solidFill>
          <a:ln w="20320">
            <a:solidFill>
              <a:srgbClr val="19A99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5760720" y="2240280"/>
            <a:ext cx="731520" cy="731520"/>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2400" b="1" i="0">
                <a:solidFill>
                  <a:srgbClr val="FFFFFF"/>
                </a:solidFill>
                <a:latin typeface="Segoe UI"/>
                <a:cs typeface="Segoe UI"/>
              </a:rPr>
              <a:t>2</a:t>
            </a:r>
          </a:p>
        </p:txBody>
      </p:sp>
      <p:sp>
        <p:nvSpPr>
          <p:cNvPr id="17" name="TextBox 16"/>
          <p:cNvSpPr txBox="1"/>
          <p:nvPr/>
        </p:nvSpPr>
        <p:spPr>
          <a:xfrm>
            <a:off x="4434840" y="3127248"/>
            <a:ext cx="3383280" cy="457200"/>
          </a:xfrm>
          <a:prstGeom prst="rect">
            <a:avLst/>
          </a:prstGeom>
          <a:noFill/>
        </p:spPr>
        <p:txBody>
          <a:bodyPr wrap="square" lIns="0" tIns="0" rIns="0" bIns="0" anchor="t">
            <a:spAutoFit/>
          </a:bodyPr>
          <a:lstStyle/>
          <a:p>
            <a:pPr algn="ctr">
              <a:lnSpc>
                <a:spcPct val="100000"/>
              </a:lnSpc>
              <a:spcBef>
                <a:spcPts val="0"/>
              </a:spcBef>
              <a:spcAft>
                <a:spcPts val="400"/>
              </a:spcAft>
            </a:pPr>
            <a:r>
              <a:rPr sz="1550" b="1" i="0">
                <a:solidFill>
                  <a:srgbClr val="19A99D"/>
                </a:solidFill>
                <a:latin typeface="Segoe UI Semibold"/>
                <a:cs typeface="Segoe UI Semibold"/>
              </a:rPr>
              <a:t>Probiotics (lợi khuẩn)</a:t>
            </a:r>
          </a:p>
        </p:txBody>
      </p:sp>
      <p:sp>
        <p:nvSpPr>
          <p:cNvPr id="18" name="TextBox 17"/>
          <p:cNvSpPr txBox="1"/>
          <p:nvPr/>
        </p:nvSpPr>
        <p:spPr>
          <a:xfrm>
            <a:off x="4709159" y="3611880"/>
            <a:ext cx="2834640" cy="1097280"/>
          </a:xfrm>
          <a:prstGeom prst="rect">
            <a:avLst/>
          </a:prstGeom>
          <a:noFill/>
        </p:spPr>
        <p:txBody>
          <a:bodyPr wrap="square" lIns="0" tIns="0" rIns="0" bIns="0" anchor="t">
            <a:spAutoFit/>
          </a:bodyPr>
          <a:lstStyle/>
          <a:p>
            <a:pPr algn="ctr">
              <a:lnSpc>
                <a:spcPct val="108000"/>
              </a:lnSpc>
              <a:spcBef>
                <a:spcPts val="0"/>
              </a:spcBef>
              <a:spcAft>
                <a:spcPts val="400"/>
              </a:spcAft>
            </a:pPr>
            <a:r>
              <a:rPr sz="1200" b="0" i="0">
                <a:solidFill>
                  <a:srgbClr val="1E293B"/>
                </a:solidFill>
                <a:latin typeface="Segoe UI"/>
                <a:cs typeface="Segoe UI"/>
              </a:rPr>
              <a:t>Vi khuẩn có lợi: củng cố hàng rào ruột, điều hòa miễn dịch (có trong sữa chua).</a:t>
            </a:r>
          </a:p>
        </p:txBody>
      </p:sp>
      <p:sp>
        <p:nvSpPr>
          <p:cNvPr id="19" name="Rounded Rectangle 18"/>
          <p:cNvSpPr/>
          <p:nvPr/>
        </p:nvSpPr>
        <p:spPr>
          <a:xfrm>
            <a:off x="8183879" y="2011680"/>
            <a:ext cx="3383280" cy="2743200"/>
          </a:xfrm>
          <a:prstGeom prst="roundRect">
            <a:avLst>
              <a:gd name="adj" fmla="val 6000"/>
            </a:avLst>
          </a:prstGeom>
          <a:solidFill>
            <a:srgbClr val="FFFFFF"/>
          </a:solidFill>
          <a:ln w="20320">
            <a:solidFill>
              <a:srgbClr val="2866A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9509759" y="2240280"/>
            <a:ext cx="731520" cy="731520"/>
          </a:xfrm>
          <a:prstGeom prst="ellipse">
            <a:avLst/>
          </a:prstGeom>
          <a:solidFill>
            <a:srgbClr val="2866A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2400" b="1" i="0">
                <a:solidFill>
                  <a:srgbClr val="FFFFFF"/>
                </a:solidFill>
                <a:latin typeface="Segoe UI"/>
                <a:cs typeface="Segoe UI"/>
              </a:rPr>
              <a:t>3</a:t>
            </a:r>
          </a:p>
        </p:txBody>
      </p:sp>
      <p:sp>
        <p:nvSpPr>
          <p:cNvPr id="21" name="TextBox 20"/>
          <p:cNvSpPr txBox="1"/>
          <p:nvPr/>
        </p:nvSpPr>
        <p:spPr>
          <a:xfrm>
            <a:off x="8183879" y="3127248"/>
            <a:ext cx="3383280" cy="457200"/>
          </a:xfrm>
          <a:prstGeom prst="rect">
            <a:avLst/>
          </a:prstGeom>
          <a:noFill/>
        </p:spPr>
        <p:txBody>
          <a:bodyPr wrap="square" lIns="0" tIns="0" rIns="0" bIns="0" anchor="t">
            <a:spAutoFit/>
          </a:bodyPr>
          <a:lstStyle/>
          <a:p>
            <a:pPr algn="ctr">
              <a:lnSpc>
                <a:spcPct val="100000"/>
              </a:lnSpc>
              <a:spcBef>
                <a:spcPts val="0"/>
              </a:spcBef>
              <a:spcAft>
                <a:spcPts val="400"/>
              </a:spcAft>
            </a:pPr>
            <a:r>
              <a:rPr sz="1550" b="1" i="0">
                <a:solidFill>
                  <a:srgbClr val="2866AB"/>
                </a:solidFill>
                <a:latin typeface="Segoe UI Semibold"/>
                <a:cs typeface="Segoe UI Semibold"/>
              </a:rPr>
              <a:t>Hàng rào niêm mạc ruột</a:t>
            </a:r>
          </a:p>
        </p:txBody>
      </p:sp>
      <p:sp>
        <p:nvSpPr>
          <p:cNvPr id="22" name="TextBox 21"/>
          <p:cNvSpPr txBox="1"/>
          <p:nvPr/>
        </p:nvSpPr>
        <p:spPr>
          <a:xfrm>
            <a:off x="8458200" y="3611880"/>
            <a:ext cx="2834640" cy="1097280"/>
          </a:xfrm>
          <a:prstGeom prst="rect">
            <a:avLst/>
          </a:prstGeom>
          <a:noFill/>
        </p:spPr>
        <p:txBody>
          <a:bodyPr wrap="square" lIns="0" tIns="0" rIns="0" bIns="0" anchor="t">
            <a:spAutoFit/>
          </a:bodyPr>
          <a:lstStyle/>
          <a:p>
            <a:pPr algn="ctr">
              <a:lnSpc>
                <a:spcPct val="108000"/>
              </a:lnSpc>
              <a:spcBef>
                <a:spcPts val="0"/>
              </a:spcBef>
              <a:spcAft>
                <a:spcPts val="400"/>
              </a:spcAft>
            </a:pPr>
            <a:r>
              <a:rPr sz="1200" b="0" i="0">
                <a:solidFill>
                  <a:srgbClr val="1E293B"/>
                </a:solidFill>
                <a:latin typeface="Segoe UI"/>
                <a:cs typeface="Segoe UI"/>
              </a:rPr>
              <a:t>Ngăn vi khuẩn gây bệnh bám dính &amp; xâm nhập; “dạy” cơ thể dung nạp thức ăn.</a:t>
            </a:r>
          </a:p>
        </p:txBody>
      </p:sp>
      <p:sp>
        <p:nvSpPr>
          <p:cNvPr id="23" name="TextBox 22"/>
          <p:cNvSpPr txBox="1"/>
          <p:nvPr/>
        </p:nvSpPr>
        <p:spPr>
          <a:xfrm>
            <a:off x="685800" y="5074920"/>
            <a:ext cx="10789920" cy="640080"/>
          </a:xfrm>
          <a:prstGeom prst="rect">
            <a:avLst/>
          </a:prstGeom>
          <a:noFill/>
        </p:spPr>
        <p:txBody>
          <a:bodyPr wrap="square" lIns="0" tIns="0" rIns="0" bIns="0" anchor="t">
            <a:spAutoFit/>
          </a:bodyPr>
          <a:lstStyle/>
          <a:p>
            <a:pPr algn="ctr">
              <a:lnSpc>
                <a:spcPct val="110000"/>
              </a:lnSpc>
              <a:spcBef>
                <a:spcPts val="0"/>
              </a:spcBef>
              <a:spcAft>
                <a:spcPts val="400"/>
              </a:spcAft>
            </a:pPr>
            <a:r>
              <a:rPr sz="1400" b="0" i="1">
                <a:solidFill>
                  <a:srgbClr val="64748B"/>
                </a:solidFill>
                <a:latin typeface="Segoe UI"/>
                <a:cs typeface="Segoe UI"/>
              </a:rPr>
              <a:t>Cho trẻ ăn đa dạng rau củ, trái cây và sữa chua giúp hệ vi sinh đường ruột cân bằng – nền tảng của đề kháng.</a:t>
            </a:r>
          </a:p>
        </p:txBody>
      </p:sp>
      <p:sp>
        <p:nvSpPr>
          <p:cNvPr id="24" name="TextBox 23"/>
          <p:cNvSpPr txBox="1"/>
          <p:nvPr/>
        </p:nvSpPr>
        <p:spPr>
          <a:xfrm>
            <a:off x="548640" y="6144768"/>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50" b="1" i="1">
                <a:solidFill>
                  <a:srgbClr val="19A99D"/>
                </a:solidFill>
                <a:latin typeface="Segoe UI"/>
                <a:cs typeface="Segoe UI"/>
              </a:rPr>
              <a:t>Nguồn: </a:t>
            </a:r>
            <a:r>
              <a:rPr sz="950" b="0" i="1">
                <a:solidFill>
                  <a:srgbClr val="64748B"/>
                </a:solidFill>
                <a:latin typeface="Segoe UI"/>
                <a:cs typeface="Segoe UI"/>
              </a:rPr>
              <a:t>Plaza-Díaz J et al., Nutrients 2018; Pai UA et al. 2018 (prebiotics &amp; probiotics)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384048" y="274320"/>
            <a:ext cx="384048" cy="384048"/>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4068" y="329184"/>
            <a:ext cx="104241"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66344" y="406908"/>
            <a:ext cx="274320" cy="10424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274320"/>
            <a:ext cx="2926080" cy="402336"/>
          </a:xfrm>
          <a:prstGeom prst="rect">
            <a:avLst/>
          </a:prstGeom>
          <a:noFill/>
        </p:spPr>
        <p:txBody>
          <a:bodyPr wrap="square" lIns="0" tIns="0" rIns="0" bIns="0" anchor="ctr">
            <a:spAutoFit/>
          </a:bodyPr>
          <a:lstStyle/>
          <a:p>
            <a:pPr algn="l">
              <a:lnSpc>
                <a:spcPct val="100000"/>
              </a:lnSpc>
              <a:spcBef>
                <a:spcPts val="0"/>
              </a:spcBef>
              <a:spcAft>
                <a:spcPts val="400"/>
              </a:spcAft>
            </a:pPr>
            <a:r>
              <a:rPr sz="1300" b="1" i="0">
                <a:solidFill>
                  <a:srgbClr val="1E293B"/>
                </a:solidFill>
                <a:latin typeface="Segoe UI"/>
                <a:cs typeface="Segoe UI"/>
              </a:rPr>
              <a:t>DINH DƯỠNG </a:t>
            </a:r>
            <a:r>
              <a:rPr sz="1300" b="1" i="0">
                <a:solidFill>
                  <a:srgbClr val="19A99D"/>
                </a:solidFill>
                <a:latin typeface="Segoe UI"/>
                <a:cs typeface="Segoe UI"/>
              </a:rPr>
              <a:t>NHI KHOA</a:t>
            </a:r>
          </a:p>
        </p:txBody>
      </p:sp>
      <p:sp>
        <p:nvSpPr>
          <p:cNvPr id="6" name="Rectangle 5"/>
          <p:cNvSpPr/>
          <p:nvPr/>
        </p:nvSpPr>
        <p:spPr>
          <a:xfrm>
            <a:off x="0" y="6473952"/>
            <a:ext cx="12191695" cy="384048"/>
          </a:xfrm>
          <a:prstGeom prst="rect">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492240"/>
            <a:ext cx="9601200" cy="347472"/>
          </a:xfrm>
          <a:prstGeom prst="rect">
            <a:avLst/>
          </a:prstGeom>
          <a:noFill/>
        </p:spPr>
        <p:txBody>
          <a:bodyPr wrap="square" lIns="0" tIns="0" rIns="0" bIns="0" anchor="ctr">
            <a:spAutoFit/>
          </a:bodyPr>
          <a:lstStyle/>
          <a:p>
            <a:pPr algn="l">
              <a:lnSpc>
                <a:spcPct val="100000"/>
              </a:lnSpc>
              <a:spcBef>
                <a:spcPts val="0"/>
              </a:spcBef>
              <a:spcAft>
                <a:spcPts val="400"/>
              </a:spcAft>
            </a:pPr>
            <a:r>
              <a:rPr sz="950" b="0" i="0">
                <a:solidFill>
                  <a:srgbClr val="FFFFFF"/>
                </a:solidFill>
                <a:latin typeface="Segoe UI"/>
                <a:cs typeface="Segoe UI"/>
              </a:rPr>
              <a:t>Chuyên đề 2 · Dinh dưỡng – nền tảng cho miễn dịch &amp; sự phát triển của trẻ  ·  TS. Lê Thị Thùy Dung</a:t>
            </a:r>
          </a:p>
        </p:txBody>
      </p:sp>
      <p:sp>
        <p:nvSpPr>
          <p:cNvPr id="8" name="TextBox 7"/>
          <p:cNvSpPr txBox="1"/>
          <p:nvPr/>
        </p:nvSpPr>
        <p:spPr>
          <a:xfrm>
            <a:off x="11185855" y="6492240"/>
            <a:ext cx="548640" cy="347472"/>
          </a:xfrm>
          <a:prstGeom prst="rect">
            <a:avLst/>
          </a:prstGeom>
          <a:noFill/>
        </p:spPr>
        <p:txBody>
          <a:bodyPr wrap="square" lIns="0" tIns="0" rIns="0" bIns="0" anchor="ctr">
            <a:spAutoFit/>
          </a:bodyPr>
          <a:lstStyle/>
          <a:p>
            <a:pPr algn="r">
              <a:lnSpc>
                <a:spcPct val="100000"/>
              </a:lnSpc>
              <a:spcBef>
                <a:spcPts val="0"/>
              </a:spcBef>
              <a:spcAft>
                <a:spcPts val="400"/>
              </a:spcAft>
            </a:pPr>
            <a:r>
              <a:rPr sz="1000" b="1" i="0">
                <a:solidFill>
                  <a:srgbClr val="FFFFFF"/>
                </a:solidFill>
                <a:latin typeface="Segoe UI"/>
                <a:cs typeface="Segoe UI"/>
              </a:rPr>
              <a:t>28</a:t>
            </a:r>
          </a:p>
        </p:txBody>
      </p:sp>
      <p:sp>
        <p:nvSpPr>
          <p:cNvPr id="9" name="TextBox 8"/>
          <p:cNvSpPr txBox="1"/>
          <p:nvPr/>
        </p:nvSpPr>
        <p:spPr>
          <a:xfrm>
            <a:off x="548640" y="841248"/>
            <a:ext cx="10881360" cy="566928"/>
          </a:xfrm>
          <a:prstGeom prst="rect">
            <a:avLst/>
          </a:prstGeom>
          <a:noFill/>
        </p:spPr>
        <p:txBody>
          <a:bodyPr wrap="square" lIns="0" tIns="0" rIns="0" bIns="0" anchor="t">
            <a:spAutoFit/>
          </a:bodyPr>
          <a:lstStyle/>
          <a:p>
            <a:pPr algn="l">
              <a:lnSpc>
                <a:spcPct val="100000"/>
              </a:lnSpc>
              <a:spcBef>
                <a:spcPts val="0"/>
              </a:spcBef>
              <a:spcAft>
                <a:spcPts val="400"/>
              </a:spcAft>
            </a:pPr>
            <a:r>
              <a:rPr sz="2700" b="1" i="0">
                <a:solidFill>
                  <a:srgbClr val="19A99D"/>
                </a:solidFill>
                <a:latin typeface="Segoe UI Semibold"/>
                <a:cs typeface="Segoe UI Semibold"/>
              </a:rPr>
              <a:t>Sữa non &amp; kháng thể IgG – bằng chứng lâm sàng</a:t>
            </a:r>
          </a:p>
        </p:txBody>
      </p:sp>
      <p:sp>
        <p:nvSpPr>
          <p:cNvPr id="10" name="TextBox 9"/>
          <p:cNvSpPr txBox="1"/>
          <p:nvPr/>
        </p:nvSpPr>
        <p:spPr>
          <a:xfrm>
            <a:off x="548640" y="1408176"/>
            <a:ext cx="10881360" cy="365760"/>
          </a:xfrm>
          <a:prstGeom prst="rect">
            <a:avLst/>
          </a:prstGeom>
          <a:noFill/>
        </p:spPr>
        <p:txBody>
          <a:bodyPr wrap="square" lIns="0" tIns="0" rIns="0" bIns="0" anchor="t">
            <a:spAutoFit/>
          </a:bodyPr>
          <a:lstStyle/>
          <a:p>
            <a:pPr algn="l">
              <a:lnSpc>
                <a:spcPct val="100000"/>
              </a:lnSpc>
              <a:spcBef>
                <a:spcPts val="0"/>
              </a:spcBef>
              <a:spcAft>
                <a:spcPts val="400"/>
              </a:spcAft>
            </a:pPr>
            <a:r>
              <a:rPr sz="1500" b="0" i="1">
                <a:solidFill>
                  <a:srgbClr val="64748B"/>
                </a:solidFill>
                <a:latin typeface="Segoe UI"/>
                <a:cs typeface="Segoe UI"/>
              </a:rPr>
              <a:t>Khi trẻ trong “khoảng trống miễn dịch” bị tiêu chảy</a:t>
            </a:r>
          </a:p>
        </p:txBody>
      </p:sp>
      <p:sp>
        <p:nvSpPr>
          <p:cNvPr id="11" name="Rounded Rectangle 10"/>
          <p:cNvSpPr/>
          <p:nvPr/>
        </p:nvSpPr>
        <p:spPr>
          <a:xfrm>
            <a:off x="731520" y="1874519"/>
            <a:ext cx="10881360" cy="914400"/>
          </a:xfrm>
          <a:prstGeom prst="roundRect">
            <a:avLst>
              <a:gd name="adj" fmla="val 6000"/>
            </a:avLst>
          </a:prstGeom>
          <a:solidFill>
            <a:srgbClr val="E0F5F4"/>
          </a:solidFill>
          <a:ln w="16510">
            <a:solidFill>
              <a:srgbClr val="19A99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0120" y="1993392"/>
            <a:ext cx="10424160" cy="713232"/>
          </a:xfrm>
          <a:prstGeom prst="rect">
            <a:avLst/>
          </a:prstGeom>
          <a:noFill/>
        </p:spPr>
        <p:txBody>
          <a:bodyPr wrap="square" lIns="0" tIns="0" rIns="0" bIns="0" anchor="ctr">
            <a:spAutoFit/>
          </a:bodyPr>
          <a:lstStyle/>
          <a:p>
            <a:pPr algn="l">
              <a:lnSpc>
                <a:spcPct val="106000"/>
              </a:lnSpc>
              <a:spcBef>
                <a:spcPts val="0"/>
              </a:spcBef>
              <a:spcAft>
                <a:spcPts val="400"/>
              </a:spcAft>
            </a:pPr>
            <a:r>
              <a:rPr sz="1450" b="1" i="0">
                <a:solidFill>
                  <a:srgbClr val="19A99D"/>
                </a:solidFill>
                <a:latin typeface="Segoe UI"/>
                <a:cs typeface="Segoe UI"/>
              </a:rPr>
              <a:t>Sữa non (colostrum): </a:t>
            </a:r>
            <a:r>
              <a:rPr sz="1450" b="0" i="0">
                <a:solidFill>
                  <a:srgbClr val="1E293B"/>
                </a:solidFill>
                <a:latin typeface="Segoe UI"/>
                <a:cs typeface="Segoe UI"/>
              </a:rPr>
              <a:t>sữa tiết ra 72 giờ đầu sau sinh, giàu kháng thể IgG. IgG tạo hàng rào bảo vệ tại đường hô hấp và đường ruột.</a:t>
            </a:r>
          </a:p>
        </p:txBody>
      </p:sp>
      <p:sp>
        <p:nvSpPr>
          <p:cNvPr id="13" name="Rounded Rectangle 12"/>
          <p:cNvSpPr/>
          <p:nvPr/>
        </p:nvSpPr>
        <p:spPr>
          <a:xfrm>
            <a:off x="731520" y="3063240"/>
            <a:ext cx="5212080" cy="2468880"/>
          </a:xfrm>
          <a:prstGeom prst="roundRect">
            <a:avLst>
              <a:gd name="adj" fmla="val 6000"/>
            </a:avLst>
          </a:prstGeom>
          <a:solidFill>
            <a:srgbClr val="FFFFFF"/>
          </a:solidFill>
          <a:ln w="19050">
            <a:solidFill>
              <a:srgbClr val="19A99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960120" y="3291840"/>
            <a:ext cx="548640" cy="548640"/>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1100" b="1" i="0">
                <a:solidFill>
                  <a:srgbClr val="FFFFFF"/>
                </a:solidFill>
                <a:latin typeface="Segoe UI"/>
                <a:cs typeface="Segoe UI"/>
              </a:rPr>
              <a:t>NC1</a:t>
            </a:r>
          </a:p>
        </p:txBody>
      </p:sp>
      <p:sp>
        <p:nvSpPr>
          <p:cNvPr id="15" name="TextBox 14"/>
          <p:cNvSpPr txBox="1"/>
          <p:nvPr/>
        </p:nvSpPr>
        <p:spPr>
          <a:xfrm>
            <a:off x="1691640" y="3310128"/>
            <a:ext cx="4023360" cy="548640"/>
          </a:xfrm>
          <a:prstGeom prst="rect">
            <a:avLst/>
          </a:prstGeom>
          <a:noFill/>
        </p:spPr>
        <p:txBody>
          <a:bodyPr wrap="square" lIns="0" tIns="0" rIns="0" bIns="0" anchor="ctr">
            <a:spAutoFit/>
          </a:bodyPr>
          <a:lstStyle/>
          <a:p>
            <a:pPr algn="l">
              <a:lnSpc>
                <a:spcPct val="100000"/>
              </a:lnSpc>
              <a:spcBef>
                <a:spcPts val="0"/>
              </a:spcBef>
              <a:spcAft>
                <a:spcPts val="400"/>
              </a:spcAft>
            </a:pPr>
            <a:r>
              <a:rPr sz="1350" b="1" i="0">
                <a:solidFill>
                  <a:srgbClr val="19A99D"/>
                </a:solidFill>
                <a:latin typeface="Segoe UI Semibold"/>
                <a:cs typeface="Segoe UI Semibold"/>
              </a:rPr>
              <a:t>Trẻ 6–24 tháng, Bangladesh</a:t>
            </a:r>
          </a:p>
        </p:txBody>
      </p:sp>
      <p:sp>
        <p:nvSpPr>
          <p:cNvPr id="16" name="TextBox 15"/>
          <p:cNvSpPr txBox="1"/>
          <p:nvPr/>
        </p:nvSpPr>
        <p:spPr>
          <a:xfrm>
            <a:off x="1005840" y="3977639"/>
            <a:ext cx="4663440" cy="365760"/>
          </a:xfrm>
          <a:prstGeom prst="rect">
            <a:avLst/>
          </a:prstGeom>
          <a:noFill/>
        </p:spPr>
        <p:txBody>
          <a:bodyPr wrap="square" lIns="0" tIns="0" rIns="0" bIns="0" anchor="t">
            <a:spAutoFit/>
          </a:bodyPr>
          <a:lstStyle/>
          <a:p>
            <a:pPr algn="l">
              <a:lnSpc>
                <a:spcPct val="100000"/>
              </a:lnSpc>
              <a:spcBef>
                <a:spcPts val="0"/>
              </a:spcBef>
              <a:spcAft>
                <a:spcPts val="400"/>
              </a:spcAft>
            </a:pPr>
            <a:r>
              <a:rPr sz="1200" b="1" i="0">
                <a:solidFill>
                  <a:srgbClr val="64748B"/>
                </a:solidFill>
                <a:latin typeface="Segoe UI"/>
                <a:cs typeface="Segoe UI"/>
              </a:rPr>
              <a:t>Can thiệp: </a:t>
            </a:r>
            <a:r>
              <a:rPr sz="1200" b="0" i="0">
                <a:solidFill>
                  <a:srgbClr val="1E293B"/>
                </a:solidFill>
                <a:latin typeface="Segoe UI"/>
                <a:cs typeface="Segoe UI"/>
              </a:rPr>
              <a:t>Bổ sung IgG sữa non 3 ngày</a:t>
            </a:r>
          </a:p>
        </p:txBody>
      </p:sp>
      <p:sp>
        <p:nvSpPr>
          <p:cNvPr id="17" name="TextBox 16"/>
          <p:cNvSpPr txBox="1"/>
          <p:nvPr/>
        </p:nvSpPr>
        <p:spPr>
          <a:xfrm>
            <a:off x="1005840" y="4389120"/>
            <a:ext cx="4663440" cy="1005840"/>
          </a:xfrm>
          <a:prstGeom prst="rect">
            <a:avLst/>
          </a:prstGeom>
          <a:noFill/>
        </p:spPr>
        <p:txBody>
          <a:bodyPr wrap="square" lIns="0" tIns="0" rIns="0" bIns="0" anchor="t">
            <a:spAutoFit/>
          </a:bodyPr>
          <a:lstStyle/>
          <a:p>
            <a:pPr algn="l">
              <a:lnSpc>
                <a:spcPct val="106000"/>
              </a:lnSpc>
              <a:spcBef>
                <a:spcPts val="0"/>
              </a:spcBef>
              <a:spcAft>
                <a:spcPts val="400"/>
              </a:spcAft>
            </a:pPr>
            <a:r>
              <a:rPr sz="1250" b="1" i="0">
                <a:solidFill>
                  <a:srgbClr val="3A6B35"/>
                </a:solidFill>
                <a:latin typeface="Segoe UI"/>
                <a:cs typeface="Segoe UI"/>
              </a:rPr>
              <a:t>Kết quả: </a:t>
            </a:r>
            <a:r>
              <a:rPr sz="1250" b="0" i="0">
                <a:solidFill>
                  <a:srgbClr val="1E293B"/>
                </a:solidFill>
                <a:latin typeface="Segoe UI"/>
                <a:cs typeface="Segoe UI"/>
              </a:rPr>
              <a:t>Giảm thời gian &amp; mức độ nặng của tiêu chảy do Rotavirus</a:t>
            </a:r>
          </a:p>
        </p:txBody>
      </p:sp>
      <p:sp>
        <p:nvSpPr>
          <p:cNvPr id="18" name="Rounded Rectangle 17"/>
          <p:cNvSpPr/>
          <p:nvPr/>
        </p:nvSpPr>
        <p:spPr>
          <a:xfrm>
            <a:off x="6263640" y="3063240"/>
            <a:ext cx="5212080" cy="2468880"/>
          </a:xfrm>
          <a:prstGeom prst="roundRect">
            <a:avLst>
              <a:gd name="adj" fmla="val 6000"/>
            </a:avLst>
          </a:prstGeom>
          <a:solidFill>
            <a:srgbClr val="FFFFFF"/>
          </a:solidFill>
          <a:ln w="19050">
            <a:solidFill>
              <a:srgbClr val="3A6B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6492240" y="3291840"/>
            <a:ext cx="548640" cy="548640"/>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1100" b="1" i="0">
                <a:solidFill>
                  <a:srgbClr val="FFFFFF"/>
                </a:solidFill>
                <a:latin typeface="Segoe UI"/>
                <a:cs typeface="Segoe UI"/>
              </a:rPr>
              <a:t>NC2</a:t>
            </a:r>
          </a:p>
        </p:txBody>
      </p:sp>
      <p:sp>
        <p:nvSpPr>
          <p:cNvPr id="20" name="TextBox 19"/>
          <p:cNvSpPr txBox="1"/>
          <p:nvPr/>
        </p:nvSpPr>
        <p:spPr>
          <a:xfrm>
            <a:off x="7223759" y="3310128"/>
            <a:ext cx="4023360" cy="548640"/>
          </a:xfrm>
          <a:prstGeom prst="rect">
            <a:avLst/>
          </a:prstGeom>
          <a:noFill/>
        </p:spPr>
        <p:txBody>
          <a:bodyPr wrap="square" lIns="0" tIns="0" rIns="0" bIns="0" anchor="ctr">
            <a:spAutoFit/>
          </a:bodyPr>
          <a:lstStyle/>
          <a:p>
            <a:pPr algn="l">
              <a:lnSpc>
                <a:spcPct val="100000"/>
              </a:lnSpc>
              <a:spcBef>
                <a:spcPts val="0"/>
              </a:spcBef>
              <a:spcAft>
                <a:spcPts val="400"/>
              </a:spcAft>
            </a:pPr>
            <a:r>
              <a:rPr sz="1350" b="1" i="0">
                <a:solidFill>
                  <a:srgbClr val="3A6B35"/>
                </a:solidFill>
                <a:latin typeface="Segoe UI Semibold"/>
                <a:cs typeface="Segoe UI Semibold"/>
              </a:rPr>
              <a:t>Trẻ 4–24 tháng, Bangladesh</a:t>
            </a:r>
          </a:p>
        </p:txBody>
      </p:sp>
      <p:sp>
        <p:nvSpPr>
          <p:cNvPr id="21" name="TextBox 20"/>
          <p:cNvSpPr txBox="1"/>
          <p:nvPr/>
        </p:nvSpPr>
        <p:spPr>
          <a:xfrm>
            <a:off x="6537959" y="3977639"/>
            <a:ext cx="4663440" cy="365760"/>
          </a:xfrm>
          <a:prstGeom prst="rect">
            <a:avLst/>
          </a:prstGeom>
          <a:noFill/>
        </p:spPr>
        <p:txBody>
          <a:bodyPr wrap="square" lIns="0" tIns="0" rIns="0" bIns="0" anchor="t">
            <a:spAutoFit/>
          </a:bodyPr>
          <a:lstStyle/>
          <a:p>
            <a:pPr algn="l">
              <a:lnSpc>
                <a:spcPct val="100000"/>
              </a:lnSpc>
              <a:spcBef>
                <a:spcPts val="0"/>
              </a:spcBef>
              <a:spcAft>
                <a:spcPts val="400"/>
              </a:spcAft>
            </a:pPr>
            <a:r>
              <a:rPr sz="1200" b="1" i="0">
                <a:solidFill>
                  <a:srgbClr val="64748B"/>
                </a:solidFill>
                <a:latin typeface="Segoe UI"/>
                <a:cs typeface="Segoe UI"/>
              </a:rPr>
              <a:t>Can thiệp: </a:t>
            </a:r>
            <a:r>
              <a:rPr sz="1200" b="0" i="0">
                <a:solidFill>
                  <a:srgbClr val="1E293B"/>
                </a:solidFill>
                <a:latin typeface="Segoe UI"/>
                <a:cs typeface="Segoe UI"/>
              </a:rPr>
              <a:t>Sữa non 2,5 g/ngày × 4 ngày</a:t>
            </a:r>
          </a:p>
        </p:txBody>
      </p:sp>
      <p:sp>
        <p:nvSpPr>
          <p:cNvPr id="22" name="TextBox 21"/>
          <p:cNvSpPr txBox="1"/>
          <p:nvPr/>
        </p:nvSpPr>
        <p:spPr>
          <a:xfrm>
            <a:off x="6537959" y="4389120"/>
            <a:ext cx="4663440" cy="1005840"/>
          </a:xfrm>
          <a:prstGeom prst="rect">
            <a:avLst/>
          </a:prstGeom>
          <a:noFill/>
        </p:spPr>
        <p:txBody>
          <a:bodyPr wrap="square" lIns="0" tIns="0" rIns="0" bIns="0" anchor="t">
            <a:spAutoFit/>
          </a:bodyPr>
          <a:lstStyle/>
          <a:p>
            <a:pPr algn="l">
              <a:lnSpc>
                <a:spcPct val="106000"/>
              </a:lnSpc>
              <a:spcBef>
                <a:spcPts val="0"/>
              </a:spcBef>
              <a:spcAft>
                <a:spcPts val="400"/>
              </a:spcAft>
            </a:pPr>
            <a:r>
              <a:rPr sz="1250" b="1" i="0">
                <a:solidFill>
                  <a:srgbClr val="3A6B35"/>
                </a:solidFill>
                <a:latin typeface="Segoe UI"/>
                <a:cs typeface="Segoe UI"/>
              </a:rPr>
              <a:t>Kết quả: </a:t>
            </a:r>
            <a:r>
              <a:rPr sz="1250" b="0" i="0">
                <a:solidFill>
                  <a:srgbClr val="1E293B"/>
                </a:solidFill>
                <a:latin typeface="Segoe UI"/>
                <a:cs typeface="Segoe UI"/>
              </a:rPr>
              <a:t>Giảm thể tích phân, số lần đi ngoài; tăng tỷ lệ âm tính Rotavirus</a:t>
            </a:r>
          </a:p>
        </p:txBody>
      </p:sp>
      <p:sp>
        <p:nvSpPr>
          <p:cNvPr id="23" name="TextBox 22"/>
          <p:cNvSpPr txBox="1"/>
          <p:nvPr/>
        </p:nvSpPr>
        <p:spPr>
          <a:xfrm>
            <a:off x="548640" y="6144768"/>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50" b="1" i="1">
                <a:solidFill>
                  <a:srgbClr val="19A99D"/>
                </a:solidFill>
                <a:latin typeface="Segoe UI"/>
                <a:cs typeface="Segoe UI"/>
              </a:rPr>
              <a:t>Nguồn: </a:t>
            </a:r>
            <a:r>
              <a:rPr sz="950" b="0" i="1">
                <a:solidFill>
                  <a:srgbClr val="64748B"/>
                </a:solidFill>
                <a:latin typeface="Segoe UI"/>
                <a:cs typeface="Segoe UI"/>
              </a:rPr>
              <a:t>PGS.TS Nguyễn Thị Việt Hà, ĐH Y Hà Nội (tổng quan nghiên cứu lâm sàng IgG sữa non bò)</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384048" y="274320"/>
            <a:ext cx="384048" cy="384048"/>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4068" y="329184"/>
            <a:ext cx="104241"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66344" y="406908"/>
            <a:ext cx="274320" cy="10424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274320"/>
            <a:ext cx="2926080" cy="402336"/>
          </a:xfrm>
          <a:prstGeom prst="rect">
            <a:avLst/>
          </a:prstGeom>
          <a:noFill/>
        </p:spPr>
        <p:txBody>
          <a:bodyPr wrap="square" lIns="0" tIns="0" rIns="0" bIns="0" anchor="ctr">
            <a:spAutoFit/>
          </a:bodyPr>
          <a:lstStyle/>
          <a:p>
            <a:pPr algn="l">
              <a:lnSpc>
                <a:spcPct val="100000"/>
              </a:lnSpc>
              <a:spcBef>
                <a:spcPts val="0"/>
              </a:spcBef>
              <a:spcAft>
                <a:spcPts val="400"/>
              </a:spcAft>
            </a:pPr>
            <a:r>
              <a:rPr sz="1300" b="1" i="0">
                <a:solidFill>
                  <a:srgbClr val="1E293B"/>
                </a:solidFill>
                <a:latin typeface="Segoe UI"/>
                <a:cs typeface="Segoe UI"/>
              </a:rPr>
              <a:t>DINH DƯỠNG </a:t>
            </a:r>
            <a:r>
              <a:rPr sz="1300" b="1" i="0">
                <a:solidFill>
                  <a:srgbClr val="19A99D"/>
                </a:solidFill>
                <a:latin typeface="Segoe UI"/>
                <a:cs typeface="Segoe UI"/>
              </a:rPr>
              <a:t>NHI KHOA</a:t>
            </a:r>
          </a:p>
        </p:txBody>
      </p:sp>
      <p:sp>
        <p:nvSpPr>
          <p:cNvPr id="6" name="Rectangle 5"/>
          <p:cNvSpPr/>
          <p:nvPr/>
        </p:nvSpPr>
        <p:spPr>
          <a:xfrm>
            <a:off x="0" y="6473952"/>
            <a:ext cx="12191695" cy="384048"/>
          </a:xfrm>
          <a:prstGeom prst="rect">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492240"/>
            <a:ext cx="9601200" cy="347472"/>
          </a:xfrm>
          <a:prstGeom prst="rect">
            <a:avLst/>
          </a:prstGeom>
          <a:noFill/>
        </p:spPr>
        <p:txBody>
          <a:bodyPr wrap="square" lIns="0" tIns="0" rIns="0" bIns="0" anchor="ctr">
            <a:spAutoFit/>
          </a:bodyPr>
          <a:lstStyle/>
          <a:p>
            <a:pPr algn="l">
              <a:lnSpc>
                <a:spcPct val="100000"/>
              </a:lnSpc>
              <a:spcBef>
                <a:spcPts val="0"/>
              </a:spcBef>
              <a:spcAft>
                <a:spcPts val="400"/>
              </a:spcAft>
            </a:pPr>
            <a:r>
              <a:rPr sz="950" b="0" i="0">
                <a:solidFill>
                  <a:srgbClr val="FFFFFF"/>
                </a:solidFill>
                <a:latin typeface="Segoe UI"/>
                <a:cs typeface="Segoe UI"/>
              </a:rPr>
              <a:t>Chuyên đề 2 · Dinh dưỡng – nền tảng cho miễn dịch &amp; sự phát triển của trẻ  ·  TS. Lê Thị Thùy Dung</a:t>
            </a:r>
          </a:p>
        </p:txBody>
      </p:sp>
      <p:sp>
        <p:nvSpPr>
          <p:cNvPr id="8" name="TextBox 7"/>
          <p:cNvSpPr txBox="1"/>
          <p:nvPr/>
        </p:nvSpPr>
        <p:spPr>
          <a:xfrm>
            <a:off x="11185855" y="6492240"/>
            <a:ext cx="548640" cy="347472"/>
          </a:xfrm>
          <a:prstGeom prst="rect">
            <a:avLst/>
          </a:prstGeom>
          <a:noFill/>
        </p:spPr>
        <p:txBody>
          <a:bodyPr wrap="square" lIns="0" tIns="0" rIns="0" bIns="0" anchor="ctr">
            <a:spAutoFit/>
          </a:bodyPr>
          <a:lstStyle/>
          <a:p>
            <a:pPr algn="r">
              <a:lnSpc>
                <a:spcPct val="100000"/>
              </a:lnSpc>
              <a:spcBef>
                <a:spcPts val="0"/>
              </a:spcBef>
              <a:spcAft>
                <a:spcPts val="400"/>
              </a:spcAft>
            </a:pPr>
            <a:r>
              <a:rPr sz="1000" b="1" i="0">
                <a:solidFill>
                  <a:srgbClr val="FFFFFF"/>
                </a:solidFill>
                <a:latin typeface="Segoe UI"/>
                <a:cs typeface="Segoe UI"/>
              </a:rPr>
              <a:t>29</a:t>
            </a:r>
          </a:p>
        </p:txBody>
      </p:sp>
      <p:sp>
        <p:nvSpPr>
          <p:cNvPr id="9" name="TextBox 8"/>
          <p:cNvSpPr txBox="1"/>
          <p:nvPr/>
        </p:nvSpPr>
        <p:spPr>
          <a:xfrm>
            <a:off x="548640" y="841248"/>
            <a:ext cx="10881360" cy="566928"/>
          </a:xfrm>
          <a:prstGeom prst="rect">
            <a:avLst/>
          </a:prstGeom>
          <a:noFill/>
        </p:spPr>
        <p:txBody>
          <a:bodyPr wrap="square" lIns="0" tIns="0" rIns="0" bIns="0" anchor="t">
            <a:spAutoFit/>
          </a:bodyPr>
          <a:lstStyle/>
          <a:p>
            <a:pPr algn="l">
              <a:lnSpc>
                <a:spcPct val="100000"/>
              </a:lnSpc>
              <a:spcBef>
                <a:spcPts val="0"/>
              </a:spcBef>
              <a:spcAft>
                <a:spcPts val="400"/>
              </a:spcAft>
            </a:pPr>
            <a:r>
              <a:rPr sz="2700" b="1" i="0">
                <a:solidFill>
                  <a:srgbClr val="19A99D"/>
                </a:solidFill>
                <a:latin typeface="Segoe UI Semibold"/>
                <a:cs typeface="Segoe UI Semibold"/>
              </a:rPr>
              <a:t>Ba chiến lược phòng thiếu vi chất</a:t>
            </a:r>
          </a:p>
        </p:txBody>
      </p:sp>
      <p:sp>
        <p:nvSpPr>
          <p:cNvPr id="10" name="TextBox 9"/>
          <p:cNvSpPr txBox="1"/>
          <p:nvPr/>
        </p:nvSpPr>
        <p:spPr>
          <a:xfrm>
            <a:off x="548640" y="1408176"/>
            <a:ext cx="10881360" cy="365760"/>
          </a:xfrm>
          <a:prstGeom prst="rect">
            <a:avLst/>
          </a:prstGeom>
          <a:noFill/>
        </p:spPr>
        <p:txBody>
          <a:bodyPr wrap="square" lIns="0" tIns="0" rIns="0" bIns="0" anchor="t">
            <a:spAutoFit/>
          </a:bodyPr>
          <a:lstStyle/>
          <a:p>
            <a:pPr algn="l">
              <a:lnSpc>
                <a:spcPct val="100000"/>
              </a:lnSpc>
              <a:spcBef>
                <a:spcPts val="0"/>
              </a:spcBef>
              <a:spcAft>
                <a:spcPts val="400"/>
              </a:spcAft>
            </a:pPr>
            <a:r>
              <a:rPr sz="1500" b="0" i="1">
                <a:solidFill>
                  <a:srgbClr val="64748B"/>
                </a:solidFill>
                <a:latin typeface="Segoe UI"/>
                <a:cs typeface="Segoe UI"/>
              </a:rPr>
              <a:t>Ưu tiên thực phẩm trước, thuốc bổ sau</a:t>
            </a:r>
          </a:p>
        </p:txBody>
      </p:sp>
      <p:sp>
        <p:nvSpPr>
          <p:cNvPr id="11" name="Rounded Rectangle 10"/>
          <p:cNvSpPr/>
          <p:nvPr/>
        </p:nvSpPr>
        <p:spPr>
          <a:xfrm>
            <a:off x="685800" y="2011680"/>
            <a:ext cx="3383280" cy="3200400"/>
          </a:xfrm>
          <a:prstGeom prst="roundRect">
            <a:avLst>
              <a:gd name="adj" fmla="val 6000"/>
            </a:avLst>
          </a:prstGeom>
          <a:solidFill>
            <a:srgbClr val="FFFFFF"/>
          </a:solidFill>
          <a:ln w="20320">
            <a:solidFill>
              <a:srgbClr val="3A6B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2011680" y="2240280"/>
            <a:ext cx="731520" cy="731520"/>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2400" b="1" i="0">
                <a:solidFill>
                  <a:srgbClr val="FFFFFF"/>
                </a:solidFill>
                <a:latin typeface="Segoe UI"/>
                <a:cs typeface="Segoe UI"/>
              </a:rPr>
              <a:t>1</a:t>
            </a:r>
          </a:p>
        </p:txBody>
      </p:sp>
      <p:sp>
        <p:nvSpPr>
          <p:cNvPr id="13" name="TextBox 12"/>
          <p:cNvSpPr txBox="1"/>
          <p:nvPr/>
        </p:nvSpPr>
        <p:spPr>
          <a:xfrm>
            <a:off x="685800" y="3127248"/>
            <a:ext cx="3383280" cy="457200"/>
          </a:xfrm>
          <a:prstGeom prst="rect">
            <a:avLst/>
          </a:prstGeom>
          <a:noFill/>
        </p:spPr>
        <p:txBody>
          <a:bodyPr wrap="square" lIns="0" tIns="0" rIns="0" bIns="0" anchor="t">
            <a:spAutoFit/>
          </a:bodyPr>
          <a:lstStyle/>
          <a:p>
            <a:pPr algn="ctr">
              <a:lnSpc>
                <a:spcPct val="100000"/>
              </a:lnSpc>
              <a:spcBef>
                <a:spcPts val="0"/>
              </a:spcBef>
              <a:spcAft>
                <a:spcPts val="400"/>
              </a:spcAft>
            </a:pPr>
            <a:r>
              <a:rPr sz="1600" b="1" i="0">
                <a:solidFill>
                  <a:srgbClr val="3A6B35"/>
                </a:solidFill>
                <a:latin typeface="Segoe UI Semibold"/>
                <a:cs typeface="Segoe UI Semibold"/>
              </a:rPr>
              <a:t>Đa dạng khẩu phần</a:t>
            </a:r>
          </a:p>
        </p:txBody>
      </p:sp>
      <p:sp>
        <p:nvSpPr>
          <p:cNvPr id="14" name="TextBox 13"/>
          <p:cNvSpPr txBox="1"/>
          <p:nvPr/>
        </p:nvSpPr>
        <p:spPr>
          <a:xfrm>
            <a:off x="960120" y="3611880"/>
            <a:ext cx="2834640" cy="1188720"/>
          </a:xfrm>
          <a:prstGeom prst="rect">
            <a:avLst/>
          </a:prstGeom>
          <a:noFill/>
        </p:spPr>
        <p:txBody>
          <a:bodyPr wrap="square" lIns="0" tIns="0" rIns="0" bIns="0" anchor="t">
            <a:spAutoFit/>
          </a:bodyPr>
          <a:lstStyle/>
          <a:p>
            <a:pPr algn="ctr">
              <a:lnSpc>
                <a:spcPct val="108000"/>
              </a:lnSpc>
              <a:spcBef>
                <a:spcPts val="0"/>
              </a:spcBef>
              <a:spcAft>
                <a:spcPts val="400"/>
              </a:spcAft>
            </a:pPr>
            <a:r>
              <a:rPr sz="1200" b="0" i="0">
                <a:solidFill>
                  <a:srgbClr val="1E293B"/>
                </a:solidFill>
                <a:latin typeface="Segoe UI"/>
                <a:cs typeface="Segoe UI"/>
              </a:rPr>
              <a:t>Ăn nhiều loại thực phẩm từ 4 nhóm – bền vững &amp; tự nhiên nhất.</a:t>
            </a:r>
          </a:p>
        </p:txBody>
      </p:sp>
      <p:sp>
        <p:nvSpPr>
          <p:cNvPr id="15" name="Rounded Rectangle 14"/>
          <p:cNvSpPr/>
          <p:nvPr/>
        </p:nvSpPr>
        <p:spPr>
          <a:xfrm>
            <a:off x="1188720" y="4709160"/>
            <a:ext cx="2377440" cy="411480"/>
          </a:xfrm>
          <a:prstGeom prst="roundRect">
            <a:avLst>
              <a:gd name="adj" fmla="val 20000"/>
            </a:avLst>
          </a:prstGeom>
          <a:solidFill>
            <a:srgbClr val="E0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188720" y="4736592"/>
            <a:ext cx="2377440" cy="365760"/>
          </a:xfrm>
          <a:prstGeom prst="rect">
            <a:avLst/>
          </a:prstGeom>
          <a:noFill/>
        </p:spPr>
        <p:txBody>
          <a:bodyPr wrap="square" lIns="0" tIns="0" rIns="0" bIns="0" anchor="ctr">
            <a:spAutoFit/>
          </a:bodyPr>
          <a:lstStyle/>
          <a:p>
            <a:pPr algn="ctr">
              <a:lnSpc>
                <a:spcPct val="100000"/>
              </a:lnSpc>
              <a:spcBef>
                <a:spcPts val="0"/>
              </a:spcBef>
              <a:spcAft>
                <a:spcPts val="400"/>
              </a:spcAft>
            </a:pPr>
            <a:r>
              <a:rPr sz="1100" b="1" i="0">
                <a:solidFill>
                  <a:srgbClr val="3A6B35"/>
                </a:solidFill>
                <a:latin typeface="Segoe UI"/>
                <a:cs typeface="Segoe UI"/>
              </a:rPr>
              <a:t>Ưu tiên hàng đầu</a:t>
            </a:r>
          </a:p>
        </p:txBody>
      </p:sp>
      <p:sp>
        <p:nvSpPr>
          <p:cNvPr id="17" name="Rounded Rectangle 16"/>
          <p:cNvSpPr/>
          <p:nvPr/>
        </p:nvSpPr>
        <p:spPr>
          <a:xfrm>
            <a:off x="4434840" y="2011680"/>
            <a:ext cx="3383280" cy="3200400"/>
          </a:xfrm>
          <a:prstGeom prst="roundRect">
            <a:avLst>
              <a:gd name="adj" fmla="val 6000"/>
            </a:avLst>
          </a:prstGeom>
          <a:solidFill>
            <a:srgbClr val="FFFFFF"/>
          </a:solidFill>
          <a:ln w="20320">
            <a:solidFill>
              <a:srgbClr val="19A99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5760720" y="2240280"/>
            <a:ext cx="731520" cy="731520"/>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2400" b="1" i="0">
                <a:solidFill>
                  <a:srgbClr val="FFFFFF"/>
                </a:solidFill>
                <a:latin typeface="Segoe UI"/>
                <a:cs typeface="Segoe UI"/>
              </a:rPr>
              <a:t>2</a:t>
            </a:r>
          </a:p>
        </p:txBody>
      </p:sp>
      <p:sp>
        <p:nvSpPr>
          <p:cNvPr id="19" name="TextBox 18"/>
          <p:cNvSpPr txBox="1"/>
          <p:nvPr/>
        </p:nvSpPr>
        <p:spPr>
          <a:xfrm>
            <a:off x="4434840" y="3127248"/>
            <a:ext cx="3383280" cy="457200"/>
          </a:xfrm>
          <a:prstGeom prst="rect">
            <a:avLst/>
          </a:prstGeom>
          <a:noFill/>
        </p:spPr>
        <p:txBody>
          <a:bodyPr wrap="square" lIns="0" tIns="0" rIns="0" bIns="0" anchor="t">
            <a:spAutoFit/>
          </a:bodyPr>
          <a:lstStyle/>
          <a:p>
            <a:pPr algn="ctr">
              <a:lnSpc>
                <a:spcPct val="100000"/>
              </a:lnSpc>
              <a:spcBef>
                <a:spcPts val="0"/>
              </a:spcBef>
              <a:spcAft>
                <a:spcPts val="400"/>
              </a:spcAft>
            </a:pPr>
            <a:r>
              <a:rPr sz="1600" b="1" i="0">
                <a:solidFill>
                  <a:srgbClr val="19A99D"/>
                </a:solidFill>
                <a:latin typeface="Segoe UI Semibold"/>
                <a:cs typeface="Segoe UI Semibold"/>
              </a:rPr>
              <a:t>Tăng cường vi chất</a:t>
            </a:r>
          </a:p>
        </p:txBody>
      </p:sp>
      <p:sp>
        <p:nvSpPr>
          <p:cNvPr id="20" name="TextBox 19"/>
          <p:cNvSpPr txBox="1"/>
          <p:nvPr/>
        </p:nvSpPr>
        <p:spPr>
          <a:xfrm>
            <a:off x="4709159" y="3611880"/>
            <a:ext cx="2834640" cy="1188720"/>
          </a:xfrm>
          <a:prstGeom prst="rect">
            <a:avLst/>
          </a:prstGeom>
          <a:noFill/>
        </p:spPr>
        <p:txBody>
          <a:bodyPr wrap="square" lIns="0" tIns="0" rIns="0" bIns="0" anchor="t">
            <a:spAutoFit/>
          </a:bodyPr>
          <a:lstStyle/>
          <a:p>
            <a:pPr algn="ctr">
              <a:lnSpc>
                <a:spcPct val="108000"/>
              </a:lnSpc>
              <a:spcBef>
                <a:spcPts val="0"/>
              </a:spcBef>
              <a:spcAft>
                <a:spcPts val="400"/>
              </a:spcAft>
            </a:pPr>
            <a:r>
              <a:rPr sz="1200" b="0" i="0">
                <a:solidFill>
                  <a:srgbClr val="1E293B"/>
                </a:solidFill>
                <a:latin typeface="Segoe UI"/>
                <a:cs typeface="Segoe UI"/>
              </a:rPr>
              <a:t>Dùng thực phẩm bổ sung vi chất (muối i-ốt, bột dinh dưỡng tăng cường).</a:t>
            </a:r>
          </a:p>
        </p:txBody>
      </p:sp>
      <p:sp>
        <p:nvSpPr>
          <p:cNvPr id="21" name="Rounded Rectangle 20"/>
          <p:cNvSpPr/>
          <p:nvPr/>
        </p:nvSpPr>
        <p:spPr>
          <a:xfrm>
            <a:off x="4937759" y="4709160"/>
            <a:ext cx="2377440" cy="411480"/>
          </a:xfrm>
          <a:prstGeom prst="roundRect">
            <a:avLst>
              <a:gd name="adj" fmla="val 20000"/>
            </a:avLst>
          </a:prstGeom>
          <a:solidFill>
            <a:srgbClr val="E0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937759" y="4736592"/>
            <a:ext cx="2377440" cy="365760"/>
          </a:xfrm>
          <a:prstGeom prst="rect">
            <a:avLst/>
          </a:prstGeom>
          <a:noFill/>
        </p:spPr>
        <p:txBody>
          <a:bodyPr wrap="square" lIns="0" tIns="0" rIns="0" bIns="0" anchor="ctr">
            <a:spAutoFit/>
          </a:bodyPr>
          <a:lstStyle/>
          <a:p>
            <a:pPr algn="ctr">
              <a:lnSpc>
                <a:spcPct val="100000"/>
              </a:lnSpc>
              <a:spcBef>
                <a:spcPts val="0"/>
              </a:spcBef>
              <a:spcAft>
                <a:spcPts val="400"/>
              </a:spcAft>
            </a:pPr>
            <a:r>
              <a:rPr sz="1100" b="1" i="0">
                <a:solidFill>
                  <a:srgbClr val="19A99D"/>
                </a:solidFill>
                <a:latin typeface="Segoe UI"/>
                <a:cs typeface="Segoe UI"/>
              </a:rPr>
              <a:t>Bổ trợ rộng rãi</a:t>
            </a:r>
          </a:p>
        </p:txBody>
      </p:sp>
      <p:sp>
        <p:nvSpPr>
          <p:cNvPr id="23" name="Rounded Rectangle 22"/>
          <p:cNvSpPr/>
          <p:nvPr/>
        </p:nvSpPr>
        <p:spPr>
          <a:xfrm>
            <a:off x="8183879" y="2011680"/>
            <a:ext cx="3383280" cy="3200400"/>
          </a:xfrm>
          <a:prstGeom prst="roundRect">
            <a:avLst>
              <a:gd name="adj" fmla="val 6000"/>
            </a:avLst>
          </a:prstGeom>
          <a:solidFill>
            <a:srgbClr val="FFFFFF"/>
          </a:solidFill>
          <a:ln w="2032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9509759" y="2240280"/>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2400" b="1" i="0">
                <a:solidFill>
                  <a:srgbClr val="FFFFFF"/>
                </a:solidFill>
                <a:latin typeface="Segoe UI"/>
                <a:cs typeface="Segoe UI"/>
              </a:rPr>
              <a:t>3</a:t>
            </a:r>
          </a:p>
        </p:txBody>
      </p:sp>
      <p:sp>
        <p:nvSpPr>
          <p:cNvPr id="25" name="TextBox 24"/>
          <p:cNvSpPr txBox="1"/>
          <p:nvPr/>
        </p:nvSpPr>
        <p:spPr>
          <a:xfrm>
            <a:off x="8183879" y="3127248"/>
            <a:ext cx="3383280" cy="457200"/>
          </a:xfrm>
          <a:prstGeom prst="rect">
            <a:avLst/>
          </a:prstGeom>
          <a:noFill/>
        </p:spPr>
        <p:txBody>
          <a:bodyPr wrap="square" lIns="0" tIns="0" rIns="0" bIns="0" anchor="t">
            <a:spAutoFit/>
          </a:bodyPr>
          <a:lstStyle/>
          <a:p>
            <a:pPr algn="ctr">
              <a:lnSpc>
                <a:spcPct val="100000"/>
              </a:lnSpc>
              <a:spcBef>
                <a:spcPts val="0"/>
              </a:spcBef>
              <a:spcAft>
                <a:spcPts val="400"/>
              </a:spcAft>
            </a:pPr>
            <a:r>
              <a:rPr sz="1600" b="1" i="0">
                <a:solidFill>
                  <a:srgbClr val="F59E0B"/>
                </a:solidFill>
                <a:latin typeface="Segoe UI Semibold"/>
                <a:cs typeface="Segoe UI Semibold"/>
              </a:rPr>
              <a:t>Bổ sung bằng chế phẩm</a:t>
            </a:r>
          </a:p>
        </p:txBody>
      </p:sp>
      <p:sp>
        <p:nvSpPr>
          <p:cNvPr id="26" name="TextBox 25"/>
          <p:cNvSpPr txBox="1"/>
          <p:nvPr/>
        </p:nvSpPr>
        <p:spPr>
          <a:xfrm>
            <a:off x="8458200" y="3611880"/>
            <a:ext cx="2834640" cy="1188720"/>
          </a:xfrm>
          <a:prstGeom prst="rect">
            <a:avLst/>
          </a:prstGeom>
          <a:noFill/>
        </p:spPr>
        <p:txBody>
          <a:bodyPr wrap="square" lIns="0" tIns="0" rIns="0" bIns="0" anchor="t">
            <a:spAutoFit/>
          </a:bodyPr>
          <a:lstStyle/>
          <a:p>
            <a:pPr algn="ctr">
              <a:lnSpc>
                <a:spcPct val="108000"/>
              </a:lnSpc>
              <a:spcBef>
                <a:spcPts val="0"/>
              </a:spcBef>
              <a:spcAft>
                <a:spcPts val="400"/>
              </a:spcAft>
            </a:pPr>
            <a:r>
              <a:rPr sz="1200" b="0" i="0">
                <a:solidFill>
                  <a:srgbClr val="1E293B"/>
                </a:solidFill>
                <a:latin typeface="Segoe UI"/>
                <a:cs typeface="Segoe UI"/>
              </a:rPr>
              <a:t>Viên/siro vi chất theo chỉ định – khi đã thiếu rõ rệt, dùng ngắn hạn.</a:t>
            </a:r>
          </a:p>
        </p:txBody>
      </p:sp>
      <p:sp>
        <p:nvSpPr>
          <p:cNvPr id="27" name="Rounded Rectangle 26"/>
          <p:cNvSpPr/>
          <p:nvPr/>
        </p:nvSpPr>
        <p:spPr>
          <a:xfrm>
            <a:off x="8686800" y="4709160"/>
            <a:ext cx="2377440" cy="411480"/>
          </a:xfrm>
          <a:prstGeom prst="roundRect">
            <a:avLst>
              <a:gd name="adj" fmla="val 20000"/>
            </a:avLst>
          </a:prstGeom>
          <a:solidFill>
            <a:srgbClr val="E0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686800" y="4736592"/>
            <a:ext cx="2377440" cy="365760"/>
          </a:xfrm>
          <a:prstGeom prst="rect">
            <a:avLst/>
          </a:prstGeom>
          <a:noFill/>
        </p:spPr>
        <p:txBody>
          <a:bodyPr wrap="square" lIns="0" tIns="0" rIns="0" bIns="0" anchor="ctr">
            <a:spAutoFit/>
          </a:bodyPr>
          <a:lstStyle/>
          <a:p>
            <a:pPr algn="ctr">
              <a:lnSpc>
                <a:spcPct val="100000"/>
              </a:lnSpc>
              <a:spcBef>
                <a:spcPts val="0"/>
              </a:spcBef>
              <a:spcAft>
                <a:spcPts val="400"/>
              </a:spcAft>
            </a:pPr>
            <a:r>
              <a:rPr sz="1100" b="1" i="0">
                <a:solidFill>
                  <a:srgbClr val="F59E0B"/>
                </a:solidFill>
                <a:latin typeface="Segoe UI"/>
                <a:cs typeface="Segoe UI"/>
              </a:rPr>
              <a:t>Khi cần thiết</a:t>
            </a:r>
          </a:p>
        </p:txBody>
      </p:sp>
      <p:sp>
        <p:nvSpPr>
          <p:cNvPr id="29" name="TextBox 28"/>
          <p:cNvSpPr txBox="1"/>
          <p:nvPr/>
        </p:nvSpPr>
        <p:spPr>
          <a:xfrm>
            <a:off x="685800" y="5394960"/>
            <a:ext cx="10789920" cy="457200"/>
          </a:xfrm>
          <a:prstGeom prst="rect">
            <a:avLst/>
          </a:prstGeom>
          <a:noFill/>
        </p:spPr>
        <p:txBody>
          <a:bodyPr wrap="square" lIns="0" tIns="0" rIns="0" bIns="0" anchor="t">
            <a:spAutoFit/>
          </a:bodyPr>
          <a:lstStyle/>
          <a:p>
            <a:pPr algn="ctr">
              <a:lnSpc>
                <a:spcPct val="100000"/>
              </a:lnSpc>
              <a:spcBef>
                <a:spcPts val="0"/>
              </a:spcBef>
              <a:spcAft>
                <a:spcPts val="400"/>
              </a:spcAft>
            </a:pPr>
            <a:r>
              <a:rPr sz="1350" b="0" i="1">
                <a:solidFill>
                  <a:srgbClr val="64748B"/>
                </a:solidFill>
                <a:latin typeface="Segoe UI"/>
                <a:cs typeface="Segoe UI"/>
              </a:rPr>
              <a:t>Bằng chứng: đa dạng khẩu phần và tăng cường vi chất hiệu quả &amp; bền vững hơn so với chỉ uống thuốc bổ.</a:t>
            </a:r>
          </a:p>
        </p:txBody>
      </p:sp>
      <p:sp>
        <p:nvSpPr>
          <p:cNvPr id="30" name="TextBox 29"/>
          <p:cNvSpPr txBox="1"/>
          <p:nvPr/>
        </p:nvSpPr>
        <p:spPr>
          <a:xfrm>
            <a:off x="548640" y="6144768"/>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50" b="1" i="1">
                <a:solidFill>
                  <a:srgbClr val="19A99D"/>
                </a:solidFill>
                <a:latin typeface="Segoe UI"/>
                <a:cs typeface="Segoe UI"/>
              </a:rPr>
              <a:t>Nguồn: </a:t>
            </a:r>
            <a:r>
              <a:rPr sz="950" b="0" i="1">
                <a:solidFill>
                  <a:srgbClr val="64748B"/>
                </a:solidFill>
                <a:latin typeface="Segoe UI"/>
                <a:cs typeface="Segoe UI"/>
              </a:rPr>
              <a:t>Pai UA et al., Clin Epidemiol Glob Health 2018 (UNICEF strategies for MNDs)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2A6041"/>
        </a:solidFill>
        <a:effectLst/>
      </p:bgPr>
    </p:bg>
    <p:spTree>
      <p:nvGrpSpPr>
        <p:cNvPr id="1" name=""/>
        <p:cNvGrpSpPr/>
        <p:nvPr/>
      </p:nvGrpSpPr>
      <p:grpSpPr>
        <a:xfrm>
          <a:off x="0" y="0"/>
          <a:ext cx="0" cy="0"/>
          <a:chOff x="0" y="0"/>
          <a:chExt cx="0" cy="0"/>
        </a:xfrm>
      </p:grpSpPr>
      <p:sp>
        <p:nvSpPr>
          <p:cNvPr id="2" name="Oval 1"/>
          <p:cNvSpPr/>
          <p:nvPr/>
        </p:nvSpPr>
        <p:spPr>
          <a:xfrm>
            <a:off x="10332720" y="502920"/>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0479024" y="502920"/>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0625328" y="502920"/>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0771632" y="502920"/>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917936" y="502920"/>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1064240" y="502920"/>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332720" y="649224"/>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0479024" y="649224"/>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0625328" y="649224"/>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10771632" y="649224"/>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0917936" y="649224"/>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1064240" y="649224"/>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0332720" y="795528"/>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0479024" y="795528"/>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0625328" y="795528"/>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0771632" y="795528"/>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0917936" y="795528"/>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1064240" y="795528"/>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0332720" y="941832"/>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10479024" y="941832"/>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0625328" y="941832"/>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0771632" y="941832"/>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0917936" y="941832"/>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1064240" y="941832"/>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548640" y="5852160"/>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694944" y="5852160"/>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841247" y="5852160"/>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987552" y="5852160"/>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1133856" y="5852160"/>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1280160" y="5852160"/>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548640" y="5998464"/>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694944" y="5998464"/>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841247" y="5998464"/>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987552" y="5998464"/>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1133856" y="5998464"/>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1280160" y="5998464"/>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548640" y="6144768"/>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694944" y="6144768"/>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841247" y="6144768"/>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987552" y="6144768"/>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1133856" y="6144768"/>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1280160" y="6144768"/>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548640" y="6291072"/>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694944" y="6291072"/>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841247" y="6291072"/>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987552" y="6291072"/>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1133856" y="6291072"/>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1280160" y="6291072"/>
            <a:ext cx="54864" cy="54864"/>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822960" y="2468880"/>
            <a:ext cx="1463040" cy="1463040"/>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2000" b="1" i="0">
                <a:solidFill>
                  <a:srgbClr val="FFFFFF"/>
                </a:solidFill>
                <a:latin typeface="Segoe UI"/>
                <a:cs typeface="Segoe UI"/>
              </a:rPr>
              <a:t>4</a:t>
            </a:r>
          </a:p>
        </p:txBody>
      </p:sp>
      <p:sp>
        <p:nvSpPr>
          <p:cNvPr id="51" name="TextBox 50"/>
          <p:cNvSpPr txBox="1"/>
          <p:nvPr/>
        </p:nvSpPr>
        <p:spPr>
          <a:xfrm>
            <a:off x="2697480" y="2286000"/>
            <a:ext cx="8686800" cy="548640"/>
          </a:xfrm>
          <a:prstGeom prst="rect">
            <a:avLst/>
          </a:prstGeom>
          <a:noFill/>
        </p:spPr>
        <p:txBody>
          <a:bodyPr wrap="square" lIns="0" tIns="0" rIns="0" bIns="0" anchor="t">
            <a:spAutoFit/>
          </a:bodyPr>
          <a:lstStyle/>
          <a:p>
            <a:pPr algn="l">
              <a:lnSpc>
                <a:spcPct val="100000"/>
              </a:lnSpc>
              <a:spcBef>
                <a:spcPts val="0"/>
              </a:spcBef>
              <a:spcAft>
                <a:spcPts val="400"/>
              </a:spcAft>
            </a:pPr>
            <a:r>
              <a:rPr sz="1800" b="1" i="0">
                <a:solidFill>
                  <a:srgbClr val="E0F5F4"/>
                </a:solidFill>
                <a:latin typeface="Segoe UI Semibold"/>
                <a:cs typeface="Segoe UI Semibold"/>
              </a:rPr>
              <a:t>PHẦN 4</a:t>
            </a:r>
          </a:p>
        </p:txBody>
      </p:sp>
      <p:sp>
        <p:nvSpPr>
          <p:cNvPr id="52" name="TextBox 51"/>
          <p:cNvSpPr txBox="1"/>
          <p:nvPr/>
        </p:nvSpPr>
        <p:spPr>
          <a:xfrm>
            <a:off x="2697480" y="2788920"/>
            <a:ext cx="8961120" cy="1463040"/>
          </a:xfrm>
          <a:prstGeom prst="rect">
            <a:avLst/>
          </a:prstGeom>
          <a:noFill/>
        </p:spPr>
        <p:txBody>
          <a:bodyPr wrap="square" lIns="0" tIns="0" rIns="0" bIns="0" anchor="t">
            <a:spAutoFit/>
          </a:bodyPr>
          <a:lstStyle/>
          <a:p>
            <a:pPr algn="l">
              <a:lnSpc>
                <a:spcPct val="100000"/>
              </a:lnSpc>
              <a:spcBef>
                <a:spcPts val="0"/>
              </a:spcBef>
              <a:spcAft>
                <a:spcPts val="400"/>
              </a:spcAft>
            </a:pPr>
            <a:r>
              <a:rPr sz="3400" b="1" i="0">
                <a:solidFill>
                  <a:srgbClr val="FFFFFF"/>
                </a:solidFill>
                <a:latin typeface="Segoe UI Semibold"/>
                <a:cs typeface="Segoe UI Semibold"/>
              </a:rPr>
              <a:t>Biếng ăn, suy dinh dưỡng &amp; thấp còi</a:t>
            </a:r>
          </a:p>
        </p:txBody>
      </p:sp>
      <p:sp>
        <p:nvSpPr>
          <p:cNvPr id="53" name="TextBox 52"/>
          <p:cNvSpPr txBox="1"/>
          <p:nvPr/>
        </p:nvSpPr>
        <p:spPr>
          <a:xfrm>
            <a:off x="2697480" y="4251960"/>
            <a:ext cx="8778240" cy="640080"/>
          </a:xfrm>
          <a:prstGeom prst="rect">
            <a:avLst/>
          </a:prstGeom>
          <a:noFill/>
        </p:spPr>
        <p:txBody>
          <a:bodyPr wrap="square" lIns="0" tIns="0" rIns="0" bIns="0" anchor="t">
            <a:spAutoFit/>
          </a:bodyPr>
          <a:lstStyle/>
          <a:p>
            <a:pPr algn="l">
              <a:lnSpc>
                <a:spcPct val="100000"/>
              </a:lnSpc>
              <a:spcBef>
                <a:spcPts val="0"/>
              </a:spcBef>
              <a:spcAft>
                <a:spcPts val="400"/>
              </a:spcAft>
            </a:pPr>
            <a:r>
              <a:rPr sz="1600" b="0" i="1">
                <a:solidFill>
                  <a:srgbClr val="E0F5F4"/>
                </a:solidFill>
                <a:latin typeface="Segoe UI"/>
                <a:cs typeface="Segoe UI"/>
              </a:rPr>
              <a:t>Nhận biết sớm – xử trí đúng – kiên trì đồng hành</a:t>
            </a:r>
          </a:p>
        </p:txBody>
      </p:sp>
      <p:sp>
        <p:nvSpPr>
          <p:cNvPr id="54" name="Rectangle 53"/>
          <p:cNvSpPr/>
          <p:nvPr/>
        </p:nvSpPr>
        <p:spPr>
          <a:xfrm>
            <a:off x="0" y="6473952"/>
            <a:ext cx="12191695" cy="384048"/>
          </a:xfrm>
          <a:prstGeom prst="rect">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457200" y="6492240"/>
            <a:ext cx="9601200" cy="347472"/>
          </a:xfrm>
          <a:prstGeom prst="rect">
            <a:avLst/>
          </a:prstGeom>
          <a:noFill/>
        </p:spPr>
        <p:txBody>
          <a:bodyPr wrap="square" lIns="0" tIns="0" rIns="0" bIns="0" anchor="ctr">
            <a:spAutoFit/>
          </a:bodyPr>
          <a:lstStyle/>
          <a:p>
            <a:pPr algn="l">
              <a:lnSpc>
                <a:spcPct val="100000"/>
              </a:lnSpc>
              <a:spcBef>
                <a:spcPts val="0"/>
              </a:spcBef>
              <a:spcAft>
                <a:spcPts val="400"/>
              </a:spcAft>
            </a:pPr>
            <a:r>
              <a:rPr sz="950" b="0" i="0">
                <a:solidFill>
                  <a:srgbClr val="FFFFFF"/>
                </a:solidFill>
                <a:latin typeface="Segoe UI"/>
                <a:cs typeface="Segoe UI"/>
              </a:rPr>
              <a:t>Chuyên đề 2 · Dinh dưỡng – nền tảng cho miễn dịch &amp; sự phát triển của trẻ  ·  TS. Lê Thị Thùy Dung</a:t>
            </a:r>
          </a:p>
        </p:txBody>
      </p:sp>
      <p:sp>
        <p:nvSpPr>
          <p:cNvPr id="56" name="TextBox 55"/>
          <p:cNvSpPr txBox="1"/>
          <p:nvPr/>
        </p:nvSpPr>
        <p:spPr>
          <a:xfrm>
            <a:off x="11185855" y="6492240"/>
            <a:ext cx="548640" cy="347472"/>
          </a:xfrm>
          <a:prstGeom prst="rect">
            <a:avLst/>
          </a:prstGeom>
          <a:noFill/>
        </p:spPr>
        <p:txBody>
          <a:bodyPr wrap="square" lIns="0" tIns="0" rIns="0" bIns="0" anchor="ctr">
            <a:spAutoFit/>
          </a:bodyPr>
          <a:lstStyle/>
          <a:p>
            <a:pPr algn="r">
              <a:lnSpc>
                <a:spcPct val="100000"/>
              </a:lnSpc>
              <a:spcBef>
                <a:spcPts val="0"/>
              </a:spcBef>
              <a:spcAft>
                <a:spcPts val="400"/>
              </a:spcAft>
            </a:pPr>
            <a:r>
              <a:rPr sz="1000" b="1" i="0">
                <a:solidFill>
                  <a:srgbClr val="FFFFFF"/>
                </a:solidFill>
                <a:latin typeface="Segoe UI"/>
                <a:cs typeface="Segoe UI"/>
              </a:rPr>
              <a:t>30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384048" y="274320"/>
            <a:ext cx="384048" cy="384048"/>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4068" y="329184"/>
            <a:ext cx="104241"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66344" y="406908"/>
            <a:ext cx="274320" cy="10424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274320"/>
            <a:ext cx="2926080" cy="402336"/>
          </a:xfrm>
          <a:prstGeom prst="rect">
            <a:avLst/>
          </a:prstGeom>
          <a:noFill/>
        </p:spPr>
        <p:txBody>
          <a:bodyPr wrap="square" lIns="0" tIns="0" rIns="0" bIns="0" anchor="ctr">
            <a:spAutoFit/>
          </a:bodyPr>
          <a:lstStyle/>
          <a:p>
            <a:pPr algn="l">
              <a:lnSpc>
                <a:spcPct val="100000"/>
              </a:lnSpc>
              <a:spcBef>
                <a:spcPts val="0"/>
              </a:spcBef>
              <a:spcAft>
                <a:spcPts val="400"/>
              </a:spcAft>
            </a:pPr>
            <a:r>
              <a:rPr sz="1300" b="1" i="0">
                <a:solidFill>
                  <a:srgbClr val="1E293B"/>
                </a:solidFill>
                <a:latin typeface="Segoe UI"/>
                <a:cs typeface="Segoe UI"/>
              </a:rPr>
              <a:t>DINH DƯỠNG </a:t>
            </a:r>
            <a:r>
              <a:rPr sz="1300" b="1" i="0">
                <a:solidFill>
                  <a:srgbClr val="19A99D"/>
                </a:solidFill>
                <a:latin typeface="Segoe UI"/>
                <a:cs typeface="Segoe UI"/>
              </a:rPr>
              <a:t>NHI KHOA</a:t>
            </a:r>
          </a:p>
        </p:txBody>
      </p:sp>
      <p:sp>
        <p:nvSpPr>
          <p:cNvPr id="6" name="Rectangle 5"/>
          <p:cNvSpPr/>
          <p:nvPr/>
        </p:nvSpPr>
        <p:spPr>
          <a:xfrm>
            <a:off x="0" y="6473952"/>
            <a:ext cx="12191695" cy="384048"/>
          </a:xfrm>
          <a:prstGeom prst="rect">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492240"/>
            <a:ext cx="9601200" cy="347472"/>
          </a:xfrm>
          <a:prstGeom prst="rect">
            <a:avLst/>
          </a:prstGeom>
          <a:noFill/>
        </p:spPr>
        <p:txBody>
          <a:bodyPr wrap="square" lIns="0" tIns="0" rIns="0" bIns="0" anchor="ctr">
            <a:spAutoFit/>
          </a:bodyPr>
          <a:lstStyle/>
          <a:p>
            <a:pPr algn="l">
              <a:lnSpc>
                <a:spcPct val="100000"/>
              </a:lnSpc>
              <a:spcBef>
                <a:spcPts val="0"/>
              </a:spcBef>
              <a:spcAft>
                <a:spcPts val="400"/>
              </a:spcAft>
            </a:pPr>
            <a:r>
              <a:rPr sz="950" b="0" i="0">
                <a:solidFill>
                  <a:srgbClr val="FFFFFF"/>
                </a:solidFill>
                <a:latin typeface="Segoe UI"/>
                <a:cs typeface="Segoe UI"/>
              </a:rPr>
              <a:t>Chuyên đề 2 · Dinh dưỡng – nền tảng cho miễn dịch &amp; sự phát triển của trẻ  ·  TS. Lê Thị Thùy Dung</a:t>
            </a:r>
          </a:p>
        </p:txBody>
      </p:sp>
      <p:sp>
        <p:nvSpPr>
          <p:cNvPr id="8" name="TextBox 7"/>
          <p:cNvSpPr txBox="1"/>
          <p:nvPr/>
        </p:nvSpPr>
        <p:spPr>
          <a:xfrm>
            <a:off x="11185855" y="6492240"/>
            <a:ext cx="548640" cy="347472"/>
          </a:xfrm>
          <a:prstGeom prst="rect">
            <a:avLst/>
          </a:prstGeom>
          <a:noFill/>
        </p:spPr>
        <p:txBody>
          <a:bodyPr wrap="square" lIns="0" tIns="0" rIns="0" bIns="0" anchor="ctr">
            <a:spAutoFit/>
          </a:bodyPr>
          <a:lstStyle/>
          <a:p>
            <a:pPr algn="r">
              <a:lnSpc>
                <a:spcPct val="100000"/>
              </a:lnSpc>
              <a:spcBef>
                <a:spcPts val="0"/>
              </a:spcBef>
              <a:spcAft>
                <a:spcPts val="400"/>
              </a:spcAft>
            </a:pPr>
            <a:r>
              <a:rPr sz="1000" b="1" i="0">
                <a:solidFill>
                  <a:srgbClr val="FFFFFF"/>
                </a:solidFill>
                <a:latin typeface="Segoe UI"/>
                <a:cs typeface="Segoe UI"/>
              </a:rPr>
              <a:t>31</a:t>
            </a:r>
          </a:p>
        </p:txBody>
      </p:sp>
      <p:sp>
        <p:nvSpPr>
          <p:cNvPr id="9" name="TextBox 8"/>
          <p:cNvSpPr txBox="1"/>
          <p:nvPr/>
        </p:nvSpPr>
        <p:spPr>
          <a:xfrm>
            <a:off x="548640" y="841248"/>
            <a:ext cx="10881360" cy="566928"/>
          </a:xfrm>
          <a:prstGeom prst="rect">
            <a:avLst/>
          </a:prstGeom>
          <a:noFill/>
        </p:spPr>
        <p:txBody>
          <a:bodyPr wrap="square" lIns="0" tIns="0" rIns="0" bIns="0" anchor="t">
            <a:spAutoFit/>
          </a:bodyPr>
          <a:lstStyle/>
          <a:p>
            <a:pPr algn="l">
              <a:lnSpc>
                <a:spcPct val="100000"/>
              </a:lnSpc>
              <a:spcBef>
                <a:spcPts val="0"/>
              </a:spcBef>
              <a:spcAft>
                <a:spcPts val="400"/>
              </a:spcAft>
            </a:pPr>
            <a:r>
              <a:rPr sz="2700" b="1" i="0">
                <a:solidFill>
                  <a:srgbClr val="19A99D"/>
                </a:solidFill>
                <a:latin typeface="Segoe UI Semibold"/>
                <a:cs typeface="Segoe UI Semibold"/>
              </a:rPr>
              <a:t>Nhận biết sớm suy dinh dưỡng</a:t>
            </a:r>
          </a:p>
        </p:txBody>
      </p:sp>
      <p:sp>
        <p:nvSpPr>
          <p:cNvPr id="10" name="TextBox 9"/>
          <p:cNvSpPr txBox="1"/>
          <p:nvPr/>
        </p:nvSpPr>
        <p:spPr>
          <a:xfrm>
            <a:off x="548640" y="1408176"/>
            <a:ext cx="10881360" cy="365760"/>
          </a:xfrm>
          <a:prstGeom prst="rect">
            <a:avLst/>
          </a:prstGeom>
          <a:noFill/>
        </p:spPr>
        <p:txBody>
          <a:bodyPr wrap="square" lIns="0" tIns="0" rIns="0" bIns="0" anchor="t">
            <a:spAutoFit/>
          </a:bodyPr>
          <a:lstStyle/>
          <a:p>
            <a:pPr algn="l">
              <a:lnSpc>
                <a:spcPct val="100000"/>
              </a:lnSpc>
              <a:spcBef>
                <a:spcPts val="0"/>
              </a:spcBef>
              <a:spcAft>
                <a:spcPts val="400"/>
              </a:spcAft>
            </a:pPr>
            <a:r>
              <a:rPr sz="1500" b="0" i="1">
                <a:solidFill>
                  <a:srgbClr val="64748B"/>
                </a:solidFill>
                <a:latin typeface="Segoe UI"/>
                <a:cs typeface="Segoe UI"/>
              </a:rPr>
              <a:t>Theo dõi biểu đồ tăng trưởng là cách đơn giản nhất</a:t>
            </a:r>
          </a:p>
        </p:txBody>
      </p:sp>
      <p:sp>
        <p:nvSpPr>
          <p:cNvPr id="11" name="Rounded Rectangle 10"/>
          <p:cNvSpPr/>
          <p:nvPr/>
        </p:nvSpPr>
        <p:spPr>
          <a:xfrm>
            <a:off x="685800" y="1965960"/>
            <a:ext cx="3383280" cy="2331720"/>
          </a:xfrm>
          <a:prstGeom prst="roundRect">
            <a:avLst>
              <a:gd name="adj" fmla="val 6000"/>
            </a:avLst>
          </a:prstGeom>
          <a:solidFill>
            <a:srgbClr val="FFFFFF"/>
          </a:solidFill>
          <a:ln w="20320">
            <a:solidFill>
              <a:srgbClr val="E26D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85800" y="2194560"/>
            <a:ext cx="3383280" cy="457200"/>
          </a:xfrm>
          <a:prstGeom prst="rect">
            <a:avLst/>
          </a:prstGeom>
          <a:noFill/>
        </p:spPr>
        <p:txBody>
          <a:bodyPr wrap="square" lIns="0" tIns="0" rIns="0" bIns="0" anchor="t">
            <a:spAutoFit/>
          </a:bodyPr>
          <a:lstStyle/>
          <a:p>
            <a:pPr algn="ctr">
              <a:lnSpc>
                <a:spcPct val="100000"/>
              </a:lnSpc>
              <a:spcBef>
                <a:spcPts val="0"/>
              </a:spcBef>
              <a:spcAft>
                <a:spcPts val="400"/>
              </a:spcAft>
            </a:pPr>
            <a:r>
              <a:rPr sz="1900" b="1" i="0">
                <a:solidFill>
                  <a:srgbClr val="E26D5A"/>
                </a:solidFill>
                <a:latin typeface="Segoe UI Semibold"/>
                <a:cs typeface="Segoe UI Semibold"/>
              </a:rPr>
              <a:t>Thấp còi</a:t>
            </a:r>
          </a:p>
        </p:txBody>
      </p:sp>
      <p:sp>
        <p:nvSpPr>
          <p:cNvPr id="13" name="TextBox 12"/>
          <p:cNvSpPr txBox="1"/>
          <p:nvPr/>
        </p:nvSpPr>
        <p:spPr>
          <a:xfrm>
            <a:off x="914400" y="2697480"/>
            <a:ext cx="2926080" cy="640080"/>
          </a:xfrm>
          <a:prstGeom prst="rect">
            <a:avLst/>
          </a:prstGeom>
          <a:noFill/>
        </p:spPr>
        <p:txBody>
          <a:bodyPr wrap="square" lIns="0" tIns="0" rIns="0" bIns="0" anchor="t">
            <a:spAutoFit/>
          </a:bodyPr>
          <a:lstStyle/>
          <a:p>
            <a:pPr algn="ctr">
              <a:lnSpc>
                <a:spcPct val="105000"/>
              </a:lnSpc>
              <a:spcBef>
                <a:spcPts val="0"/>
              </a:spcBef>
              <a:spcAft>
                <a:spcPts val="400"/>
              </a:spcAft>
            </a:pPr>
            <a:r>
              <a:rPr sz="1300" b="1" i="0">
                <a:solidFill>
                  <a:srgbClr val="1E293B"/>
                </a:solidFill>
                <a:latin typeface="Segoe UI"/>
                <a:cs typeface="Segoe UI"/>
              </a:rPr>
              <a:t>Chiều cao thấp hơn so với tuổi</a:t>
            </a:r>
          </a:p>
        </p:txBody>
      </p:sp>
      <p:sp>
        <p:nvSpPr>
          <p:cNvPr id="14" name="TextBox 13"/>
          <p:cNvSpPr txBox="1"/>
          <p:nvPr/>
        </p:nvSpPr>
        <p:spPr>
          <a:xfrm>
            <a:off x="914400" y="3383280"/>
            <a:ext cx="2926080" cy="822960"/>
          </a:xfrm>
          <a:prstGeom prst="rect">
            <a:avLst/>
          </a:prstGeom>
          <a:noFill/>
        </p:spPr>
        <p:txBody>
          <a:bodyPr wrap="square" lIns="0" tIns="0" rIns="0" bIns="0" anchor="t">
            <a:spAutoFit/>
          </a:bodyPr>
          <a:lstStyle/>
          <a:p>
            <a:pPr algn="ctr">
              <a:lnSpc>
                <a:spcPct val="105000"/>
              </a:lnSpc>
              <a:spcBef>
                <a:spcPts val="0"/>
              </a:spcBef>
              <a:spcAft>
                <a:spcPts val="400"/>
              </a:spcAft>
            </a:pPr>
            <a:r>
              <a:rPr sz="1200" b="0" i="1">
                <a:solidFill>
                  <a:srgbClr val="64748B"/>
                </a:solidFill>
                <a:latin typeface="Segoe UI"/>
                <a:cs typeface="Segoe UI"/>
              </a:rPr>
              <a:t>Thiếu dinh dưỡng kéo dài, mạn tính</a:t>
            </a:r>
          </a:p>
        </p:txBody>
      </p:sp>
      <p:sp>
        <p:nvSpPr>
          <p:cNvPr id="15" name="Rounded Rectangle 14"/>
          <p:cNvSpPr/>
          <p:nvPr/>
        </p:nvSpPr>
        <p:spPr>
          <a:xfrm>
            <a:off x="4434840" y="1965960"/>
            <a:ext cx="3383280" cy="2331720"/>
          </a:xfrm>
          <a:prstGeom prst="roundRect">
            <a:avLst>
              <a:gd name="adj" fmla="val 6000"/>
            </a:avLst>
          </a:prstGeom>
          <a:solidFill>
            <a:srgbClr val="FFFFFF"/>
          </a:solidFill>
          <a:ln w="2032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434840" y="2194560"/>
            <a:ext cx="3383280" cy="457200"/>
          </a:xfrm>
          <a:prstGeom prst="rect">
            <a:avLst/>
          </a:prstGeom>
          <a:noFill/>
        </p:spPr>
        <p:txBody>
          <a:bodyPr wrap="square" lIns="0" tIns="0" rIns="0" bIns="0" anchor="t">
            <a:spAutoFit/>
          </a:bodyPr>
          <a:lstStyle/>
          <a:p>
            <a:pPr algn="ctr">
              <a:lnSpc>
                <a:spcPct val="100000"/>
              </a:lnSpc>
              <a:spcBef>
                <a:spcPts val="0"/>
              </a:spcBef>
              <a:spcAft>
                <a:spcPts val="400"/>
              </a:spcAft>
            </a:pPr>
            <a:r>
              <a:rPr sz="1900" b="1" i="0">
                <a:solidFill>
                  <a:srgbClr val="F59E0B"/>
                </a:solidFill>
                <a:latin typeface="Segoe UI Semibold"/>
                <a:cs typeface="Segoe UI Semibold"/>
              </a:rPr>
              <a:t>Nhẹ cân</a:t>
            </a:r>
          </a:p>
        </p:txBody>
      </p:sp>
      <p:sp>
        <p:nvSpPr>
          <p:cNvPr id="17" name="TextBox 16"/>
          <p:cNvSpPr txBox="1"/>
          <p:nvPr/>
        </p:nvSpPr>
        <p:spPr>
          <a:xfrm>
            <a:off x="4663440" y="2697480"/>
            <a:ext cx="2926080" cy="640080"/>
          </a:xfrm>
          <a:prstGeom prst="rect">
            <a:avLst/>
          </a:prstGeom>
          <a:noFill/>
        </p:spPr>
        <p:txBody>
          <a:bodyPr wrap="square" lIns="0" tIns="0" rIns="0" bIns="0" anchor="t">
            <a:spAutoFit/>
          </a:bodyPr>
          <a:lstStyle/>
          <a:p>
            <a:pPr algn="ctr">
              <a:lnSpc>
                <a:spcPct val="105000"/>
              </a:lnSpc>
              <a:spcBef>
                <a:spcPts val="0"/>
              </a:spcBef>
              <a:spcAft>
                <a:spcPts val="400"/>
              </a:spcAft>
            </a:pPr>
            <a:r>
              <a:rPr sz="1300" b="1" i="0">
                <a:solidFill>
                  <a:srgbClr val="1E293B"/>
                </a:solidFill>
                <a:latin typeface="Segoe UI"/>
                <a:cs typeface="Segoe UI"/>
              </a:rPr>
              <a:t>Cân nặng thấp hơn so với tuổi</a:t>
            </a:r>
          </a:p>
        </p:txBody>
      </p:sp>
      <p:sp>
        <p:nvSpPr>
          <p:cNvPr id="18" name="TextBox 17"/>
          <p:cNvSpPr txBox="1"/>
          <p:nvPr/>
        </p:nvSpPr>
        <p:spPr>
          <a:xfrm>
            <a:off x="4663440" y="3383280"/>
            <a:ext cx="2926080" cy="822960"/>
          </a:xfrm>
          <a:prstGeom prst="rect">
            <a:avLst/>
          </a:prstGeom>
          <a:noFill/>
        </p:spPr>
        <p:txBody>
          <a:bodyPr wrap="square" lIns="0" tIns="0" rIns="0" bIns="0" anchor="t">
            <a:spAutoFit/>
          </a:bodyPr>
          <a:lstStyle/>
          <a:p>
            <a:pPr algn="ctr">
              <a:lnSpc>
                <a:spcPct val="105000"/>
              </a:lnSpc>
              <a:spcBef>
                <a:spcPts val="0"/>
              </a:spcBef>
              <a:spcAft>
                <a:spcPts val="400"/>
              </a:spcAft>
            </a:pPr>
            <a:r>
              <a:rPr sz="1200" b="0" i="1">
                <a:solidFill>
                  <a:srgbClr val="64748B"/>
                </a:solidFill>
                <a:latin typeface="Segoe UI"/>
                <a:cs typeface="Segoe UI"/>
              </a:rPr>
              <a:t>Phản ánh thiếu ăn gần đây và/hoặc kéo dài</a:t>
            </a:r>
          </a:p>
        </p:txBody>
      </p:sp>
      <p:sp>
        <p:nvSpPr>
          <p:cNvPr id="19" name="Rounded Rectangle 18"/>
          <p:cNvSpPr/>
          <p:nvPr/>
        </p:nvSpPr>
        <p:spPr>
          <a:xfrm>
            <a:off x="8183879" y="1965960"/>
            <a:ext cx="3383280" cy="2331720"/>
          </a:xfrm>
          <a:prstGeom prst="roundRect">
            <a:avLst>
              <a:gd name="adj" fmla="val 6000"/>
            </a:avLst>
          </a:prstGeom>
          <a:solidFill>
            <a:srgbClr val="FFFFFF"/>
          </a:solidFill>
          <a:ln w="20320">
            <a:solidFill>
              <a:srgbClr val="2866A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183879" y="2194560"/>
            <a:ext cx="3383280" cy="457200"/>
          </a:xfrm>
          <a:prstGeom prst="rect">
            <a:avLst/>
          </a:prstGeom>
          <a:noFill/>
        </p:spPr>
        <p:txBody>
          <a:bodyPr wrap="square" lIns="0" tIns="0" rIns="0" bIns="0" anchor="t">
            <a:spAutoFit/>
          </a:bodyPr>
          <a:lstStyle/>
          <a:p>
            <a:pPr algn="ctr">
              <a:lnSpc>
                <a:spcPct val="100000"/>
              </a:lnSpc>
              <a:spcBef>
                <a:spcPts val="0"/>
              </a:spcBef>
              <a:spcAft>
                <a:spcPts val="400"/>
              </a:spcAft>
            </a:pPr>
            <a:r>
              <a:rPr sz="1900" b="1" i="0">
                <a:solidFill>
                  <a:srgbClr val="2866AB"/>
                </a:solidFill>
                <a:latin typeface="Segoe UI Semibold"/>
                <a:cs typeface="Segoe UI Semibold"/>
              </a:rPr>
              <a:t>Gầy còm</a:t>
            </a:r>
          </a:p>
        </p:txBody>
      </p:sp>
      <p:sp>
        <p:nvSpPr>
          <p:cNvPr id="21" name="TextBox 20"/>
          <p:cNvSpPr txBox="1"/>
          <p:nvPr/>
        </p:nvSpPr>
        <p:spPr>
          <a:xfrm>
            <a:off x="8412480" y="2697480"/>
            <a:ext cx="2926080" cy="640080"/>
          </a:xfrm>
          <a:prstGeom prst="rect">
            <a:avLst/>
          </a:prstGeom>
          <a:noFill/>
        </p:spPr>
        <p:txBody>
          <a:bodyPr wrap="square" lIns="0" tIns="0" rIns="0" bIns="0" anchor="t">
            <a:spAutoFit/>
          </a:bodyPr>
          <a:lstStyle/>
          <a:p>
            <a:pPr algn="ctr">
              <a:lnSpc>
                <a:spcPct val="105000"/>
              </a:lnSpc>
              <a:spcBef>
                <a:spcPts val="0"/>
              </a:spcBef>
              <a:spcAft>
                <a:spcPts val="400"/>
              </a:spcAft>
            </a:pPr>
            <a:r>
              <a:rPr sz="1300" b="1" i="0">
                <a:solidFill>
                  <a:srgbClr val="1E293B"/>
                </a:solidFill>
                <a:latin typeface="Segoe UI"/>
                <a:cs typeface="Segoe UI"/>
              </a:rPr>
              <a:t>Cân nặng thấp so với chiều cao</a:t>
            </a:r>
          </a:p>
        </p:txBody>
      </p:sp>
      <p:sp>
        <p:nvSpPr>
          <p:cNvPr id="22" name="TextBox 21"/>
          <p:cNvSpPr txBox="1"/>
          <p:nvPr/>
        </p:nvSpPr>
        <p:spPr>
          <a:xfrm>
            <a:off x="8412480" y="3383280"/>
            <a:ext cx="2926080" cy="822960"/>
          </a:xfrm>
          <a:prstGeom prst="rect">
            <a:avLst/>
          </a:prstGeom>
          <a:noFill/>
        </p:spPr>
        <p:txBody>
          <a:bodyPr wrap="square" lIns="0" tIns="0" rIns="0" bIns="0" anchor="t">
            <a:spAutoFit/>
          </a:bodyPr>
          <a:lstStyle/>
          <a:p>
            <a:pPr algn="ctr">
              <a:lnSpc>
                <a:spcPct val="105000"/>
              </a:lnSpc>
              <a:spcBef>
                <a:spcPts val="0"/>
              </a:spcBef>
              <a:spcAft>
                <a:spcPts val="400"/>
              </a:spcAft>
            </a:pPr>
            <a:r>
              <a:rPr sz="1200" b="0" i="1">
                <a:solidFill>
                  <a:srgbClr val="64748B"/>
                </a:solidFill>
                <a:latin typeface="Segoe UI"/>
                <a:cs typeface="Segoe UI"/>
              </a:rPr>
              <a:t>Thiếu dinh dưỡng cấp tính, cần can thiệp sớm</a:t>
            </a:r>
          </a:p>
        </p:txBody>
      </p:sp>
      <p:sp>
        <p:nvSpPr>
          <p:cNvPr id="23" name="Rounded Rectangle 22"/>
          <p:cNvSpPr/>
          <p:nvPr/>
        </p:nvSpPr>
        <p:spPr>
          <a:xfrm>
            <a:off x="685800" y="4526280"/>
            <a:ext cx="10789920" cy="1143000"/>
          </a:xfrm>
          <a:prstGeom prst="roundRect">
            <a:avLst>
              <a:gd name="adj" fmla="val 6000"/>
            </a:avLst>
          </a:prstGeom>
          <a:solidFill>
            <a:srgbClr val="E0F5F4"/>
          </a:solidFill>
          <a:ln w="16510">
            <a:solidFill>
              <a:srgbClr val="19A99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14400" y="4681728"/>
            <a:ext cx="10332720" cy="914400"/>
          </a:xfrm>
          <a:prstGeom prst="rect">
            <a:avLst/>
          </a:prstGeom>
          <a:noFill/>
        </p:spPr>
        <p:txBody>
          <a:bodyPr wrap="square" lIns="0" tIns="0" rIns="0" bIns="0" anchor="ctr">
            <a:spAutoFit/>
          </a:bodyPr>
          <a:lstStyle/>
          <a:p>
            <a:pPr algn="l">
              <a:lnSpc>
                <a:spcPct val="110000"/>
              </a:lnSpc>
              <a:spcBef>
                <a:spcPts val="0"/>
              </a:spcBef>
              <a:spcAft>
                <a:spcPts val="400"/>
              </a:spcAft>
            </a:pPr>
            <a:r>
              <a:rPr sz="1400" b="1" i="0">
                <a:solidFill>
                  <a:srgbClr val="19A99D"/>
                </a:solidFill>
                <a:latin typeface="Segoe UI"/>
                <a:cs typeface="Segoe UI"/>
              </a:rPr>
              <a:t>Việc cần làm: </a:t>
            </a:r>
            <a:r>
              <a:rPr sz="1400" b="0" i="0">
                <a:solidFill>
                  <a:srgbClr val="1E293B"/>
                </a:solidFill>
                <a:latin typeface="Segoe UI"/>
                <a:cs typeface="Segoe UI"/>
              </a:rPr>
              <a:t>cân – đo chiều cao định kỳ và chấm lên biểu đồ tăng trưởng. Nếu đường biểu diễn đi ngang hoặc đi xuống trong 2–3 tháng → đưa trẻ đi khám dinh dưỡng.</a:t>
            </a:r>
          </a:p>
        </p:txBody>
      </p:sp>
      <p:sp>
        <p:nvSpPr>
          <p:cNvPr id="25" name="TextBox 24"/>
          <p:cNvSpPr txBox="1"/>
          <p:nvPr/>
        </p:nvSpPr>
        <p:spPr>
          <a:xfrm>
            <a:off x="548640" y="6144768"/>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50" b="1" i="1">
                <a:solidFill>
                  <a:srgbClr val="19A99D"/>
                </a:solidFill>
                <a:latin typeface="Segoe UI"/>
                <a:cs typeface="Segoe UI"/>
              </a:rPr>
              <a:t>Nguồn: </a:t>
            </a:r>
            <a:r>
              <a:rPr sz="950" b="0" i="1">
                <a:solidFill>
                  <a:srgbClr val="64748B"/>
                </a:solidFill>
                <a:latin typeface="Segoe UI"/>
                <a:cs typeface="Segoe UI"/>
              </a:rPr>
              <a:t>Nuôi dưỡng trẻ nhỏ 0–24 tháng, Bộ Y tế 2015; phân loại WHO</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384048" y="274320"/>
            <a:ext cx="384048" cy="384048"/>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4068" y="329184"/>
            <a:ext cx="104241"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66344" y="406908"/>
            <a:ext cx="274320" cy="10424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274320"/>
            <a:ext cx="2926080" cy="402336"/>
          </a:xfrm>
          <a:prstGeom prst="rect">
            <a:avLst/>
          </a:prstGeom>
          <a:noFill/>
        </p:spPr>
        <p:txBody>
          <a:bodyPr wrap="square" lIns="0" tIns="0" rIns="0" bIns="0" anchor="ctr">
            <a:spAutoFit/>
          </a:bodyPr>
          <a:lstStyle/>
          <a:p>
            <a:pPr algn="l">
              <a:lnSpc>
                <a:spcPct val="100000"/>
              </a:lnSpc>
              <a:spcBef>
                <a:spcPts val="0"/>
              </a:spcBef>
              <a:spcAft>
                <a:spcPts val="400"/>
              </a:spcAft>
            </a:pPr>
            <a:r>
              <a:rPr sz="1300" b="1" i="0">
                <a:solidFill>
                  <a:srgbClr val="1E293B"/>
                </a:solidFill>
                <a:latin typeface="Segoe UI"/>
                <a:cs typeface="Segoe UI"/>
              </a:rPr>
              <a:t>DINH DƯỠNG </a:t>
            </a:r>
            <a:r>
              <a:rPr sz="1300" b="1" i="0">
                <a:solidFill>
                  <a:srgbClr val="19A99D"/>
                </a:solidFill>
                <a:latin typeface="Segoe UI"/>
                <a:cs typeface="Segoe UI"/>
              </a:rPr>
              <a:t>NHI KHOA</a:t>
            </a:r>
          </a:p>
        </p:txBody>
      </p:sp>
      <p:sp>
        <p:nvSpPr>
          <p:cNvPr id="6" name="Rectangle 5"/>
          <p:cNvSpPr/>
          <p:nvPr/>
        </p:nvSpPr>
        <p:spPr>
          <a:xfrm>
            <a:off x="0" y="6473952"/>
            <a:ext cx="12191695" cy="384048"/>
          </a:xfrm>
          <a:prstGeom prst="rect">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492240"/>
            <a:ext cx="9601200" cy="347472"/>
          </a:xfrm>
          <a:prstGeom prst="rect">
            <a:avLst/>
          </a:prstGeom>
          <a:noFill/>
        </p:spPr>
        <p:txBody>
          <a:bodyPr wrap="square" lIns="0" tIns="0" rIns="0" bIns="0" anchor="ctr">
            <a:spAutoFit/>
          </a:bodyPr>
          <a:lstStyle/>
          <a:p>
            <a:pPr algn="l">
              <a:lnSpc>
                <a:spcPct val="100000"/>
              </a:lnSpc>
              <a:spcBef>
                <a:spcPts val="0"/>
              </a:spcBef>
              <a:spcAft>
                <a:spcPts val="400"/>
              </a:spcAft>
            </a:pPr>
            <a:r>
              <a:rPr sz="950" b="0" i="0">
                <a:solidFill>
                  <a:srgbClr val="FFFFFF"/>
                </a:solidFill>
                <a:latin typeface="Segoe UI"/>
                <a:cs typeface="Segoe UI"/>
              </a:rPr>
              <a:t>Chuyên đề 2 · Dinh dưỡng – nền tảng cho miễn dịch &amp; sự phát triển của trẻ  ·  TS. Lê Thị Thùy Dung</a:t>
            </a:r>
          </a:p>
        </p:txBody>
      </p:sp>
      <p:sp>
        <p:nvSpPr>
          <p:cNvPr id="8" name="TextBox 7"/>
          <p:cNvSpPr txBox="1"/>
          <p:nvPr/>
        </p:nvSpPr>
        <p:spPr>
          <a:xfrm>
            <a:off x="11185855" y="6492240"/>
            <a:ext cx="548640" cy="347472"/>
          </a:xfrm>
          <a:prstGeom prst="rect">
            <a:avLst/>
          </a:prstGeom>
          <a:noFill/>
        </p:spPr>
        <p:txBody>
          <a:bodyPr wrap="square" lIns="0" tIns="0" rIns="0" bIns="0" anchor="ctr">
            <a:spAutoFit/>
          </a:bodyPr>
          <a:lstStyle/>
          <a:p>
            <a:pPr algn="r">
              <a:lnSpc>
                <a:spcPct val="100000"/>
              </a:lnSpc>
              <a:spcBef>
                <a:spcPts val="0"/>
              </a:spcBef>
              <a:spcAft>
                <a:spcPts val="400"/>
              </a:spcAft>
            </a:pPr>
            <a:r>
              <a:rPr sz="1000" b="1" i="0">
                <a:solidFill>
                  <a:srgbClr val="FFFFFF"/>
                </a:solidFill>
                <a:latin typeface="Segoe UI"/>
                <a:cs typeface="Segoe UI"/>
              </a:rPr>
              <a:t>32</a:t>
            </a:r>
          </a:p>
        </p:txBody>
      </p:sp>
      <p:sp>
        <p:nvSpPr>
          <p:cNvPr id="9" name="TextBox 8"/>
          <p:cNvSpPr txBox="1"/>
          <p:nvPr/>
        </p:nvSpPr>
        <p:spPr>
          <a:xfrm>
            <a:off x="548640" y="841248"/>
            <a:ext cx="10881360" cy="566928"/>
          </a:xfrm>
          <a:prstGeom prst="rect">
            <a:avLst/>
          </a:prstGeom>
          <a:noFill/>
        </p:spPr>
        <p:txBody>
          <a:bodyPr wrap="square" lIns="0" tIns="0" rIns="0" bIns="0" anchor="t">
            <a:spAutoFit/>
          </a:bodyPr>
          <a:lstStyle/>
          <a:p>
            <a:pPr algn="l">
              <a:lnSpc>
                <a:spcPct val="100000"/>
              </a:lnSpc>
              <a:spcBef>
                <a:spcPts val="0"/>
              </a:spcBef>
              <a:spcAft>
                <a:spcPts val="400"/>
              </a:spcAft>
            </a:pPr>
            <a:r>
              <a:rPr sz="2700" b="1" i="0">
                <a:solidFill>
                  <a:srgbClr val="19A99D"/>
                </a:solidFill>
                <a:latin typeface="Segoe UI Semibold"/>
                <a:cs typeface="Segoe UI Semibold"/>
              </a:rPr>
              <a:t>Khi trẻ biếng ăn – làm gì cho đúng?</a:t>
            </a:r>
          </a:p>
        </p:txBody>
      </p:sp>
      <p:sp>
        <p:nvSpPr>
          <p:cNvPr id="10" name="TextBox 9"/>
          <p:cNvSpPr txBox="1"/>
          <p:nvPr/>
        </p:nvSpPr>
        <p:spPr>
          <a:xfrm>
            <a:off x="548640" y="1408176"/>
            <a:ext cx="10881360" cy="365760"/>
          </a:xfrm>
          <a:prstGeom prst="rect">
            <a:avLst/>
          </a:prstGeom>
          <a:noFill/>
        </p:spPr>
        <p:txBody>
          <a:bodyPr wrap="square" lIns="0" tIns="0" rIns="0" bIns="0" anchor="t">
            <a:spAutoFit/>
          </a:bodyPr>
          <a:lstStyle/>
          <a:p>
            <a:pPr algn="l">
              <a:lnSpc>
                <a:spcPct val="100000"/>
              </a:lnSpc>
              <a:spcBef>
                <a:spcPts val="0"/>
              </a:spcBef>
              <a:spcAft>
                <a:spcPts val="400"/>
              </a:spcAft>
            </a:pPr>
            <a:r>
              <a:rPr sz="1500" b="0" i="1">
                <a:solidFill>
                  <a:srgbClr val="64748B"/>
                </a:solidFill>
                <a:latin typeface="Segoe UI"/>
                <a:cs typeface="Segoe UI"/>
              </a:rPr>
              <a:t>Ép ăn thường phản tác dụng; cần kiên nhẫn và khéo léo</a:t>
            </a:r>
          </a:p>
        </p:txBody>
      </p:sp>
      <p:pic>
        <p:nvPicPr>
          <p:cNvPr id="11" name="Picture 10" descr="feeding_child.png"/>
          <p:cNvPicPr>
            <a:picLocks noChangeAspect="1"/>
          </p:cNvPicPr>
          <p:nvPr/>
        </p:nvPicPr>
        <p:blipFill>
          <a:blip r:embed="rId2"/>
          <a:stretch>
            <a:fillRect/>
          </a:stretch>
        </p:blipFill>
        <p:spPr>
          <a:xfrm>
            <a:off x="8138160" y="2069788"/>
            <a:ext cx="3657600" cy="3449942"/>
          </a:xfrm>
          <a:prstGeom prst="rect">
            <a:avLst/>
          </a:prstGeom>
        </p:spPr>
      </p:pic>
      <p:sp>
        <p:nvSpPr>
          <p:cNvPr id="12" name="TextBox 11"/>
          <p:cNvSpPr txBox="1"/>
          <p:nvPr/>
        </p:nvSpPr>
        <p:spPr>
          <a:xfrm>
            <a:off x="640080" y="1920240"/>
            <a:ext cx="7315200" cy="3931920"/>
          </a:xfrm>
          <a:prstGeom prst="rect">
            <a:avLst/>
          </a:prstGeom>
          <a:noFill/>
        </p:spPr>
        <p:txBody>
          <a:bodyPr wrap="square" lIns="0" tIns="0" rIns="0" bIns="0" anchor="t">
            <a:spAutoFit/>
          </a:bodyPr>
          <a:lstStyle/>
          <a:p>
            <a:pPr algn="l">
              <a:lnSpc>
                <a:spcPct val="106000"/>
              </a:lnSpc>
              <a:spcBef>
                <a:spcPts val="0"/>
              </a:spcBef>
              <a:spcAft>
                <a:spcPts val="700"/>
              </a:spcAft>
            </a:pPr>
            <a:r>
              <a:rPr sz="1600" b="1" i="0">
                <a:solidFill>
                  <a:srgbClr val="3A6B35"/>
                </a:solidFill>
                <a:latin typeface="Segoe UI"/>
                <a:cs typeface="Segoe UI"/>
              </a:rPr>
              <a:t>Nên làm</a:t>
            </a:r>
          </a:p>
          <a:p>
            <a:pPr algn="l">
              <a:lnSpc>
                <a:spcPct val="105000"/>
              </a:lnSpc>
              <a:spcBef>
                <a:spcPts val="0"/>
              </a:spcBef>
              <a:spcAft>
                <a:spcPts val="600"/>
              </a:spcAft>
            </a:pPr>
            <a:r>
              <a:rPr sz="1350" b="1" i="0">
                <a:solidFill>
                  <a:srgbClr val="3A6B35"/>
                </a:solidFill>
                <a:latin typeface="Segoe UI"/>
                <a:cs typeface="Segoe UI"/>
              </a:rPr>
              <a:t>✓  </a:t>
            </a:r>
            <a:r>
              <a:rPr sz="1350" b="0" i="0">
                <a:solidFill>
                  <a:srgbClr val="1E293B"/>
                </a:solidFill>
                <a:latin typeface="Segoe UI"/>
                <a:cs typeface="Segoe UI"/>
              </a:rPr>
              <a:t>Đa dạng món, đổi cách chế biến, trình bày bắt mắt.</a:t>
            </a:r>
          </a:p>
          <a:p>
            <a:pPr algn="l">
              <a:lnSpc>
                <a:spcPct val="105000"/>
              </a:lnSpc>
              <a:spcBef>
                <a:spcPts val="0"/>
              </a:spcBef>
              <a:spcAft>
                <a:spcPts val="600"/>
              </a:spcAft>
            </a:pPr>
            <a:r>
              <a:rPr sz="1350" b="1" i="0">
                <a:solidFill>
                  <a:srgbClr val="3A6B35"/>
                </a:solidFill>
                <a:latin typeface="Segoe UI"/>
                <a:cs typeface="Segoe UI"/>
              </a:rPr>
              <a:t>✓  </a:t>
            </a:r>
            <a:r>
              <a:rPr sz="1350" b="0" i="0">
                <a:solidFill>
                  <a:srgbClr val="1E293B"/>
                </a:solidFill>
                <a:latin typeface="Segoe UI"/>
                <a:cs typeface="Segoe UI"/>
              </a:rPr>
              <a:t>Chia nhỏ bữa; thêm bữa phụ giàu năng lượng (sữa chua, trái cây).</a:t>
            </a:r>
          </a:p>
          <a:p>
            <a:pPr algn="l">
              <a:lnSpc>
                <a:spcPct val="105000"/>
              </a:lnSpc>
              <a:spcBef>
                <a:spcPts val="0"/>
              </a:spcBef>
              <a:spcAft>
                <a:spcPts val="600"/>
              </a:spcAft>
            </a:pPr>
            <a:r>
              <a:rPr sz="1350" b="1" i="0">
                <a:solidFill>
                  <a:srgbClr val="3A6B35"/>
                </a:solidFill>
                <a:latin typeface="Segoe UI"/>
                <a:cs typeface="Segoe UI"/>
              </a:rPr>
              <a:t>✓  </a:t>
            </a:r>
            <a:r>
              <a:rPr sz="1350" b="0" i="0">
                <a:solidFill>
                  <a:srgbClr val="1E293B"/>
                </a:solidFill>
                <a:latin typeface="Segoe UI"/>
                <a:cs typeface="Segoe UI"/>
              </a:rPr>
              <a:t>Cho trẻ ăn cùng gia đình, không vừa ăn vừa xem điện thoại/TV.</a:t>
            </a:r>
          </a:p>
          <a:p>
            <a:pPr algn="l">
              <a:lnSpc>
                <a:spcPct val="105000"/>
              </a:lnSpc>
              <a:spcBef>
                <a:spcPts val="0"/>
              </a:spcBef>
              <a:spcAft>
                <a:spcPts val="1300"/>
              </a:spcAft>
            </a:pPr>
            <a:r>
              <a:rPr sz="1350" b="1" i="0">
                <a:solidFill>
                  <a:srgbClr val="3A6B35"/>
                </a:solidFill>
                <a:latin typeface="Segoe UI"/>
                <a:cs typeface="Segoe UI"/>
              </a:rPr>
              <a:t>✓  </a:t>
            </a:r>
            <a:r>
              <a:rPr sz="1350" b="0" i="0">
                <a:solidFill>
                  <a:srgbClr val="1E293B"/>
                </a:solidFill>
                <a:latin typeface="Segoe UI"/>
                <a:cs typeface="Segoe UI"/>
              </a:rPr>
              <a:t>Bổ sung kẽm theo tư vấn – giúp trẻ ăn ngon miệng hơn.</a:t>
            </a:r>
          </a:p>
          <a:p>
            <a:pPr algn="l">
              <a:lnSpc>
                <a:spcPct val="106000"/>
              </a:lnSpc>
              <a:spcBef>
                <a:spcPts val="0"/>
              </a:spcBef>
              <a:spcAft>
                <a:spcPts val="700"/>
              </a:spcAft>
            </a:pPr>
            <a:r>
              <a:rPr sz="1600" b="1" i="0">
                <a:solidFill>
                  <a:srgbClr val="E26D5A"/>
                </a:solidFill>
                <a:latin typeface="Segoe UI"/>
                <a:cs typeface="Segoe UI"/>
              </a:rPr>
              <a:t>Tránh</a:t>
            </a:r>
          </a:p>
          <a:p>
            <a:pPr algn="l">
              <a:lnSpc>
                <a:spcPct val="105000"/>
              </a:lnSpc>
              <a:spcBef>
                <a:spcPts val="0"/>
              </a:spcBef>
              <a:spcAft>
                <a:spcPts val="600"/>
              </a:spcAft>
            </a:pPr>
            <a:r>
              <a:rPr sz="1350" b="1" i="0">
                <a:solidFill>
                  <a:srgbClr val="E26D5A"/>
                </a:solidFill>
                <a:latin typeface="Segoe UI"/>
                <a:cs typeface="Segoe UI"/>
              </a:rPr>
              <a:t>✗  </a:t>
            </a:r>
            <a:r>
              <a:rPr sz="1350" b="0" i="0">
                <a:solidFill>
                  <a:srgbClr val="1E293B"/>
                </a:solidFill>
                <a:latin typeface="Segoe UI"/>
                <a:cs typeface="Segoe UI"/>
              </a:rPr>
              <a:t>Ép ăn, dọa nạt, kéo dài bữa ăn quá 30 phút.</a:t>
            </a:r>
          </a:p>
          <a:p>
            <a:pPr algn="l">
              <a:lnSpc>
                <a:spcPct val="105000"/>
              </a:lnSpc>
              <a:spcBef>
                <a:spcPts val="0"/>
              </a:spcBef>
              <a:spcAft>
                <a:spcPts val="700"/>
              </a:spcAft>
            </a:pPr>
            <a:r>
              <a:rPr sz="1350" b="1" i="0">
                <a:solidFill>
                  <a:srgbClr val="E26D5A"/>
                </a:solidFill>
                <a:latin typeface="Segoe UI"/>
                <a:cs typeface="Segoe UI"/>
              </a:rPr>
              <a:t>✗  </a:t>
            </a:r>
            <a:r>
              <a:rPr sz="1350" b="0" i="0">
                <a:solidFill>
                  <a:srgbClr val="1E293B"/>
                </a:solidFill>
                <a:latin typeface="Segoe UI"/>
                <a:cs typeface="Segoe UI"/>
              </a:rPr>
              <a:t>Cho ăn vặt, uống nước ngọt sát bữa chính.</a:t>
            </a:r>
          </a:p>
        </p:txBody>
      </p:sp>
      <p:sp>
        <p:nvSpPr>
          <p:cNvPr id="13" name="TextBox 12"/>
          <p:cNvSpPr txBox="1"/>
          <p:nvPr/>
        </p:nvSpPr>
        <p:spPr>
          <a:xfrm>
            <a:off x="548640" y="6144768"/>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50" b="1" i="1">
                <a:solidFill>
                  <a:srgbClr val="19A99D"/>
                </a:solidFill>
                <a:latin typeface="Segoe UI"/>
                <a:cs typeface="Segoe UI"/>
              </a:rPr>
              <a:t>Nguồn: </a:t>
            </a:r>
            <a:r>
              <a:rPr sz="950" b="0" i="1">
                <a:solidFill>
                  <a:srgbClr val="64748B"/>
                </a:solidFill>
                <a:latin typeface="Segoe UI"/>
                <a:cs typeface="Segoe UI"/>
              </a:rPr>
              <a:t>Tổng hợp khuyến nghị thực hành nuôi dưỡng – Bộ Y tế 2015; Viện Dinh dưỡng</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384048" y="274320"/>
            <a:ext cx="384048" cy="384048"/>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4068" y="329184"/>
            <a:ext cx="104241"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66344" y="406908"/>
            <a:ext cx="274320" cy="10424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274320"/>
            <a:ext cx="2926080" cy="402336"/>
          </a:xfrm>
          <a:prstGeom prst="rect">
            <a:avLst/>
          </a:prstGeom>
          <a:noFill/>
        </p:spPr>
        <p:txBody>
          <a:bodyPr wrap="square" lIns="0" tIns="0" rIns="0" bIns="0" anchor="ctr">
            <a:spAutoFit/>
          </a:bodyPr>
          <a:lstStyle/>
          <a:p>
            <a:pPr algn="l">
              <a:lnSpc>
                <a:spcPct val="100000"/>
              </a:lnSpc>
              <a:spcBef>
                <a:spcPts val="0"/>
              </a:spcBef>
              <a:spcAft>
                <a:spcPts val="400"/>
              </a:spcAft>
            </a:pPr>
            <a:r>
              <a:rPr sz="1300" b="1" i="0">
                <a:solidFill>
                  <a:srgbClr val="1E293B"/>
                </a:solidFill>
                <a:latin typeface="Segoe UI"/>
                <a:cs typeface="Segoe UI"/>
              </a:rPr>
              <a:t>DINH DƯỠNG </a:t>
            </a:r>
            <a:r>
              <a:rPr sz="1300" b="1" i="0">
                <a:solidFill>
                  <a:srgbClr val="19A99D"/>
                </a:solidFill>
                <a:latin typeface="Segoe UI"/>
                <a:cs typeface="Segoe UI"/>
              </a:rPr>
              <a:t>NHI KHOA</a:t>
            </a:r>
          </a:p>
        </p:txBody>
      </p:sp>
      <p:sp>
        <p:nvSpPr>
          <p:cNvPr id="6" name="Rectangle 5"/>
          <p:cNvSpPr/>
          <p:nvPr/>
        </p:nvSpPr>
        <p:spPr>
          <a:xfrm>
            <a:off x="0" y="6473952"/>
            <a:ext cx="12191695" cy="384048"/>
          </a:xfrm>
          <a:prstGeom prst="rect">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492240"/>
            <a:ext cx="9601200" cy="347472"/>
          </a:xfrm>
          <a:prstGeom prst="rect">
            <a:avLst/>
          </a:prstGeom>
          <a:noFill/>
        </p:spPr>
        <p:txBody>
          <a:bodyPr wrap="square" lIns="0" tIns="0" rIns="0" bIns="0" anchor="ctr">
            <a:spAutoFit/>
          </a:bodyPr>
          <a:lstStyle/>
          <a:p>
            <a:pPr algn="l">
              <a:lnSpc>
                <a:spcPct val="100000"/>
              </a:lnSpc>
              <a:spcBef>
                <a:spcPts val="0"/>
              </a:spcBef>
              <a:spcAft>
                <a:spcPts val="400"/>
              </a:spcAft>
            </a:pPr>
            <a:r>
              <a:rPr sz="950" b="0" i="0">
                <a:solidFill>
                  <a:srgbClr val="FFFFFF"/>
                </a:solidFill>
                <a:latin typeface="Segoe UI"/>
                <a:cs typeface="Segoe UI"/>
              </a:rPr>
              <a:t>Chuyên đề 2 · Dinh dưỡng – nền tảng cho miễn dịch &amp; sự phát triển của trẻ  ·  TS. Lê Thị Thùy Dung</a:t>
            </a:r>
          </a:p>
        </p:txBody>
      </p:sp>
      <p:sp>
        <p:nvSpPr>
          <p:cNvPr id="8" name="TextBox 7"/>
          <p:cNvSpPr txBox="1"/>
          <p:nvPr/>
        </p:nvSpPr>
        <p:spPr>
          <a:xfrm>
            <a:off x="11185855" y="6492240"/>
            <a:ext cx="548640" cy="347472"/>
          </a:xfrm>
          <a:prstGeom prst="rect">
            <a:avLst/>
          </a:prstGeom>
          <a:noFill/>
        </p:spPr>
        <p:txBody>
          <a:bodyPr wrap="square" lIns="0" tIns="0" rIns="0" bIns="0" anchor="ctr">
            <a:spAutoFit/>
          </a:bodyPr>
          <a:lstStyle/>
          <a:p>
            <a:pPr algn="r">
              <a:lnSpc>
                <a:spcPct val="100000"/>
              </a:lnSpc>
              <a:spcBef>
                <a:spcPts val="0"/>
              </a:spcBef>
              <a:spcAft>
                <a:spcPts val="400"/>
              </a:spcAft>
            </a:pPr>
            <a:r>
              <a:rPr sz="1000" b="1" i="0">
                <a:solidFill>
                  <a:srgbClr val="FFFFFF"/>
                </a:solidFill>
                <a:latin typeface="Segoe UI"/>
                <a:cs typeface="Segoe UI"/>
              </a:rPr>
              <a:t>33</a:t>
            </a:r>
          </a:p>
        </p:txBody>
      </p:sp>
      <p:sp>
        <p:nvSpPr>
          <p:cNvPr id="9" name="TextBox 8"/>
          <p:cNvSpPr txBox="1"/>
          <p:nvPr/>
        </p:nvSpPr>
        <p:spPr>
          <a:xfrm>
            <a:off x="548640" y="841248"/>
            <a:ext cx="10881360" cy="566928"/>
          </a:xfrm>
          <a:prstGeom prst="rect">
            <a:avLst/>
          </a:prstGeom>
          <a:noFill/>
        </p:spPr>
        <p:txBody>
          <a:bodyPr wrap="square" lIns="0" tIns="0" rIns="0" bIns="0" anchor="t">
            <a:spAutoFit/>
          </a:bodyPr>
          <a:lstStyle/>
          <a:p>
            <a:pPr algn="l">
              <a:lnSpc>
                <a:spcPct val="100000"/>
              </a:lnSpc>
              <a:spcBef>
                <a:spcPts val="0"/>
              </a:spcBef>
              <a:spcAft>
                <a:spcPts val="400"/>
              </a:spcAft>
            </a:pPr>
            <a:r>
              <a:rPr sz="2700" b="1" i="0">
                <a:solidFill>
                  <a:srgbClr val="19A99D"/>
                </a:solidFill>
                <a:latin typeface="Segoe UI Semibold"/>
                <a:cs typeface="Segoe UI Semibold"/>
              </a:rPr>
              <a:t>Gói giải pháp cải thiện chiều cao</a:t>
            </a:r>
          </a:p>
        </p:txBody>
      </p:sp>
      <p:sp>
        <p:nvSpPr>
          <p:cNvPr id="10" name="TextBox 9"/>
          <p:cNvSpPr txBox="1"/>
          <p:nvPr/>
        </p:nvSpPr>
        <p:spPr>
          <a:xfrm>
            <a:off x="548640" y="1408176"/>
            <a:ext cx="10881360" cy="365760"/>
          </a:xfrm>
          <a:prstGeom prst="rect">
            <a:avLst/>
          </a:prstGeom>
          <a:noFill/>
        </p:spPr>
        <p:txBody>
          <a:bodyPr wrap="square" lIns="0" tIns="0" rIns="0" bIns="0" anchor="t">
            <a:spAutoFit/>
          </a:bodyPr>
          <a:lstStyle/>
          <a:p>
            <a:pPr algn="l">
              <a:lnSpc>
                <a:spcPct val="100000"/>
              </a:lnSpc>
              <a:spcBef>
                <a:spcPts val="0"/>
              </a:spcBef>
              <a:spcAft>
                <a:spcPts val="400"/>
              </a:spcAft>
            </a:pPr>
            <a:r>
              <a:rPr sz="1500" b="0" i="1">
                <a:solidFill>
                  <a:srgbClr val="64748B"/>
                </a:solidFill>
                <a:latin typeface="Segoe UI"/>
                <a:cs typeface="Segoe UI"/>
              </a:rPr>
              <a:t>Chiều cao là kết quả của nhiều thói quen cộng lại</a:t>
            </a:r>
          </a:p>
        </p:txBody>
      </p:sp>
      <p:sp>
        <p:nvSpPr>
          <p:cNvPr id="11" name="Rounded Rectangle 10"/>
          <p:cNvSpPr/>
          <p:nvPr/>
        </p:nvSpPr>
        <p:spPr>
          <a:xfrm>
            <a:off x="640080" y="1965960"/>
            <a:ext cx="3520440" cy="1554480"/>
          </a:xfrm>
          <a:prstGeom prst="roundRect">
            <a:avLst>
              <a:gd name="adj" fmla="val 6000"/>
            </a:avLst>
          </a:prstGeom>
          <a:solidFill>
            <a:srgbClr val="FFFFFF"/>
          </a:solidFill>
          <a:ln w="17780">
            <a:solidFill>
              <a:srgbClr val="E26D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868680" y="2423160"/>
            <a:ext cx="640080" cy="640080"/>
          </a:xfrm>
          <a:prstGeom prst="ellipse">
            <a:avLst/>
          </a:prstGeom>
          <a:solidFill>
            <a:srgbClr val="E26D5A"/>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1900" b="1" i="0">
                <a:solidFill>
                  <a:srgbClr val="FFFFFF"/>
                </a:solidFill>
                <a:latin typeface="Segoe UI"/>
                <a:cs typeface="Segoe UI"/>
              </a:rPr>
              <a:t>1</a:t>
            </a:r>
          </a:p>
        </p:txBody>
      </p:sp>
      <p:sp>
        <p:nvSpPr>
          <p:cNvPr id="13" name="TextBox 12"/>
          <p:cNvSpPr txBox="1"/>
          <p:nvPr/>
        </p:nvSpPr>
        <p:spPr>
          <a:xfrm>
            <a:off x="1645920" y="2194560"/>
            <a:ext cx="2423160" cy="50292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E26D5A"/>
                </a:solidFill>
                <a:latin typeface="Segoe UI Semibold"/>
                <a:cs typeface="Segoe UI Semibold"/>
              </a:rPr>
              <a:t>Đạm chất lượng</a:t>
            </a:r>
          </a:p>
        </p:txBody>
      </p:sp>
      <p:sp>
        <p:nvSpPr>
          <p:cNvPr id="14" name="TextBox 13"/>
          <p:cNvSpPr txBox="1"/>
          <p:nvPr/>
        </p:nvSpPr>
        <p:spPr>
          <a:xfrm>
            <a:off x="1645920" y="2715768"/>
            <a:ext cx="2468880" cy="731520"/>
          </a:xfrm>
          <a:prstGeom prst="rect">
            <a:avLst/>
          </a:prstGeom>
          <a:noFill/>
        </p:spPr>
        <p:txBody>
          <a:bodyPr wrap="square" lIns="0" tIns="0" rIns="0" bIns="0" anchor="t">
            <a:spAutoFit/>
          </a:bodyPr>
          <a:lstStyle/>
          <a:p>
            <a:pPr algn="l">
              <a:lnSpc>
                <a:spcPct val="104000"/>
              </a:lnSpc>
              <a:spcBef>
                <a:spcPts val="0"/>
              </a:spcBef>
              <a:spcAft>
                <a:spcPts val="400"/>
              </a:spcAft>
            </a:pPr>
            <a:r>
              <a:rPr sz="1150" b="0" i="0">
                <a:solidFill>
                  <a:srgbClr val="1E293B"/>
                </a:solidFill>
                <a:latin typeface="Segoe UI"/>
                <a:cs typeface="Segoe UI"/>
              </a:rPr>
              <a:t>Thịt, cá, trứng, sữa, hải sản mỗi ngày</a:t>
            </a:r>
          </a:p>
        </p:txBody>
      </p:sp>
      <p:sp>
        <p:nvSpPr>
          <p:cNvPr id="15" name="Rounded Rectangle 14"/>
          <p:cNvSpPr/>
          <p:nvPr/>
        </p:nvSpPr>
        <p:spPr>
          <a:xfrm>
            <a:off x="4407408" y="1965960"/>
            <a:ext cx="3520440" cy="1554480"/>
          </a:xfrm>
          <a:prstGeom prst="roundRect">
            <a:avLst>
              <a:gd name="adj" fmla="val 6000"/>
            </a:avLst>
          </a:prstGeom>
          <a:solidFill>
            <a:srgbClr val="FFFFFF"/>
          </a:solidFill>
          <a:ln w="17780">
            <a:solidFill>
              <a:srgbClr val="3A6B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4636008" y="2423160"/>
            <a:ext cx="640080" cy="640080"/>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1900" b="1" i="0">
                <a:solidFill>
                  <a:srgbClr val="FFFFFF"/>
                </a:solidFill>
                <a:latin typeface="Segoe UI"/>
                <a:cs typeface="Segoe UI"/>
              </a:rPr>
              <a:t>2</a:t>
            </a:r>
          </a:p>
        </p:txBody>
      </p:sp>
      <p:sp>
        <p:nvSpPr>
          <p:cNvPr id="17" name="TextBox 16"/>
          <p:cNvSpPr txBox="1"/>
          <p:nvPr/>
        </p:nvSpPr>
        <p:spPr>
          <a:xfrm>
            <a:off x="5413248" y="2194560"/>
            <a:ext cx="2423160" cy="50292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3A6B35"/>
                </a:solidFill>
                <a:latin typeface="Segoe UI Semibold"/>
                <a:cs typeface="Segoe UI Semibold"/>
              </a:rPr>
              <a:t>Canxi &amp; Vitamin D</a:t>
            </a:r>
          </a:p>
        </p:txBody>
      </p:sp>
      <p:sp>
        <p:nvSpPr>
          <p:cNvPr id="18" name="TextBox 17"/>
          <p:cNvSpPr txBox="1"/>
          <p:nvPr/>
        </p:nvSpPr>
        <p:spPr>
          <a:xfrm>
            <a:off x="5413248" y="2715768"/>
            <a:ext cx="2468880" cy="731520"/>
          </a:xfrm>
          <a:prstGeom prst="rect">
            <a:avLst/>
          </a:prstGeom>
          <a:noFill/>
        </p:spPr>
        <p:txBody>
          <a:bodyPr wrap="square" lIns="0" tIns="0" rIns="0" bIns="0" anchor="t">
            <a:spAutoFit/>
          </a:bodyPr>
          <a:lstStyle/>
          <a:p>
            <a:pPr algn="l">
              <a:lnSpc>
                <a:spcPct val="104000"/>
              </a:lnSpc>
              <a:spcBef>
                <a:spcPts val="0"/>
              </a:spcBef>
              <a:spcAft>
                <a:spcPts val="400"/>
              </a:spcAft>
            </a:pPr>
            <a:r>
              <a:rPr sz="1150" b="0" i="0">
                <a:solidFill>
                  <a:srgbClr val="1E293B"/>
                </a:solidFill>
                <a:latin typeface="Segoe UI"/>
                <a:cs typeface="Segoe UI"/>
              </a:rPr>
              <a:t>Sữa, cá nhỏ + tắm nắng sáng</a:t>
            </a:r>
          </a:p>
        </p:txBody>
      </p:sp>
      <p:sp>
        <p:nvSpPr>
          <p:cNvPr id="19" name="Rounded Rectangle 18"/>
          <p:cNvSpPr/>
          <p:nvPr/>
        </p:nvSpPr>
        <p:spPr>
          <a:xfrm>
            <a:off x="8174736" y="1965960"/>
            <a:ext cx="3520440" cy="1554480"/>
          </a:xfrm>
          <a:prstGeom prst="roundRect">
            <a:avLst>
              <a:gd name="adj" fmla="val 6000"/>
            </a:avLst>
          </a:prstGeom>
          <a:solidFill>
            <a:srgbClr val="FFFFFF"/>
          </a:solidFill>
          <a:ln w="17780">
            <a:solidFill>
              <a:srgbClr val="19A99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403336" y="2423160"/>
            <a:ext cx="640080" cy="640080"/>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1900" b="1" i="0">
                <a:solidFill>
                  <a:srgbClr val="FFFFFF"/>
                </a:solidFill>
                <a:latin typeface="Segoe UI"/>
                <a:cs typeface="Segoe UI"/>
              </a:rPr>
              <a:t>3</a:t>
            </a:r>
          </a:p>
        </p:txBody>
      </p:sp>
      <p:sp>
        <p:nvSpPr>
          <p:cNvPr id="21" name="TextBox 20"/>
          <p:cNvSpPr txBox="1"/>
          <p:nvPr/>
        </p:nvSpPr>
        <p:spPr>
          <a:xfrm>
            <a:off x="9180576" y="2194560"/>
            <a:ext cx="2423160" cy="50292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9A99D"/>
                </a:solidFill>
                <a:latin typeface="Segoe UI Semibold"/>
                <a:cs typeface="Segoe UI Semibold"/>
              </a:rPr>
              <a:t>Kẽm &amp; Sắt</a:t>
            </a:r>
          </a:p>
        </p:txBody>
      </p:sp>
      <p:sp>
        <p:nvSpPr>
          <p:cNvPr id="22" name="TextBox 21"/>
          <p:cNvSpPr txBox="1"/>
          <p:nvPr/>
        </p:nvSpPr>
        <p:spPr>
          <a:xfrm>
            <a:off x="9180576" y="2715768"/>
            <a:ext cx="2468880" cy="731520"/>
          </a:xfrm>
          <a:prstGeom prst="rect">
            <a:avLst/>
          </a:prstGeom>
          <a:noFill/>
        </p:spPr>
        <p:txBody>
          <a:bodyPr wrap="square" lIns="0" tIns="0" rIns="0" bIns="0" anchor="t">
            <a:spAutoFit/>
          </a:bodyPr>
          <a:lstStyle/>
          <a:p>
            <a:pPr algn="l">
              <a:lnSpc>
                <a:spcPct val="104000"/>
              </a:lnSpc>
              <a:spcBef>
                <a:spcPts val="0"/>
              </a:spcBef>
              <a:spcAft>
                <a:spcPts val="400"/>
              </a:spcAft>
            </a:pPr>
            <a:r>
              <a:rPr sz="1150" b="0" i="0">
                <a:solidFill>
                  <a:srgbClr val="1E293B"/>
                </a:solidFill>
                <a:latin typeface="Segoe UI"/>
                <a:cs typeface="Segoe UI"/>
              </a:rPr>
              <a:t>Giúp ăn ngon, tăng trưởng, tạo máu</a:t>
            </a:r>
          </a:p>
        </p:txBody>
      </p:sp>
      <p:sp>
        <p:nvSpPr>
          <p:cNvPr id="23" name="Rounded Rectangle 22"/>
          <p:cNvSpPr/>
          <p:nvPr/>
        </p:nvSpPr>
        <p:spPr>
          <a:xfrm>
            <a:off x="640080" y="3749039"/>
            <a:ext cx="3520440" cy="1554480"/>
          </a:xfrm>
          <a:prstGeom prst="roundRect">
            <a:avLst>
              <a:gd name="adj" fmla="val 6000"/>
            </a:avLst>
          </a:prstGeom>
          <a:solidFill>
            <a:srgbClr val="FFFFFF"/>
          </a:solidFill>
          <a:ln w="17780">
            <a:solidFill>
              <a:srgbClr val="2866A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868680" y="4206240"/>
            <a:ext cx="640080" cy="640080"/>
          </a:xfrm>
          <a:prstGeom prst="ellipse">
            <a:avLst/>
          </a:prstGeom>
          <a:solidFill>
            <a:srgbClr val="2866A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1900" b="1" i="0">
                <a:solidFill>
                  <a:srgbClr val="FFFFFF"/>
                </a:solidFill>
                <a:latin typeface="Segoe UI"/>
                <a:cs typeface="Segoe UI"/>
              </a:rPr>
              <a:t>4</a:t>
            </a:r>
          </a:p>
        </p:txBody>
      </p:sp>
      <p:sp>
        <p:nvSpPr>
          <p:cNvPr id="25" name="TextBox 24"/>
          <p:cNvSpPr txBox="1"/>
          <p:nvPr/>
        </p:nvSpPr>
        <p:spPr>
          <a:xfrm>
            <a:off x="1645920" y="3977639"/>
            <a:ext cx="2423160" cy="50292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2866AB"/>
                </a:solidFill>
                <a:latin typeface="Segoe UI Semibold"/>
                <a:cs typeface="Segoe UI Semibold"/>
              </a:rPr>
              <a:t>Vận động ngoài trời</a:t>
            </a:r>
          </a:p>
        </p:txBody>
      </p:sp>
      <p:sp>
        <p:nvSpPr>
          <p:cNvPr id="26" name="TextBox 25"/>
          <p:cNvSpPr txBox="1"/>
          <p:nvPr/>
        </p:nvSpPr>
        <p:spPr>
          <a:xfrm>
            <a:off x="1645920" y="4498848"/>
            <a:ext cx="2468880" cy="731520"/>
          </a:xfrm>
          <a:prstGeom prst="rect">
            <a:avLst/>
          </a:prstGeom>
          <a:noFill/>
        </p:spPr>
        <p:txBody>
          <a:bodyPr wrap="square" lIns="0" tIns="0" rIns="0" bIns="0" anchor="t">
            <a:spAutoFit/>
          </a:bodyPr>
          <a:lstStyle/>
          <a:p>
            <a:pPr algn="l">
              <a:lnSpc>
                <a:spcPct val="104000"/>
              </a:lnSpc>
              <a:spcBef>
                <a:spcPts val="0"/>
              </a:spcBef>
              <a:spcAft>
                <a:spcPts val="400"/>
              </a:spcAft>
            </a:pPr>
            <a:r>
              <a:rPr sz="1150" b="0" i="0">
                <a:solidFill>
                  <a:srgbClr val="1E293B"/>
                </a:solidFill>
                <a:latin typeface="Segoe UI"/>
                <a:cs typeface="Segoe UI"/>
              </a:rPr>
              <a:t>≥ 60 phút/ngày: chạy, nhảy, bơi, bóng rổ</a:t>
            </a:r>
          </a:p>
        </p:txBody>
      </p:sp>
      <p:sp>
        <p:nvSpPr>
          <p:cNvPr id="27" name="Rounded Rectangle 26"/>
          <p:cNvSpPr/>
          <p:nvPr/>
        </p:nvSpPr>
        <p:spPr>
          <a:xfrm>
            <a:off x="4407408" y="3749039"/>
            <a:ext cx="3520440" cy="1554480"/>
          </a:xfrm>
          <a:prstGeom prst="roundRect">
            <a:avLst>
              <a:gd name="adj" fmla="val 6000"/>
            </a:avLst>
          </a:prstGeom>
          <a:solidFill>
            <a:srgbClr val="FFFFFF"/>
          </a:solidFill>
          <a:ln w="1778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4636008" y="4206240"/>
            <a:ext cx="640080" cy="64008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1900" b="1" i="0">
                <a:solidFill>
                  <a:srgbClr val="FFFFFF"/>
                </a:solidFill>
                <a:latin typeface="Segoe UI"/>
                <a:cs typeface="Segoe UI"/>
              </a:rPr>
              <a:t>5</a:t>
            </a:r>
          </a:p>
        </p:txBody>
      </p:sp>
      <p:sp>
        <p:nvSpPr>
          <p:cNvPr id="29" name="TextBox 28"/>
          <p:cNvSpPr txBox="1"/>
          <p:nvPr/>
        </p:nvSpPr>
        <p:spPr>
          <a:xfrm>
            <a:off x="5413248" y="3977639"/>
            <a:ext cx="2423160" cy="50292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F59E0B"/>
                </a:solidFill>
                <a:latin typeface="Segoe UI Semibold"/>
                <a:cs typeface="Segoe UI Semibold"/>
              </a:rPr>
              <a:t>Ngủ đủ &amp; đúng giờ</a:t>
            </a:r>
          </a:p>
        </p:txBody>
      </p:sp>
      <p:sp>
        <p:nvSpPr>
          <p:cNvPr id="30" name="TextBox 29"/>
          <p:cNvSpPr txBox="1"/>
          <p:nvPr/>
        </p:nvSpPr>
        <p:spPr>
          <a:xfrm>
            <a:off x="5413248" y="4498848"/>
            <a:ext cx="2468880" cy="731520"/>
          </a:xfrm>
          <a:prstGeom prst="rect">
            <a:avLst/>
          </a:prstGeom>
          <a:noFill/>
        </p:spPr>
        <p:txBody>
          <a:bodyPr wrap="square" lIns="0" tIns="0" rIns="0" bIns="0" anchor="t">
            <a:spAutoFit/>
          </a:bodyPr>
          <a:lstStyle/>
          <a:p>
            <a:pPr algn="l">
              <a:lnSpc>
                <a:spcPct val="104000"/>
              </a:lnSpc>
              <a:spcBef>
                <a:spcPts val="0"/>
              </a:spcBef>
              <a:spcAft>
                <a:spcPts val="400"/>
              </a:spcAft>
            </a:pPr>
            <a:r>
              <a:rPr sz="1150" b="0" i="0">
                <a:solidFill>
                  <a:srgbClr val="1E293B"/>
                </a:solidFill>
                <a:latin typeface="Segoe UI"/>
                <a:cs typeface="Segoe UI"/>
              </a:rPr>
              <a:t>Ngủ trước 22h – hormone tăng trưởng tiết mạnh</a:t>
            </a:r>
          </a:p>
        </p:txBody>
      </p:sp>
      <p:sp>
        <p:nvSpPr>
          <p:cNvPr id="31" name="Rounded Rectangle 30"/>
          <p:cNvSpPr/>
          <p:nvPr/>
        </p:nvSpPr>
        <p:spPr>
          <a:xfrm>
            <a:off x="8174736" y="3749039"/>
            <a:ext cx="3520440" cy="1554480"/>
          </a:xfrm>
          <a:prstGeom prst="roundRect">
            <a:avLst>
              <a:gd name="adj" fmla="val 6000"/>
            </a:avLst>
          </a:prstGeom>
          <a:solidFill>
            <a:srgbClr val="FFFFFF"/>
          </a:solidFill>
          <a:ln w="17780">
            <a:solidFill>
              <a:srgbClr val="7C5C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8403336" y="4206240"/>
            <a:ext cx="640080" cy="640080"/>
          </a:xfrm>
          <a:prstGeom prst="ellipse">
            <a:avLst/>
          </a:prstGeom>
          <a:solidFill>
            <a:srgbClr val="7C5CB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1900" b="1" i="0">
                <a:solidFill>
                  <a:srgbClr val="FFFFFF"/>
                </a:solidFill>
                <a:latin typeface="Segoe UI"/>
                <a:cs typeface="Segoe UI"/>
              </a:rPr>
              <a:t>6</a:t>
            </a:r>
          </a:p>
        </p:txBody>
      </p:sp>
      <p:sp>
        <p:nvSpPr>
          <p:cNvPr id="33" name="TextBox 32"/>
          <p:cNvSpPr txBox="1"/>
          <p:nvPr/>
        </p:nvSpPr>
        <p:spPr>
          <a:xfrm>
            <a:off x="9180576" y="3977639"/>
            <a:ext cx="2423160" cy="50292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7C5CBF"/>
                </a:solidFill>
                <a:latin typeface="Segoe UI Semibold"/>
                <a:cs typeface="Segoe UI Semibold"/>
              </a:rPr>
              <a:t>Phòng bệnh nhiễm trùng</a:t>
            </a:r>
          </a:p>
        </p:txBody>
      </p:sp>
      <p:sp>
        <p:nvSpPr>
          <p:cNvPr id="34" name="TextBox 33"/>
          <p:cNvSpPr txBox="1"/>
          <p:nvPr/>
        </p:nvSpPr>
        <p:spPr>
          <a:xfrm>
            <a:off x="9180576" y="4498848"/>
            <a:ext cx="2468880" cy="731520"/>
          </a:xfrm>
          <a:prstGeom prst="rect">
            <a:avLst/>
          </a:prstGeom>
          <a:noFill/>
        </p:spPr>
        <p:txBody>
          <a:bodyPr wrap="square" lIns="0" tIns="0" rIns="0" bIns="0" anchor="t">
            <a:spAutoFit/>
          </a:bodyPr>
          <a:lstStyle/>
          <a:p>
            <a:pPr algn="l">
              <a:lnSpc>
                <a:spcPct val="104000"/>
              </a:lnSpc>
              <a:spcBef>
                <a:spcPts val="0"/>
              </a:spcBef>
              <a:spcAft>
                <a:spcPts val="400"/>
              </a:spcAft>
            </a:pPr>
            <a:r>
              <a:rPr sz="1150" b="0" i="0">
                <a:solidFill>
                  <a:srgbClr val="1E293B"/>
                </a:solidFill>
                <a:latin typeface="Segoe UI"/>
                <a:cs typeface="Segoe UI"/>
              </a:rPr>
              <a:t>Vệ sinh, tiêm chủng đầy đủ, đúng lịch</a:t>
            </a:r>
          </a:p>
        </p:txBody>
      </p:sp>
      <p:sp>
        <p:nvSpPr>
          <p:cNvPr id="35" name="TextBox 34"/>
          <p:cNvSpPr txBox="1"/>
          <p:nvPr/>
        </p:nvSpPr>
        <p:spPr>
          <a:xfrm>
            <a:off x="548640" y="6144768"/>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50" b="1" i="1">
                <a:solidFill>
                  <a:srgbClr val="19A99D"/>
                </a:solidFill>
                <a:latin typeface="Segoe UI"/>
                <a:cs typeface="Segoe UI"/>
              </a:rPr>
              <a:t>Nguồn: </a:t>
            </a:r>
            <a:r>
              <a:rPr sz="950" b="0" i="1">
                <a:solidFill>
                  <a:srgbClr val="64748B"/>
                </a:solidFill>
                <a:latin typeface="Segoe UI"/>
                <a:cs typeface="Segoe UI"/>
              </a:rPr>
              <a:t>Tổng hợp: Cẩm nang dinh dưỡng trẻ tiểu học &amp; Nuôi dưỡng trẻ nhỏ, Bộ Y tế – Viện Dinh dưỡng</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384048" y="274320"/>
            <a:ext cx="384048" cy="384048"/>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4068" y="329184"/>
            <a:ext cx="104241"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66344" y="406908"/>
            <a:ext cx="274320" cy="10424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274320"/>
            <a:ext cx="2926080" cy="402336"/>
          </a:xfrm>
          <a:prstGeom prst="rect">
            <a:avLst/>
          </a:prstGeom>
          <a:noFill/>
        </p:spPr>
        <p:txBody>
          <a:bodyPr wrap="square" lIns="0" tIns="0" rIns="0" bIns="0" anchor="ctr">
            <a:spAutoFit/>
          </a:bodyPr>
          <a:lstStyle/>
          <a:p>
            <a:pPr algn="l">
              <a:lnSpc>
                <a:spcPct val="100000"/>
              </a:lnSpc>
              <a:spcBef>
                <a:spcPts val="0"/>
              </a:spcBef>
              <a:spcAft>
                <a:spcPts val="400"/>
              </a:spcAft>
            </a:pPr>
            <a:r>
              <a:rPr sz="1300" b="1" i="0">
                <a:solidFill>
                  <a:srgbClr val="1E293B"/>
                </a:solidFill>
                <a:latin typeface="Segoe UI"/>
                <a:cs typeface="Segoe UI"/>
              </a:rPr>
              <a:t>DINH DƯỠNG </a:t>
            </a:r>
            <a:r>
              <a:rPr sz="1300" b="1" i="0">
                <a:solidFill>
                  <a:srgbClr val="19A99D"/>
                </a:solidFill>
                <a:latin typeface="Segoe UI"/>
                <a:cs typeface="Segoe UI"/>
              </a:rPr>
              <a:t>NHI KHOA</a:t>
            </a:r>
          </a:p>
        </p:txBody>
      </p:sp>
      <p:sp>
        <p:nvSpPr>
          <p:cNvPr id="6" name="Rectangle 5"/>
          <p:cNvSpPr/>
          <p:nvPr/>
        </p:nvSpPr>
        <p:spPr>
          <a:xfrm>
            <a:off x="0" y="6473952"/>
            <a:ext cx="12191695" cy="384048"/>
          </a:xfrm>
          <a:prstGeom prst="rect">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492240"/>
            <a:ext cx="9601200" cy="347472"/>
          </a:xfrm>
          <a:prstGeom prst="rect">
            <a:avLst/>
          </a:prstGeom>
          <a:noFill/>
        </p:spPr>
        <p:txBody>
          <a:bodyPr wrap="square" lIns="0" tIns="0" rIns="0" bIns="0" anchor="ctr">
            <a:spAutoFit/>
          </a:bodyPr>
          <a:lstStyle/>
          <a:p>
            <a:pPr algn="l">
              <a:lnSpc>
                <a:spcPct val="100000"/>
              </a:lnSpc>
              <a:spcBef>
                <a:spcPts val="0"/>
              </a:spcBef>
              <a:spcAft>
                <a:spcPts val="400"/>
              </a:spcAft>
            </a:pPr>
            <a:r>
              <a:rPr sz="950" b="0" i="0">
                <a:solidFill>
                  <a:srgbClr val="FFFFFF"/>
                </a:solidFill>
                <a:latin typeface="Segoe UI"/>
                <a:cs typeface="Segoe UI"/>
              </a:rPr>
              <a:t>Chuyên đề 2 · Dinh dưỡng – nền tảng cho miễn dịch &amp; sự phát triển của trẻ  ·  TS. Lê Thị Thùy Dung</a:t>
            </a:r>
          </a:p>
        </p:txBody>
      </p:sp>
      <p:sp>
        <p:nvSpPr>
          <p:cNvPr id="8" name="TextBox 7"/>
          <p:cNvSpPr txBox="1"/>
          <p:nvPr/>
        </p:nvSpPr>
        <p:spPr>
          <a:xfrm>
            <a:off x="11185855" y="6492240"/>
            <a:ext cx="548640" cy="347472"/>
          </a:xfrm>
          <a:prstGeom prst="rect">
            <a:avLst/>
          </a:prstGeom>
          <a:noFill/>
        </p:spPr>
        <p:txBody>
          <a:bodyPr wrap="square" lIns="0" tIns="0" rIns="0" bIns="0" anchor="ctr">
            <a:spAutoFit/>
          </a:bodyPr>
          <a:lstStyle/>
          <a:p>
            <a:pPr algn="r">
              <a:lnSpc>
                <a:spcPct val="100000"/>
              </a:lnSpc>
              <a:spcBef>
                <a:spcPts val="0"/>
              </a:spcBef>
              <a:spcAft>
                <a:spcPts val="400"/>
              </a:spcAft>
            </a:pPr>
            <a:r>
              <a:rPr sz="1000" b="1" i="0">
                <a:solidFill>
                  <a:srgbClr val="FFFFFF"/>
                </a:solidFill>
                <a:latin typeface="Segoe UI"/>
                <a:cs typeface="Segoe UI"/>
              </a:rPr>
              <a:t>34</a:t>
            </a:r>
          </a:p>
        </p:txBody>
      </p:sp>
      <p:sp>
        <p:nvSpPr>
          <p:cNvPr id="9" name="TextBox 8"/>
          <p:cNvSpPr txBox="1"/>
          <p:nvPr/>
        </p:nvSpPr>
        <p:spPr>
          <a:xfrm>
            <a:off x="548640" y="841248"/>
            <a:ext cx="10881360" cy="566928"/>
          </a:xfrm>
          <a:prstGeom prst="rect">
            <a:avLst/>
          </a:prstGeom>
          <a:noFill/>
        </p:spPr>
        <p:txBody>
          <a:bodyPr wrap="square" lIns="0" tIns="0" rIns="0" bIns="0" anchor="t">
            <a:spAutoFit/>
          </a:bodyPr>
          <a:lstStyle/>
          <a:p>
            <a:pPr algn="l">
              <a:lnSpc>
                <a:spcPct val="100000"/>
              </a:lnSpc>
              <a:spcBef>
                <a:spcPts val="0"/>
              </a:spcBef>
              <a:spcAft>
                <a:spcPts val="400"/>
              </a:spcAft>
            </a:pPr>
            <a:r>
              <a:rPr sz="2700" b="1" i="0">
                <a:solidFill>
                  <a:srgbClr val="19A99D"/>
                </a:solidFill>
                <a:latin typeface="Segoe UI Semibold"/>
                <a:cs typeface="Segoe UI Semibold"/>
              </a:rPr>
              <a:t>Vệ sinh &amp; an toàn thực phẩm</a:t>
            </a:r>
          </a:p>
        </p:txBody>
      </p:sp>
      <p:sp>
        <p:nvSpPr>
          <p:cNvPr id="10" name="TextBox 9"/>
          <p:cNvSpPr txBox="1"/>
          <p:nvPr/>
        </p:nvSpPr>
        <p:spPr>
          <a:xfrm>
            <a:off x="548640" y="1408176"/>
            <a:ext cx="10881360" cy="365760"/>
          </a:xfrm>
          <a:prstGeom prst="rect">
            <a:avLst/>
          </a:prstGeom>
          <a:noFill/>
        </p:spPr>
        <p:txBody>
          <a:bodyPr wrap="square" lIns="0" tIns="0" rIns="0" bIns="0" anchor="t">
            <a:spAutoFit/>
          </a:bodyPr>
          <a:lstStyle/>
          <a:p>
            <a:pPr algn="l">
              <a:lnSpc>
                <a:spcPct val="100000"/>
              </a:lnSpc>
              <a:spcBef>
                <a:spcPts val="0"/>
              </a:spcBef>
              <a:spcAft>
                <a:spcPts val="400"/>
              </a:spcAft>
            </a:pPr>
            <a:r>
              <a:rPr sz="1500" b="0" i="1">
                <a:solidFill>
                  <a:srgbClr val="64748B"/>
                </a:solidFill>
                <a:latin typeface="Segoe UI"/>
                <a:cs typeface="Segoe UI"/>
              </a:rPr>
              <a:t>Phòng tiêu chảy, nhiễm khuẩn – “bạn đồng hành” của suy dinh dưỡng</a:t>
            </a:r>
          </a:p>
        </p:txBody>
      </p:sp>
      <p:pic>
        <p:nvPicPr>
          <p:cNvPr id="11" name="Picture 10" descr="cooking.png"/>
          <p:cNvPicPr>
            <a:picLocks noChangeAspect="1"/>
          </p:cNvPicPr>
          <p:nvPr/>
        </p:nvPicPr>
        <p:blipFill>
          <a:blip r:embed="rId2"/>
          <a:stretch>
            <a:fillRect/>
          </a:stretch>
        </p:blipFill>
        <p:spPr>
          <a:xfrm>
            <a:off x="6858000" y="2414123"/>
            <a:ext cx="4846320" cy="2578393"/>
          </a:xfrm>
          <a:prstGeom prst="rect">
            <a:avLst/>
          </a:prstGeom>
        </p:spPr>
      </p:pic>
      <p:sp>
        <p:nvSpPr>
          <p:cNvPr id="12" name="TextBox 11"/>
          <p:cNvSpPr txBox="1"/>
          <p:nvPr/>
        </p:nvSpPr>
        <p:spPr>
          <a:xfrm>
            <a:off x="640080" y="1920240"/>
            <a:ext cx="5943600" cy="3931920"/>
          </a:xfrm>
          <a:prstGeom prst="rect">
            <a:avLst/>
          </a:prstGeom>
          <a:noFill/>
        </p:spPr>
        <p:txBody>
          <a:bodyPr wrap="square" lIns="0" tIns="0" rIns="0" bIns="0" anchor="t">
            <a:spAutoFit/>
          </a:bodyPr>
          <a:lstStyle/>
          <a:p>
            <a:pPr algn="l">
              <a:lnSpc>
                <a:spcPct val="108000"/>
              </a:lnSpc>
              <a:spcBef>
                <a:spcPts val="0"/>
              </a:spcBef>
              <a:spcAft>
                <a:spcPts val="900"/>
              </a:spcAft>
            </a:pPr>
            <a:r>
              <a:rPr sz="1500" b="1" i="0">
                <a:solidFill>
                  <a:srgbClr val="19A99D"/>
                </a:solidFill>
                <a:latin typeface="Segoe UI"/>
                <a:cs typeface="Segoe UI"/>
              </a:rPr>
              <a:t>Bàn tay sạch</a:t>
            </a:r>
            <a:r>
              <a:rPr sz="1350" b="0" i="0">
                <a:solidFill>
                  <a:srgbClr val="1E293B"/>
                </a:solidFill>
                <a:latin typeface="Segoe UI"/>
                <a:cs typeface="Segoe UI"/>
              </a:rPr>
              <a:t> – rửa tay bằng xà phòng trước khi chế biến, trước khi cho trẻ ăn, sau khi đi vệ sinh.</a:t>
            </a:r>
          </a:p>
          <a:p>
            <a:pPr algn="l">
              <a:lnSpc>
                <a:spcPct val="108000"/>
              </a:lnSpc>
              <a:spcBef>
                <a:spcPts val="0"/>
              </a:spcBef>
              <a:spcAft>
                <a:spcPts val="900"/>
              </a:spcAft>
            </a:pPr>
            <a:r>
              <a:rPr sz="1500" b="1" i="0">
                <a:solidFill>
                  <a:srgbClr val="3A6B35"/>
                </a:solidFill>
                <a:latin typeface="Segoe UI"/>
                <a:cs typeface="Segoe UI"/>
              </a:rPr>
              <a:t>Thực phẩm sạch</a:t>
            </a:r>
            <a:r>
              <a:rPr sz="1350" b="0" i="0">
                <a:solidFill>
                  <a:srgbClr val="1E293B"/>
                </a:solidFill>
                <a:latin typeface="Segoe UI"/>
                <a:cs typeface="Segoe UI"/>
              </a:rPr>
              <a:t> – tươi, rõ nguồn gốc, rửa kỹ; nấu chín, ăn ngay sau khi nấu.</a:t>
            </a:r>
          </a:p>
          <a:p>
            <a:pPr algn="l">
              <a:lnSpc>
                <a:spcPct val="108000"/>
              </a:lnSpc>
              <a:spcBef>
                <a:spcPts val="0"/>
              </a:spcBef>
              <a:spcAft>
                <a:spcPts val="900"/>
              </a:spcAft>
            </a:pPr>
            <a:r>
              <a:rPr sz="1500" b="1" i="0">
                <a:solidFill>
                  <a:srgbClr val="2866AB"/>
                </a:solidFill>
                <a:latin typeface="Segoe UI"/>
                <a:cs typeface="Segoe UI"/>
              </a:rPr>
              <a:t>Nước sạch &amp; dụng cụ sạch</a:t>
            </a:r>
            <a:r>
              <a:rPr sz="1350" b="0" i="0">
                <a:solidFill>
                  <a:srgbClr val="1E293B"/>
                </a:solidFill>
                <a:latin typeface="Segoe UI"/>
                <a:cs typeface="Segoe UI"/>
              </a:rPr>
              <a:t> – dùng nước đun sôi; đun lại kỹ thức ăn để tủ lạnh.</a:t>
            </a:r>
          </a:p>
          <a:p>
            <a:pPr algn="l">
              <a:lnSpc>
                <a:spcPct val="108000"/>
              </a:lnSpc>
              <a:spcBef>
                <a:spcPts val="0"/>
              </a:spcBef>
              <a:spcAft>
                <a:spcPts val="700"/>
              </a:spcAft>
            </a:pPr>
            <a:r>
              <a:rPr sz="1300" b="0" i="1">
                <a:solidFill>
                  <a:srgbClr val="64748B"/>
                </a:solidFill>
                <a:latin typeface="Segoe UI"/>
                <a:cs typeface="Segoe UI"/>
              </a:rPr>
              <a:t>Chỉ một việc nhỏ – rửa tay bằng xà phòng – đã phòng được tiêu chảy và viêm hô hấp, hai nguyên nhân hàng đầu gây suy dinh dưỡng.</a:t>
            </a:r>
          </a:p>
        </p:txBody>
      </p:sp>
      <p:sp>
        <p:nvSpPr>
          <p:cNvPr id="13" name="TextBox 12"/>
          <p:cNvSpPr txBox="1"/>
          <p:nvPr/>
        </p:nvSpPr>
        <p:spPr>
          <a:xfrm>
            <a:off x="548640" y="6144768"/>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50" b="1" i="1">
                <a:solidFill>
                  <a:srgbClr val="19A99D"/>
                </a:solidFill>
                <a:latin typeface="Segoe UI"/>
                <a:cs typeface="Segoe UI"/>
              </a:rPr>
              <a:t>Nguồn: </a:t>
            </a:r>
            <a:r>
              <a:rPr sz="950" b="0" i="1">
                <a:solidFill>
                  <a:srgbClr val="64748B"/>
                </a:solidFill>
                <a:latin typeface="Segoe UI"/>
                <a:cs typeface="Segoe UI"/>
              </a:rPr>
              <a:t>Nuôi dưỡng trẻ nhỏ 0–24 tháng, Bộ Y tế 2015 (Tranh 22–24, vệ sinh chế biến)</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384048" y="274320"/>
            <a:ext cx="384048" cy="384048"/>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4068" y="329184"/>
            <a:ext cx="104241"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66344" y="406908"/>
            <a:ext cx="274320" cy="10424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274320"/>
            <a:ext cx="2926080" cy="402336"/>
          </a:xfrm>
          <a:prstGeom prst="rect">
            <a:avLst/>
          </a:prstGeom>
          <a:noFill/>
        </p:spPr>
        <p:txBody>
          <a:bodyPr wrap="square" lIns="0" tIns="0" rIns="0" bIns="0" anchor="ctr">
            <a:spAutoFit/>
          </a:bodyPr>
          <a:lstStyle/>
          <a:p>
            <a:pPr algn="l">
              <a:lnSpc>
                <a:spcPct val="100000"/>
              </a:lnSpc>
              <a:spcBef>
                <a:spcPts val="0"/>
              </a:spcBef>
              <a:spcAft>
                <a:spcPts val="400"/>
              </a:spcAft>
            </a:pPr>
            <a:r>
              <a:rPr sz="1300" b="1" i="0">
                <a:solidFill>
                  <a:srgbClr val="1E293B"/>
                </a:solidFill>
                <a:latin typeface="Segoe UI"/>
                <a:cs typeface="Segoe UI"/>
              </a:rPr>
              <a:t>DINH DƯỠNG </a:t>
            </a:r>
            <a:r>
              <a:rPr sz="1300" b="1" i="0">
                <a:solidFill>
                  <a:srgbClr val="19A99D"/>
                </a:solidFill>
                <a:latin typeface="Segoe UI"/>
                <a:cs typeface="Segoe UI"/>
              </a:rPr>
              <a:t>NHI KHOA</a:t>
            </a:r>
          </a:p>
        </p:txBody>
      </p:sp>
      <p:sp>
        <p:nvSpPr>
          <p:cNvPr id="6" name="Rectangle 5"/>
          <p:cNvSpPr/>
          <p:nvPr/>
        </p:nvSpPr>
        <p:spPr>
          <a:xfrm>
            <a:off x="0" y="6473952"/>
            <a:ext cx="12191695" cy="384048"/>
          </a:xfrm>
          <a:prstGeom prst="rect">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492240"/>
            <a:ext cx="9601200" cy="347472"/>
          </a:xfrm>
          <a:prstGeom prst="rect">
            <a:avLst/>
          </a:prstGeom>
          <a:noFill/>
        </p:spPr>
        <p:txBody>
          <a:bodyPr wrap="square" lIns="0" tIns="0" rIns="0" bIns="0" anchor="ctr">
            <a:spAutoFit/>
          </a:bodyPr>
          <a:lstStyle/>
          <a:p>
            <a:pPr algn="l">
              <a:lnSpc>
                <a:spcPct val="100000"/>
              </a:lnSpc>
              <a:spcBef>
                <a:spcPts val="0"/>
              </a:spcBef>
              <a:spcAft>
                <a:spcPts val="400"/>
              </a:spcAft>
            </a:pPr>
            <a:r>
              <a:rPr sz="950" b="0" i="0">
                <a:solidFill>
                  <a:srgbClr val="FFFFFF"/>
                </a:solidFill>
                <a:latin typeface="Segoe UI"/>
                <a:cs typeface="Segoe UI"/>
              </a:rPr>
              <a:t>Chuyên đề 2 · Dinh dưỡng – nền tảng cho miễn dịch &amp; sự phát triển của trẻ  ·  TS. Lê Thị Thùy Dung</a:t>
            </a:r>
          </a:p>
        </p:txBody>
      </p:sp>
      <p:sp>
        <p:nvSpPr>
          <p:cNvPr id="8" name="TextBox 7"/>
          <p:cNvSpPr txBox="1"/>
          <p:nvPr/>
        </p:nvSpPr>
        <p:spPr>
          <a:xfrm>
            <a:off x="11185855" y="6492240"/>
            <a:ext cx="548640" cy="347472"/>
          </a:xfrm>
          <a:prstGeom prst="rect">
            <a:avLst/>
          </a:prstGeom>
          <a:noFill/>
        </p:spPr>
        <p:txBody>
          <a:bodyPr wrap="square" lIns="0" tIns="0" rIns="0" bIns="0" anchor="ctr">
            <a:spAutoFit/>
          </a:bodyPr>
          <a:lstStyle/>
          <a:p>
            <a:pPr algn="r">
              <a:lnSpc>
                <a:spcPct val="100000"/>
              </a:lnSpc>
              <a:spcBef>
                <a:spcPts val="0"/>
              </a:spcBef>
              <a:spcAft>
                <a:spcPts val="400"/>
              </a:spcAft>
            </a:pPr>
            <a:r>
              <a:rPr sz="1000" b="1" i="0">
                <a:solidFill>
                  <a:srgbClr val="FFFFFF"/>
                </a:solidFill>
                <a:latin typeface="Segoe UI"/>
                <a:cs typeface="Segoe UI"/>
              </a:rPr>
              <a:t>35</a:t>
            </a:r>
          </a:p>
        </p:txBody>
      </p:sp>
      <p:sp>
        <p:nvSpPr>
          <p:cNvPr id="9" name="TextBox 8"/>
          <p:cNvSpPr txBox="1"/>
          <p:nvPr/>
        </p:nvSpPr>
        <p:spPr>
          <a:xfrm>
            <a:off x="548640" y="841248"/>
            <a:ext cx="10881360" cy="566928"/>
          </a:xfrm>
          <a:prstGeom prst="rect">
            <a:avLst/>
          </a:prstGeom>
          <a:noFill/>
        </p:spPr>
        <p:txBody>
          <a:bodyPr wrap="square" lIns="0" tIns="0" rIns="0" bIns="0" anchor="t">
            <a:spAutoFit/>
          </a:bodyPr>
          <a:lstStyle/>
          <a:p>
            <a:pPr algn="l">
              <a:lnSpc>
                <a:spcPct val="100000"/>
              </a:lnSpc>
              <a:spcBef>
                <a:spcPts val="0"/>
              </a:spcBef>
              <a:spcAft>
                <a:spcPts val="400"/>
              </a:spcAft>
            </a:pPr>
            <a:r>
              <a:rPr sz="2700" b="1" i="0">
                <a:solidFill>
                  <a:srgbClr val="19A99D"/>
                </a:solidFill>
                <a:latin typeface="Segoe UI Semibold"/>
                <a:cs typeface="Segoe UI Semibold"/>
              </a:rPr>
              <a:t>“Tô màu” bát bột – đủ 4 nhóm mỗi bữa</a:t>
            </a:r>
          </a:p>
        </p:txBody>
      </p:sp>
      <p:sp>
        <p:nvSpPr>
          <p:cNvPr id="10" name="TextBox 9"/>
          <p:cNvSpPr txBox="1"/>
          <p:nvPr/>
        </p:nvSpPr>
        <p:spPr>
          <a:xfrm>
            <a:off x="548640" y="1408176"/>
            <a:ext cx="10881360" cy="365760"/>
          </a:xfrm>
          <a:prstGeom prst="rect">
            <a:avLst/>
          </a:prstGeom>
          <a:noFill/>
        </p:spPr>
        <p:txBody>
          <a:bodyPr wrap="square" lIns="0" tIns="0" rIns="0" bIns="0" anchor="t">
            <a:spAutoFit/>
          </a:bodyPr>
          <a:lstStyle/>
          <a:p>
            <a:pPr algn="l">
              <a:lnSpc>
                <a:spcPct val="100000"/>
              </a:lnSpc>
              <a:spcBef>
                <a:spcPts val="0"/>
              </a:spcBef>
              <a:spcAft>
                <a:spcPts val="400"/>
              </a:spcAft>
            </a:pPr>
            <a:r>
              <a:rPr sz="1500" b="0" i="1">
                <a:solidFill>
                  <a:srgbClr val="64748B"/>
                </a:solidFill>
                <a:latin typeface="Segoe UI"/>
                <a:cs typeface="Segoe UI"/>
              </a:rPr>
              <a:t>4 bước chế biến bữa ăn bổ sung giàu dinh dưỡng</a:t>
            </a:r>
          </a:p>
        </p:txBody>
      </p:sp>
      <p:sp>
        <p:nvSpPr>
          <p:cNvPr id="11" name="Rounded Rectangle 10"/>
          <p:cNvSpPr/>
          <p:nvPr/>
        </p:nvSpPr>
        <p:spPr>
          <a:xfrm>
            <a:off x="640080" y="2011680"/>
            <a:ext cx="2606040" cy="2697480"/>
          </a:xfrm>
          <a:prstGeom prst="roundRect">
            <a:avLst>
              <a:gd name="adj" fmla="val 6000"/>
            </a:avLst>
          </a:prstGeom>
          <a:solidFill>
            <a:srgbClr val="FFFFFF"/>
          </a:solidFill>
          <a:ln w="1905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554480" y="2240280"/>
            <a:ext cx="777240" cy="7772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2200" b="1" i="0">
                <a:solidFill>
                  <a:srgbClr val="FFFFFF"/>
                </a:solidFill>
                <a:latin typeface="Segoe UI"/>
                <a:cs typeface="Segoe UI"/>
              </a:rPr>
              <a:t>1</a:t>
            </a:r>
          </a:p>
        </p:txBody>
      </p:sp>
      <p:sp>
        <p:nvSpPr>
          <p:cNvPr id="13" name="TextBox 12"/>
          <p:cNvSpPr txBox="1"/>
          <p:nvPr/>
        </p:nvSpPr>
        <p:spPr>
          <a:xfrm>
            <a:off x="640080" y="3154680"/>
            <a:ext cx="2606040" cy="411480"/>
          </a:xfrm>
          <a:prstGeom prst="rect">
            <a:avLst/>
          </a:prstGeom>
          <a:noFill/>
        </p:spPr>
        <p:txBody>
          <a:bodyPr wrap="square" lIns="0" tIns="0" rIns="0" bIns="0" anchor="t">
            <a:spAutoFit/>
          </a:bodyPr>
          <a:lstStyle/>
          <a:p>
            <a:pPr algn="ctr">
              <a:lnSpc>
                <a:spcPct val="100000"/>
              </a:lnSpc>
              <a:spcBef>
                <a:spcPts val="0"/>
              </a:spcBef>
              <a:spcAft>
                <a:spcPts val="400"/>
              </a:spcAft>
            </a:pPr>
            <a:r>
              <a:rPr sz="1600" b="1" i="0">
                <a:solidFill>
                  <a:srgbClr val="F59E0B"/>
                </a:solidFill>
                <a:latin typeface="Segoe UI Semibold"/>
                <a:cs typeface="Segoe UI Semibold"/>
              </a:rPr>
              <a:t>Bột / cháo</a:t>
            </a:r>
          </a:p>
        </p:txBody>
      </p:sp>
      <p:sp>
        <p:nvSpPr>
          <p:cNvPr id="14" name="TextBox 13"/>
          <p:cNvSpPr txBox="1"/>
          <p:nvPr/>
        </p:nvSpPr>
        <p:spPr>
          <a:xfrm>
            <a:off x="822959" y="3611880"/>
            <a:ext cx="2240280" cy="731520"/>
          </a:xfrm>
          <a:prstGeom prst="rect">
            <a:avLst/>
          </a:prstGeom>
          <a:noFill/>
        </p:spPr>
        <p:txBody>
          <a:bodyPr wrap="square" lIns="0" tIns="0" rIns="0" bIns="0" anchor="t">
            <a:spAutoFit/>
          </a:bodyPr>
          <a:lstStyle/>
          <a:p>
            <a:pPr algn="ctr">
              <a:lnSpc>
                <a:spcPct val="105000"/>
              </a:lnSpc>
              <a:spcBef>
                <a:spcPts val="0"/>
              </a:spcBef>
              <a:spcAft>
                <a:spcPts val="400"/>
              </a:spcAft>
            </a:pPr>
            <a:r>
              <a:rPr sz="1200" b="0" i="0">
                <a:solidFill>
                  <a:srgbClr val="1E293B"/>
                </a:solidFill>
                <a:latin typeface="Segoe UI"/>
                <a:cs typeface="Segoe UI"/>
              </a:rPr>
              <a:t>Gạo, ngô, khoai – nhóm bột đường</a:t>
            </a:r>
          </a:p>
        </p:txBody>
      </p:sp>
      <p:sp>
        <p:nvSpPr>
          <p:cNvPr id="15" name="Rounded Rectangle 14"/>
          <p:cNvSpPr/>
          <p:nvPr/>
        </p:nvSpPr>
        <p:spPr>
          <a:xfrm>
            <a:off x="1143000" y="4389120"/>
            <a:ext cx="1600200" cy="365760"/>
          </a:xfrm>
          <a:prstGeom prst="roundRect">
            <a:avLst>
              <a:gd name="adj" fmla="val 25000"/>
            </a:avLst>
          </a:prstGeom>
          <a:solidFill>
            <a:srgbClr val="E0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143000" y="4407408"/>
            <a:ext cx="1600200" cy="329184"/>
          </a:xfrm>
          <a:prstGeom prst="rect">
            <a:avLst/>
          </a:prstGeom>
          <a:noFill/>
        </p:spPr>
        <p:txBody>
          <a:bodyPr wrap="square" lIns="0" tIns="0" rIns="0" bIns="0" anchor="ctr">
            <a:spAutoFit/>
          </a:bodyPr>
          <a:lstStyle/>
          <a:p>
            <a:pPr algn="ctr">
              <a:lnSpc>
                <a:spcPct val="100000"/>
              </a:lnSpc>
              <a:spcBef>
                <a:spcPts val="0"/>
              </a:spcBef>
              <a:spcAft>
                <a:spcPts val="400"/>
              </a:spcAft>
            </a:pPr>
            <a:r>
              <a:rPr sz="1050" b="1" i="0">
                <a:solidFill>
                  <a:srgbClr val="F59E0B"/>
                </a:solidFill>
                <a:latin typeface="Segoe UI"/>
                <a:cs typeface="Segoe UI"/>
              </a:rPr>
              <a:t>màu trắng</a:t>
            </a:r>
          </a:p>
        </p:txBody>
      </p:sp>
      <p:sp>
        <p:nvSpPr>
          <p:cNvPr id="17" name="Rounded Rectangle 16"/>
          <p:cNvSpPr/>
          <p:nvPr/>
        </p:nvSpPr>
        <p:spPr>
          <a:xfrm>
            <a:off x="3447287" y="2011680"/>
            <a:ext cx="2606040" cy="2697480"/>
          </a:xfrm>
          <a:prstGeom prst="roundRect">
            <a:avLst>
              <a:gd name="adj" fmla="val 6000"/>
            </a:avLst>
          </a:prstGeom>
          <a:solidFill>
            <a:srgbClr val="FFFFFF"/>
          </a:solidFill>
          <a:ln w="19050">
            <a:solidFill>
              <a:srgbClr val="E26D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4361688" y="2240280"/>
            <a:ext cx="777240" cy="777240"/>
          </a:xfrm>
          <a:prstGeom prst="ellipse">
            <a:avLst/>
          </a:prstGeom>
          <a:solidFill>
            <a:srgbClr val="E26D5A"/>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2200" b="1" i="0">
                <a:solidFill>
                  <a:srgbClr val="FFFFFF"/>
                </a:solidFill>
                <a:latin typeface="Segoe UI"/>
                <a:cs typeface="Segoe UI"/>
              </a:rPr>
              <a:t>2</a:t>
            </a:r>
          </a:p>
        </p:txBody>
      </p:sp>
      <p:sp>
        <p:nvSpPr>
          <p:cNvPr id="19" name="TextBox 18"/>
          <p:cNvSpPr txBox="1"/>
          <p:nvPr/>
        </p:nvSpPr>
        <p:spPr>
          <a:xfrm>
            <a:off x="3447287" y="3154680"/>
            <a:ext cx="2606040" cy="411480"/>
          </a:xfrm>
          <a:prstGeom prst="rect">
            <a:avLst/>
          </a:prstGeom>
          <a:noFill/>
        </p:spPr>
        <p:txBody>
          <a:bodyPr wrap="square" lIns="0" tIns="0" rIns="0" bIns="0" anchor="t">
            <a:spAutoFit/>
          </a:bodyPr>
          <a:lstStyle/>
          <a:p>
            <a:pPr algn="ctr">
              <a:lnSpc>
                <a:spcPct val="100000"/>
              </a:lnSpc>
              <a:spcBef>
                <a:spcPts val="0"/>
              </a:spcBef>
              <a:spcAft>
                <a:spcPts val="400"/>
              </a:spcAft>
            </a:pPr>
            <a:r>
              <a:rPr sz="1600" b="1" i="0">
                <a:solidFill>
                  <a:srgbClr val="E26D5A"/>
                </a:solidFill>
                <a:latin typeface="Segoe UI Semibold"/>
                <a:cs typeface="Segoe UI Semibold"/>
              </a:rPr>
              <a:t>Đạm</a:t>
            </a:r>
          </a:p>
        </p:txBody>
      </p:sp>
      <p:sp>
        <p:nvSpPr>
          <p:cNvPr id="20" name="TextBox 19"/>
          <p:cNvSpPr txBox="1"/>
          <p:nvPr/>
        </p:nvSpPr>
        <p:spPr>
          <a:xfrm>
            <a:off x="3630168" y="3611880"/>
            <a:ext cx="2240280" cy="731520"/>
          </a:xfrm>
          <a:prstGeom prst="rect">
            <a:avLst/>
          </a:prstGeom>
          <a:noFill/>
        </p:spPr>
        <p:txBody>
          <a:bodyPr wrap="square" lIns="0" tIns="0" rIns="0" bIns="0" anchor="t">
            <a:spAutoFit/>
          </a:bodyPr>
          <a:lstStyle/>
          <a:p>
            <a:pPr algn="ctr">
              <a:lnSpc>
                <a:spcPct val="105000"/>
              </a:lnSpc>
              <a:spcBef>
                <a:spcPts val="0"/>
              </a:spcBef>
              <a:spcAft>
                <a:spcPts val="400"/>
              </a:spcAft>
            </a:pPr>
            <a:r>
              <a:rPr sz="1200" b="0" i="0">
                <a:solidFill>
                  <a:srgbClr val="1E293B"/>
                </a:solidFill>
                <a:latin typeface="Segoe UI"/>
                <a:cs typeface="Segoe UI"/>
              </a:rPr>
              <a:t>Thịt, cá, tôm, trứng, đậu băm nhỏ</a:t>
            </a:r>
          </a:p>
        </p:txBody>
      </p:sp>
      <p:sp>
        <p:nvSpPr>
          <p:cNvPr id="21" name="Rounded Rectangle 20"/>
          <p:cNvSpPr/>
          <p:nvPr/>
        </p:nvSpPr>
        <p:spPr>
          <a:xfrm>
            <a:off x="3950207" y="4389120"/>
            <a:ext cx="1600200" cy="365760"/>
          </a:xfrm>
          <a:prstGeom prst="roundRect">
            <a:avLst>
              <a:gd name="adj" fmla="val 25000"/>
            </a:avLst>
          </a:prstGeom>
          <a:solidFill>
            <a:srgbClr val="E0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950207" y="4407408"/>
            <a:ext cx="1600200" cy="329184"/>
          </a:xfrm>
          <a:prstGeom prst="rect">
            <a:avLst/>
          </a:prstGeom>
          <a:noFill/>
        </p:spPr>
        <p:txBody>
          <a:bodyPr wrap="square" lIns="0" tIns="0" rIns="0" bIns="0" anchor="ctr">
            <a:spAutoFit/>
          </a:bodyPr>
          <a:lstStyle/>
          <a:p>
            <a:pPr algn="ctr">
              <a:lnSpc>
                <a:spcPct val="100000"/>
              </a:lnSpc>
              <a:spcBef>
                <a:spcPts val="0"/>
              </a:spcBef>
              <a:spcAft>
                <a:spcPts val="400"/>
              </a:spcAft>
            </a:pPr>
            <a:r>
              <a:rPr sz="1050" b="1" i="0">
                <a:solidFill>
                  <a:srgbClr val="E26D5A"/>
                </a:solidFill>
                <a:latin typeface="Segoe UI"/>
                <a:cs typeface="Segoe UI"/>
              </a:rPr>
              <a:t>màu nâu/đỏ</a:t>
            </a:r>
          </a:p>
        </p:txBody>
      </p:sp>
      <p:sp>
        <p:nvSpPr>
          <p:cNvPr id="23" name="Rounded Rectangle 22"/>
          <p:cNvSpPr/>
          <p:nvPr/>
        </p:nvSpPr>
        <p:spPr>
          <a:xfrm>
            <a:off x="6254496" y="2011680"/>
            <a:ext cx="2606040" cy="2697480"/>
          </a:xfrm>
          <a:prstGeom prst="roundRect">
            <a:avLst>
              <a:gd name="adj" fmla="val 6000"/>
            </a:avLst>
          </a:prstGeom>
          <a:solidFill>
            <a:srgbClr val="FFFFFF"/>
          </a:solidFill>
          <a:ln w="19050">
            <a:solidFill>
              <a:srgbClr val="3A6B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7168896" y="2240280"/>
            <a:ext cx="777240" cy="777240"/>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2200" b="1" i="0">
                <a:solidFill>
                  <a:srgbClr val="FFFFFF"/>
                </a:solidFill>
                <a:latin typeface="Segoe UI"/>
                <a:cs typeface="Segoe UI"/>
              </a:rPr>
              <a:t>3</a:t>
            </a:r>
          </a:p>
        </p:txBody>
      </p:sp>
      <p:sp>
        <p:nvSpPr>
          <p:cNvPr id="25" name="TextBox 24"/>
          <p:cNvSpPr txBox="1"/>
          <p:nvPr/>
        </p:nvSpPr>
        <p:spPr>
          <a:xfrm>
            <a:off x="6254496" y="3154680"/>
            <a:ext cx="2606040" cy="411480"/>
          </a:xfrm>
          <a:prstGeom prst="rect">
            <a:avLst/>
          </a:prstGeom>
          <a:noFill/>
        </p:spPr>
        <p:txBody>
          <a:bodyPr wrap="square" lIns="0" tIns="0" rIns="0" bIns="0" anchor="t">
            <a:spAutoFit/>
          </a:bodyPr>
          <a:lstStyle/>
          <a:p>
            <a:pPr algn="ctr">
              <a:lnSpc>
                <a:spcPct val="100000"/>
              </a:lnSpc>
              <a:spcBef>
                <a:spcPts val="0"/>
              </a:spcBef>
              <a:spcAft>
                <a:spcPts val="400"/>
              </a:spcAft>
            </a:pPr>
            <a:r>
              <a:rPr sz="1600" b="1" i="0">
                <a:solidFill>
                  <a:srgbClr val="3A6B35"/>
                </a:solidFill>
                <a:latin typeface="Segoe UI Semibold"/>
                <a:cs typeface="Segoe UI Semibold"/>
              </a:rPr>
              <a:t>Rau xanh</a:t>
            </a:r>
          </a:p>
        </p:txBody>
      </p:sp>
      <p:sp>
        <p:nvSpPr>
          <p:cNvPr id="26" name="TextBox 25"/>
          <p:cNvSpPr txBox="1"/>
          <p:nvPr/>
        </p:nvSpPr>
        <p:spPr>
          <a:xfrm>
            <a:off x="6437376" y="3611880"/>
            <a:ext cx="2240280" cy="731520"/>
          </a:xfrm>
          <a:prstGeom prst="rect">
            <a:avLst/>
          </a:prstGeom>
          <a:noFill/>
        </p:spPr>
        <p:txBody>
          <a:bodyPr wrap="square" lIns="0" tIns="0" rIns="0" bIns="0" anchor="t">
            <a:spAutoFit/>
          </a:bodyPr>
          <a:lstStyle/>
          <a:p>
            <a:pPr algn="ctr">
              <a:lnSpc>
                <a:spcPct val="105000"/>
              </a:lnSpc>
              <a:spcBef>
                <a:spcPts val="0"/>
              </a:spcBef>
              <a:spcAft>
                <a:spcPts val="400"/>
              </a:spcAft>
            </a:pPr>
            <a:r>
              <a:rPr sz="1200" b="0" i="0">
                <a:solidFill>
                  <a:srgbClr val="1E293B"/>
                </a:solidFill>
                <a:latin typeface="Segoe UI"/>
                <a:cs typeface="Segoe UI"/>
              </a:rPr>
              <a:t>Rau lá, củ quả thái nhỏ</a:t>
            </a:r>
          </a:p>
        </p:txBody>
      </p:sp>
      <p:sp>
        <p:nvSpPr>
          <p:cNvPr id="27" name="Rounded Rectangle 26"/>
          <p:cNvSpPr/>
          <p:nvPr/>
        </p:nvSpPr>
        <p:spPr>
          <a:xfrm>
            <a:off x="6757416" y="4389120"/>
            <a:ext cx="1600200" cy="365760"/>
          </a:xfrm>
          <a:prstGeom prst="roundRect">
            <a:avLst>
              <a:gd name="adj" fmla="val 25000"/>
            </a:avLst>
          </a:prstGeom>
          <a:solidFill>
            <a:srgbClr val="E0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757416" y="4407408"/>
            <a:ext cx="1600200" cy="329184"/>
          </a:xfrm>
          <a:prstGeom prst="rect">
            <a:avLst/>
          </a:prstGeom>
          <a:noFill/>
        </p:spPr>
        <p:txBody>
          <a:bodyPr wrap="square" lIns="0" tIns="0" rIns="0" bIns="0" anchor="ctr">
            <a:spAutoFit/>
          </a:bodyPr>
          <a:lstStyle/>
          <a:p>
            <a:pPr algn="ctr">
              <a:lnSpc>
                <a:spcPct val="100000"/>
              </a:lnSpc>
              <a:spcBef>
                <a:spcPts val="0"/>
              </a:spcBef>
              <a:spcAft>
                <a:spcPts val="400"/>
              </a:spcAft>
            </a:pPr>
            <a:r>
              <a:rPr sz="1050" b="1" i="0">
                <a:solidFill>
                  <a:srgbClr val="3A6B35"/>
                </a:solidFill>
                <a:latin typeface="Segoe UI"/>
                <a:cs typeface="Segoe UI"/>
              </a:rPr>
              <a:t>màu xanh</a:t>
            </a:r>
          </a:p>
        </p:txBody>
      </p:sp>
      <p:sp>
        <p:nvSpPr>
          <p:cNvPr id="29" name="Rounded Rectangle 28"/>
          <p:cNvSpPr/>
          <p:nvPr/>
        </p:nvSpPr>
        <p:spPr>
          <a:xfrm>
            <a:off x="9061703" y="2011680"/>
            <a:ext cx="2606040" cy="2697480"/>
          </a:xfrm>
          <a:prstGeom prst="roundRect">
            <a:avLst>
              <a:gd name="adj" fmla="val 6000"/>
            </a:avLst>
          </a:prstGeom>
          <a:solidFill>
            <a:srgbClr val="FFFFFF"/>
          </a:solidFill>
          <a:ln w="19050">
            <a:solidFill>
              <a:srgbClr val="2866A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9976103" y="2240280"/>
            <a:ext cx="777240" cy="777240"/>
          </a:xfrm>
          <a:prstGeom prst="ellipse">
            <a:avLst/>
          </a:prstGeom>
          <a:solidFill>
            <a:srgbClr val="2866A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2200" b="1" i="0">
                <a:solidFill>
                  <a:srgbClr val="FFFFFF"/>
                </a:solidFill>
                <a:latin typeface="Segoe UI"/>
                <a:cs typeface="Segoe UI"/>
              </a:rPr>
              <a:t>4</a:t>
            </a:r>
          </a:p>
        </p:txBody>
      </p:sp>
      <p:sp>
        <p:nvSpPr>
          <p:cNvPr id="31" name="TextBox 30"/>
          <p:cNvSpPr txBox="1"/>
          <p:nvPr/>
        </p:nvSpPr>
        <p:spPr>
          <a:xfrm>
            <a:off x="9061703" y="3154680"/>
            <a:ext cx="2606040" cy="411480"/>
          </a:xfrm>
          <a:prstGeom prst="rect">
            <a:avLst/>
          </a:prstGeom>
          <a:noFill/>
        </p:spPr>
        <p:txBody>
          <a:bodyPr wrap="square" lIns="0" tIns="0" rIns="0" bIns="0" anchor="t">
            <a:spAutoFit/>
          </a:bodyPr>
          <a:lstStyle/>
          <a:p>
            <a:pPr algn="ctr">
              <a:lnSpc>
                <a:spcPct val="100000"/>
              </a:lnSpc>
              <a:spcBef>
                <a:spcPts val="0"/>
              </a:spcBef>
              <a:spcAft>
                <a:spcPts val="400"/>
              </a:spcAft>
            </a:pPr>
            <a:r>
              <a:rPr sz="1600" b="1" i="0">
                <a:solidFill>
                  <a:srgbClr val="2866AB"/>
                </a:solidFill>
                <a:latin typeface="Segoe UI Semibold"/>
                <a:cs typeface="Segoe UI Semibold"/>
              </a:rPr>
              <a:t>Dầu / mỡ</a:t>
            </a:r>
          </a:p>
        </p:txBody>
      </p:sp>
      <p:sp>
        <p:nvSpPr>
          <p:cNvPr id="32" name="TextBox 31"/>
          <p:cNvSpPr txBox="1"/>
          <p:nvPr/>
        </p:nvSpPr>
        <p:spPr>
          <a:xfrm>
            <a:off x="9244583" y="3611880"/>
            <a:ext cx="2240280" cy="731520"/>
          </a:xfrm>
          <a:prstGeom prst="rect">
            <a:avLst/>
          </a:prstGeom>
          <a:noFill/>
        </p:spPr>
        <p:txBody>
          <a:bodyPr wrap="square" lIns="0" tIns="0" rIns="0" bIns="0" anchor="t">
            <a:spAutoFit/>
          </a:bodyPr>
          <a:lstStyle/>
          <a:p>
            <a:pPr algn="ctr">
              <a:lnSpc>
                <a:spcPct val="105000"/>
              </a:lnSpc>
              <a:spcBef>
                <a:spcPts val="0"/>
              </a:spcBef>
              <a:spcAft>
                <a:spcPts val="400"/>
              </a:spcAft>
            </a:pPr>
            <a:r>
              <a:rPr sz="1200" b="0" i="0">
                <a:solidFill>
                  <a:srgbClr val="1E293B"/>
                </a:solidFill>
                <a:latin typeface="Segoe UI"/>
                <a:cs typeface="Segoe UI"/>
              </a:rPr>
              <a:t>1 thìa dầu ăn cho mỗi bát</a:t>
            </a:r>
          </a:p>
        </p:txBody>
      </p:sp>
      <p:sp>
        <p:nvSpPr>
          <p:cNvPr id="33" name="Rounded Rectangle 32"/>
          <p:cNvSpPr/>
          <p:nvPr/>
        </p:nvSpPr>
        <p:spPr>
          <a:xfrm>
            <a:off x="9564624" y="4389120"/>
            <a:ext cx="1600200" cy="365760"/>
          </a:xfrm>
          <a:prstGeom prst="roundRect">
            <a:avLst>
              <a:gd name="adj" fmla="val 25000"/>
            </a:avLst>
          </a:prstGeom>
          <a:solidFill>
            <a:srgbClr val="E0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564624" y="4407408"/>
            <a:ext cx="1600200" cy="329184"/>
          </a:xfrm>
          <a:prstGeom prst="rect">
            <a:avLst/>
          </a:prstGeom>
          <a:noFill/>
        </p:spPr>
        <p:txBody>
          <a:bodyPr wrap="square" lIns="0" tIns="0" rIns="0" bIns="0" anchor="ctr">
            <a:spAutoFit/>
          </a:bodyPr>
          <a:lstStyle/>
          <a:p>
            <a:pPr algn="ctr">
              <a:lnSpc>
                <a:spcPct val="100000"/>
              </a:lnSpc>
              <a:spcBef>
                <a:spcPts val="0"/>
              </a:spcBef>
              <a:spcAft>
                <a:spcPts val="400"/>
              </a:spcAft>
            </a:pPr>
            <a:r>
              <a:rPr sz="1050" b="1" i="0">
                <a:solidFill>
                  <a:srgbClr val="2866AB"/>
                </a:solidFill>
                <a:latin typeface="Segoe UI"/>
                <a:cs typeface="Segoe UI"/>
              </a:rPr>
              <a:t>màu vàng</a:t>
            </a:r>
          </a:p>
        </p:txBody>
      </p:sp>
      <p:sp>
        <p:nvSpPr>
          <p:cNvPr id="35" name="TextBox 34"/>
          <p:cNvSpPr txBox="1"/>
          <p:nvPr/>
        </p:nvSpPr>
        <p:spPr>
          <a:xfrm>
            <a:off x="640080" y="5029200"/>
            <a:ext cx="10881360" cy="640080"/>
          </a:xfrm>
          <a:prstGeom prst="rect">
            <a:avLst/>
          </a:prstGeom>
          <a:noFill/>
        </p:spPr>
        <p:txBody>
          <a:bodyPr wrap="square" lIns="0" tIns="0" rIns="0" bIns="0" anchor="t">
            <a:spAutoFit/>
          </a:bodyPr>
          <a:lstStyle/>
          <a:p>
            <a:pPr algn="ctr">
              <a:lnSpc>
                <a:spcPct val="110000"/>
              </a:lnSpc>
              <a:spcBef>
                <a:spcPts val="0"/>
              </a:spcBef>
              <a:spcAft>
                <a:spcPts val="400"/>
              </a:spcAft>
            </a:pPr>
            <a:r>
              <a:rPr sz="1400" b="0" i="1">
                <a:solidFill>
                  <a:srgbClr val="64748B"/>
                </a:solidFill>
                <a:latin typeface="Segoe UI"/>
                <a:cs typeface="Segoe UI"/>
              </a:rPr>
              <a:t>Nhìn vào bát của con: nếu thấy đủ 4 màu (trắng – đỏ – xanh – vàng), nghĩa là bữa ăn đã đủ 4 nhóm dưỡng chất.</a:t>
            </a:r>
          </a:p>
        </p:txBody>
      </p:sp>
      <p:sp>
        <p:nvSpPr>
          <p:cNvPr id="36" name="TextBox 35"/>
          <p:cNvSpPr txBox="1"/>
          <p:nvPr/>
        </p:nvSpPr>
        <p:spPr>
          <a:xfrm>
            <a:off x="548640" y="6144768"/>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50" b="1" i="1">
                <a:solidFill>
                  <a:srgbClr val="19A99D"/>
                </a:solidFill>
                <a:latin typeface="Segoe UI"/>
                <a:cs typeface="Segoe UI"/>
              </a:rPr>
              <a:t>Nguồn: </a:t>
            </a:r>
            <a:r>
              <a:rPr sz="950" b="0" i="1">
                <a:solidFill>
                  <a:srgbClr val="64748B"/>
                </a:solidFill>
                <a:latin typeface="Segoe UI"/>
                <a:cs typeface="Segoe UI"/>
              </a:rPr>
              <a:t>Nuôi dưỡng trẻ nhỏ 0–24 tháng, Bộ Y tế 2015 (Tranh 24 – các bước chế biến)</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384048" y="274320"/>
            <a:ext cx="384048" cy="384048"/>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4068" y="329184"/>
            <a:ext cx="104241"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66344" y="406908"/>
            <a:ext cx="274320" cy="10424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274320"/>
            <a:ext cx="2926080" cy="402336"/>
          </a:xfrm>
          <a:prstGeom prst="rect">
            <a:avLst/>
          </a:prstGeom>
          <a:noFill/>
        </p:spPr>
        <p:txBody>
          <a:bodyPr wrap="square" lIns="0" tIns="0" rIns="0" bIns="0" anchor="ctr">
            <a:spAutoFit/>
          </a:bodyPr>
          <a:lstStyle/>
          <a:p>
            <a:pPr algn="l">
              <a:lnSpc>
                <a:spcPct val="100000"/>
              </a:lnSpc>
              <a:spcBef>
                <a:spcPts val="0"/>
              </a:spcBef>
              <a:spcAft>
                <a:spcPts val="400"/>
              </a:spcAft>
            </a:pPr>
            <a:r>
              <a:rPr sz="1300" b="1" i="0">
                <a:solidFill>
                  <a:srgbClr val="1E293B"/>
                </a:solidFill>
                <a:latin typeface="Segoe UI"/>
                <a:cs typeface="Segoe UI"/>
              </a:rPr>
              <a:t>DINH DƯỠNG </a:t>
            </a:r>
            <a:r>
              <a:rPr sz="1300" b="1" i="0">
                <a:solidFill>
                  <a:srgbClr val="19A99D"/>
                </a:solidFill>
                <a:latin typeface="Segoe UI"/>
                <a:cs typeface="Segoe UI"/>
              </a:rPr>
              <a:t>NHI KHOA</a:t>
            </a:r>
          </a:p>
        </p:txBody>
      </p:sp>
      <p:sp>
        <p:nvSpPr>
          <p:cNvPr id="6" name="Rectangle 5"/>
          <p:cNvSpPr/>
          <p:nvPr/>
        </p:nvSpPr>
        <p:spPr>
          <a:xfrm>
            <a:off x="0" y="6473952"/>
            <a:ext cx="12191695" cy="384048"/>
          </a:xfrm>
          <a:prstGeom prst="rect">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492240"/>
            <a:ext cx="9601200" cy="347472"/>
          </a:xfrm>
          <a:prstGeom prst="rect">
            <a:avLst/>
          </a:prstGeom>
          <a:noFill/>
        </p:spPr>
        <p:txBody>
          <a:bodyPr wrap="square" lIns="0" tIns="0" rIns="0" bIns="0" anchor="ctr">
            <a:spAutoFit/>
          </a:bodyPr>
          <a:lstStyle/>
          <a:p>
            <a:pPr algn="l">
              <a:lnSpc>
                <a:spcPct val="100000"/>
              </a:lnSpc>
              <a:spcBef>
                <a:spcPts val="0"/>
              </a:spcBef>
              <a:spcAft>
                <a:spcPts val="400"/>
              </a:spcAft>
            </a:pPr>
            <a:r>
              <a:rPr sz="950" b="0" i="0">
                <a:solidFill>
                  <a:srgbClr val="FFFFFF"/>
                </a:solidFill>
                <a:latin typeface="Segoe UI"/>
                <a:cs typeface="Segoe UI"/>
              </a:rPr>
              <a:t>Chuyên đề 2 · Dinh dưỡng – nền tảng cho miễn dịch &amp; sự phát triển của trẻ  ·  TS. Lê Thị Thùy Dung</a:t>
            </a:r>
          </a:p>
        </p:txBody>
      </p:sp>
      <p:sp>
        <p:nvSpPr>
          <p:cNvPr id="8" name="TextBox 7"/>
          <p:cNvSpPr txBox="1"/>
          <p:nvPr/>
        </p:nvSpPr>
        <p:spPr>
          <a:xfrm>
            <a:off x="11185855" y="6492240"/>
            <a:ext cx="548640" cy="347472"/>
          </a:xfrm>
          <a:prstGeom prst="rect">
            <a:avLst/>
          </a:prstGeom>
          <a:noFill/>
        </p:spPr>
        <p:txBody>
          <a:bodyPr wrap="square" lIns="0" tIns="0" rIns="0" bIns="0" anchor="ctr">
            <a:spAutoFit/>
          </a:bodyPr>
          <a:lstStyle/>
          <a:p>
            <a:pPr algn="r">
              <a:lnSpc>
                <a:spcPct val="100000"/>
              </a:lnSpc>
              <a:spcBef>
                <a:spcPts val="0"/>
              </a:spcBef>
              <a:spcAft>
                <a:spcPts val="400"/>
              </a:spcAft>
            </a:pPr>
            <a:r>
              <a:rPr sz="1000" b="1" i="0">
                <a:solidFill>
                  <a:srgbClr val="FFFFFF"/>
                </a:solidFill>
                <a:latin typeface="Segoe UI"/>
                <a:cs typeface="Segoe UI"/>
              </a:rPr>
              <a:t>36</a:t>
            </a:r>
          </a:p>
        </p:txBody>
      </p:sp>
      <p:sp>
        <p:nvSpPr>
          <p:cNvPr id="9" name="TextBox 8"/>
          <p:cNvSpPr txBox="1"/>
          <p:nvPr/>
        </p:nvSpPr>
        <p:spPr>
          <a:xfrm>
            <a:off x="548640" y="841248"/>
            <a:ext cx="10881360" cy="566928"/>
          </a:xfrm>
          <a:prstGeom prst="rect">
            <a:avLst/>
          </a:prstGeom>
          <a:noFill/>
        </p:spPr>
        <p:txBody>
          <a:bodyPr wrap="square" lIns="0" tIns="0" rIns="0" bIns="0" anchor="t">
            <a:spAutoFit/>
          </a:bodyPr>
          <a:lstStyle/>
          <a:p>
            <a:pPr algn="l">
              <a:lnSpc>
                <a:spcPct val="100000"/>
              </a:lnSpc>
              <a:spcBef>
                <a:spcPts val="0"/>
              </a:spcBef>
              <a:spcAft>
                <a:spcPts val="400"/>
              </a:spcAft>
            </a:pPr>
            <a:r>
              <a:rPr sz="2700" b="1" i="0">
                <a:solidFill>
                  <a:srgbClr val="19A99D"/>
                </a:solidFill>
                <a:latin typeface="Segoe UI Semibold"/>
                <a:cs typeface="Segoe UI Semibold"/>
              </a:rPr>
              <a:t>Đừng quên: phòng thừa cân – béo phì</a:t>
            </a:r>
          </a:p>
        </p:txBody>
      </p:sp>
      <p:sp>
        <p:nvSpPr>
          <p:cNvPr id="10" name="TextBox 9"/>
          <p:cNvSpPr txBox="1"/>
          <p:nvPr/>
        </p:nvSpPr>
        <p:spPr>
          <a:xfrm>
            <a:off x="548640" y="1408176"/>
            <a:ext cx="10881360" cy="365760"/>
          </a:xfrm>
          <a:prstGeom prst="rect">
            <a:avLst/>
          </a:prstGeom>
          <a:noFill/>
        </p:spPr>
        <p:txBody>
          <a:bodyPr wrap="square" lIns="0" tIns="0" rIns="0" bIns="0" anchor="t">
            <a:spAutoFit/>
          </a:bodyPr>
          <a:lstStyle/>
          <a:p>
            <a:pPr algn="l">
              <a:lnSpc>
                <a:spcPct val="100000"/>
              </a:lnSpc>
              <a:spcBef>
                <a:spcPts val="0"/>
              </a:spcBef>
              <a:spcAft>
                <a:spcPts val="400"/>
              </a:spcAft>
            </a:pPr>
            <a:r>
              <a:rPr sz="1500" b="0" i="1">
                <a:solidFill>
                  <a:srgbClr val="64748B"/>
                </a:solidFill>
                <a:latin typeface="Segoe UI"/>
                <a:cs typeface="Segoe UI"/>
              </a:rPr>
              <a:t>Béo phì cũng là một dạng dinh dưỡng không hợp lý</a:t>
            </a:r>
          </a:p>
        </p:txBody>
      </p:sp>
      <p:sp>
        <p:nvSpPr>
          <p:cNvPr id="11" name="Rounded Rectangle 10"/>
          <p:cNvSpPr/>
          <p:nvPr/>
        </p:nvSpPr>
        <p:spPr>
          <a:xfrm>
            <a:off x="640080" y="1965960"/>
            <a:ext cx="5257800" cy="1417320"/>
          </a:xfrm>
          <a:prstGeom prst="roundRect">
            <a:avLst>
              <a:gd name="adj" fmla="val 6000"/>
            </a:avLst>
          </a:prstGeom>
          <a:solidFill>
            <a:srgbClr val="FFFFFF"/>
          </a:solidFill>
          <a:ln w="19050">
            <a:solidFill>
              <a:srgbClr val="3A6B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896112" y="2377440"/>
            <a:ext cx="594360" cy="594360"/>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1800" b="1" i="0">
                <a:solidFill>
                  <a:srgbClr val="FFFFFF"/>
                </a:solidFill>
                <a:latin typeface="Segoe UI"/>
                <a:cs typeface="Segoe UI"/>
              </a:rPr>
              <a:t>1</a:t>
            </a:r>
          </a:p>
        </p:txBody>
      </p:sp>
      <p:sp>
        <p:nvSpPr>
          <p:cNvPr id="13" name="TextBox 12"/>
          <p:cNvSpPr txBox="1"/>
          <p:nvPr/>
        </p:nvSpPr>
        <p:spPr>
          <a:xfrm>
            <a:off x="1691639" y="2148840"/>
            <a:ext cx="4023360" cy="457200"/>
          </a:xfrm>
          <a:prstGeom prst="rect">
            <a:avLst/>
          </a:prstGeom>
          <a:noFill/>
        </p:spPr>
        <p:txBody>
          <a:bodyPr wrap="square" lIns="0" tIns="0" rIns="0" bIns="0" anchor="t">
            <a:spAutoFit/>
          </a:bodyPr>
          <a:lstStyle/>
          <a:p>
            <a:pPr algn="l">
              <a:lnSpc>
                <a:spcPct val="100000"/>
              </a:lnSpc>
              <a:spcBef>
                <a:spcPts val="0"/>
              </a:spcBef>
              <a:spcAft>
                <a:spcPts val="400"/>
              </a:spcAft>
            </a:pPr>
            <a:r>
              <a:rPr sz="1600" b="1" i="0">
                <a:solidFill>
                  <a:srgbClr val="3A6B35"/>
                </a:solidFill>
                <a:latin typeface="Segoe UI Semibold"/>
                <a:cs typeface="Segoe UI Semibold"/>
              </a:rPr>
              <a:t>Ăn đủ – không thừa</a:t>
            </a:r>
          </a:p>
        </p:txBody>
      </p:sp>
      <p:sp>
        <p:nvSpPr>
          <p:cNvPr id="14" name="TextBox 13"/>
          <p:cNvSpPr txBox="1"/>
          <p:nvPr/>
        </p:nvSpPr>
        <p:spPr>
          <a:xfrm>
            <a:off x="1691639" y="2587752"/>
            <a:ext cx="4069080" cy="685800"/>
          </a:xfrm>
          <a:prstGeom prst="rect">
            <a:avLst/>
          </a:prstGeom>
          <a:noFill/>
        </p:spPr>
        <p:txBody>
          <a:bodyPr wrap="square" lIns="0" tIns="0" rIns="0" bIns="0" anchor="t">
            <a:spAutoFit/>
          </a:bodyPr>
          <a:lstStyle/>
          <a:p>
            <a:pPr algn="l">
              <a:lnSpc>
                <a:spcPct val="106000"/>
              </a:lnSpc>
              <a:spcBef>
                <a:spcPts val="0"/>
              </a:spcBef>
              <a:spcAft>
                <a:spcPts val="400"/>
              </a:spcAft>
            </a:pPr>
            <a:r>
              <a:rPr sz="1250" b="0" i="0">
                <a:solidFill>
                  <a:srgbClr val="1E293B"/>
                </a:solidFill>
                <a:latin typeface="Segoe UI"/>
                <a:cs typeface="Segoe UI"/>
              </a:rPr>
              <a:t>Cân đối khẩu phần theo nhu cầu; không ép ăn quá mức.</a:t>
            </a:r>
          </a:p>
        </p:txBody>
      </p:sp>
      <p:sp>
        <p:nvSpPr>
          <p:cNvPr id="15" name="Rounded Rectangle 14"/>
          <p:cNvSpPr/>
          <p:nvPr/>
        </p:nvSpPr>
        <p:spPr>
          <a:xfrm>
            <a:off x="6217920" y="1965960"/>
            <a:ext cx="5257800" cy="1417320"/>
          </a:xfrm>
          <a:prstGeom prst="roundRect">
            <a:avLst>
              <a:gd name="adj" fmla="val 6000"/>
            </a:avLst>
          </a:prstGeom>
          <a:solidFill>
            <a:srgbClr val="FFFFFF"/>
          </a:solidFill>
          <a:ln w="19050">
            <a:solidFill>
              <a:srgbClr val="E26D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473952" y="2377440"/>
            <a:ext cx="594360" cy="594360"/>
          </a:xfrm>
          <a:prstGeom prst="ellipse">
            <a:avLst/>
          </a:prstGeom>
          <a:solidFill>
            <a:srgbClr val="E26D5A"/>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1800" b="1" i="0">
                <a:solidFill>
                  <a:srgbClr val="FFFFFF"/>
                </a:solidFill>
                <a:latin typeface="Segoe UI"/>
                <a:cs typeface="Segoe UI"/>
              </a:rPr>
              <a:t>2</a:t>
            </a:r>
          </a:p>
        </p:txBody>
      </p:sp>
      <p:sp>
        <p:nvSpPr>
          <p:cNvPr id="17" name="TextBox 16"/>
          <p:cNvSpPr txBox="1"/>
          <p:nvPr/>
        </p:nvSpPr>
        <p:spPr>
          <a:xfrm>
            <a:off x="7269479" y="2148840"/>
            <a:ext cx="4023360" cy="457200"/>
          </a:xfrm>
          <a:prstGeom prst="rect">
            <a:avLst/>
          </a:prstGeom>
          <a:noFill/>
        </p:spPr>
        <p:txBody>
          <a:bodyPr wrap="square" lIns="0" tIns="0" rIns="0" bIns="0" anchor="t">
            <a:spAutoFit/>
          </a:bodyPr>
          <a:lstStyle/>
          <a:p>
            <a:pPr algn="l">
              <a:lnSpc>
                <a:spcPct val="100000"/>
              </a:lnSpc>
              <a:spcBef>
                <a:spcPts val="0"/>
              </a:spcBef>
              <a:spcAft>
                <a:spcPts val="400"/>
              </a:spcAft>
            </a:pPr>
            <a:r>
              <a:rPr sz="1600" b="1" i="0">
                <a:solidFill>
                  <a:srgbClr val="E26D5A"/>
                </a:solidFill>
                <a:latin typeface="Segoe UI Semibold"/>
                <a:cs typeface="Segoe UI Semibold"/>
              </a:rPr>
              <a:t>Hạn chế đường &amp; đồ chiên</a:t>
            </a:r>
          </a:p>
        </p:txBody>
      </p:sp>
      <p:sp>
        <p:nvSpPr>
          <p:cNvPr id="18" name="TextBox 17"/>
          <p:cNvSpPr txBox="1"/>
          <p:nvPr/>
        </p:nvSpPr>
        <p:spPr>
          <a:xfrm>
            <a:off x="7269479" y="2587752"/>
            <a:ext cx="4069080" cy="685800"/>
          </a:xfrm>
          <a:prstGeom prst="rect">
            <a:avLst/>
          </a:prstGeom>
          <a:noFill/>
        </p:spPr>
        <p:txBody>
          <a:bodyPr wrap="square" lIns="0" tIns="0" rIns="0" bIns="0" anchor="t">
            <a:spAutoFit/>
          </a:bodyPr>
          <a:lstStyle/>
          <a:p>
            <a:pPr algn="l">
              <a:lnSpc>
                <a:spcPct val="106000"/>
              </a:lnSpc>
              <a:spcBef>
                <a:spcPts val="0"/>
              </a:spcBef>
              <a:spcAft>
                <a:spcPts val="400"/>
              </a:spcAft>
            </a:pPr>
            <a:r>
              <a:rPr sz="1250" b="0" i="0">
                <a:solidFill>
                  <a:srgbClr val="1E293B"/>
                </a:solidFill>
                <a:latin typeface="Segoe UI"/>
                <a:cs typeface="Segoe UI"/>
              </a:rPr>
              <a:t>Giảm nước ngọt, bánh kẹo, thức ăn nhanh, đồ chiên rán.</a:t>
            </a:r>
          </a:p>
        </p:txBody>
      </p:sp>
      <p:sp>
        <p:nvSpPr>
          <p:cNvPr id="19" name="Rounded Rectangle 18"/>
          <p:cNvSpPr/>
          <p:nvPr/>
        </p:nvSpPr>
        <p:spPr>
          <a:xfrm>
            <a:off x="640080" y="3611880"/>
            <a:ext cx="5257800" cy="1417320"/>
          </a:xfrm>
          <a:prstGeom prst="roundRect">
            <a:avLst>
              <a:gd name="adj" fmla="val 6000"/>
            </a:avLst>
          </a:prstGeom>
          <a:solidFill>
            <a:srgbClr val="FFFFFF"/>
          </a:solidFill>
          <a:ln w="19050">
            <a:solidFill>
              <a:srgbClr val="19A99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96112" y="4023360"/>
            <a:ext cx="594360" cy="594360"/>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1800" b="1" i="0">
                <a:solidFill>
                  <a:srgbClr val="FFFFFF"/>
                </a:solidFill>
                <a:latin typeface="Segoe UI"/>
                <a:cs typeface="Segoe UI"/>
              </a:rPr>
              <a:t>3</a:t>
            </a:r>
          </a:p>
        </p:txBody>
      </p:sp>
      <p:sp>
        <p:nvSpPr>
          <p:cNvPr id="21" name="TextBox 20"/>
          <p:cNvSpPr txBox="1"/>
          <p:nvPr/>
        </p:nvSpPr>
        <p:spPr>
          <a:xfrm>
            <a:off x="1691639" y="3794760"/>
            <a:ext cx="4023360" cy="457200"/>
          </a:xfrm>
          <a:prstGeom prst="rect">
            <a:avLst/>
          </a:prstGeom>
          <a:noFill/>
        </p:spPr>
        <p:txBody>
          <a:bodyPr wrap="square" lIns="0" tIns="0" rIns="0" bIns="0" anchor="t">
            <a:spAutoFit/>
          </a:bodyPr>
          <a:lstStyle/>
          <a:p>
            <a:pPr algn="l">
              <a:lnSpc>
                <a:spcPct val="100000"/>
              </a:lnSpc>
              <a:spcBef>
                <a:spcPts val="0"/>
              </a:spcBef>
              <a:spcAft>
                <a:spcPts val="400"/>
              </a:spcAft>
            </a:pPr>
            <a:r>
              <a:rPr sz="1600" b="1" i="0">
                <a:solidFill>
                  <a:srgbClr val="19A99D"/>
                </a:solidFill>
                <a:latin typeface="Segoe UI Semibold"/>
                <a:cs typeface="Segoe UI Semibold"/>
              </a:rPr>
              <a:t>Tăng rau xanh &amp; trái cây</a:t>
            </a:r>
          </a:p>
        </p:txBody>
      </p:sp>
      <p:sp>
        <p:nvSpPr>
          <p:cNvPr id="22" name="TextBox 21"/>
          <p:cNvSpPr txBox="1"/>
          <p:nvPr/>
        </p:nvSpPr>
        <p:spPr>
          <a:xfrm>
            <a:off x="1691639" y="4233672"/>
            <a:ext cx="4069080" cy="685800"/>
          </a:xfrm>
          <a:prstGeom prst="rect">
            <a:avLst/>
          </a:prstGeom>
          <a:noFill/>
        </p:spPr>
        <p:txBody>
          <a:bodyPr wrap="square" lIns="0" tIns="0" rIns="0" bIns="0" anchor="t">
            <a:spAutoFit/>
          </a:bodyPr>
          <a:lstStyle/>
          <a:p>
            <a:pPr algn="l">
              <a:lnSpc>
                <a:spcPct val="106000"/>
              </a:lnSpc>
              <a:spcBef>
                <a:spcPts val="0"/>
              </a:spcBef>
              <a:spcAft>
                <a:spcPts val="400"/>
              </a:spcAft>
            </a:pPr>
            <a:r>
              <a:rPr sz="1250" b="0" i="0">
                <a:solidFill>
                  <a:srgbClr val="1E293B"/>
                </a:solidFill>
                <a:latin typeface="Segoe UI"/>
                <a:cs typeface="Segoe UI"/>
              </a:rPr>
              <a:t>No lâu, giàu chất xơ, ít năng lượng rỗng.</a:t>
            </a:r>
          </a:p>
        </p:txBody>
      </p:sp>
      <p:sp>
        <p:nvSpPr>
          <p:cNvPr id="23" name="Rounded Rectangle 22"/>
          <p:cNvSpPr/>
          <p:nvPr/>
        </p:nvSpPr>
        <p:spPr>
          <a:xfrm>
            <a:off x="6217920" y="3611880"/>
            <a:ext cx="5257800" cy="1417320"/>
          </a:xfrm>
          <a:prstGeom prst="roundRect">
            <a:avLst>
              <a:gd name="adj" fmla="val 6000"/>
            </a:avLst>
          </a:prstGeom>
          <a:solidFill>
            <a:srgbClr val="FFFFFF"/>
          </a:solidFill>
          <a:ln w="19050">
            <a:solidFill>
              <a:srgbClr val="2866A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6473952" y="4023360"/>
            <a:ext cx="594360" cy="594360"/>
          </a:xfrm>
          <a:prstGeom prst="ellipse">
            <a:avLst/>
          </a:prstGeom>
          <a:solidFill>
            <a:srgbClr val="2866A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1800" b="1" i="0">
                <a:solidFill>
                  <a:srgbClr val="FFFFFF"/>
                </a:solidFill>
                <a:latin typeface="Segoe UI"/>
                <a:cs typeface="Segoe UI"/>
              </a:rPr>
              <a:t>4</a:t>
            </a:r>
          </a:p>
        </p:txBody>
      </p:sp>
      <p:sp>
        <p:nvSpPr>
          <p:cNvPr id="25" name="TextBox 24"/>
          <p:cNvSpPr txBox="1"/>
          <p:nvPr/>
        </p:nvSpPr>
        <p:spPr>
          <a:xfrm>
            <a:off x="7269479" y="3794760"/>
            <a:ext cx="4023360" cy="457200"/>
          </a:xfrm>
          <a:prstGeom prst="rect">
            <a:avLst/>
          </a:prstGeom>
          <a:noFill/>
        </p:spPr>
        <p:txBody>
          <a:bodyPr wrap="square" lIns="0" tIns="0" rIns="0" bIns="0" anchor="t">
            <a:spAutoFit/>
          </a:bodyPr>
          <a:lstStyle/>
          <a:p>
            <a:pPr algn="l">
              <a:lnSpc>
                <a:spcPct val="100000"/>
              </a:lnSpc>
              <a:spcBef>
                <a:spcPts val="0"/>
              </a:spcBef>
              <a:spcAft>
                <a:spcPts val="400"/>
              </a:spcAft>
            </a:pPr>
            <a:r>
              <a:rPr sz="1600" b="1" i="0">
                <a:solidFill>
                  <a:srgbClr val="2866AB"/>
                </a:solidFill>
                <a:latin typeface="Segoe UI Semibold"/>
                <a:cs typeface="Segoe UI Semibold"/>
              </a:rPr>
              <a:t>Vận động mỗi ngày</a:t>
            </a:r>
          </a:p>
        </p:txBody>
      </p:sp>
      <p:sp>
        <p:nvSpPr>
          <p:cNvPr id="26" name="TextBox 25"/>
          <p:cNvSpPr txBox="1"/>
          <p:nvPr/>
        </p:nvSpPr>
        <p:spPr>
          <a:xfrm>
            <a:off x="7269479" y="4233672"/>
            <a:ext cx="4069080" cy="685800"/>
          </a:xfrm>
          <a:prstGeom prst="rect">
            <a:avLst/>
          </a:prstGeom>
          <a:noFill/>
        </p:spPr>
        <p:txBody>
          <a:bodyPr wrap="square" lIns="0" tIns="0" rIns="0" bIns="0" anchor="t">
            <a:spAutoFit/>
          </a:bodyPr>
          <a:lstStyle/>
          <a:p>
            <a:pPr algn="l">
              <a:lnSpc>
                <a:spcPct val="106000"/>
              </a:lnSpc>
              <a:spcBef>
                <a:spcPts val="0"/>
              </a:spcBef>
              <a:spcAft>
                <a:spcPts val="400"/>
              </a:spcAft>
            </a:pPr>
            <a:r>
              <a:rPr sz="1250" b="0" i="0">
                <a:solidFill>
                  <a:srgbClr val="1E293B"/>
                </a:solidFill>
                <a:latin typeface="Segoe UI"/>
                <a:cs typeface="Segoe UI"/>
              </a:rPr>
              <a:t>≥ 60 phút/ngày; giảm thời gian ngồi xem màn hình.</a:t>
            </a:r>
          </a:p>
        </p:txBody>
      </p:sp>
      <p:sp>
        <p:nvSpPr>
          <p:cNvPr id="27" name="TextBox 26"/>
          <p:cNvSpPr txBox="1"/>
          <p:nvPr/>
        </p:nvSpPr>
        <p:spPr>
          <a:xfrm>
            <a:off x="548640" y="6144768"/>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50" b="1" i="1">
                <a:solidFill>
                  <a:srgbClr val="19A99D"/>
                </a:solidFill>
                <a:latin typeface="Segoe UI"/>
                <a:cs typeface="Segoe UI"/>
              </a:rPr>
              <a:t>Nguồn: </a:t>
            </a:r>
            <a:r>
              <a:rPr sz="950" b="0" i="1">
                <a:solidFill>
                  <a:srgbClr val="64748B"/>
                </a:solidFill>
                <a:latin typeface="Segoe UI"/>
                <a:cs typeface="Segoe UI"/>
              </a:rPr>
              <a:t>Cẩm nang dinh dưỡng cho trẻ tiểu học, Viện Dinh dưỡng – Action Education (phòng chống thừa cân, béo phì)</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384048" y="274320"/>
            <a:ext cx="384048" cy="384048"/>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4068" y="329184"/>
            <a:ext cx="104241"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66344" y="406908"/>
            <a:ext cx="274320" cy="10424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274320"/>
            <a:ext cx="2926080" cy="402336"/>
          </a:xfrm>
          <a:prstGeom prst="rect">
            <a:avLst/>
          </a:prstGeom>
          <a:noFill/>
        </p:spPr>
        <p:txBody>
          <a:bodyPr wrap="square" lIns="0" tIns="0" rIns="0" bIns="0" anchor="ctr">
            <a:spAutoFit/>
          </a:bodyPr>
          <a:lstStyle/>
          <a:p>
            <a:pPr algn="l">
              <a:lnSpc>
                <a:spcPct val="100000"/>
              </a:lnSpc>
              <a:spcBef>
                <a:spcPts val="0"/>
              </a:spcBef>
              <a:spcAft>
                <a:spcPts val="400"/>
              </a:spcAft>
            </a:pPr>
            <a:r>
              <a:rPr sz="1300" b="1" i="0">
                <a:solidFill>
                  <a:srgbClr val="1E293B"/>
                </a:solidFill>
                <a:latin typeface="Segoe UI"/>
                <a:cs typeface="Segoe UI"/>
              </a:rPr>
              <a:t>DINH DƯỠNG </a:t>
            </a:r>
            <a:r>
              <a:rPr sz="1300" b="1" i="0">
                <a:solidFill>
                  <a:srgbClr val="19A99D"/>
                </a:solidFill>
                <a:latin typeface="Segoe UI"/>
                <a:cs typeface="Segoe UI"/>
              </a:rPr>
              <a:t>NHI KHOA</a:t>
            </a:r>
          </a:p>
        </p:txBody>
      </p:sp>
      <p:sp>
        <p:nvSpPr>
          <p:cNvPr id="6" name="Rectangle 5"/>
          <p:cNvSpPr/>
          <p:nvPr/>
        </p:nvSpPr>
        <p:spPr>
          <a:xfrm>
            <a:off x="0" y="6473952"/>
            <a:ext cx="12191695" cy="384048"/>
          </a:xfrm>
          <a:prstGeom prst="rect">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492240"/>
            <a:ext cx="9601200" cy="347472"/>
          </a:xfrm>
          <a:prstGeom prst="rect">
            <a:avLst/>
          </a:prstGeom>
          <a:noFill/>
        </p:spPr>
        <p:txBody>
          <a:bodyPr wrap="square" lIns="0" tIns="0" rIns="0" bIns="0" anchor="ctr">
            <a:spAutoFit/>
          </a:bodyPr>
          <a:lstStyle/>
          <a:p>
            <a:pPr algn="l">
              <a:lnSpc>
                <a:spcPct val="100000"/>
              </a:lnSpc>
              <a:spcBef>
                <a:spcPts val="0"/>
              </a:spcBef>
              <a:spcAft>
                <a:spcPts val="400"/>
              </a:spcAft>
            </a:pPr>
            <a:r>
              <a:rPr sz="950" b="0" i="0">
                <a:solidFill>
                  <a:srgbClr val="FFFFFF"/>
                </a:solidFill>
                <a:latin typeface="Segoe UI"/>
                <a:cs typeface="Segoe UI"/>
              </a:rPr>
              <a:t>Chuyên đề 2 · Dinh dưỡng – nền tảng cho miễn dịch &amp; sự phát triển của trẻ  ·  TS. Lê Thị Thùy Dung</a:t>
            </a:r>
          </a:p>
        </p:txBody>
      </p:sp>
      <p:sp>
        <p:nvSpPr>
          <p:cNvPr id="8" name="TextBox 7"/>
          <p:cNvSpPr txBox="1"/>
          <p:nvPr/>
        </p:nvSpPr>
        <p:spPr>
          <a:xfrm>
            <a:off x="11185855" y="6492240"/>
            <a:ext cx="548640" cy="347472"/>
          </a:xfrm>
          <a:prstGeom prst="rect">
            <a:avLst/>
          </a:prstGeom>
          <a:noFill/>
        </p:spPr>
        <p:txBody>
          <a:bodyPr wrap="square" lIns="0" tIns="0" rIns="0" bIns="0" anchor="ctr">
            <a:spAutoFit/>
          </a:bodyPr>
          <a:lstStyle/>
          <a:p>
            <a:pPr algn="r">
              <a:lnSpc>
                <a:spcPct val="100000"/>
              </a:lnSpc>
              <a:spcBef>
                <a:spcPts val="0"/>
              </a:spcBef>
              <a:spcAft>
                <a:spcPts val="400"/>
              </a:spcAft>
            </a:pPr>
            <a:r>
              <a:rPr sz="1000" b="1" i="0">
                <a:solidFill>
                  <a:srgbClr val="FFFFFF"/>
                </a:solidFill>
                <a:latin typeface="Segoe UI"/>
                <a:cs typeface="Segoe UI"/>
              </a:rPr>
              <a:t>37</a:t>
            </a:r>
          </a:p>
        </p:txBody>
      </p:sp>
      <p:sp>
        <p:nvSpPr>
          <p:cNvPr id="9" name="TextBox 8"/>
          <p:cNvSpPr txBox="1"/>
          <p:nvPr/>
        </p:nvSpPr>
        <p:spPr>
          <a:xfrm>
            <a:off x="548640" y="841248"/>
            <a:ext cx="10881360" cy="566928"/>
          </a:xfrm>
          <a:prstGeom prst="rect">
            <a:avLst/>
          </a:prstGeom>
          <a:noFill/>
        </p:spPr>
        <p:txBody>
          <a:bodyPr wrap="square" lIns="0" tIns="0" rIns="0" bIns="0" anchor="t">
            <a:spAutoFit/>
          </a:bodyPr>
          <a:lstStyle/>
          <a:p>
            <a:pPr algn="l">
              <a:lnSpc>
                <a:spcPct val="100000"/>
              </a:lnSpc>
              <a:spcBef>
                <a:spcPts val="0"/>
              </a:spcBef>
              <a:spcAft>
                <a:spcPts val="400"/>
              </a:spcAft>
            </a:pPr>
            <a:r>
              <a:rPr sz="2700" b="1" i="0">
                <a:solidFill>
                  <a:srgbClr val="19A99D"/>
                </a:solidFill>
                <a:latin typeface="Segoe UI Semibold"/>
                <a:cs typeface="Segoe UI Semibold"/>
              </a:rPr>
              <a:t>10 lời khuyên cho cha mẹ</a:t>
            </a:r>
          </a:p>
        </p:txBody>
      </p:sp>
      <p:sp>
        <p:nvSpPr>
          <p:cNvPr id="10" name="TextBox 9"/>
          <p:cNvSpPr txBox="1"/>
          <p:nvPr/>
        </p:nvSpPr>
        <p:spPr>
          <a:xfrm>
            <a:off x="548640" y="1408176"/>
            <a:ext cx="10881360" cy="365760"/>
          </a:xfrm>
          <a:prstGeom prst="rect">
            <a:avLst/>
          </a:prstGeom>
          <a:noFill/>
        </p:spPr>
        <p:txBody>
          <a:bodyPr wrap="square" lIns="0" tIns="0" rIns="0" bIns="0" anchor="t">
            <a:spAutoFit/>
          </a:bodyPr>
          <a:lstStyle/>
          <a:p>
            <a:pPr algn="l">
              <a:lnSpc>
                <a:spcPct val="100000"/>
              </a:lnSpc>
              <a:spcBef>
                <a:spcPts val="0"/>
              </a:spcBef>
              <a:spcAft>
                <a:spcPts val="400"/>
              </a:spcAft>
            </a:pPr>
            <a:r>
              <a:rPr sz="1500" b="0" i="1">
                <a:solidFill>
                  <a:srgbClr val="64748B"/>
                </a:solidFill>
                <a:latin typeface="Segoe UI"/>
                <a:cs typeface="Segoe UI"/>
              </a:rPr>
              <a:t>Những việc làm được ngay từ hôm nay</a:t>
            </a:r>
          </a:p>
        </p:txBody>
      </p:sp>
      <p:sp>
        <p:nvSpPr>
          <p:cNvPr id="11" name="Oval 10"/>
          <p:cNvSpPr/>
          <p:nvPr/>
        </p:nvSpPr>
        <p:spPr>
          <a:xfrm>
            <a:off x="640080" y="1828800"/>
            <a:ext cx="457200" cy="457200"/>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1400" b="1" i="0">
                <a:solidFill>
                  <a:srgbClr val="FFFFFF"/>
                </a:solidFill>
                <a:latin typeface="Segoe UI"/>
                <a:cs typeface="Segoe UI"/>
              </a:rPr>
              <a:t>1</a:t>
            </a:r>
          </a:p>
        </p:txBody>
      </p:sp>
      <p:sp>
        <p:nvSpPr>
          <p:cNvPr id="12" name="TextBox 11"/>
          <p:cNvSpPr txBox="1"/>
          <p:nvPr/>
        </p:nvSpPr>
        <p:spPr>
          <a:xfrm>
            <a:off x="1261872" y="1810512"/>
            <a:ext cx="4846320" cy="777240"/>
          </a:xfrm>
          <a:prstGeom prst="rect">
            <a:avLst/>
          </a:prstGeom>
          <a:noFill/>
        </p:spPr>
        <p:txBody>
          <a:bodyPr wrap="square" lIns="0" tIns="0" rIns="0" bIns="0" anchor="ctr">
            <a:spAutoFit/>
          </a:bodyPr>
          <a:lstStyle/>
          <a:p>
            <a:pPr algn="l">
              <a:lnSpc>
                <a:spcPct val="103000"/>
              </a:lnSpc>
              <a:spcBef>
                <a:spcPts val="0"/>
              </a:spcBef>
              <a:spcAft>
                <a:spcPts val="400"/>
              </a:spcAft>
            </a:pPr>
            <a:r>
              <a:rPr sz="1250" b="0" i="0">
                <a:solidFill>
                  <a:srgbClr val="1E293B"/>
                </a:solidFill>
                <a:latin typeface="Segoe UI"/>
                <a:cs typeface="Segoe UI"/>
              </a:rPr>
              <a:t>Cho con bú mẹ hoàn toàn 6 tháng đầu, kéo dài tới 24 tháng.</a:t>
            </a:r>
          </a:p>
        </p:txBody>
      </p:sp>
      <p:sp>
        <p:nvSpPr>
          <p:cNvPr id="13" name="Oval 12"/>
          <p:cNvSpPr/>
          <p:nvPr/>
        </p:nvSpPr>
        <p:spPr>
          <a:xfrm>
            <a:off x="6263640" y="1828800"/>
            <a:ext cx="457200" cy="457200"/>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1400" b="1" i="0">
                <a:solidFill>
                  <a:srgbClr val="FFFFFF"/>
                </a:solidFill>
                <a:latin typeface="Segoe UI"/>
                <a:cs typeface="Segoe UI"/>
              </a:rPr>
              <a:t>2</a:t>
            </a:r>
          </a:p>
        </p:txBody>
      </p:sp>
      <p:sp>
        <p:nvSpPr>
          <p:cNvPr id="14" name="TextBox 13"/>
          <p:cNvSpPr txBox="1"/>
          <p:nvPr/>
        </p:nvSpPr>
        <p:spPr>
          <a:xfrm>
            <a:off x="6885432" y="1810512"/>
            <a:ext cx="4846320" cy="777240"/>
          </a:xfrm>
          <a:prstGeom prst="rect">
            <a:avLst/>
          </a:prstGeom>
          <a:noFill/>
        </p:spPr>
        <p:txBody>
          <a:bodyPr wrap="square" lIns="0" tIns="0" rIns="0" bIns="0" anchor="ctr">
            <a:spAutoFit/>
          </a:bodyPr>
          <a:lstStyle/>
          <a:p>
            <a:pPr algn="l">
              <a:lnSpc>
                <a:spcPct val="103000"/>
              </a:lnSpc>
              <a:spcBef>
                <a:spcPts val="0"/>
              </a:spcBef>
              <a:spcAft>
                <a:spcPts val="400"/>
              </a:spcAft>
            </a:pPr>
            <a:r>
              <a:rPr sz="1250" b="0" i="0">
                <a:solidFill>
                  <a:srgbClr val="1E293B"/>
                </a:solidFill>
                <a:latin typeface="Segoe UI"/>
                <a:cs typeface="Segoe UI"/>
              </a:rPr>
              <a:t>Bắt đầu ăn bổ sung khi tròn 6 tháng – đủ 4 nhóm thực phẩm.</a:t>
            </a:r>
          </a:p>
        </p:txBody>
      </p:sp>
      <p:sp>
        <p:nvSpPr>
          <p:cNvPr id="15" name="Oval 14"/>
          <p:cNvSpPr/>
          <p:nvPr/>
        </p:nvSpPr>
        <p:spPr>
          <a:xfrm>
            <a:off x="640080" y="2670048"/>
            <a:ext cx="457200" cy="457200"/>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1400" b="1" i="0">
                <a:solidFill>
                  <a:srgbClr val="FFFFFF"/>
                </a:solidFill>
                <a:latin typeface="Segoe UI"/>
                <a:cs typeface="Segoe UI"/>
              </a:rPr>
              <a:t>3</a:t>
            </a:r>
          </a:p>
        </p:txBody>
      </p:sp>
      <p:sp>
        <p:nvSpPr>
          <p:cNvPr id="16" name="TextBox 15"/>
          <p:cNvSpPr txBox="1"/>
          <p:nvPr/>
        </p:nvSpPr>
        <p:spPr>
          <a:xfrm>
            <a:off x="1261872" y="2651760"/>
            <a:ext cx="4846320" cy="777240"/>
          </a:xfrm>
          <a:prstGeom prst="rect">
            <a:avLst/>
          </a:prstGeom>
          <a:noFill/>
        </p:spPr>
        <p:txBody>
          <a:bodyPr wrap="square" lIns="0" tIns="0" rIns="0" bIns="0" anchor="ctr">
            <a:spAutoFit/>
          </a:bodyPr>
          <a:lstStyle/>
          <a:p>
            <a:pPr algn="l">
              <a:lnSpc>
                <a:spcPct val="103000"/>
              </a:lnSpc>
              <a:spcBef>
                <a:spcPts val="0"/>
              </a:spcBef>
              <a:spcAft>
                <a:spcPts val="400"/>
              </a:spcAft>
            </a:pPr>
            <a:r>
              <a:rPr sz="1250" b="0" i="0">
                <a:solidFill>
                  <a:srgbClr val="1E293B"/>
                </a:solidFill>
                <a:latin typeface="Segoe UI"/>
                <a:cs typeface="Segoe UI"/>
              </a:rPr>
              <a:t>Mỗi bữa “tô màu” đủ trắng – đỏ – xanh – vàng.</a:t>
            </a:r>
          </a:p>
        </p:txBody>
      </p:sp>
      <p:sp>
        <p:nvSpPr>
          <p:cNvPr id="17" name="Oval 16"/>
          <p:cNvSpPr/>
          <p:nvPr/>
        </p:nvSpPr>
        <p:spPr>
          <a:xfrm>
            <a:off x="6263640" y="2670048"/>
            <a:ext cx="457200" cy="457200"/>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1400" b="1" i="0">
                <a:solidFill>
                  <a:srgbClr val="FFFFFF"/>
                </a:solidFill>
                <a:latin typeface="Segoe UI"/>
                <a:cs typeface="Segoe UI"/>
              </a:rPr>
              <a:t>4</a:t>
            </a:r>
          </a:p>
        </p:txBody>
      </p:sp>
      <p:sp>
        <p:nvSpPr>
          <p:cNvPr id="18" name="TextBox 17"/>
          <p:cNvSpPr txBox="1"/>
          <p:nvPr/>
        </p:nvSpPr>
        <p:spPr>
          <a:xfrm>
            <a:off x="6885432" y="2651760"/>
            <a:ext cx="4846320" cy="777240"/>
          </a:xfrm>
          <a:prstGeom prst="rect">
            <a:avLst/>
          </a:prstGeom>
          <a:noFill/>
        </p:spPr>
        <p:txBody>
          <a:bodyPr wrap="square" lIns="0" tIns="0" rIns="0" bIns="0" anchor="ctr">
            <a:spAutoFit/>
          </a:bodyPr>
          <a:lstStyle/>
          <a:p>
            <a:pPr algn="l">
              <a:lnSpc>
                <a:spcPct val="103000"/>
              </a:lnSpc>
              <a:spcBef>
                <a:spcPts val="0"/>
              </a:spcBef>
              <a:spcAft>
                <a:spcPts val="400"/>
              </a:spcAft>
            </a:pPr>
            <a:r>
              <a:rPr sz="1250" b="0" i="0">
                <a:solidFill>
                  <a:srgbClr val="1E293B"/>
                </a:solidFill>
                <a:latin typeface="Segoe UI"/>
                <a:cs typeface="Segoe UI"/>
              </a:rPr>
              <a:t>Ưu tiên đạm động vật: thịt, cá, trứng, sữa, hải sản.</a:t>
            </a:r>
          </a:p>
        </p:txBody>
      </p:sp>
      <p:sp>
        <p:nvSpPr>
          <p:cNvPr id="19" name="Oval 18"/>
          <p:cNvSpPr/>
          <p:nvPr/>
        </p:nvSpPr>
        <p:spPr>
          <a:xfrm>
            <a:off x="640080" y="3511296"/>
            <a:ext cx="457200" cy="457200"/>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1400" b="1" i="0">
                <a:solidFill>
                  <a:srgbClr val="FFFFFF"/>
                </a:solidFill>
                <a:latin typeface="Segoe UI"/>
                <a:cs typeface="Segoe UI"/>
              </a:rPr>
              <a:t>5</a:t>
            </a:r>
          </a:p>
        </p:txBody>
      </p:sp>
      <p:sp>
        <p:nvSpPr>
          <p:cNvPr id="20" name="TextBox 19"/>
          <p:cNvSpPr txBox="1"/>
          <p:nvPr/>
        </p:nvSpPr>
        <p:spPr>
          <a:xfrm>
            <a:off x="1261872" y="3493008"/>
            <a:ext cx="4846320" cy="777240"/>
          </a:xfrm>
          <a:prstGeom prst="rect">
            <a:avLst/>
          </a:prstGeom>
          <a:noFill/>
        </p:spPr>
        <p:txBody>
          <a:bodyPr wrap="square" lIns="0" tIns="0" rIns="0" bIns="0" anchor="ctr">
            <a:spAutoFit/>
          </a:bodyPr>
          <a:lstStyle/>
          <a:p>
            <a:pPr algn="l">
              <a:lnSpc>
                <a:spcPct val="103000"/>
              </a:lnSpc>
              <a:spcBef>
                <a:spcPts val="0"/>
              </a:spcBef>
              <a:spcAft>
                <a:spcPts val="400"/>
              </a:spcAft>
            </a:pPr>
            <a:r>
              <a:rPr sz="1250" b="0" i="0">
                <a:solidFill>
                  <a:srgbClr val="1E293B"/>
                </a:solidFill>
                <a:latin typeface="Segoe UI"/>
                <a:cs typeface="Segoe UI"/>
              </a:rPr>
              <a:t>Bổ sung canxi + tắm nắng sáng cho xương chắc khỏe.</a:t>
            </a:r>
          </a:p>
        </p:txBody>
      </p:sp>
      <p:sp>
        <p:nvSpPr>
          <p:cNvPr id="21" name="Oval 20"/>
          <p:cNvSpPr/>
          <p:nvPr/>
        </p:nvSpPr>
        <p:spPr>
          <a:xfrm>
            <a:off x="6263640" y="3511296"/>
            <a:ext cx="457200" cy="457200"/>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1400" b="1" i="0">
                <a:solidFill>
                  <a:srgbClr val="FFFFFF"/>
                </a:solidFill>
                <a:latin typeface="Segoe UI"/>
                <a:cs typeface="Segoe UI"/>
              </a:rPr>
              <a:t>6</a:t>
            </a:r>
          </a:p>
        </p:txBody>
      </p:sp>
      <p:sp>
        <p:nvSpPr>
          <p:cNvPr id="22" name="TextBox 21"/>
          <p:cNvSpPr txBox="1"/>
          <p:nvPr/>
        </p:nvSpPr>
        <p:spPr>
          <a:xfrm>
            <a:off x="6885432" y="3493008"/>
            <a:ext cx="4846320" cy="777240"/>
          </a:xfrm>
          <a:prstGeom prst="rect">
            <a:avLst/>
          </a:prstGeom>
          <a:noFill/>
        </p:spPr>
        <p:txBody>
          <a:bodyPr wrap="square" lIns="0" tIns="0" rIns="0" bIns="0" anchor="ctr">
            <a:spAutoFit/>
          </a:bodyPr>
          <a:lstStyle/>
          <a:p>
            <a:pPr algn="l">
              <a:lnSpc>
                <a:spcPct val="103000"/>
              </a:lnSpc>
              <a:spcBef>
                <a:spcPts val="0"/>
              </a:spcBef>
              <a:spcAft>
                <a:spcPts val="400"/>
              </a:spcAft>
            </a:pPr>
            <a:r>
              <a:rPr sz="1250" b="0" i="0">
                <a:solidFill>
                  <a:srgbClr val="1E293B"/>
                </a:solidFill>
                <a:latin typeface="Segoe UI"/>
                <a:cs typeface="Segoe UI"/>
              </a:rPr>
              <a:t>Cho trẻ ăn rau xanh, trái cây mỗi ngày.</a:t>
            </a:r>
          </a:p>
        </p:txBody>
      </p:sp>
      <p:sp>
        <p:nvSpPr>
          <p:cNvPr id="23" name="Oval 22"/>
          <p:cNvSpPr/>
          <p:nvPr/>
        </p:nvSpPr>
        <p:spPr>
          <a:xfrm>
            <a:off x="640080" y="4352544"/>
            <a:ext cx="457200" cy="457200"/>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1400" b="1" i="0">
                <a:solidFill>
                  <a:srgbClr val="FFFFFF"/>
                </a:solidFill>
                <a:latin typeface="Segoe UI"/>
                <a:cs typeface="Segoe UI"/>
              </a:rPr>
              <a:t>7</a:t>
            </a:r>
          </a:p>
        </p:txBody>
      </p:sp>
      <p:sp>
        <p:nvSpPr>
          <p:cNvPr id="24" name="TextBox 23"/>
          <p:cNvSpPr txBox="1"/>
          <p:nvPr/>
        </p:nvSpPr>
        <p:spPr>
          <a:xfrm>
            <a:off x="1261872" y="4334256"/>
            <a:ext cx="4846320" cy="777240"/>
          </a:xfrm>
          <a:prstGeom prst="rect">
            <a:avLst/>
          </a:prstGeom>
          <a:noFill/>
        </p:spPr>
        <p:txBody>
          <a:bodyPr wrap="square" lIns="0" tIns="0" rIns="0" bIns="0" anchor="ctr">
            <a:spAutoFit/>
          </a:bodyPr>
          <a:lstStyle/>
          <a:p>
            <a:pPr algn="l">
              <a:lnSpc>
                <a:spcPct val="103000"/>
              </a:lnSpc>
              <a:spcBef>
                <a:spcPts val="0"/>
              </a:spcBef>
              <a:spcAft>
                <a:spcPts val="400"/>
              </a:spcAft>
            </a:pPr>
            <a:r>
              <a:rPr sz="1250" b="0" i="0">
                <a:solidFill>
                  <a:srgbClr val="1E293B"/>
                </a:solidFill>
                <a:latin typeface="Segoe UI"/>
                <a:cs typeface="Segoe UI"/>
              </a:rPr>
              <a:t>Hạn chế đường, nước ngọt, đồ chiên rán.</a:t>
            </a:r>
          </a:p>
        </p:txBody>
      </p:sp>
      <p:sp>
        <p:nvSpPr>
          <p:cNvPr id="25" name="Oval 24"/>
          <p:cNvSpPr/>
          <p:nvPr/>
        </p:nvSpPr>
        <p:spPr>
          <a:xfrm>
            <a:off x="6263640" y="4352544"/>
            <a:ext cx="457200" cy="457200"/>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1400" b="1" i="0">
                <a:solidFill>
                  <a:srgbClr val="FFFFFF"/>
                </a:solidFill>
                <a:latin typeface="Segoe UI"/>
                <a:cs typeface="Segoe UI"/>
              </a:rPr>
              <a:t>8</a:t>
            </a:r>
          </a:p>
        </p:txBody>
      </p:sp>
      <p:sp>
        <p:nvSpPr>
          <p:cNvPr id="26" name="TextBox 25"/>
          <p:cNvSpPr txBox="1"/>
          <p:nvPr/>
        </p:nvSpPr>
        <p:spPr>
          <a:xfrm>
            <a:off x="6885432" y="4334256"/>
            <a:ext cx="4846320" cy="777240"/>
          </a:xfrm>
          <a:prstGeom prst="rect">
            <a:avLst/>
          </a:prstGeom>
          <a:noFill/>
        </p:spPr>
        <p:txBody>
          <a:bodyPr wrap="square" lIns="0" tIns="0" rIns="0" bIns="0" anchor="ctr">
            <a:spAutoFit/>
          </a:bodyPr>
          <a:lstStyle/>
          <a:p>
            <a:pPr algn="l">
              <a:lnSpc>
                <a:spcPct val="103000"/>
              </a:lnSpc>
              <a:spcBef>
                <a:spcPts val="0"/>
              </a:spcBef>
              <a:spcAft>
                <a:spcPts val="400"/>
              </a:spcAft>
            </a:pPr>
            <a:r>
              <a:rPr sz="1250" b="0" i="0">
                <a:solidFill>
                  <a:srgbClr val="1E293B"/>
                </a:solidFill>
                <a:latin typeface="Segoe UI"/>
                <a:cs typeface="Segoe UI"/>
              </a:rPr>
              <a:t>Rửa tay – ăn chín – uống sôi để phòng bệnh.</a:t>
            </a:r>
          </a:p>
        </p:txBody>
      </p:sp>
      <p:sp>
        <p:nvSpPr>
          <p:cNvPr id="27" name="Oval 26"/>
          <p:cNvSpPr/>
          <p:nvPr/>
        </p:nvSpPr>
        <p:spPr>
          <a:xfrm>
            <a:off x="640080" y="5193792"/>
            <a:ext cx="457200" cy="457200"/>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1400" b="1" i="0">
                <a:solidFill>
                  <a:srgbClr val="FFFFFF"/>
                </a:solidFill>
                <a:latin typeface="Segoe UI"/>
                <a:cs typeface="Segoe UI"/>
              </a:rPr>
              <a:t>9</a:t>
            </a:r>
          </a:p>
        </p:txBody>
      </p:sp>
      <p:sp>
        <p:nvSpPr>
          <p:cNvPr id="28" name="TextBox 27"/>
          <p:cNvSpPr txBox="1"/>
          <p:nvPr/>
        </p:nvSpPr>
        <p:spPr>
          <a:xfrm>
            <a:off x="1261872" y="5175504"/>
            <a:ext cx="4846320" cy="777240"/>
          </a:xfrm>
          <a:prstGeom prst="rect">
            <a:avLst/>
          </a:prstGeom>
          <a:noFill/>
        </p:spPr>
        <p:txBody>
          <a:bodyPr wrap="square" lIns="0" tIns="0" rIns="0" bIns="0" anchor="ctr">
            <a:spAutoFit/>
          </a:bodyPr>
          <a:lstStyle/>
          <a:p>
            <a:pPr algn="l">
              <a:lnSpc>
                <a:spcPct val="103000"/>
              </a:lnSpc>
              <a:spcBef>
                <a:spcPts val="0"/>
              </a:spcBef>
              <a:spcAft>
                <a:spcPts val="400"/>
              </a:spcAft>
            </a:pPr>
            <a:r>
              <a:rPr sz="1250" b="0" i="0">
                <a:solidFill>
                  <a:srgbClr val="1E293B"/>
                </a:solidFill>
                <a:latin typeface="Segoe UI"/>
                <a:cs typeface="Segoe UI"/>
              </a:rPr>
              <a:t>Cho trẻ vận động ≥ 60 phút và ngủ trước 22h.</a:t>
            </a:r>
          </a:p>
        </p:txBody>
      </p:sp>
      <p:sp>
        <p:nvSpPr>
          <p:cNvPr id="29" name="Oval 28"/>
          <p:cNvSpPr/>
          <p:nvPr/>
        </p:nvSpPr>
        <p:spPr>
          <a:xfrm>
            <a:off x="6263640" y="5193792"/>
            <a:ext cx="457200" cy="457200"/>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1400" b="1" i="0">
                <a:solidFill>
                  <a:srgbClr val="FFFFFF"/>
                </a:solidFill>
                <a:latin typeface="Segoe UI"/>
                <a:cs typeface="Segoe UI"/>
              </a:rPr>
              <a:t>10</a:t>
            </a:r>
          </a:p>
        </p:txBody>
      </p:sp>
      <p:sp>
        <p:nvSpPr>
          <p:cNvPr id="30" name="TextBox 29"/>
          <p:cNvSpPr txBox="1"/>
          <p:nvPr/>
        </p:nvSpPr>
        <p:spPr>
          <a:xfrm>
            <a:off x="6885432" y="5175504"/>
            <a:ext cx="4846320" cy="777240"/>
          </a:xfrm>
          <a:prstGeom prst="rect">
            <a:avLst/>
          </a:prstGeom>
          <a:noFill/>
        </p:spPr>
        <p:txBody>
          <a:bodyPr wrap="square" lIns="0" tIns="0" rIns="0" bIns="0" anchor="ctr">
            <a:spAutoFit/>
          </a:bodyPr>
          <a:lstStyle/>
          <a:p>
            <a:pPr algn="l">
              <a:lnSpc>
                <a:spcPct val="103000"/>
              </a:lnSpc>
              <a:spcBef>
                <a:spcPts val="0"/>
              </a:spcBef>
              <a:spcAft>
                <a:spcPts val="400"/>
              </a:spcAft>
            </a:pPr>
            <a:r>
              <a:rPr sz="1250" b="0" i="0">
                <a:solidFill>
                  <a:srgbClr val="1E293B"/>
                </a:solidFill>
                <a:latin typeface="Segoe UI"/>
                <a:cs typeface="Segoe UI"/>
              </a:rPr>
              <a:t>Cân – đo định kỳ; khám dinh dưỡng khi trẻ chững tăng trưởng.</a:t>
            </a:r>
          </a:p>
        </p:txBody>
      </p:sp>
      <p:sp>
        <p:nvSpPr>
          <p:cNvPr id="31" name="TextBox 30"/>
          <p:cNvSpPr txBox="1"/>
          <p:nvPr/>
        </p:nvSpPr>
        <p:spPr>
          <a:xfrm>
            <a:off x="548640" y="6144768"/>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50" b="1" i="1">
                <a:solidFill>
                  <a:srgbClr val="19A99D"/>
                </a:solidFill>
                <a:latin typeface="Segoe UI"/>
                <a:cs typeface="Segoe UI"/>
              </a:rPr>
              <a:t>Nguồn: </a:t>
            </a:r>
            <a:r>
              <a:rPr sz="950" b="0" i="1">
                <a:solidFill>
                  <a:srgbClr val="64748B"/>
                </a:solidFill>
                <a:latin typeface="Segoe UI"/>
                <a:cs typeface="Segoe UI"/>
              </a:rPr>
              <a:t>Tổng hợp từ các tài liệu Bộ Y tế &amp; Viện Dinh dưỡng (chi tiết ở slide Tài liệu tham khảo)</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2A6041"/>
        </a:solidFill>
        <a:effectLst/>
      </p:bgPr>
    </p:bg>
    <p:spTree>
      <p:nvGrpSpPr>
        <p:cNvPr id="1" name=""/>
        <p:cNvGrpSpPr/>
        <p:nvPr/>
      </p:nvGrpSpPr>
      <p:grpSpPr>
        <a:xfrm>
          <a:off x="0" y="0"/>
          <a:ext cx="0" cy="0"/>
          <a:chOff x="0" y="0"/>
          <a:chExt cx="0" cy="0"/>
        </a:xfrm>
      </p:grpSpPr>
      <p:sp>
        <p:nvSpPr>
          <p:cNvPr id="2" name="Rectangle 1"/>
          <p:cNvSpPr/>
          <p:nvPr/>
        </p:nvSpPr>
        <p:spPr>
          <a:xfrm>
            <a:off x="0" y="6473952"/>
            <a:ext cx="12191695" cy="384048"/>
          </a:xfrm>
          <a:prstGeom prst="rect">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6492240"/>
            <a:ext cx="9601200" cy="347472"/>
          </a:xfrm>
          <a:prstGeom prst="rect">
            <a:avLst/>
          </a:prstGeom>
          <a:noFill/>
        </p:spPr>
        <p:txBody>
          <a:bodyPr wrap="square" lIns="0" tIns="0" rIns="0" bIns="0" anchor="ctr">
            <a:spAutoFit/>
          </a:bodyPr>
          <a:lstStyle/>
          <a:p>
            <a:pPr algn="l">
              <a:lnSpc>
                <a:spcPct val="100000"/>
              </a:lnSpc>
              <a:spcBef>
                <a:spcPts val="0"/>
              </a:spcBef>
              <a:spcAft>
                <a:spcPts val="400"/>
              </a:spcAft>
            </a:pPr>
            <a:r>
              <a:rPr sz="950" b="0" i="0">
                <a:solidFill>
                  <a:srgbClr val="FFFFFF"/>
                </a:solidFill>
                <a:latin typeface="Segoe UI"/>
                <a:cs typeface="Segoe UI"/>
              </a:rPr>
              <a:t>Chuyên đề 2 · Dinh dưỡng – nền tảng cho miễn dịch &amp; sự phát triển của trẻ  ·  TS. Lê Thị Thùy Dung</a:t>
            </a:r>
          </a:p>
        </p:txBody>
      </p:sp>
      <p:sp>
        <p:nvSpPr>
          <p:cNvPr id="4" name="TextBox 3"/>
          <p:cNvSpPr txBox="1"/>
          <p:nvPr/>
        </p:nvSpPr>
        <p:spPr>
          <a:xfrm>
            <a:off x="11185855" y="6492240"/>
            <a:ext cx="548640" cy="347472"/>
          </a:xfrm>
          <a:prstGeom prst="rect">
            <a:avLst/>
          </a:prstGeom>
          <a:noFill/>
        </p:spPr>
        <p:txBody>
          <a:bodyPr wrap="square" lIns="0" tIns="0" rIns="0" bIns="0" anchor="ctr">
            <a:spAutoFit/>
          </a:bodyPr>
          <a:lstStyle/>
          <a:p>
            <a:pPr algn="r">
              <a:lnSpc>
                <a:spcPct val="100000"/>
              </a:lnSpc>
              <a:spcBef>
                <a:spcPts val="0"/>
              </a:spcBef>
              <a:spcAft>
                <a:spcPts val="400"/>
              </a:spcAft>
            </a:pPr>
            <a:r>
              <a:rPr sz="1000" b="1" i="0">
                <a:solidFill>
                  <a:srgbClr val="FFFFFF"/>
                </a:solidFill>
                <a:latin typeface="Segoe UI"/>
                <a:cs typeface="Segoe UI"/>
              </a:rPr>
              <a:t>38</a:t>
            </a:r>
          </a:p>
        </p:txBody>
      </p:sp>
      <p:sp>
        <p:nvSpPr>
          <p:cNvPr id="5" name="Oval 4"/>
          <p:cNvSpPr/>
          <p:nvPr/>
        </p:nvSpPr>
        <p:spPr>
          <a:xfrm>
            <a:off x="10424160" y="457200"/>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570464" y="457200"/>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716768" y="457200"/>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63072" y="457200"/>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009376" y="457200"/>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155680" y="457200"/>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10424160" y="603504"/>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0570464" y="603504"/>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0716768" y="603504"/>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0863072" y="603504"/>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1009376" y="603504"/>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1155680" y="603504"/>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0424160" y="749808"/>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0570464" y="749808"/>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0716768" y="749808"/>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0863072" y="749808"/>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11009376" y="749808"/>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1155680" y="749808"/>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0424160" y="896112"/>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0570464" y="896112"/>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0716768" y="896112"/>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0863072" y="896112"/>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11009376" y="896112"/>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11155680" y="896112"/>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0080" y="640080"/>
            <a:ext cx="10972800" cy="731520"/>
          </a:xfrm>
          <a:prstGeom prst="rect">
            <a:avLst/>
          </a:prstGeom>
          <a:noFill/>
        </p:spPr>
        <p:txBody>
          <a:bodyPr wrap="square" lIns="0" tIns="0" rIns="0" bIns="0" anchor="t">
            <a:spAutoFit/>
          </a:bodyPr>
          <a:lstStyle/>
          <a:p>
            <a:pPr algn="l">
              <a:lnSpc>
                <a:spcPct val="100000"/>
              </a:lnSpc>
              <a:spcBef>
                <a:spcPts val="0"/>
              </a:spcBef>
              <a:spcAft>
                <a:spcPts val="400"/>
              </a:spcAft>
            </a:pPr>
            <a:r>
              <a:rPr sz="3000" b="1" i="0">
                <a:solidFill>
                  <a:srgbClr val="FFFFFF"/>
                </a:solidFill>
                <a:latin typeface="Segoe UI Semibold"/>
                <a:cs typeface="Segoe UI Semibold"/>
              </a:rPr>
              <a:t>Bốn thông điệp cốt lõi</a:t>
            </a:r>
          </a:p>
        </p:txBody>
      </p:sp>
      <p:sp>
        <p:nvSpPr>
          <p:cNvPr id="30" name="Rounded Rectangle 29"/>
          <p:cNvSpPr/>
          <p:nvPr/>
        </p:nvSpPr>
        <p:spPr>
          <a:xfrm>
            <a:off x="640080" y="1691640"/>
            <a:ext cx="5303520" cy="1874519"/>
          </a:xfrm>
          <a:prstGeom prst="roundRect">
            <a:avLst>
              <a:gd name="adj" fmla="val 5000"/>
            </a:avLst>
          </a:prstGeom>
          <a:solidFill>
            <a:srgbClr val="224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914400" y="1984248"/>
            <a:ext cx="777240" cy="777240"/>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2400" b="1" i="0">
                <a:solidFill>
                  <a:srgbClr val="FFFFFF"/>
                </a:solidFill>
                <a:latin typeface="Segoe UI"/>
                <a:cs typeface="Segoe UI"/>
              </a:rPr>
              <a:t>1</a:t>
            </a:r>
          </a:p>
        </p:txBody>
      </p:sp>
      <p:sp>
        <p:nvSpPr>
          <p:cNvPr id="32" name="TextBox 31"/>
          <p:cNvSpPr txBox="1"/>
          <p:nvPr/>
        </p:nvSpPr>
        <p:spPr>
          <a:xfrm>
            <a:off x="1874519" y="1965960"/>
            <a:ext cx="3840480" cy="777240"/>
          </a:xfrm>
          <a:prstGeom prst="rect">
            <a:avLst/>
          </a:prstGeom>
          <a:noFill/>
        </p:spPr>
        <p:txBody>
          <a:bodyPr wrap="square" lIns="0" tIns="0" rIns="0" bIns="0" anchor="t">
            <a:spAutoFit/>
          </a:bodyPr>
          <a:lstStyle/>
          <a:p>
            <a:pPr algn="l">
              <a:lnSpc>
                <a:spcPct val="100000"/>
              </a:lnSpc>
              <a:spcBef>
                <a:spcPts val="0"/>
              </a:spcBef>
              <a:spcAft>
                <a:spcPts val="400"/>
              </a:spcAft>
            </a:pPr>
            <a:r>
              <a:rPr sz="1650" b="1" i="0">
                <a:solidFill>
                  <a:srgbClr val="FFFFFF"/>
                </a:solidFill>
                <a:latin typeface="Segoe UI Semibold"/>
                <a:cs typeface="Segoe UI Semibold"/>
              </a:rPr>
              <a:t>1000 ngày đầu là “giai đoạn vàng”</a:t>
            </a:r>
          </a:p>
        </p:txBody>
      </p:sp>
      <p:sp>
        <p:nvSpPr>
          <p:cNvPr id="33" name="TextBox 32"/>
          <p:cNvSpPr txBox="1"/>
          <p:nvPr/>
        </p:nvSpPr>
        <p:spPr>
          <a:xfrm>
            <a:off x="1874519" y="2743200"/>
            <a:ext cx="3886200" cy="731520"/>
          </a:xfrm>
          <a:prstGeom prst="rect">
            <a:avLst/>
          </a:prstGeom>
          <a:noFill/>
        </p:spPr>
        <p:txBody>
          <a:bodyPr wrap="square" lIns="0" tIns="0" rIns="0" bIns="0" anchor="t">
            <a:spAutoFit/>
          </a:bodyPr>
          <a:lstStyle/>
          <a:p>
            <a:pPr algn="l">
              <a:lnSpc>
                <a:spcPct val="106000"/>
              </a:lnSpc>
              <a:spcBef>
                <a:spcPts val="0"/>
              </a:spcBef>
              <a:spcAft>
                <a:spcPts val="400"/>
              </a:spcAft>
            </a:pPr>
            <a:r>
              <a:rPr sz="1250" b="0" i="0">
                <a:solidFill>
                  <a:srgbClr val="E0F5F4"/>
                </a:solidFill>
                <a:latin typeface="Segoe UI"/>
                <a:cs typeface="Segoe UI"/>
              </a:rPr>
              <a:t>Quyết định chiều cao, trí tuệ và đề kháng cả đời.</a:t>
            </a:r>
          </a:p>
        </p:txBody>
      </p:sp>
      <p:sp>
        <p:nvSpPr>
          <p:cNvPr id="34" name="Rounded Rectangle 33"/>
          <p:cNvSpPr/>
          <p:nvPr/>
        </p:nvSpPr>
        <p:spPr>
          <a:xfrm>
            <a:off x="6263640" y="1691640"/>
            <a:ext cx="5303520" cy="1874519"/>
          </a:xfrm>
          <a:prstGeom prst="roundRect">
            <a:avLst>
              <a:gd name="adj" fmla="val 5000"/>
            </a:avLst>
          </a:prstGeom>
          <a:solidFill>
            <a:srgbClr val="224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6537960" y="1984248"/>
            <a:ext cx="777240" cy="777240"/>
          </a:xfrm>
          <a:prstGeom prst="ellipse">
            <a:avLst/>
          </a:prstGeom>
          <a:solidFill>
            <a:srgbClr val="3A6B3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2400" b="1" i="0">
                <a:solidFill>
                  <a:srgbClr val="FFFFFF"/>
                </a:solidFill>
                <a:latin typeface="Segoe UI"/>
                <a:cs typeface="Segoe UI"/>
              </a:rPr>
              <a:t>2</a:t>
            </a:r>
          </a:p>
        </p:txBody>
      </p:sp>
      <p:sp>
        <p:nvSpPr>
          <p:cNvPr id="36" name="TextBox 35"/>
          <p:cNvSpPr txBox="1"/>
          <p:nvPr/>
        </p:nvSpPr>
        <p:spPr>
          <a:xfrm>
            <a:off x="7498080" y="1965960"/>
            <a:ext cx="3840480" cy="777240"/>
          </a:xfrm>
          <a:prstGeom prst="rect">
            <a:avLst/>
          </a:prstGeom>
          <a:noFill/>
        </p:spPr>
        <p:txBody>
          <a:bodyPr wrap="square" lIns="0" tIns="0" rIns="0" bIns="0" anchor="t">
            <a:spAutoFit/>
          </a:bodyPr>
          <a:lstStyle/>
          <a:p>
            <a:pPr algn="l">
              <a:lnSpc>
                <a:spcPct val="100000"/>
              </a:lnSpc>
              <a:spcBef>
                <a:spcPts val="0"/>
              </a:spcBef>
              <a:spcAft>
                <a:spcPts val="400"/>
              </a:spcAft>
            </a:pPr>
            <a:r>
              <a:rPr sz="1650" b="1" i="0">
                <a:solidFill>
                  <a:srgbClr val="FFFFFF"/>
                </a:solidFill>
                <a:latin typeface="Segoe UI Semibold"/>
                <a:cs typeface="Segoe UI Semibold"/>
              </a:rPr>
              <a:t>Ăn đủ 4 nhóm, đa dạng theo tuổi</a:t>
            </a:r>
          </a:p>
        </p:txBody>
      </p:sp>
      <p:sp>
        <p:nvSpPr>
          <p:cNvPr id="37" name="TextBox 36"/>
          <p:cNvSpPr txBox="1"/>
          <p:nvPr/>
        </p:nvSpPr>
        <p:spPr>
          <a:xfrm>
            <a:off x="7498080" y="2743200"/>
            <a:ext cx="3886200" cy="731520"/>
          </a:xfrm>
          <a:prstGeom prst="rect">
            <a:avLst/>
          </a:prstGeom>
          <a:noFill/>
        </p:spPr>
        <p:txBody>
          <a:bodyPr wrap="square" lIns="0" tIns="0" rIns="0" bIns="0" anchor="t">
            <a:spAutoFit/>
          </a:bodyPr>
          <a:lstStyle/>
          <a:p>
            <a:pPr algn="l">
              <a:lnSpc>
                <a:spcPct val="106000"/>
              </a:lnSpc>
              <a:spcBef>
                <a:spcPts val="0"/>
              </a:spcBef>
              <a:spcAft>
                <a:spcPts val="400"/>
              </a:spcAft>
            </a:pPr>
            <a:r>
              <a:rPr sz="1250" b="0" i="0">
                <a:solidFill>
                  <a:srgbClr val="E0F5F4"/>
                </a:solidFill>
                <a:latin typeface="Segoe UI"/>
                <a:cs typeface="Segoe UI"/>
              </a:rPr>
              <a:t>Đa dạng khẩu phần là cách phòng thiếu vi chất tốt nhất.</a:t>
            </a:r>
          </a:p>
        </p:txBody>
      </p:sp>
      <p:sp>
        <p:nvSpPr>
          <p:cNvPr id="38" name="Rounded Rectangle 37"/>
          <p:cNvSpPr/>
          <p:nvPr/>
        </p:nvSpPr>
        <p:spPr>
          <a:xfrm>
            <a:off x="640080" y="3840480"/>
            <a:ext cx="5303520" cy="1874519"/>
          </a:xfrm>
          <a:prstGeom prst="roundRect">
            <a:avLst>
              <a:gd name="adj" fmla="val 5000"/>
            </a:avLst>
          </a:prstGeom>
          <a:solidFill>
            <a:srgbClr val="224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914400" y="4133088"/>
            <a:ext cx="777240" cy="7772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2400" b="1" i="0">
                <a:solidFill>
                  <a:srgbClr val="FFFFFF"/>
                </a:solidFill>
                <a:latin typeface="Segoe UI"/>
                <a:cs typeface="Segoe UI"/>
              </a:rPr>
              <a:t>3</a:t>
            </a:r>
          </a:p>
        </p:txBody>
      </p:sp>
      <p:sp>
        <p:nvSpPr>
          <p:cNvPr id="40" name="TextBox 39"/>
          <p:cNvSpPr txBox="1"/>
          <p:nvPr/>
        </p:nvSpPr>
        <p:spPr>
          <a:xfrm>
            <a:off x="1874519" y="4114800"/>
            <a:ext cx="3840480" cy="777240"/>
          </a:xfrm>
          <a:prstGeom prst="rect">
            <a:avLst/>
          </a:prstGeom>
          <a:noFill/>
        </p:spPr>
        <p:txBody>
          <a:bodyPr wrap="square" lIns="0" tIns="0" rIns="0" bIns="0" anchor="t">
            <a:spAutoFit/>
          </a:bodyPr>
          <a:lstStyle/>
          <a:p>
            <a:pPr algn="l">
              <a:lnSpc>
                <a:spcPct val="100000"/>
              </a:lnSpc>
              <a:spcBef>
                <a:spcPts val="0"/>
              </a:spcBef>
              <a:spcAft>
                <a:spcPts val="400"/>
              </a:spcAft>
            </a:pPr>
            <a:r>
              <a:rPr sz="1650" b="1" i="0">
                <a:solidFill>
                  <a:srgbClr val="FFFFFF"/>
                </a:solidFill>
                <a:latin typeface="Segoe UI Semibold"/>
                <a:cs typeface="Segoe UI Semibold"/>
              </a:rPr>
              <a:t>Dinh dưỡng nuôi hệ miễn dịch</a:t>
            </a:r>
          </a:p>
        </p:txBody>
      </p:sp>
      <p:sp>
        <p:nvSpPr>
          <p:cNvPr id="41" name="TextBox 40"/>
          <p:cNvSpPr txBox="1"/>
          <p:nvPr/>
        </p:nvSpPr>
        <p:spPr>
          <a:xfrm>
            <a:off x="1874519" y="4892040"/>
            <a:ext cx="3886200" cy="731520"/>
          </a:xfrm>
          <a:prstGeom prst="rect">
            <a:avLst/>
          </a:prstGeom>
          <a:noFill/>
        </p:spPr>
        <p:txBody>
          <a:bodyPr wrap="square" lIns="0" tIns="0" rIns="0" bIns="0" anchor="t">
            <a:spAutoFit/>
          </a:bodyPr>
          <a:lstStyle/>
          <a:p>
            <a:pPr algn="l">
              <a:lnSpc>
                <a:spcPct val="106000"/>
              </a:lnSpc>
              <a:spcBef>
                <a:spcPts val="0"/>
              </a:spcBef>
              <a:spcAft>
                <a:spcPts val="400"/>
              </a:spcAft>
            </a:pPr>
            <a:r>
              <a:rPr sz="1250" b="0" i="0">
                <a:solidFill>
                  <a:srgbClr val="E0F5F4"/>
                </a:solidFill>
                <a:latin typeface="Segoe UI"/>
                <a:cs typeface="Segoe UI"/>
              </a:rPr>
              <a:t>Bú mẹ, vi chất và đường ruột khỏe giúp trẻ ít ốm.</a:t>
            </a:r>
          </a:p>
        </p:txBody>
      </p:sp>
      <p:sp>
        <p:nvSpPr>
          <p:cNvPr id="42" name="Rounded Rectangle 41"/>
          <p:cNvSpPr/>
          <p:nvPr/>
        </p:nvSpPr>
        <p:spPr>
          <a:xfrm>
            <a:off x="6263640" y="3840480"/>
            <a:ext cx="5303520" cy="1874519"/>
          </a:xfrm>
          <a:prstGeom prst="roundRect">
            <a:avLst>
              <a:gd name="adj" fmla="val 5000"/>
            </a:avLst>
          </a:prstGeom>
          <a:solidFill>
            <a:srgbClr val="224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6537960" y="4133088"/>
            <a:ext cx="777240" cy="777240"/>
          </a:xfrm>
          <a:prstGeom prst="ellipse">
            <a:avLst/>
          </a:prstGeom>
          <a:solidFill>
            <a:srgbClr val="E26D5A"/>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lnSpc>
                <a:spcPct val="100000"/>
              </a:lnSpc>
              <a:spcBef>
                <a:spcPts val="0"/>
              </a:spcBef>
              <a:spcAft>
                <a:spcPts val="0"/>
              </a:spcAft>
            </a:pPr>
            <a:r>
              <a:rPr sz="2400" b="1" i="0">
                <a:solidFill>
                  <a:srgbClr val="FFFFFF"/>
                </a:solidFill>
                <a:latin typeface="Segoe UI"/>
                <a:cs typeface="Segoe UI"/>
              </a:rPr>
              <a:t>4</a:t>
            </a:r>
          </a:p>
        </p:txBody>
      </p:sp>
      <p:sp>
        <p:nvSpPr>
          <p:cNvPr id="44" name="TextBox 43"/>
          <p:cNvSpPr txBox="1"/>
          <p:nvPr/>
        </p:nvSpPr>
        <p:spPr>
          <a:xfrm>
            <a:off x="7498080" y="4114800"/>
            <a:ext cx="3840480" cy="777240"/>
          </a:xfrm>
          <a:prstGeom prst="rect">
            <a:avLst/>
          </a:prstGeom>
          <a:noFill/>
        </p:spPr>
        <p:txBody>
          <a:bodyPr wrap="square" lIns="0" tIns="0" rIns="0" bIns="0" anchor="t">
            <a:spAutoFit/>
          </a:bodyPr>
          <a:lstStyle/>
          <a:p>
            <a:pPr algn="l">
              <a:lnSpc>
                <a:spcPct val="100000"/>
              </a:lnSpc>
              <a:spcBef>
                <a:spcPts val="0"/>
              </a:spcBef>
              <a:spcAft>
                <a:spcPts val="400"/>
              </a:spcAft>
            </a:pPr>
            <a:r>
              <a:rPr sz="1650" b="1" i="0">
                <a:solidFill>
                  <a:srgbClr val="FFFFFF"/>
                </a:solidFill>
                <a:latin typeface="Segoe UI Semibold"/>
                <a:cs typeface="Segoe UI Semibold"/>
              </a:rPr>
              <a:t>Phòng – theo dõi – can thiệp sớm</a:t>
            </a:r>
          </a:p>
        </p:txBody>
      </p:sp>
      <p:sp>
        <p:nvSpPr>
          <p:cNvPr id="45" name="TextBox 44"/>
          <p:cNvSpPr txBox="1"/>
          <p:nvPr/>
        </p:nvSpPr>
        <p:spPr>
          <a:xfrm>
            <a:off x="7498080" y="4892040"/>
            <a:ext cx="3886200" cy="731520"/>
          </a:xfrm>
          <a:prstGeom prst="rect">
            <a:avLst/>
          </a:prstGeom>
          <a:noFill/>
        </p:spPr>
        <p:txBody>
          <a:bodyPr wrap="square" lIns="0" tIns="0" rIns="0" bIns="0" anchor="t">
            <a:spAutoFit/>
          </a:bodyPr>
          <a:lstStyle/>
          <a:p>
            <a:pPr algn="l">
              <a:lnSpc>
                <a:spcPct val="106000"/>
              </a:lnSpc>
              <a:spcBef>
                <a:spcPts val="0"/>
              </a:spcBef>
              <a:spcAft>
                <a:spcPts val="400"/>
              </a:spcAft>
            </a:pPr>
            <a:r>
              <a:rPr sz="1250" b="0" i="0">
                <a:solidFill>
                  <a:srgbClr val="E0F5F4"/>
                </a:solidFill>
                <a:latin typeface="Segoe UI"/>
                <a:cs typeface="Segoe UI"/>
              </a:rPr>
              <a:t>Cân đo định kỳ; xử trí biếng ăn, thấp còi kịp thời.</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384048" y="274320"/>
            <a:ext cx="384048" cy="384048"/>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4068" y="329184"/>
            <a:ext cx="104241"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66344" y="406908"/>
            <a:ext cx="274320" cy="10424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274320"/>
            <a:ext cx="2926080" cy="402336"/>
          </a:xfrm>
          <a:prstGeom prst="rect">
            <a:avLst/>
          </a:prstGeom>
          <a:noFill/>
        </p:spPr>
        <p:txBody>
          <a:bodyPr wrap="square" lIns="0" tIns="0" rIns="0" bIns="0" anchor="ctr">
            <a:spAutoFit/>
          </a:bodyPr>
          <a:lstStyle/>
          <a:p>
            <a:pPr algn="l">
              <a:lnSpc>
                <a:spcPct val="100000"/>
              </a:lnSpc>
              <a:spcBef>
                <a:spcPts val="0"/>
              </a:spcBef>
              <a:spcAft>
                <a:spcPts val="400"/>
              </a:spcAft>
            </a:pPr>
            <a:r>
              <a:rPr sz="1300" b="1" i="0">
                <a:solidFill>
                  <a:srgbClr val="1E293B"/>
                </a:solidFill>
                <a:latin typeface="Segoe UI"/>
                <a:cs typeface="Segoe UI"/>
              </a:rPr>
              <a:t>DINH DƯỠNG </a:t>
            </a:r>
            <a:r>
              <a:rPr sz="1300" b="1" i="0">
                <a:solidFill>
                  <a:srgbClr val="19A99D"/>
                </a:solidFill>
                <a:latin typeface="Segoe UI"/>
                <a:cs typeface="Segoe UI"/>
              </a:rPr>
              <a:t>NHI KHOA</a:t>
            </a:r>
          </a:p>
        </p:txBody>
      </p:sp>
      <p:sp>
        <p:nvSpPr>
          <p:cNvPr id="6" name="Rectangle 5"/>
          <p:cNvSpPr/>
          <p:nvPr/>
        </p:nvSpPr>
        <p:spPr>
          <a:xfrm>
            <a:off x="0" y="6473952"/>
            <a:ext cx="12191695" cy="384048"/>
          </a:xfrm>
          <a:prstGeom prst="rect">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492240"/>
            <a:ext cx="9601200" cy="347472"/>
          </a:xfrm>
          <a:prstGeom prst="rect">
            <a:avLst/>
          </a:prstGeom>
          <a:noFill/>
        </p:spPr>
        <p:txBody>
          <a:bodyPr wrap="square" lIns="0" tIns="0" rIns="0" bIns="0" anchor="ctr">
            <a:spAutoFit/>
          </a:bodyPr>
          <a:lstStyle/>
          <a:p>
            <a:pPr algn="l">
              <a:lnSpc>
                <a:spcPct val="100000"/>
              </a:lnSpc>
              <a:spcBef>
                <a:spcPts val="0"/>
              </a:spcBef>
              <a:spcAft>
                <a:spcPts val="400"/>
              </a:spcAft>
            </a:pPr>
            <a:r>
              <a:rPr sz="950" b="0" i="0">
                <a:solidFill>
                  <a:srgbClr val="FFFFFF"/>
                </a:solidFill>
                <a:latin typeface="Segoe UI"/>
                <a:cs typeface="Segoe UI"/>
              </a:rPr>
              <a:t>Chuyên đề 2 · Dinh dưỡng – nền tảng cho miễn dịch &amp; sự phát triển của trẻ  ·  TS. Lê Thị Thùy Dung</a:t>
            </a:r>
          </a:p>
        </p:txBody>
      </p:sp>
      <p:sp>
        <p:nvSpPr>
          <p:cNvPr id="8" name="TextBox 7"/>
          <p:cNvSpPr txBox="1"/>
          <p:nvPr/>
        </p:nvSpPr>
        <p:spPr>
          <a:xfrm>
            <a:off x="11185855" y="6492240"/>
            <a:ext cx="548640" cy="347472"/>
          </a:xfrm>
          <a:prstGeom prst="rect">
            <a:avLst/>
          </a:prstGeom>
          <a:noFill/>
        </p:spPr>
        <p:txBody>
          <a:bodyPr wrap="square" lIns="0" tIns="0" rIns="0" bIns="0" anchor="ctr">
            <a:spAutoFit/>
          </a:bodyPr>
          <a:lstStyle/>
          <a:p>
            <a:pPr algn="r">
              <a:lnSpc>
                <a:spcPct val="100000"/>
              </a:lnSpc>
              <a:spcBef>
                <a:spcPts val="0"/>
              </a:spcBef>
              <a:spcAft>
                <a:spcPts val="400"/>
              </a:spcAft>
            </a:pPr>
            <a:r>
              <a:rPr sz="1000" b="1" i="0">
                <a:solidFill>
                  <a:srgbClr val="FFFFFF"/>
                </a:solidFill>
                <a:latin typeface="Segoe UI"/>
                <a:cs typeface="Segoe UI"/>
              </a:rPr>
              <a:t>39</a:t>
            </a:r>
          </a:p>
        </p:txBody>
      </p:sp>
      <p:sp>
        <p:nvSpPr>
          <p:cNvPr id="9" name="TextBox 8"/>
          <p:cNvSpPr txBox="1"/>
          <p:nvPr/>
        </p:nvSpPr>
        <p:spPr>
          <a:xfrm>
            <a:off x="548640" y="841248"/>
            <a:ext cx="10881360" cy="566928"/>
          </a:xfrm>
          <a:prstGeom prst="rect">
            <a:avLst/>
          </a:prstGeom>
          <a:noFill/>
        </p:spPr>
        <p:txBody>
          <a:bodyPr wrap="square" lIns="0" tIns="0" rIns="0" bIns="0" anchor="t">
            <a:spAutoFit/>
          </a:bodyPr>
          <a:lstStyle/>
          <a:p>
            <a:pPr algn="l">
              <a:lnSpc>
                <a:spcPct val="100000"/>
              </a:lnSpc>
              <a:spcBef>
                <a:spcPts val="0"/>
              </a:spcBef>
              <a:spcAft>
                <a:spcPts val="400"/>
              </a:spcAft>
            </a:pPr>
            <a:r>
              <a:rPr sz="2700" b="1" i="0">
                <a:solidFill>
                  <a:srgbClr val="19A99D"/>
                </a:solidFill>
                <a:latin typeface="Segoe UI Semibold"/>
                <a:cs typeface="Segoe UI Semibold"/>
              </a:rPr>
              <a:t>Tài liệu tham khảo</a:t>
            </a:r>
          </a:p>
        </p:txBody>
      </p:sp>
      <p:sp>
        <p:nvSpPr>
          <p:cNvPr id="10" name="TextBox 9"/>
          <p:cNvSpPr txBox="1"/>
          <p:nvPr/>
        </p:nvSpPr>
        <p:spPr>
          <a:xfrm>
            <a:off x="548640" y="1408176"/>
            <a:ext cx="10881360" cy="365760"/>
          </a:xfrm>
          <a:prstGeom prst="rect">
            <a:avLst/>
          </a:prstGeom>
          <a:noFill/>
        </p:spPr>
        <p:txBody>
          <a:bodyPr wrap="square" lIns="0" tIns="0" rIns="0" bIns="0" anchor="t">
            <a:spAutoFit/>
          </a:bodyPr>
          <a:lstStyle/>
          <a:p>
            <a:pPr algn="l">
              <a:lnSpc>
                <a:spcPct val="100000"/>
              </a:lnSpc>
              <a:spcBef>
                <a:spcPts val="0"/>
              </a:spcBef>
              <a:spcAft>
                <a:spcPts val="400"/>
              </a:spcAft>
            </a:pPr>
            <a:r>
              <a:rPr sz="1500" b="0" i="1">
                <a:solidFill>
                  <a:srgbClr val="64748B"/>
                </a:solidFill>
                <a:latin typeface="Segoe UI"/>
                <a:cs typeface="Segoe UI"/>
              </a:rPr>
              <a:t>Nội dung được xây dựng dựa trên các nguồn sau</a:t>
            </a:r>
          </a:p>
        </p:txBody>
      </p:sp>
      <p:sp>
        <p:nvSpPr>
          <p:cNvPr id="11" name="TextBox 10"/>
          <p:cNvSpPr txBox="1"/>
          <p:nvPr/>
        </p:nvSpPr>
        <p:spPr>
          <a:xfrm>
            <a:off x="640080" y="1828800"/>
            <a:ext cx="11064240" cy="4206240"/>
          </a:xfrm>
          <a:prstGeom prst="rect">
            <a:avLst/>
          </a:prstGeom>
          <a:noFill/>
        </p:spPr>
        <p:txBody>
          <a:bodyPr wrap="square" lIns="0" tIns="0" rIns="0" bIns="0" anchor="t">
            <a:spAutoFit/>
          </a:bodyPr>
          <a:lstStyle/>
          <a:p>
            <a:pPr algn="l">
              <a:lnSpc>
                <a:spcPct val="106000"/>
              </a:lnSpc>
              <a:spcBef>
                <a:spcPts val="0"/>
              </a:spcBef>
              <a:spcAft>
                <a:spcPts val="800"/>
              </a:spcAft>
            </a:pPr>
            <a:r>
              <a:rPr sz="1150" b="1" i="0">
                <a:solidFill>
                  <a:srgbClr val="19A99D"/>
                </a:solidFill>
                <a:latin typeface="Segoe UI"/>
                <a:cs typeface="Segoe UI"/>
              </a:rPr>
              <a:t>1.  </a:t>
            </a:r>
            <a:r>
              <a:rPr sz="1150" b="0" i="0">
                <a:solidFill>
                  <a:srgbClr val="1E293B"/>
                </a:solidFill>
                <a:latin typeface="Segoe UI"/>
                <a:cs typeface="Segoe UI"/>
              </a:rPr>
              <a:t>Bộ Y tế – Tầm nhìn Thế giới Quốc tế tại Việt Nam (2015). Nuôi dưỡng trẻ nhỏ (0–24 tháng tuổi). (QĐ 5063/QĐ-BYT, 2014).</a:t>
            </a:r>
          </a:p>
          <a:p>
            <a:pPr algn="l">
              <a:lnSpc>
                <a:spcPct val="106000"/>
              </a:lnSpc>
              <a:spcBef>
                <a:spcPts val="0"/>
              </a:spcBef>
              <a:spcAft>
                <a:spcPts val="800"/>
              </a:spcAft>
            </a:pPr>
            <a:r>
              <a:rPr sz="1150" b="1" i="0">
                <a:solidFill>
                  <a:srgbClr val="19A99D"/>
                </a:solidFill>
                <a:latin typeface="Segoe UI"/>
                <a:cs typeface="Segoe UI"/>
              </a:rPr>
              <a:t>2.  </a:t>
            </a:r>
            <a:r>
              <a:rPr sz="1150" b="0" i="0">
                <a:solidFill>
                  <a:srgbClr val="1E293B"/>
                </a:solidFill>
                <a:latin typeface="Segoe UI"/>
                <a:cs typeface="Segoe UI"/>
              </a:rPr>
              <a:t>Viện Dinh dưỡng – Action Education (2022). Cẩm nang dinh dưỡng cho trẻ độ tuổi tiểu học (dành cho cha mẹ). PGS.TS.BS Bùi Thị Nhung và cộng sự.</a:t>
            </a:r>
          </a:p>
          <a:p>
            <a:pPr algn="l">
              <a:lnSpc>
                <a:spcPct val="106000"/>
              </a:lnSpc>
              <a:spcBef>
                <a:spcPts val="0"/>
              </a:spcBef>
              <a:spcAft>
                <a:spcPts val="800"/>
              </a:spcAft>
            </a:pPr>
            <a:r>
              <a:rPr sz="1150" b="1" i="0">
                <a:solidFill>
                  <a:srgbClr val="19A99D"/>
                </a:solidFill>
                <a:latin typeface="Segoe UI"/>
                <a:cs typeface="Segoe UI"/>
              </a:rPr>
              <a:t>3.  </a:t>
            </a:r>
            <a:r>
              <a:rPr sz="1150" b="0" i="0">
                <a:solidFill>
                  <a:srgbClr val="1E293B"/>
                </a:solidFill>
                <a:latin typeface="Segoe UI"/>
                <a:cs typeface="Segoe UI"/>
              </a:rPr>
              <a:t>Pai UA, Chandrasekhar P, Carvalho RS, Kumar S (2018). The role of nutrition in immunity in infants and toddlers: An expert panel opinion. Clinical Epidemiology and Global Health, 6(4):155–159.</a:t>
            </a:r>
          </a:p>
          <a:p>
            <a:pPr algn="l">
              <a:lnSpc>
                <a:spcPct val="106000"/>
              </a:lnSpc>
              <a:spcBef>
                <a:spcPts val="0"/>
              </a:spcBef>
              <a:spcAft>
                <a:spcPts val="800"/>
              </a:spcAft>
            </a:pPr>
            <a:r>
              <a:rPr sz="1150" b="1" i="0">
                <a:solidFill>
                  <a:srgbClr val="19A99D"/>
                </a:solidFill>
                <a:latin typeface="Segoe UI"/>
                <a:cs typeface="Segoe UI"/>
              </a:rPr>
              <a:t>4.  </a:t>
            </a:r>
            <a:r>
              <a:rPr sz="1150" b="0" i="0">
                <a:solidFill>
                  <a:srgbClr val="1E293B"/>
                </a:solidFill>
                <a:latin typeface="Segoe UI"/>
                <a:cs typeface="Segoe UI"/>
              </a:rPr>
              <a:t>PGS.TS Nguyễn Thị Việt Hà – ĐH Y Hà Nội. Giải pháp dinh dưỡng miễn dịch cho trẻ: lấp đầy khoảng trống miễn dịch, tăng cường đề kháng.</a:t>
            </a:r>
          </a:p>
          <a:p>
            <a:pPr algn="l">
              <a:lnSpc>
                <a:spcPct val="106000"/>
              </a:lnSpc>
              <a:spcBef>
                <a:spcPts val="0"/>
              </a:spcBef>
              <a:spcAft>
                <a:spcPts val="800"/>
              </a:spcAft>
            </a:pPr>
            <a:r>
              <a:rPr sz="1150" b="1" i="0">
                <a:solidFill>
                  <a:srgbClr val="19A99D"/>
                </a:solidFill>
                <a:latin typeface="Segoe UI"/>
                <a:cs typeface="Segoe UI"/>
              </a:rPr>
              <a:t>5.  </a:t>
            </a:r>
            <a:r>
              <a:rPr sz="1150" b="0" i="0">
                <a:solidFill>
                  <a:srgbClr val="1E293B"/>
                </a:solidFill>
                <a:latin typeface="Segoe UI"/>
                <a:cs typeface="Segoe UI"/>
              </a:rPr>
              <a:t>Butler JE &amp; Wertz N (2012). Front Immunol, 3:153 (khoảng trống miễn dịch).</a:t>
            </a:r>
          </a:p>
          <a:p>
            <a:pPr algn="l">
              <a:lnSpc>
                <a:spcPct val="106000"/>
              </a:lnSpc>
              <a:spcBef>
                <a:spcPts val="0"/>
              </a:spcBef>
              <a:spcAft>
                <a:spcPts val="800"/>
              </a:spcAft>
            </a:pPr>
            <a:r>
              <a:rPr sz="1150" b="1" i="0">
                <a:solidFill>
                  <a:srgbClr val="19A99D"/>
                </a:solidFill>
                <a:latin typeface="Segoe UI"/>
                <a:cs typeface="Segoe UI"/>
              </a:rPr>
              <a:t>6.  </a:t>
            </a:r>
            <a:r>
              <a:rPr sz="1150" b="0" i="0">
                <a:solidFill>
                  <a:srgbClr val="1E293B"/>
                </a:solidFill>
                <a:latin typeface="Segoe UI"/>
                <a:cs typeface="Segoe UI"/>
              </a:rPr>
              <a:t>Słotwiński R, Słotwińska SM (2012). Cent Eur J Immunol, 37(1):75–80 (dinh dưỡng miễn dịch).</a:t>
            </a:r>
          </a:p>
          <a:p>
            <a:pPr algn="l">
              <a:lnSpc>
                <a:spcPct val="106000"/>
              </a:lnSpc>
              <a:spcBef>
                <a:spcPts val="0"/>
              </a:spcBef>
              <a:spcAft>
                <a:spcPts val="800"/>
              </a:spcAft>
            </a:pPr>
            <a:r>
              <a:rPr sz="1150" b="1" i="0">
                <a:solidFill>
                  <a:srgbClr val="19A99D"/>
                </a:solidFill>
                <a:latin typeface="Segoe UI"/>
                <a:cs typeface="Segoe UI"/>
              </a:rPr>
              <a:t>7.  </a:t>
            </a:r>
            <a:r>
              <a:rPr sz="1150" b="0" i="0">
                <a:solidFill>
                  <a:srgbClr val="1E293B"/>
                </a:solidFill>
                <a:latin typeface="Segoe UI"/>
                <a:cs typeface="Segoe UI"/>
              </a:rPr>
              <a:t>Plaza-Díaz J et al. (2018). Human Milk Oligosaccharides and Immune System Development. Nutrients, 10:1038.</a:t>
            </a:r>
          </a:p>
          <a:p>
            <a:pPr algn="l">
              <a:lnSpc>
                <a:spcPct val="106000"/>
              </a:lnSpc>
              <a:spcBef>
                <a:spcPts val="0"/>
              </a:spcBef>
              <a:spcAft>
                <a:spcPts val="800"/>
              </a:spcAft>
            </a:pPr>
            <a:r>
              <a:rPr sz="1150" b="1" i="0">
                <a:solidFill>
                  <a:srgbClr val="19A99D"/>
                </a:solidFill>
                <a:latin typeface="Segoe UI"/>
                <a:cs typeface="Segoe UI"/>
              </a:rPr>
              <a:t>8.  </a:t>
            </a:r>
            <a:r>
              <a:rPr sz="1150" b="0" i="0">
                <a:solidFill>
                  <a:srgbClr val="1E293B"/>
                </a:solidFill>
                <a:latin typeface="Segoe UI"/>
                <a:cs typeface="Segoe UI"/>
              </a:rPr>
              <a:t>Tổng điều tra Dinh dưỡng toàn quốc 2019–2020, Viện Dinh dưỡng.</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2A6041"/>
        </a:solidFill>
        <a:effectLst/>
      </p:bgPr>
    </p:bg>
    <p:spTree>
      <p:nvGrpSpPr>
        <p:cNvPr id="1" name=""/>
        <p:cNvGrpSpPr/>
        <p:nvPr/>
      </p:nvGrpSpPr>
      <p:grpSpPr>
        <a:xfrm>
          <a:off x="0" y="0"/>
          <a:ext cx="0" cy="0"/>
          <a:chOff x="0" y="0"/>
          <a:chExt cx="0" cy="0"/>
        </a:xfrm>
      </p:grpSpPr>
      <p:sp>
        <p:nvSpPr>
          <p:cNvPr id="2" name="Oval 1"/>
          <p:cNvSpPr/>
          <p:nvPr/>
        </p:nvSpPr>
        <p:spPr>
          <a:xfrm>
            <a:off x="-1645920" y="3017520"/>
            <a:ext cx="6400800" cy="6400800"/>
          </a:xfrm>
          <a:prstGeom prst="ellipse">
            <a:avLst/>
          </a:prstGeom>
          <a:solidFill>
            <a:srgbClr val="224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0241280" y="548640"/>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0387584" y="548640"/>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0533888" y="548640"/>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680192" y="548640"/>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826496" y="548640"/>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972800" y="548640"/>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0241280" y="694944"/>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0387584" y="694944"/>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10533888" y="694944"/>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0680192" y="694944"/>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0826496" y="694944"/>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0972800" y="694944"/>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0241280" y="841247"/>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0387584" y="841247"/>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0533888" y="841247"/>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0680192" y="841247"/>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0826496" y="841247"/>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0972800" y="841247"/>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10241280" y="987552"/>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0387584" y="987552"/>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0533888" y="987552"/>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0680192" y="987552"/>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0826496" y="987552"/>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0972800" y="987552"/>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640080" y="5760720"/>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786384" y="5760720"/>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932688" y="5760720"/>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1078992" y="5760720"/>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1225295" y="5760720"/>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1371600" y="5760720"/>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640080" y="5907024"/>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786384" y="5907024"/>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932688" y="5907024"/>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1078992" y="5907024"/>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1225295" y="5907024"/>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1371600" y="5907024"/>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640080" y="6053328"/>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786384" y="6053328"/>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932688" y="6053328"/>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1078992" y="6053328"/>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1225295" y="6053328"/>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1371600" y="6053328"/>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640080" y="6199631"/>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786384" y="6199631"/>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932688" y="6199631"/>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1078992" y="6199631"/>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1225295" y="6199631"/>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1371600" y="6199631"/>
            <a:ext cx="54864" cy="54864"/>
          </a:xfrm>
          <a:prstGeom prst="ellipse">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548640" y="502920"/>
            <a:ext cx="457200" cy="4572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740664" y="566928"/>
            <a:ext cx="118872" cy="329184"/>
          </a:xfrm>
          <a:prstGeom prst="rect">
            <a:avLst/>
          </a:prstGeom>
          <a:solidFill>
            <a:srgbClr val="2A6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649224" y="658368"/>
            <a:ext cx="310896" cy="118872"/>
          </a:xfrm>
          <a:prstGeom prst="rect">
            <a:avLst/>
          </a:prstGeom>
          <a:solidFill>
            <a:srgbClr val="2A6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1143000" y="548640"/>
            <a:ext cx="4572000" cy="411480"/>
          </a:xfrm>
          <a:prstGeom prst="rect">
            <a:avLst/>
          </a:prstGeom>
          <a:noFill/>
        </p:spPr>
        <p:txBody>
          <a:bodyPr wrap="square" lIns="0" tIns="0" rIns="0" bIns="0" anchor="ctr">
            <a:spAutoFit/>
          </a:bodyPr>
          <a:lstStyle/>
          <a:p>
            <a:pPr algn="l">
              <a:lnSpc>
                <a:spcPct val="100000"/>
              </a:lnSpc>
              <a:spcBef>
                <a:spcPts val="0"/>
              </a:spcBef>
              <a:spcAft>
                <a:spcPts val="400"/>
              </a:spcAft>
            </a:pPr>
            <a:r>
              <a:rPr sz="1300" b="1" i="0">
                <a:solidFill>
                  <a:srgbClr val="FFFFFF"/>
                </a:solidFill>
                <a:latin typeface="Segoe UI"/>
                <a:cs typeface="Segoe UI"/>
              </a:rPr>
              <a:t>DINH DƯỠNG NHI KHOA</a:t>
            </a:r>
          </a:p>
        </p:txBody>
      </p:sp>
      <p:sp>
        <p:nvSpPr>
          <p:cNvPr id="55" name="TextBox 54"/>
          <p:cNvSpPr txBox="1"/>
          <p:nvPr/>
        </p:nvSpPr>
        <p:spPr>
          <a:xfrm>
            <a:off x="1188720" y="2468880"/>
            <a:ext cx="10058400" cy="914400"/>
          </a:xfrm>
          <a:prstGeom prst="rect">
            <a:avLst/>
          </a:prstGeom>
          <a:noFill/>
        </p:spPr>
        <p:txBody>
          <a:bodyPr wrap="square" lIns="0" tIns="0" rIns="0" bIns="0" anchor="t">
            <a:spAutoFit/>
          </a:bodyPr>
          <a:lstStyle/>
          <a:p>
            <a:pPr algn="l">
              <a:lnSpc>
                <a:spcPct val="100000"/>
              </a:lnSpc>
              <a:spcBef>
                <a:spcPts val="0"/>
              </a:spcBef>
              <a:spcAft>
                <a:spcPts val="400"/>
              </a:spcAft>
            </a:pPr>
            <a:r>
              <a:rPr sz="4800" b="1" i="0">
                <a:solidFill>
                  <a:srgbClr val="FFFFFF"/>
                </a:solidFill>
                <a:latin typeface="Segoe UI Semibold"/>
                <a:cs typeface="Segoe UI Semibold"/>
              </a:rPr>
              <a:t>Cảm ơn quý vị!</a:t>
            </a:r>
          </a:p>
        </p:txBody>
      </p:sp>
      <p:sp>
        <p:nvSpPr>
          <p:cNvPr id="56" name="TextBox 55"/>
          <p:cNvSpPr txBox="1"/>
          <p:nvPr/>
        </p:nvSpPr>
        <p:spPr>
          <a:xfrm>
            <a:off x="1234440" y="3611880"/>
            <a:ext cx="10058400" cy="548640"/>
          </a:xfrm>
          <a:prstGeom prst="rect">
            <a:avLst/>
          </a:prstGeom>
          <a:noFill/>
        </p:spPr>
        <p:txBody>
          <a:bodyPr wrap="square" lIns="0" tIns="0" rIns="0" bIns="0" anchor="t">
            <a:spAutoFit/>
          </a:bodyPr>
          <a:lstStyle/>
          <a:p>
            <a:pPr algn="l">
              <a:lnSpc>
                <a:spcPct val="100000"/>
              </a:lnSpc>
              <a:spcBef>
                <a:spcPts val="0"/>
              </a:spcBef>
              <a:spcAft>
                <a:spcPts val="400"/>
              </a:spcAft>
            </a:pPr>
            <a:r>
              <a:rPr sz="1800" b="0" i="1">
                <a:solidFill>
                  <a:srgbClr val="E0F5F4"/>
                </a:solidFill>
                <a:latin typeface="Segoe UI"/>
                <a:cs typeface="Segoe UI"/>
              </a:rPr>
              <a:t>Hành trình lớn khôn của con bắt đầu từ mỗi bữa ăn hôm nay.</a:t>
            </a:r>
          </a:p>
        </p:txBody>
      </p:sp>
      <p:sp>
        <p:nvSpPr>
          <p:cNvPr id="57" name="Rounded Rectangle 56"/>
          <p:cNvSpPr/>
          <p:nvPr/>
        </p:nvSpPr>
        <p:spPr>
          <a:xfrm>
            <a:off x="1234440" y="4663440"/>
            <a:ext cx="6583680" cy="914400"/>
          </a:xfrm>
          <a:prstGeom prst="roundRect">
            <a:avLst>
              <a:gd name="adj" fmla="val 8000"/>
            </a:avLst>
          </a:prstGeom>
          <a:solidFill>
            <a:srgbClr val="19A99D"/>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l">
              <a:lnSpc>
                <a:spcPct val="110000"/>
              </a:lnSpc>
              <a:spcBef>
                <a:spcPts val="0"/>
              </a:spcBef>
              <a:spcAft>
                <a:spcPts val="0"/>
              </a:spcAft>
            </a:pPr>
            <a:r>
              <a:rPr sz="1700" b="1" i="0">
                <a:solidFill>
                  <a:srgbClr val="FFFFFF"/>
                </a:solidFill>
                <a:latin typeface="Segoe UI"/>
                <a:cs typeface="Segoe UI"/>
              </a:rPr>
              <a:t>TS. Lê Thị Thùy Dung</a:t>
            </a:r>
          </a:p>
          <a:p>
            <a:pPr algn="l">
              <a:lnSpc>
                <a:spcPct val="110000"/>
              </a:lnSpc>
              <a:spcBef>
                <a:spcPts val="0"/>
              </a:spcBef>
              <a:spcAft>
                <a:spcPts val="0"/>
              </a:spcAft>
            </a:pPr>
            <a:r>
              <a:rPr sz="1200" b="0" i="0">
                <a:solidFill>
                  <a:srgbClr val="E0F5F4"/>
                </a:solidFill>
                <a:latin typeface="Segoe UI"/>
                <a:cs typeface="Segoe UI"/>
              </a:rPr>
              <a:t>Viện Đào tạo Y Dược  ·  Truyền thông sức khỏe cộng đồng</a:t>
            </a:r>
          </a:p>
        </p:txBody>
      </p:sp>
      <p:sp>
        <p:nvSpPr>
          <p:cNvPr id="58" name="TextBox 57"/>
          <p:cNvSpPr txBox="1"/>
          <p:nvPr/>
        </p:nvSpPr>
        <p:spPr>
          <a:xfrm>
            <a:off x="8229600" y="4800600"/>
            <a:ext cx="3474720" cy="731520"/>
          </a:xfrm>
          <a:prstGeom prst="rect">
            <a:avLst/>
          </a:prstGeom>
          <a:noFill/>
        </p:spPr>
        <p:txBody>
          <a:bodyPr wrap="square" lIns="0" tIns="0" rIns="0" bIns="0" anchor="t">
            <a:spAutoFit/>
          </a:bodyPr>
          <a:lstStyle/>
          <a:p>
            <a:pPr algn="ctr">
              <a:lnSpc>
                <a:spcPct val="110000"/>
              </a:lnSpc>
              <a:spcBef>
                <a:spcPts val="0"/>
              </a:spcBef>
              <a:spcAft>
                <a:spcPts val="400"/>
              </a:spcAft>
            </a:pPr>
            <a:r>
              <a:rPr sz="2600" b="1" i="0">
                <a:solidFill>
                  <a:srgbClr val="F59E0B"/>
                </a:solidFill>
                <a:latin typeface="Segoe UI Semibold"/>
                <a:cs typeface="Segoe UI Semibold"/>
              </a:rPr>
              <a:t>HỎI – ĐÁP</a:t>
            </a:r>
          </a:p>
          <a:p>
            <a:pPr algn="ctr">
              <a:lnSpc>
                <a:spcPct val="110000"/>
              </a:lnSpc>
              <a:spcBef>
                <a:spcPts val="0"/>
              </a:spcBef>
              <a:spcAft>
                <a:spcPts val="400"/>
              </a:spcAft>
            </a:pPr>
            <a:r>
              <a:rPr sz="1500" b="0" i="0">
                <a:solidFill>
                  <a:srgbClr val="E0F5F4"/>
                </a:solidFill>
                <a:latin typeface="Segoe UI"/>
                <a:cs typeface="Segoe UI"/>
              </a:rPr>
              <a:t>Q &amp; 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1225</TotalTime>
  <Words>6616</Words>
  <Application>Microsoft Office PowerPoint</Application>
  <PresentationFormat>Widescreen</PresentationFormat>
  <Paragraphs>653</Paragraphs>
  <Slides>40</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40</vt:i4>
      </vt:variant>
    </vt:vector>
  </HeadingPairs>
  <TitlesOfParts>
    <vt:vector size="46" baseType="lpstr">
      <vt:lpstr>Arial</vt:lpstr>
      <vt:lpstr>Calibri</vt:lpstr>
      <vt:lpstr>Google Sans Text</vt:lpstr>
      <vt:lpstr>Segoe UI</vt:lpstr>
      <vt:lpstr>Segoe UI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ADMIN</dc:creator>
  <cp:keywords/>
  <dc:description>generated using python-pptx</dc:description>
  <cp:lastModifiedBy>ADMIN</cp:lastModifiedBy>
  <cp:revision>2</cp:revision>
  <dcterms:created xsi:type="dcterms:W3CDTF">2013-01-27T09:14:16Z</dcterms:created>
  <dcterms:modified xsi:type="dcterms:W3CDTF">2026-06-26T00:54:38Z</dcterms:modified>
  <cp:category/>
</cp:coreProperties>
</file>