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69" r:id="rId2"/>
    <p:sldId id="257" r:id="rId3"/>
    <p:sldId id="258" r:id="rId4"/>
    <p:sldId id="270" r:id="rId5"/>
    <p:sldId id="262" r:id="rId6"/>
    <p:sldId id="263" r:id="rId7"/>
    <p:sldId id="264" r:id="rId8"/>
    <p:sldId id="265" r:id="rId9"/>
    <p:sldId id="266" r:id="rId10"/>
    <p:sldId id="267" r:id="rId11"/>
    <p:sldId id="268"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84C7"/>
    <a:srgbClr val="0B1F3A"/>
    <a:srgbClr val="F4F8FC"/>
    <a:srgbClr val="0028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7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36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0760-38B1-42FB-B2D2-BA4FD83FF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ADA22-B080-E6A2-1C04-E65B283A2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58D18-A1FE-B437-BB00-D96CFFB4C3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44EE5B-A4BC-0FF2-FF8F-B8613CA9097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6840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txBody>
          <a:bodyPr/>
          <a:lstStyle/>
          <a:p>
            <a:endParaRPr lang="vi-VN"/>
          </a:p>
        </p:txBody>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4F8F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F6F8FB"/>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bg>
      <p:bgPr>
        <a:solidFill>
          <a:srgbClr val="F4F8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2743200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27432000"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A983F-C224-0CF5-B8C3-359BD09BAA85}"/>
            </a:ext>
          </a:extLst>
        </p:cNvPr>
        <p:cNvGrpSpPr/>
        <p:nvPr/>
      </p:nvGrpSpPr>
      <p:grpSpPr>
        <a:xfrm>
          <a:off x="0" y="0"/>
          <a:ext cx="0" cy="0"/>
          <a:chOff x="0" y="0"/>
          <a:chExt cx="0" cy="0"/>
        </a:xfrm>
      </p:grpSpPr>
      <p:sp>
        <p:nvSpPr>
          <p:cNvPr id="2" name="TextBox 1"/>
          <p:cNvSpPr txBox="1"/>
          <p:nvPr/>
        </p:nvSpPr>
        <p:spPr>
          <a:xfrm>
            <a:off x="777240" y="868680"/>
            <a:ext cx="7772400" cy="274320"/>
          </a:xfrm>
          <a:prstGeom prst="rect">
            <a:avLst/>
          </a:prstGeom>
          <a:noFill/>
        </p:spPr>
        <p:txBody>
          <a:bodyPr wrap="square" lIns="0" tIns="0">
            <a:spAutoFit/>
          </a:bodyPr>
          <a:lstStyle/>
          <a:p>
            <a:pPr>
              <a:defRPr sz="1300" b="1">
                <a:solidFill>
                  <a:srgbClr val="002855"/>
                </a:solidFill>
                <a:latin typeface="Arial"/>
              </a:defRPr>
            </a:pPr>
            <a:r>
              <a:rPr lang="vi-VN" noProof="1"/>
              <a:t>TRƯỜNG ĐẠI HỌC THỦ DẦU MỘT · VIỆN CÔNG NGHỆ SỐ</a:t>
            </a:r>
          </a:p>
        </p:txBody>
      </p:sp>
      <p:sp>
        <p:nvSpPr>
          <p:cNvPr id="3" name="TextBox 2"/>
          <p:cNvSpPr txBox="1"/>
          <p:nvPr/>
        </p:nvSpPr>
        <p:spPr>
          <a:xfrm>
            <a:off x="777240" y="1508760"/>
            <a:ext cx="4572000" cy="320040"/>
          </a:xfrm>
          <a:prstGeom prst="rect">
            <a:avLst/>
          </a:prstGeom>
          <a:noFill/>
        </p:spPr>
        <p:txBody>
          <a:bodyPr wrap="square" lIns="0" tIns="0">
            <a:spAutoFit/>
          </a:bodyPr>
          <a:lstStyle/>
          <a:p>
            <a:pPr>
              <a:defRPr sz="1400" b="1">
                <a:solidFill>
                  <a:srgbClr val="D97706"/>
                </a:solidFill>
                <a:latin typeface="Arial"/>
              </a:defRPr>
            </a:pPr>
            <a:r>
              <a:rPr lang="vi-VN" noProof="1"/>
              <a:t>BÁO CÁO ĐỒ ÁN CƠ SỞ NGÀNH</a:t>
            </a:r>
          </a:p>
        </p:txBody>
      </p:sp>
      <p:sp>
        <p:nvSpPr>
          <p:cNvPr id="4" name="TextBox 3"/>
          <p:cNvSpPr txBox="1"/>
          <p:nvPr/>
        </p:nvSpPr>
        <p:spPr>
          <a:xfrm>
            <a:off x="777240" y="1965960"/>
            <a:ext cx="10515600" cy="1280160"/>
          </a:xfrm>
          <a:prstGeom prst="rect">
            <a:avLst/>
          </a:prstGeom>
          <a:noFill/>
        </p:spPr>
        <p:txBody>
          <a:bodyPr wrap="square" lIns="0" tIns="0">
            <a:spAutoFit/>
          </a:bodyPr>
          <a:lstStyle/>
          <a:p>
            <a:pPr>
              <a:spcAft>
                <a:spcPts val="400"/>
              </a:spcAft>
              <a:defRPr sz="2600" b="1">
                <a:solidFill>
                  <a:srgbClr val="002855"/>
                </a:solidFill>
                <a:latin typeface="Arial"/>
              </a:defRPr>
            </a:pPr>
            <a:r>
              <a:rPr lang="vi-VN" noProof="1"/>
              <a:t>XÂY DỰNG WEBSITE TRUYỀN THÔNG CÔNG ĐOÀN TDMU</a:t>
            </a:r>
          </a:p>
          <a:p>
            <a:pPr>
              <a:defRPr sz="2600" b="1">
                <a:solidFill>
                  <a:srgbClr val="002855"/>
                </a:solidFill>
                <a:latin typeface="Arial"/>
              </a:defRPr>
            </a:pPr>
            <a:r>
              <a:rPr lang="vi-VN" noProof="1"/>
              <a:t>TÍCH HỢP AI HỖ TRỢ TẠO VÀ ĐĂNG TẢI NỘI DUNG</a:t>
            </a:r>
          </a:p>
        </p:txBody>
      </p:sp>
      <p:sp>
        <p:nvSpPr>
          <p:cNvPr id="5" name="Rectangle 4"/>
          <p:cNvSpPr/>
          <p:nvPr/>
        </p:nvSpPr>
        <p:spPr>
          <a:xfrm>
            <a:off x="777240" y="3429000"/>
            <a:ext cx="164592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6" name="TextBox 5"/>
          <p:cNvSpPr txBox="1"/>
          <p:nvPr/>
        </p:nvSpPr>
        <p:spPr>
          <a:xfrm>
            <a:off x="777240" y="3703320"/>
            <a:ext cx="10515600" cy="2011680"/>
          </a:xfrm>
          <a:prstGeom prst="rect">
            <a:avLst/>
          </a:prstGeom>
          <a:noFill/>
        </p:spPr>
        <p:txBody>
          <a:bodyPr wrap="square" lIns="0" tIns="0">
            <a:spAutoFit/>
          </a:bodyPr>
          <a:lstStyle/>
          <a:p>
            <a:pPr>
              <a:spcAft>
                <a:spcPts val="800"/>
              </a:spcAft>
              <a:defRPr sz="1300" b="1">
                <a:solidFill>
                  <a:srgbClr val="002855"/>
                </a:solidFill>
                <a:latin typeface="Arial"/>
              </a:defRPr>
            </a:pPr>
            <a:r>
              <a:rPr lang="vi-VN" noProof="1"/>
              <a:t>GVHD: ThS. Võ Quốc Lương   |   Nhóm thực hiện: Nhóm 2</a:t>
            </a:r>
          </a:p>
          <a:p>
            <a:pPr>
              <a:spcAft>
                <a:spcPts val="400"/>
              </a:spcAft>
              <a:defRPr sz="1200">
                <a:solidFill>
                  <a:srgbClr val="334155"/>
                </a:solidFill>
                <a:latin typeface="Arial"/>
              </a:defRPr>
            </a:pPr>
            <a:r>
              <a:rPr lang="vi-VN" noProof="1"/>
              <a:t>• Nguyễn Bình Dương (Trưởng nhóm) - MSSV: 2424802010319 - Lớp: D24CNTT05</a:t>
            </a:r>
          </a:p>
          <a:p>
            <a:pPr>
              <a:spcAft>
                <a:spcPts val="400"/>
              </a:spcAft>
              <a:defRPr sz="1200">
                <a:solidFill>
                  <a:srgbClr val="334155"/>
                </a:solidFill>
                <a:latin typeface="Arial"/>
              </a:defRPr>
            </a:pPr>
            <a:r>
              <a:rPr lang="vi-VN" noProof="1"/>
              <a:t>• Trần Hồng Thanh - MSSV: 2424802010439 - Lớp: D24CNTT03</a:t>
            </a:r>
          </a:p>
          <a:p>
            <a:pPr>
              <a:spcAft>
                <a:spcPts val="400"/>
              </a:spcAft>
              <a:defRPr sz="1200">
                <a:solidFill>
                  <a:srgbClr val="334155"/>
                </a:solidFill>
                <a:latin typeface="Arial"/>
              </a:defRPr>
            </a:pPr>
            <a:r>
              <a:rPr lang="vi-VN" noProof="1"/>
              <a:t>• Phạm Anh Tuấn - MSSV: 2324802010393 - Lớp: D23CNTT03</a:t>
            </a:r>
          </a:p>
          <a:p>
            <a:pPr>
              <a:spcBef>
                <a:spcPts val="1200"/>
              </a:spcBef>
              <a:defRPr sz="1050" b="1">
                <a:solidFill>
                  <a:srgbClr val="94A3B8"/>
                </a:solidFill>
                <a:latin typeface="Arial"/>
              </a:defRPr>
            </a:pPr>
            <a:r>
              <a:rPr lang="vi-VN" noProof="1"/>
              <a:t>HỌC PHẦN: ĐỒ ÁN CƠ SỞ NGÀNH · BÌNH DƯƠNG, NĂM HỌC 2026 – 2027</a:t>
            </a:r>
          </a:p>
        </p:txBody>
      </p:sp>
      <p:pic>
        <p:nvPicPr>
          <p:cNvPr id="7" name="Picture 6" descr="image.png"/>
          <p:cNvPicPr>
            <a:picLocks noChangeAspect="1"/>
          </p:cNvPicPr>
          <p:nvPr/>
        </p:nvPicPr>
        <p:blipFill>
          <a:blip r:embed="rId3"/>
          <a:stretch>
            <a:fillRect/>
          </a:stretch>
        </p:blipFill>
        <p:spPr>
          <a:xfrm>
            <a:off x="8961120" y="777240"/>
            <a:ext cx="2377440" cy="932688"/>
          </a:xfrm>
          <a:prstGeom prst="rect">
            <a:avLst/>
          </a:prstGeom>
        </p:spPr>
      </p:pic>
    </p:spTree>
    <p:extLst>
      <p:ext uri="{BB962C8B-B14F-4D97-AF65-F5344CB8AC3E}">
        <p14:creationId xmlns:p14="http://schemas.microsoft.com/office/powerpoint/2010/main" val="2220241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1. GIỚI THIỆU ĐỀ TÀI</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Bối cảnh &amp; Khó khăn thực tế</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sp>
        <p:nvSpPr>
          <p:cNvPr id="6" name="TextBox 5"/>
          <p:cNvSpPr txBox="1"/>
          <p:nvPr/>
        </p:nvSpPr>
        <p:spPr>
          <a:xfrm>
            <a:off x="594360" y="1508760"/>
            <a:ext cx="3931920" cy="3818994"/>
          </a:xfrm>
          <a:prstGeom prst="rect">
            <a:avLst/>
          </a:prstGeom>
          <a:noFill/>
        </p:spPr>
        <p:txBody>
          <a:bodyPr wrap="square" lIns="0" tIns="0">
            <a:spAutoFit/>
          </a:bodyPr>
          <a:lstStyle/>
          <a:p>
            <a:pPr>
              <a:spcAft>
                <a:spcPts val="1000"/>
              </a:spcAft>
              <a:defRPr sz="1300" b="1">
                <a:solidFill>
                  <a:srgbClr val="D97706"/>
                </a:solidFill>
                <a:latin typeface="Arial"/>
              </a:defRPr>
            </a:pPr>
            <a:r>
              <a:rPr lang="vi-VN" sz="1400" noProof="1"/>
              <a:t>ĐẶC THÙ HOẠT ĐỘNG CÔNG ĐOÀN</a:t>
            </a:r>
          </a:p>
          <a:p>
            <a:pPr>
              <a:spcAft>
                <a:spcPts val="200"/>
              </a:spcAft>
              <a:defRPr sz="4000" b="1">
                <a:solidFill>
                  <a:srgbClr val="002855"/>
                </a:solidFill>
                <a:latin typeface="Arial"/>
              </a:defRPr>
            </a:pPr>
            <a:r>
              <a:rPr lang="vi-VN" sz="4400" noProof="1"/>
              <a:t>800+</a:t>
            </a:r>
          </a:p>
          <a:p>
            <a:pPr>
              <a:spcAft>
                <a:spcPts val="1600"/>
              </a:spcAft>
              <a:defRPr sz="1150" b="1">
                <a:solidFill>
                  <a:srgbClr val="334155"/>
                </a:solidFill>
                <a:latin typeface="Arial"/>
              </a:defRPr>
            </a:pPr>
            <a:r>
              <a:rPr lang="vi-VN" noProof="1"/>
              <a:t>Cán bộ, giảng viên và người lao động</a:t>
            </a:r>
          </a:p>
          <a:p>
            <a:pPr>
              <a:spcAft>
                <a:spcPts val="1000"/>
              </a:spcAft>
              <a:defRPr sz="1100">
                <a:solidFill>
                  <a:srgbClr val="334155"/>
                </a:solidFill>
                <a:latin typeface="Arial"/>
              </a:defRPr>
            </a:pPr>
            <a:r>
              <a:rPr lang="vi-VN" sz="1600" noProof="1"/>
              <a:t>Công đoàn Trường Đại học Thủ Dầu Một là tổ chức đại diện, chăm lo đời sống và bảo vệ quyền lợi hợp pháp cho hơn 800 công đoàn viên tại các khoa, phòng ban và viện nghiên cứu trực thuộc.</a:t>
            </a:r>
          </a:p>
          <a:p>
            <a:pPr>
              <a:defRPr sz="1100">
                <a:solidFill>
                  <a:srgbClr val="334155"/>
                </a:solidFill>
                <a:latin typeface="Arial"/>
              </a:defRPr>
            </a:pPr>
            <a:r>
              <a:rPr lang="vi-VN" sz="1600" noProof="1"/>
              <a:t>Công tác truyền thông đóng vai trò cầu nối quan trọng nhằm phổ biến kịp thời chế độ chính sách, gắn kết phong trào và lan tỏa các hoạt động thi đua trong toàn trường.</a:t>
            </a:r>
          </a:p>
        </p:txBody>
      </p:sp>
      <p:sp>
        <p:nvSpPr>
          <p:cNvPr id="7" name="Rectangle 6"/>
          <p:cNvSpPr/>
          <p:nvPr/>
        </p:nvSpPr>
        <p:spPr>
          <a:xfrm>
            <a:off x="48006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8" name="TextBox 7"/>
          <p:cNvSpPr txBox="1"/>
          <p:nvPr/>
        </p:nvSpPr>
        <p:spPr>
          <a:xfrm>
            <a:off x="5120640" y="1508760"/>
            <a:ext cx="6446520" cy="3777957"/>
          </a:xfrm>
          <a:prstGeom prst="rect">
            <a:avLst/>
          </a:prstGeom>
          <a:noFill/>
        </p:spPr>
        <p:txBody>
          <a:bodyPr wrap="square" lIns="0" tIns="0">
            <a:spAutoFit/>
          </a:bodyPr>
          <a:lstStyle/>
          <a:p>
            <a:pPr>
              <a:spcAft>
                <a:spcPts val="1400"/>
              </a:spcAft>
              <a:defRPr sz="1300" b="1">
                <a:solidFill>
                  <a:srgbClr val="D97706"/>
                </a:solidFill>
                <a:latin typeface="Arial"/>
              </a:defRPr>
            </a:pPr>
            <a:r>
              <a:rPr lang="vi-VN" sz="1400" noProof="1"/>
              <a:t>3 KHÓ KHĂN THỰC TẾ TRONG TÁC NGHIỆP</a:t>
            </a:r>
          </a:p>
          <a:p>
            <a:pPr>
              <a:spcAft>
                <a:spcPts val="300"/>
              </a:spcAft>
              <a:defRPr sz="1300" b="1">
                <a:solidFill>
                  <a:srgbClr val="002855"/>
                </a:solidFill>
                <a:latin typeface="Arial"/>
              </a:defRPr>
            </a:pPr>
            <a:r>
              <a:rPr lang="vi-VN" sz="1400" noProof="1"/>
              <a:t>1. Cán bộ truyền thông hoạt động kiêm nhiệm</a:t>
            </a:r>
          </a:p>
          <a:p>
            <a:pPr>
              <a:spcAft>
                <a:spcPts val="1400"/>
              </a:spcAft>
              <a:defRPr sz="1100">
                <a:solidFill>
                  <a:srgbClr val="334155"/>
                </a:solidFill>
                <a:latin typeface="Arial"/>
              </a:defRPr>
            </a:pPr>
            <a:r>
              <a:rPr lang="vi-VN" sz="1600" noProof="1"/>
              <a:t>Cán bộ công đoàn hầu hết là giảng viên và chuyên viên kiêm nhiệm, bận công tác chuyên môn. Việc tiếp nhận các văn bản kế hoạch thô và tự viết bài tin tức sự kiện mất rất nhiều thời gian.</a:t>
            </a:r>
          </a:p>
          <a:p>
            <a:pPr>
              <a:spcAft>
                <a:spcPts val="300"/>
              </a:spcAft>
              <a:defRPr sz="1300" b="1">
                <a:solidFill>
                  <a:srgbClr val="002855"/>
                </a:solidFill>
                <a:latin typeface="Arial"/>
              </a:defRPr>
            </a:pPr>
            <a:r>
              <a:rPr lang="vi-VN" sz="1400" noProof="1"/>
              <a:t>2. Quy trình đăng tin thủ công, phân tán nhiều kênh</a:t>
            </a:r>
          </a:p>
          <a:p>
            <a:pPr>
              <a:spcAft>
                <a:spcPts val="1400"/>
              </a:spcAft>
              <a:defRPr sz="1100">
                <a:solidFill>
                  <a:srgbClr val="334155"/>
                </a:solidFill>
                <a:latin typeface="Arial"/>
              </a:defRPr>
            </a:pPr>
            <a:r>
              <a:rPr lang="vi-VN" sz="1600" noProof="1"/>
              <a:t>Quy trình xuất bản rời rạc; cán bộ phải sao chép nội dung, tải ảnh và định dạng thủ công lặp lại trên từng kênh (Website, Facebook, Zalo cơ sở), dễ sót tin và tốn công sức.</a:t>
            </a:r>
          </a:p>
          <a:p>
            <a:pPr>
              <a:spcAft>
                <a:spcPts val="300"/>
              </a:spcAft>
              <a:defRPr sz="1300" b="1">
                <a:solidFill>
                  <a:srgbClr val="002855"/>
                </a:solidFill>
                <a:latin typeface="Arial"/>
              </a:defRPr>
            </a:pPr>
            <a:r>
              <a:rPr lang="vi-VN" sz="1400" noProof="1"/>
              <a:t>3. Chưa có hệ thống quản lý và đo lường tập trung</a:t>
            </a:r>
          </a:p>
          <a:p>
            <a:pPr>
              <a:spcAft>
                <a:spcPts val="1400"/>
              </a:spcAft>
              <a:defRPr sz="1100">
                <a:solidFill>
                  <a:srgbClr val="334155"/>
                </a:solidFill>
                <a:latin typeface="Arial"/>
              </a:defRPr>
            </a:pPr>
            <a:r>
              <a:rPr lang="vi-VN" sz="1600" noProof="1"/>
              <a:t>Tin bài và tài liệu lưu trữ tản mạn. Chưa có công cụ quản trị tập trung để theo dõi số lượng bài viết, lượt xem và mức độ tương tác của đoàn viên để đánh giá hiệu quả phong trào.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1. GIỚI THIỆU ĐỀ TÀI</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Mục tiêu nghiên cứu &amp; Định hướng giải quyết</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sp>
        <p:nvSpPr>
          <p:cNvPr id="6" name="TextBox 5"/>
          <p:cNvSpPr txBox="1"/>
          <p:nvPr/>
        </p:nvSpPr>
        <p:spPr>
          <a:xfrm>
            <a:off x="594360" y="1508760"/>
            <a:ext cx="3383280" cy="3931846"/>
          </a:xfrm>
          <a:prstGeom prst="rect">
            <a:avLst/>
          </a:prstGeom>
          <a:noFill/>
        </p:spPr>
        <p:txBody>
          <a:bodyPr wrap="square" lIns="0" tIns="0">
            <a:spAutoFit/>
          </a:bodyPr>
          <a:lstStyle/>
          <a:p>
            <a:pPr>
              <a:spcAft>
                <a:spcPts val="300"/>
              </a:spcAft>
              <a:defRPr sz="1100" b="1">
                <a:solidFill>
                  <a:srgbClr val="D97706"/>
                </a:solidFill>
                <a:latin typeface="Arial"/>
              </a:defRPr>
            </a:pPr>
            <a:r>
              <a:rPr lang="vi-VN" sz="1200" noProof="1"/>
              <a:t>MỤC TIÊU 01</a:t>
            </a:r>
          </a:p>
          <a:p>
            <a:pPr>
              <a:spcAft>
                <a:spcPts val="200"/>
              </a:spcAft>
              <a:defRPr sz="1500" b="1">
                <a:solidFill>
                  <a:srgbClr val="002855"/>
                </a:solidFill>
                <a:latin typeface="Arial"/>
              </a:defRPr>
            </a:pPr>
            <a:r>
              <a:rPr lang="vi-VN" sz="1600" noProof="1"/>
              <a:t>Cổng thông tin tập trung</a:t>
            </a:r>
          </a:p>
          <a:p>
            <a:pPr>
              <a:spcAft>
                <a:spcPts val="1400"/>
              </a:spcAft>
              <a:defRPr sz="1050" b="1">
                <a:solidFill>
                  <a:srgbClr val="0284C7"/>
                </a:solidFill>
                <a:latin typeface="Arial"/>
              </a:defRPr>
            </a:pPr>
            <a:r>
              <a:rPr lang="vi-VN" sz="1600" noProof="1"/>
              <a:t>Xây dựng Website &amp; Quản trị CMS</a:t>
            </a:r>
          </a:p>
          <a:p>
            <a:pPr>
              <a:spcAft>
                <a:spcPts val="1000"/>
              </a:spcAft>
              <a:defRPr sz="1050">
                <a:solidFill>
                  <a:srgbClr val="334155"/>
                </a:solidFill>
                <a:latin typeface="Arial"/>
              </a:defRPr>
            </a:pPr>
            <a:r>
              <a:rPr lang="vi-VN" sz="1600" noProof="1"/>
              <a:t>• Xây dựng Website Cổng thông tin cho đoàn viên và phân hệ quản trị CMS cho Công đoàn Trường ĐH Thủ Dầu Một.</a:t>
            </a:r>
          </a:p>
          <a:p>
            <a:pPr>
              <a:spcAft>
                <a:spcPts val="1000"/>
              </a:spcAft>
              <a:defRPr sz="1050">
                <a:solidFill>
                  <a:srgbClr val="334155"/>
                </a:solidFill>
                <a:latin typeface="Arial"/>
              </a:defRPr>
            </a:pPr>
            <a:r>
              <a:rPr lang="vi-VN" sz="1600" noProof="1"/>
              <a:t>• Quản lý tập trung toàn bộ tin tức phong trào, văn bản biểu mẫu và chương trình phúc lợi.</a:t>
            </a:r>
          </a:p>
          <a:p>
            <a:pPr>
              <a:spcAft>
                <a:spcPts val="1000"/>
              </a:spcAft>
              <a:defRPr sz="1050">
                <a:solidFill>
                  <a:srgbClr val="334155"/>
                </a:solidFill>
                <a:latin typeface="Arial"/>
              </a:defRPr>
            </a:pPr>
            <a:r>
              <a:rPr lang="vi-VN" sz="1600" noProof="1"/>
              <a:t>• Chuẩn hóa quy trình biên tập và thẩm định phê duyệt bài viết trước khi xuất bản.</a:t>
            </a:r>
          </a:p>
        </p:txBody>
      </p:sp>
      <p:sp>
        <p:nvSpPr>
          <p:cNvPr id="7" name="Rectangle 6"/>
          <p:cNvSpPr/>
          <p:nvPr/>
        </p:nvSpPr>
        <p:spPr>
          <a:xfrm>
            <a:off x="41788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8" name="TextBox 7"/>
          <p:cNvSpPr txBox="1"/>
          <p:nvPr/>
        </p:nvSpPr>
        <p:spPr>
          <a:xfrm>
            <a:off x="4389120" y="1508760"/>
            <a:ext cx="3383280" cy="3439403"/>
          </a:xfrm>
          <a:prstGeom prst="rect">
            <a:avLst/>
          </a:prstGeom>
          <a:noFill/>
        </p:spPr>
        <p:txBody>
          <a:bodyPr wrap="square" lIns="0" tIns="0">
            <a:spAutoFit/>
          </a:bodyPr>
          <a:lstStyle/>
          <a:p>
            <a:pPr>
              <a:spcAft>
                <a:spcPts val="300"/>
              </a:spcAft>
              <a:defRPr sz="1100" b="1">
                <a:solidFill>
                  <a:srgbClr val="D97706"/>
                </a:solidFill>
                <a:latin typeface="Arial"/>
              </a:defRPr>
            </a:pPr>
            <a:r>
              <a:rPr lang="vi-VN" sz="1200" noProof="1"/>
              <a:t>MỤC TIÊU 02</a:t>
            </a:r>
          </a:p>
          <a:p>
            <a:pPr>
              <a:spcAft>
                <a:spcPts val="200"/>
              </a:spcAft>
              <a:defRPr sz="1500" b="1">
                <a:solidFill>
                  <a:srgbClr val="002855"/>
                </a:solidFill>
                <a:latin typeface="Arial"/>
              </a:defRPr>
            </a:pPr>
            <a:r>
              <a:rPr lang="vi-VN" sz="1600" noProof="1"/>
              <a:t>Trợ lý AI hỗ trợ nội dung</a:t>
            </a:r>
          </a:p>
          <a:p>
            <a:pPr>
              <a:spcAft>
                <a:spcPts val="1400"/>
              </a:spcAft>
              <a:defRPr sz="1050" b="1">
                <a:solidFill>
                  <a:srgbClr val="0284C7"/>
                </a:solidFill>
                <a:latin typeface="Arial"/>
              </a:defRPr>
            </a:pPr>
            <a:r>
              <a:rPr lang="vi-VN" sz="1600" noProof="1"/>
              <a:t>Tự động hóa viết bài từ kế hoạch</a:t>
            </a:r>
          </a:p>
          <a:p>
            <a:pPr>
              <a:spcAft>
                <a:spcPts val="1000"/>
              </a:spcAft>
              <a:defRPr sz="1050">
                <a:solidFill>
                  <a:srgbClr val="334155"/>
                </a:solidFill>
                <a:latin typeface="Arial"/>
              </a:defRPr>
            </a:pPr>
            <a:r>
              <a:rPr lang="vi-VN" sz="1600" noProof="1"/>
              <a:t>• Tiếp nhận trực tiếp file kế hoạch sự kiện Word, Excel, PDF và nhận diện chữ trên ảnh phông nền.</a:t>
            </a:r>
          </a:p>
          <a:p>
            <a:pPr>
              <a:spcAft>
                <a:spcPts val="1000"/>
              </a:spcAft>
              <a:defRPr sz="1050">
                <a:solidFill>
                  <a:srgbClr val="334155"/>
                </a:solidFill>
                <a:latin typeface="Arial"/>
              </a:defRPr>
            </a:pPr>
            <a:r>
              <a:rPr lang="vi-VN" sz="1600" noProof="1"/>
              <a:t>• Tự động sinh bài viết tin tức hoàn chỉnh có tiêu đề gợi ý, đoạn mở bài và thân bài chuẩn văn phong.</a:t>
            </a:r>
          </a:p>
          <a:p>
            <a:pPr>
              <a:spcAft>
                <a:spcPts val="1000"/>
              </a:spcAft>
              <a:defRPr sz="1050">
                <a:solidFill>
                  <a:srgbClr val="334155"/>
                </a:solidFill>
                <a:latin typeface="Arial"/>
              </a:defRPr>
            </a:pPr>
            <a:r>
              <a:rPr lang="vi-VN" sz="1600" noProof="1"/>
              <a:t>• Cho phép cán bộ chọn đoạn văn để yêu cầu AI chỉnh sửa lại câu từ theo yêu cầu.</a:t>
            </a:r>
          </a:p>
        </p:txBody>
      </p:sp>
      <p:sp>
        <p:nvSpPr>
          <p:cNvPr id="9" name="Rectangle 8"/>
          <p:cNvSpPr/>
          <p:nvPr/>
        </p:nvSpPr>
        <p:spPr>
          <a:xfrm>
            <a:off x="797356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10" name="TextBox 9"/>
          <p:cNvSpPr txBox="1"/>
          <p:nvPr/>
        </p:nvSpPr>
        <p:spPr>
          <a:xfrm>
            <a:off x="8183880" y="1508760"/>
            <a:ext cx="3383280" cy="3439403"/>
          </a:xfrm>
          <a:prstGeom prst="rect">
            <a:avLst/>
          </a:prstGeom>
          <a:noFill/>
        </p:spPr>
        <p:txBody>
          <a:bodyPr wrap="square" lIns="0" tIns="0">
            <a:spAutoFit/>
          </a:bodyPr>
          <a:lstStyle/>
          <a:p>
            <a:pPr>
              <a:spcAft>
                <a:spcPts val="300"/>
              </a:spcAft>
              <a:defRPr sz="1100" b="1">
                <a:solidFill>
                  <a:srgbClr val="D97706"/>
                </a:solidFill>
                <a:latin typeface="Arial"/>
              </a:defRPr>
            </a:pPr>
            <a:r>
              <a:rPr lang="vi-VN" sz="1200" noProof="1"/>
              <a:t>MỤC TIÊU 03</a:t>
            </a:r>
          </a:p>
          <a:p>
            <a:pPr>
              <a:spcAft>
                <a:spcPts val="200"/>
              </a:spcAft>
              <a:defRPr sz="1500" b="1">
                <a:solidFill>
                  <a:srgbClr val="002855"/>
                </a:solidFill>
                <a:latin typeface="Arial"/>
              </a:defRPr>
            </a:pPr>
            <a:r>
              <a:rPr lang="vi-VN" sz="1600" noProof="1"/>
              <a:t>Xuất bản đa kênh &amp; Đo lường</a:t>
            </a:r>
          </a:p>
          <a:p>
            <a:pPr>
              <a:spcAft>
                <a:spcPts val="1400"/>
              </a:spcAft>
              <a:defRPr sz="1050" b="1">
                <a:solidFill>
                  <a:srgbClr val="0284C7"/>
                </a:solidFill>
                <a:latin typeface="Arial"/>
              </a:defRPr>
            </a:pPr>
            <a:r>
              <a:rPr lang="vi-VN" sz="1600" noProof="1"/>
              <a:t>Đồng bộ Facebook &amp; Thống kê</a:t>
            </a:r>
          </a:p>
          <a:p>
            <a:pPr>
              <a:spcAft>
                <a:spcPts val="1000"/>
              </a:spcAft>
              <a:defRPr sz="1050">
                <a:solidFill>
                  <a:srgbClr val="334155"/>
                </a:solidFill>
                <a:latin typeface="Arial"/>
              </a:defRPr>
            </a:pPr>
            <a:r>
              <a:rPr lang="vi-VN" sz="1600" noProof="1"/>
              <a:t>• Tự động tóm tắt bài viết thành bản tin ngắn và kết nối Facebook Graph API đăng tự động lên Fanpage Công đoàn.</a:t>
            </a:r>
          </a:p>
          <a:p>
            <a:pPr>
              <a:spcAft>
                <a:spcPts val="1000"/>
              </a:spcAft>
              <a:defRPr sz="1050">
                <a:solidFill>
                  <a:srgbClr val="334155"/>
                </a:solidFill>
                <a:latin typeface="Arial"/>
              </a:defRPr>
            </a:pPr>
            <a:r>
              <a:rPr lang="vi-VN" sz="1600" noProof="1"/>
              <a:t>• Thiết lập cơ chế hẹn giờ đăng bài tự động theo khung giờ phong trào.</a:t>
            </a:r>
          </a:p>
          <a:p>
            <a:pPr>
              <a:spcAft>
                <a:spcPts val="1000"/>
              </a:spcAft>
              <a:defRPr sz="1050">
                <a:solidFill>
                  <a:srgbClr val="334155"/>
                </a:solidFill>
                <a:latin typeface="Arial"/>
              </a:defRPr>
            </a:pPr>
            <a:r>
              <a:rPr lang="vi-VN" sz="1600" noProof="1"/>
              <a:t>• Trang quản trị theo dõi số lượng bài viết, lượt xem và mức độ tương tác của bạn đọc.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2. GIẢI PHÁP CÔNG NGHỆ</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Công nghệ sử dụng trong đề tài</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2"/>
          <a:stretch>
            <a:fillRect/>
          </a:stretch>
        </p:blipFill>
        <p:spPr>
          <a:xfrm>
            <a:off x="9875520" y="292608"/>
            <a:ext cx="1691640" cy="658368"/>
          </a:xfrm>
          <a:prstGeom prst="rect">
            <a:avLst/>
          </a:prstGeom>
        </p:spPr>
      </p:pic>
      <p:sp>
        <p:nvSpPr>
          <p:cNvPr id="6" name="TextBox 5"/>
          <p:cNvSpPr txBox="1"/>
          <p:nvPr/>
        </p:nvSpPr>
        <p:spPr>
          <a:xfrm>
            <a:off x="594360" y="1508760"/>
            <a:ext cx="3383280" cy="4044697"/>
          </a:xfrm>
          <a:prstGeom prst="rect">
            <a:avLst/>
          </a:prstGeom>
          <a:noFill/>
        </p:spPr>
        <p:txBody>
          <a:bodyPr wrap="square" lIns="0" tIns="0">
            <a:spAutoFit/>
          </a:bodyPr>
          <a:lstStyle/>
          <a:p>
            <a:pPr>
              <a:spcAft>
                <a:spcPts val="300"/>
              </a:spcAft>
              <a:defRPr sz="1500" b="1">
                <a:solidFill>
                  <a:srgbClr val="002855"/>
                </a:solidFill>
                <a:latin typeface="Arial"/>
              </a:defRPr>
            </a:pPr>
            <a:r>
              <a:rPr lang="vi-VN" sz="1600" noProof="1"/>
              <a:t>Giao diện người dùng (Frontend)</a:t>
            </a:r>
          </a:p>
          <a:p>
            <a:pPr>
              <a:spcAft>
                <a:spcPts val="1200"/>
              </a:spcAft>
              <a:defRPr sz="1100" b="1">
                <a:solidFill>
                  <a:srgbClr val="0284C7"/>
                </a:solidFill>
                <a:latin typeface="Arial"/>
              </a:defRPr>
            </a:pPr>
            <a:r>
              <a:rPr lang="vi-VN" sz="1600" noProof="1"/>
              <a:t>React 18 · Tailwind CSS · Vite</a:t>
            </a:r>
          </a:p>
          <a:p>
            <a:pPr>
              <a:spcAft>
                <a:spcPts val="1200"/>
              </a:spcAft>
              <a:defRPr sz="1050">
                <a:solidFill>
                  <a:srgbClr val="334155"/>
                </a:solidFill>
                <a:latin typeface="Arial"/>
              </a:defRPr>
            </a:pPr>
            <a:r>
              <a:rPr lang="vi-VN" sz="1600" noProof="1"/>
              <a:t>Xây dựng Website Cổng thông tin đoàn viên và trang quản trị Admin CMS với tốc độ tải trang nhanh (Single Page Application), hiển thị tốt trên cả máy tính và điện thoại.</a:t>
            </a:r>
          </a:p>
          <a:p>
            <a:pPr>
              <a:spcAft>
                <a:spcPts val="800"/>
              </a:spcAft>
              <a:defRPr sz="1000">
                <a:solidFill>
                  <a:srgbClr val="334155"/>
                </a:solidFill>
                <a:latin typeface="Arial"/>
              </a:defRPr>
            </a:pPr>
            <a:r>
              <a:rPr lang="vi-VN" sz="1600" noProof="1"/>
              <a:t>• Giao diện hiện đại, tải nhanh, không cần nạp lại toàn bộ trang web.</a:t>
            </a:r>
          </a:p>
          <a:p>
            <a:pPr>
              <a:spcAft>
                <a:spcPts val="800"/>
              </a:spcAft>
              <a:defRPr sz="1000">
                <a:solidFill>
                  <a:srgbClr val="334155"/>
                </a:solidFill>
                <a:latin typeface="Arial"/>
              </a:defRPr>
            </a:pPr>
            <a:r>
              <a:rPr lang="vi-VN" sz="1600" noProof="1"/>
              <a:t>• Trình soạn thảo bài viết trực quan, dễ sử dụng cho cán bộ công đoàn.</a:t>
            </a:r>
          </a:p>
          <a:p>
            <a:pPr>
              <a:spcAft>
                <a:spcPts val="800"/>
              </a:spcAft>
              <a:defRPr sz="1000">
                <a:solidFill>
                  <a:srgbClr val="334155"/>
                </a:solidFill>
                <a:latin typeface="Arial"/>
              </a:defRPr>
            </a:pPr>
            <a:r>
              <a:rPr lang="vi-VN" sz="1600" noProof="1"/>
              <a:t>• Tự động co giãn theo kích thước màn hình thiết bị (Responsive UI).</a:t>
            </a:r>
          </a:p>
        </p:txBody>
      </p:sp>
      <p:sp>
        <p:nvSpPr>
          <p:cNvPr id="7" name="Rectangle 6"/>
          <p:cNvSpPr/>
          <p:nvPr/>
        </p:nvSpPr>
        <p:spPr>
          <a:xfrm>
            <a:off x="41788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8" name="TextBox 7"/>
          <p:cNvSpPr txBox="1"/>
          <p:nvPr/>
        </p:nvSpPr>
        <p:spPr>
          <a:xfrm>
            <a:off x="4389120" y="1508760"/>
            <a:ext cx="3383280" cy="4537139"/>
          </a:xfrm>
          <a:prstGeom prst="rect">
            <a:avLst/>
          </a:prstGeom>
          <a:noFill/>
        </p:spPr>
        <p:txBody>
          <a:bodyPr wrap="square" lIns="0" tIns="0">
            <a:spAutoFit/>
          </a:bodyPr>
          <a:lstStyle/>
          <a:p>
            <a:pPr>
              <a:spcAft>
                <a:spcPts val="300"/>
              </a:spcAft>
              <a:defRPr sz="1500" b="1">
                <a:solidFill>
                  <a:srgbClr val="002855"/>
                </a:solidFill>
                <a:latin typeface="Arial"/>
              </a:defRPr>
            </a:pPr>
            <a:r>
              <a:rPr lang="vi-VN" sz="1600" noProof="1"/>
              <a:t>Máy chủ xử lý &amp; CSDL (Backend)</a:t>
            </a:r>
          </a:p>
          <a:p>
            <a:pPr>
              <a:spcAft>
                <a:spcPts val="1200"/>
              </a:spcAft>
              <a:defRPr sz="1100" b="1">
                <a:solidFill>
                  <a:srgbClr val="059669"/>
                </a:solidFill>
                <a:latin typeface="Arial"/>
              </a:defRPr>
            </a:pPr>
            <a:r>
              <a:rPr lang="vi-VN" sz="1600" noProof="1"/>
              <a:t>Node.js 18+ · Express · SQL Server 2022</a:t>
            </a:r>
          </a:p>
          <a:p>
            <a:pPr>
              <a:spcAft>
                <a:spcPts val="1200"/>
              </a:spcAft>
              <a:defRPr sz="1050">
                <a:solidFill>
                  <a:srgbClr val="334155"/>
                </a:solidFill>
                <a:latin typeface="Arial"/>
              </a:defRPr>
            </a:pPr>
            <a:r>
              <a:rPr lang="vi-VN" sz="1600" noProof="1"/>
              <a:t>Cung cấp hệ thống API kết nối giữa giao diện và cơ sở dữ liệu, xử lý nghiệp vụ, phân quyền bảo mật tài khoản và lưu trữ an toàn 15 bảng dữ liệu quan hệ.</a:t>
            </a:r>
          </a:p>
          <a:p>
            <a:pPr>
              <a:spcAft>
                <a:spcPts val="800"/>
              </a:spcAft>
              <a:defRPr sz="1000">
                <a:solidFill>
                  <a:srgbClr val="334155"/>
                </a:solidFill>
                <a:latin typeface="Arial"/>
              </a:defRPr>
            </a:pPr>
            <a:r>
              <a:rPr lang="vi-VN" sz="1600" noProof="1"/>
              <a:t>• Bảo mật đăng nhập và phân quyền bằng JSON Web Token (JWT).</a:t>
            </a:r>
          </a:p>
          <a:p>
            <a:pPr>
              <a:spcAft>
                <a:spcPts val="800"/>
              </a:spcAft>
              <a:defRPr sz="1000">
                <a:solidFill>
                  <a:srgbClr val="334155"/>
                </a:solidFill>
                <a:latin typeface="Arial"/>
              </a:defRPr>
            </a:pPr>
            <a:r>
              <a:rPr lang="vi-VN" sz="1600" noProof="1"/>
              <a:t>• Lưu trữ và ràng buộc dữ liệu toàn vẹn trên Microsoft SQL Server 2022.</a:t>
            </a:r>
          </a:p>
          <a:p>
            <a:pPr>
              <a:spcAft>
                <a:spcPts val="800"/>
              </a:spcAft>
              <a:defRPr sz="1000">
                <a:solidFill>
                  <a:srgbClr val="334155"/>
                </a:solidFill>
                <a:latin typeface="Arial"/>
              </a:defRPr>
            </a:pPr>
            <a:r>
              <a:rPr lang="vi-VN" sz="1600" noProof="1"/>
              <a:t>• Tự động đăng bài đúng giờ hẹn thông qua tiến trình ngầm (Node-cron).</a:t>
            </a:r>
          </a:p>
        </p:txBody>
      </p:sp>
      <p:sp>
        <p:nvSpPr>
          <p:cNvPr id="9" name="Rectangle 8"/>
          <p:cNvSpPr/>
          <p:nvPr/>
        </p:nvSpPr>
        <p:spPr>
          <a:xfrm>
            <a:off x="797356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10" name="TextBox 9"/>
          <p:cNvSpPr txBox="1"/>
          <p:nvPr/>
        </p:nvSpPr>
        <p:spPr>
          <a:xfrm>
            <a:off x="8183880" y="1508760"/>
            <a:ext cx="3383280" cy="5029582"/>
          </a:xfrm>
          <a:prstGeom prst="rect">
            <a:avLst/>
          </a:prstGeom>
          <a:noFill/>
        </p:spPr>
        <p:txBody>
          <a:bodyPr wrap="square" lIns="0" tIns="0">
            <a:spAutoFit/>
          </a:bodyPr>
          <a:lstStyle/>
          <a:p>
            <a:pPr>
              <a:spcAft>
                <a:spcPts val="300"/>
              </a:spcAft>
              <a:defRPr sz="1500" b="1">
                <a:solidFill>
                  <a:srgbClr val="002855"/>
                </a:solidFill>
                <a:latin typeface="Arial"/>
              </a:defRPr>
            </a:pPr>
            <a:r>
              <a:rPr lang="vi-VN" sz="1600" noProof="1"/>
              <a:t>Trí tuệ nhân tạo &amp; Đa kênh (AI &amp; APIs)</a:t>
            </a:r>
          </a:p>
          <a:p>
            <a:pPr>
              <a:spcAft>
                <a:spcPts val="1200"/>
              </a:spcAft>
              <a:defRPr sz="1100" b="1">
                <a:solidFill>
                  <a:srgbClr val="D97706"/>
                </a:solidFill>
                <a:latin typeface="Arial"/>
              </a:defRPr>
            </a:pPr>
            <a:r>
              <a:rPr lang="vi-VN" sz="1600" noProof="1"/>
              <a:t>Google Gemini API · Meta Graph API · Zalo API</a:t>
            </a:r>
          </a:p>
          <a:p>
            <a:pPr>
              <a:spcAft>
                <a:spcPts val="1200"/>
              </a:spcAft>
              <a:defRPr sz="1050">
                <a:solidFill>
                  <a:srgbClr val="334155"/>
                </a:solidFill>
                <a:latin typeface="Arial"/>
              </a:defRPr>
            </a:pPr>
            <a:r>
              <a:rPr lang="vi-VN" sz="1600" noProof="1"/>
              <a:t>Tích hợp mô hình AI xử lý tiếng Việt hỗ trợ đọc kế hoạch thô và viết bài; kết hợp kết nối Facebook và Zalo để tự động xuất bản bài viết lên các kênh truyền thông Công đoàn.</a:t>
            </a:r>
          </a:p>
          <a:p>
            <a:pPr>
              <a:spcAft>
                <a:spcPts val="800"/>
              </a:spcAft>
              <a:defRPr sz="1000">
                <a:solidFill>
                  <a:srgbClr val="334155"/>
                </a:solidFill>
                <a:latin typeface="Arial"/>
              </a:defRPr>
            </a:pPr>
            <a:r>
              <a:rPr lang="vi-VN" sz="1600" noProof="1"/>
              <a:t>• Google Gemini API: Đọc kế hoạch sự kiện, nhận diện chữ trên ảnh, viết bài.</a:t>
            </a:r>
          </a:p>
          <a:p>
            <a:pPr>
              <a:spcAft>
                <a:spcPts val="800"/>
              </a:spcAft>
              <a:defRPr sz="1000">
                <a:solidFill>
                  <a:srgbClr val="334155"/>
                </a:solidFill>
                <a:latin typeface="Arial"/>
              </a:defRPr>
            </a:pPr>
            <a:r>
              <a:rPr lang="vi-VN" sz="1600" noProof="1"/>
              <a:t>• Meta Graph API &amp; Zalo API: Tự động đăng bài viết và hình ảnh lên Fanpage và Zalo.</a:t>
            </a:r>
          </a:p>
          <a:p>
            <a:pPr>
              <a:spcAft>
                <a:spcPts val="800"/>
              </a:spcAft>
              <a:defRPr sz="1000">
                <a:solidFill>
                  <a:srgbClr val="334155"/>
                </a:solidFill>
                <a:latin typeface="Arial"/>
              </a:defRPr>
            </a:pPr>
            <a:r>
              <a:rPr lang="vi-VN" sz="1600" noProof="1"/>
              <a:t>• Tiết kiệm thời gian soạn bài và đồng bộ thông tin phong trào nhanh chóng.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3. PHÂN TÍCH &amp; THIẾT KẾ HỆ THỐNG</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Phân quyền người dùng &amp; Chức năng theo vai trò</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sp>
        <p:nvSpPr>
          <p:cNvPr id="6" name="TextBox 5"/>
          <p:cNvSpPr txBox="1"/>
          <p:nvPr/>
        </p:nvSpPr>
        <p:spPr>
          <a:xfrm>
            <a:off x="594360" y="1508760"/>
            <a:ext cx="5257800" cy="4960332"/>
          </a:xfrm>
          <a:prstGeom prst="rect">
            <a:avLst/>
          </a:prstGeom>
          <a:noFill/>
        </p:spPr>
        <p:txBody>
          <a:bodyPr wrap="square" lIns="0" tIns="0">
            <a:spAutoFit/>
          </a:bodyPr>
          <a:lstStyle/>
          <a:p>
            <a:pPr marL="342900" indent="-342900">
              <a:spcAft>
                <a:spcPts val="800"/>
              </a:spcAft>
              <a:buAutoNum type="arabicPeriod"/>
              <a:defRPr sz="1500" b="1">
                <a:solidFill>
                  <a:srgbClr val="002855"/>
                </a:solidFill>
                <a:latin typeface="Arial"/>
              </a:defRPr>
            </a:pPr>
            <a:r>
              <a:rPr lang="vi-VN" sz="1600" noProof="1"/>
              <a:t>ĐOÀN VIÊN &amp; NGƯỜI DÙNG</a:t>
            </a:r>
            <a:endParaRPr lang="en-US" sz="1600" noProof="1"/>
          </a:p>
          <a:p>
            <a:pPr>
              <a:spcAft>
                <a:spcPts val="800"/>
              </a:spcAft>
              <a:defRPr sz="1500" b="1">
                <a:solidFill>
                  <a:srgbClr val="002855"/>
                </a:solidFill>
                <a:latin typeface="Arial"/>
              </a:defRPr>
            </a:pPr>
            <a:r>
              <a:rPr lang="vi-VN" sz="1400" noProof="1">
                <a:solidFill>
                  <a:schemeClr val="accent2"/>
                </a:solidFill>
                <a:latin typeface="Arial"/>
              </a:rPr>
              <a:t>• Xem tin tức &amp; Nghe phát thanh: </a:t>
            </a:r>
            <a:r>
              <a:rPr lang="vi-VN" sz="1400" noProof="1">
                <a:solidFill>
                  <a:srgbClr val="334155"/>
                </a:solidFill>
                <a:latin typeface="Arial"/>
              </a:rPr>
              <a:t>Theo dõi tin hoạt động, nghe đọc tin tự động (Audio TTS).</a:t>
            </a:r>
          </a:p>
          <a:p>
            <a:pPr>
              <a:spcAft>
                <a:spcPts val="600"/>
              </a:spcAft>
            </a:pPr>
            <a:r>
              <a:rPr lang="vi-VN" sz="1400" b="1" noProof="1">
                <a:solidFill>
                  <a:schemeClr val="accent2"/>
                </a:solidFill>
                <a:latin typeface="Arial"/>
              </a:rPr>
              <a:t>•</a:t>
            </a:r>
            <a:r>
              <a:rPr lang="vi-VN" sz="1400" b="1" noProof="1">
                <a:solidFill>
                  <a:srgbClr val="002855"/>
                </a:solidFill>
                <a:latin typeface="Arial"/>
              </a:rPr>
              <a:t> </a:t>
            </a:r>
            <a:r>
              <a:rPr lang="vi-VN" sz="1400" b="1" noProof="1">
                <a:solidFill>
                  <a:schemeClr val="accent2"/>
                </a:solidFill>
                <a:latin typeface="Arial"/>
              </a:rPr>
              <a:t>Tra cứu chính sách &amp; Biểu mẫu: </a:t>
            </a:r>
            <a:r>
              <a:rPr lang="vi-VN" sz="1400" noProof="1">
                <a:solidFill>
                  <a:srgbClr val="334155"/>
                </a:solidFill>
                <a:latin typeface="Arial"/>
              </a:rPr>
              <a:t>Xem văn bản pháp quy, tải biểu mẫu điện tử Công đoàn.</a:t>
            </a:r>
          </a:p>
          <a:p>
            <a:pPr>
              <a:spcAft>
                <a:spcPts val="600"/>
              </a:spcAft>
            </a:pPr>
            <a:r>
              <a:rPr lang="vi-VN" sz="1400" b="1" noProof="1">
                <a:solidFill>
                  <a:schemeClr val="accent2"/>
                </a:solidFill>
                <a:latin typeface="Arial"/>
              </a:rPr>
              <a:t>•</a:t>
            </a:r>
            <a:r>
              <a:rPr lang="vi-VN" sz="1400" b="1" noProof="1">
                <a:solidFill>
                  <a:srgbClr val="002855"/>
                </a:solidFill>
                <a:latin typeface="Arial"/>
              </a:rPr>
              <a:t> </a:t>
            </a:r>
            <a:r>
              <a:rPr lang="vi-VN" sz="1400" b="1" noProof="1">
                <a:solidFill>
                  <a:schemeClr val="accent2"/>
                </a:solidFill>
                <a:latin typeface="Arial"/>
              </a:rPr>
              <a:t>Đăng ký hỗ trợ khó khăn: </a:t>
            </a:r>
            <a:r>
              <a:rPr lang="vi-VN" sz="1400" noProof="1">
                <a:solidFill>
                  <a:srgbClr val="334155"/>
                </a:solidFill>
                <a:latin typeface="Arial"/>
              </a:rPr>
              <a:t>Nộp hồ sơ trực tuyến</a:t>
            </a:r>
            <a:r>
              <a:rPr lang="en-US" sz="1400" noProof="1">
                <a:solidFill>
                  <a:srgbClr val="334155"/>
                </a:solidFill>
                <a:latin typeface="Arial"/>
              </a:rPr>
              <a:t> </a:t>
            </a:r>
            <a:r>
              <a:rPr lang="vi-VN" sz="1400" noProof="1">
                <a:solidFill>
                  <a:srgbClr val="334155"/>
                </a:solidFill>
                <a:latin typeface="Arial"/>
              </a:rPr>
              <a:t>trợ cấp.</a:t>
            </a:r>
          </a:p>
          <a:p>
            <a:pPr>
              <a:spcAft>
                <a:spcPts val="2200"/>
              </a:spcAft>
            </a:pPr>
            <a:r>
              <a:rPr lang="vi-VN" sz="1400" b="1" noProof="1">
                <a:solidFill>
                  <a:schemeClr val="accent2"/>
                </a:solidFill>
                <a:latin typeface="Arial"/>
              </a:rPr>
              <a:t>• Tương tác &amp; Lưu trữ: </a:t>
            </a:r>
            <a:r>
              <a:rPr lang="vi-VN" sz="1400" noProof="1">
                <a:solidFill>
                  <a:srgbClr val="334155"/>
                </a:solidFill>
                <a:latin typeface="Arial"/>
              </a:rPr>
              <a:t>Gửi bình luận góp ý, lưu bài viết quan tâm (Bookmark).</a:t>
            </a:r>
          </a:p>
          <a:p>
            <a:pPr>
              <a:spcAft>
                <a:spcPts val="800"/>
              </a:spcAft>
              <a:defRPr sz="1500" b="1">
                <a:solidFill>
                  <a:srgbClr val="002855"/>
                </a:solidFill>
                <a:latin typeface="Arial"/>
              </a:defRPr>
            </a:pPr>
            <a:r>
              <a:rPr lang="vi-VN" sz="1600" noProof="1"/>
              <a:t>2. CỘNG TÁC VIÊN </a:t>
            </a:r>
            <a:endParaRPr lang="en-US" sz="1600" noProof="1"/>
          </a:p>
          <a:p>
            <a:pPr>
              <a:spcAft>
                <a:spcPts val="800"/>
              </a:spcAft>
              <a:defRPr sz="1500" b="1">
                <a:solidFill>
                  <a:srgbClr val="002855"/>
                </a:solidFill>
                <a:latin typeface="Arial"/>
              </a:defRPr>
            </a:pPr>
            <a:r>
              <a:rPr lang="vi-VN" sz="1400" b="1" noProof="1">
                <a:solidFill>
                  <a:schemeClr val="accent2"/>
                </a:solidFill>
                <a:latin typeface="Arial"/>
              </a:rPr>
              <a:t>• Kế thừa quyền Đoàn viên: </a:t>
            </a:r>
            <a:r>
              <a:rPr lang="vi-VN" sz="1400" noProof="1">
                <a:solidFill>
                  <a:srgbClr val="334155"/>
                </a:solidFill>
                <a:latin typeface="Arial"/>
              </a:rPr>
              <a:t>Sử dụng toàn bộ tính năng tra cứu và tương tác của người dùng.</a:t>
            </a:r>
          </a:p>
          <a:p>
            <a:pPr>
              <a:spcAft>
                <a:spcPts val="600"/>
              </a:spcAft>
            </a:pPr>
            <a:r>
              <a:rPr lang="vi-VN" sz="1400" b="1" noProof="1">
                <a:solidFill>
                  <a:schemeClr val="accent2"/>
                </a:solidFill>
                <a:latin typeface="Arial"/>
              </a:rPr>
              <a:t>• Soạn thảo tin bài phong trào: </a:t>
            </a:r>
            <a:r>
              <a:rPr lang="vi-VN" sz="1400" noProof="1">
                <a:solidFill>
                  <a:srgbClr val="334155"/>
                </a:solidFill>
                <a:latin typeface="Arial"/>
              </a:rPr>
              <a:t>Viết bài trên trình soạn thảo trực quan, đính kèm hình ảnh.</a:t>
            </a:r>
          </a:p>
          <a:p>
            <a:pPr>
              <a:spcAft>
                <a:spcPts val="600"/>
              </a:spcAft>
            </a:pPr>
            <a:r>
              <a:rPr lang="vi-VN" sz="1400" b="1" noProof="1">
                <a:solidFill>
                  <a:schemeClr val="accent2"/>
                </a:solidFill>
                <a:latin typeface="Arial"/>
              </a:rPr>
              <a:t>• Trợ lý AI hỗ trợ viết bài: </a:t>
            </a:r>
            <a:r>
              <a:rPr lang="vi-VN" sz="1400" noProof="1">
                <a:solidFill>
                  <a:srgbClr val="334155"/>
                </a:solidFill>
                <a:latin typeface="Arial"/>
              </a:rPr>
              <a:t>Nạp file tài liệu (.docx, .pdf), AI tự động tạo bài viết chuẩn.</a:t>
            </a:r>
          </a:p>
          <a:p>
            <a:pPr>
              <a:spcAft>
                <a:spcPts val="600"/>
              </a:spcAft>
            </a:pPr>
            <a:r>
              <a:rPr lang="vi-VN" sz="1400" b="1" noProof="1">
                <a:solidFill>
                  <a:schemeClr val="accent2"/>
                </a:solidFill>
                <a:latin typeface="Arial"/>
              </a:rPr>
              <a:t>• Quản lý bản nháp &amp; Gửi duyệt: </a:t>
            </a:r>
            <a:r>
              <a:rPr lang="vi-VN" sz="1400" noProof="1">
                <a:solidFill>
                  <a:srgbClr val="334155"/>
                </a:solidFill>
                <a:latin typeface="Arial"/>
              </a:rPr>
              <a:t>Lưu trữ bài viết của Tổ và gửi lên hàng đợi chờ phê duyệt.</a:t>
            </a:r>
          </a:p>
        </p:txBody>
      </p:sp>
      <p:sp>
        <p:nvSpPr>
          <p:cNvPr id="7" name="TextBox 6"/>
          <p:cNvSpPr txBox="1"/>
          <p:nvPr/>
        </p:nvSpPr>
        <p:spPr>
          <a:xfrm>
            <a:off x="6336792" y="1508760"/>
            <a:ext cx="5257800" cy="4960332"/>
          </a:xfrm>
          <a:prstGeom prst="rect">
            <a:avLst/>
          </a:prstGeom>
          <a:noFill/>
        </p:spPr>
        <p:txBody>
          <a:bodyPr wrap="square" lIns="0" tIns="0">
            <a:spAutoFit/>
          </a:bodyPr>
          <a:lstStyle/>
          <a:p>
            <a:pPr>
              <a:spcAft>
                <a:spcPts val="800"/>
              </a:spcAft>
              <a:defRPr sz="1500" b="1">
                <a:solidFill>
                  <a:srgbClr val="D97706"/>
                </a:solidFill>
                <a:latin typeface="Arial"/>
              </a:defRPr>
            </a:pPr>
            <a:r>
              <a:rPr lang="vi-VN" sz="1600" noProof="1"/>
              <a:t>3. BIÊN TẬP VIÊN </a:t>
            </a:r>
            <a:endParaRPr lang="en-US" sz="1600" noProof="1"/>
          </a:p>
          <a:p>
            <a:pPr>
              <a:spcAft>
                <a:spcPts val="800"/>
              </a:spcAft>
              <a:defRPr sz="1500" b="1">
                <a:solidFill>
                  <a:srgbClr val="D97706"/>
                </a:solidFill>
                <a:latin typeface="Arial"/>
              </a:defRPr>
            </a:pPr>
            <a:r>
              <a:rPr lang="vi-VN" sz="1400" b="1" noProof="1">
                <a:solidFill>
                  <a:srgbClr val="D97706"/>
                </a:solidFill>
                <a:latin typeface="Arial"/>
              </a:rPr>
              <a:t>• Thẩm định &amp; Phê duyệt bài viết: </a:t>
            </a:r>
            <a:r>
              <a:rPr lang="vi-VN" sz="1400" noProof="1">
                <a:solidFill>
                  <a:srgbClr val="334155"/>
                </a:solidFill>
                <a:latin typeface="Arial"/>
              </a:rPr>
              <a:t>Kiểm duyệt bài viết từ các Tổ, chỉnh sửa hoặc duyệt xuất bản.</a:t>
            </a:r>
          </a:p>
          <a:p>
            <a:pPr>
              <a:spcAft>
                <a:spcPts val="600"/>
              </a:spcAft>
            </a:pPr>
            <a:r>
              <a:rPr lang="vi-VN" sz="1400" b="1" noProof="1">
                <a:solidFill>
                  <a:srgbClr val="D97706"/>
                </a:solidFill>
                <a:latin typeface="Arial"/>
              </a:rPr>
              <a:t>• Tùy chỉnh &amp; Ghim nổi bật: </a:t>
            </a:r>
            <a:r>
              <a:rPr lang="vi-VN" sz="1400" noProof="1">
                <a:solidFill>
                  <a:srgbClr val="334155"/>
                </a:solidFill>
                <a:latin typeface="Arial"/>
              </a:rPr>
              <a:t>Đặt bài viết nổi bật, ghim trang chủ, phân loại chuyên mục.</a:t>
            </a:r>
          </a:p>
          <a:p>
            <a:pPr>
              <a:spcAft>
                <a:spcPts val="600"/>
              </a:spcAft>
            </a:pPr>
            <a:r>
              <a:rPr lang="vi-VN" sz="1400" b="1" noProof="1">
                <a:solidFill>
                  <a:srgbClr val="D97706"/>
                </a:solidFill>
                <a:latin typeface="Arial"/>
              </a:rPr>
              <a:t>• Xuất bản tự động đa kênh: </a:t>
            </a:r>
            <a:r>
              <a:rPr lang="vi-VN" sz="1400" noProof="1">
                <a:solidFill>
                  <a:srgbClr val="334155"/>
                </a:solidFill>
                <a:latin typeface="Arial"/>
              </a:rPr>
              <a:t>Tự động đăng bài lên Fanpage Facebook và đăng tải Zalo OA.</a:t>
            </a:r>
          </a:p>
          <a:p>
            <a:pPr>
              <a:spcAft>
                <a:spcPts val="2200"/>
              </a:spcAft>
            </a:pPr>
            <a:r>
              <a:rPr lang="vi-VN" sz="1400" b="1" noProof="1">
                <a:solidFill>
                  <a:srgbClr val="D97706"/>
                </a:solidFill>
                <a:latin typeface="Arial"/>
              </a:rPr>
              <a:t>• Lập lịch đăng &amp; Duyệt bình luận: </a:t>
            </a:r>
            <a:r>
              <a:rPr lang="vi-VN" sz="1400" noProof="1">
                <a:solidFill>
                  <a:srgbClr val="334155"/>
                </a:solidFill>
                <a:latin typeface="Arial"/>
              </a:rPr>
              <a:t>Hẹn giờ xuất bản tự động, quản lý và duyệt bình luận độc giả.</a:t>
            </a:r>
          </a:p>
          <a:p>
            <a:pPr>
              <a:spcAft>
                <a:spcPts val="800"/>
              </a:spcAft>
              <a:defRPr sz="1500" b="1">
                <a:solidFill>
                  <a:srgbClr val="D97706"/>
                </a:solidFill>
                <a:latin typeface="Arial"/>
              </a:defRPr>
            </a:pPr>
            <a:r>
              <a:rPr lang="vi-VN" sz="1600" noProof="1"/>
              <a:t>4. QUẢN TRỊ VIÊN </a:t>
            </a:r>
            <a:endParaRPr lang="en-US" sz="1600" noProof="1"/>
          </a:p>
          <a:p>
            <a:pPr>
              <a:spcAft>
                <a:spcPts val="800"/>
              </a:spcAft>
              <a:defRPr sz="1500" b="1">
                <a:solidFill>
                  <a:srgbClr val="D97706"/>
                </a:solidFill>
                <a:latin typeface="Arial"/>
              </a:defRPr>
            </a:pPr>
            <a:r>
              <a:rPr lang="vi-VN" sz="1400" b="1" noProof="1">
                <a:solidFill>
                  <a:srgbClr val="D97706"/>
                </a:solidFill>
                <a:latin typeface="Arial"/>
              </a:rPr>
              <a:t>• Quản trị người dùng &amp; Phân quyền: </a:t>
            </a:r>
            <a:r>
              <a:rPr lang="vi-VN" sz="1400" noProof="1">
                <a:solidFill>
                  <a:srgbClr val="334155"/>
                </a:solidFill>
                <a:latin typeface="Arial"/>
              </a:rPr>
              <a:t>Cấp tài khoản, phân quyền 4 vai trò (RBAC), bảo mật hệ thống.</a:t>
            </a:r>
          </a:p>
          <a:p>
            <a:pPr>
              <a:spcAft>
                <a:spcPts val="600"/>
              </a:spcAft>
            </a:pPr>
            <a:r>
              <a:rPr lang="vi-VN" sz="1400" b="1" noProof="1">
                <a:solidFill>
                  <a:srgbClr val="D97706"/>
                </a:solidFill>
                <a:latin typeface="Arial"/>
              </a:rPr>
              <a:t>• Quản lý cơ cấu Tổ Công đoàn: </a:t>
            </a:r>
            <a:r>
              <a:rPr lang="vi-VN" sz="1400" noProof="1">
                <a:solidFill>
                  <a:srgbClr val="334155"/>
                </a:solidFill>
                <a:latin typeface="Arial"/>
              </a:rPr>
              <a:t>Quản lý cơ cấu 16 Tổ Công đoàn cơ sở và danh mục hệ thống.</a:t>
            </a:r>
          </a:p>
          <a:p>
            <a:pPr>
              <a:spcAft>
                <a:spcPts val="600"/>
              </a:spcAft>
            </a:pPr>
            <a:r>
              <a:rPr lang="vi-VN" sz="1400" b="1" noProof="1">
                <a:solidFill>
                  <a:srgbClr val="D97706"/>
                </a:solidFill>
                <a:latin typeface="Arial"/>
              </a:rPr>
              <a:t>• Quản lý hồ sơ chăm lo: </a:t>
            </a:r>
            <a:r>
              <a:rPr lang="vi-VN" sz="1400" noProof="1">
                <a:solidFill>
                  <a:srgbClr val="334155"/>
                </a:solidFill>
                <a:latin typeface="Arial"/>
              </a:rPr>
              <a:t>Quản lý chương trình hỗ trợ, xét duyệt trợ cấp khó khăn.</a:t>
            </a:r>
          </a:p>
          <a:p>
            <a:pPr>
              <a:spcAft>
                <a:spcPts val="600"/>
              </a:spcAft>
            </a:pPr>
            <a:r>
              <a:rPr lang="vi-VN" sz="1400" b="1" noProof="1">
                <a:solidFill>
                  <a:srgbClr val="D97706"/>
                </a:solidFill>
                <a:latin typeface="Arial"/>
              </a:rPr>
              <a:t>• Cấu hình API &amp; Giám sát: </a:t>
            </a:r>
            <a:r>
              <a:rPr lang="vi-VN" sz="1400" noProof="1">
                <a:solidFill>
                  <a:srgbClr val="334155"/>
                </a:solidFill>
                <a:latin typeface="Arial"/>
              </a:rPr>
              <a:t>Cấu hình Gemini, Groq (dự phòng), Meta, Zalo; theo dõi Audit Log.</a:t>
            </a:r>
          </a:p>
        </p:txBody>
      </p:sp>
      <p:sp>
        <p:nvSpPr>
          <p:cNvPr id="8" name="Rectangle 7"/>
          <p:cNvSpPr/>
          <p:nvPr/>
        </p:nvSpPr>
        <p:spPr>
          <a:xfrm>
            <a:off x="6089904" y="164592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3. PHÂN TÍCH &amp; THIẾT KẾ HỆ THỐNG</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Danh mục 15 bảng cơ sở dữ liệu &amp; Mục đích sử dụng</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sp>
        <p:nvSpPr>
          <p:cNvPr id="6" name="TextBox 5"/>
          <p:cNvSpPr txBox="1"/>
          <p:nvPr/>
        </p:nvSpPr>
        <p:spPr>
          <a:xfrm>
            <a:off x="594360" y="1371600"/>
            <a:ext cx="5257800" cy="4303742"/>
          </a:xfrm>
          <a:prstGeom prst="rect">
            <a:avLst/>
          </a:prstGeom>
          <a:noFill/>
        </p:spPr>
        <p:txBody>
          <a:bodyPr wrap="square" lIns="0" tIns="0">
            <a:spAutoFit/>
          </a:bodyPr>
          <a:lstStyle/>
          <a:p>
            <a:pPr>
              <a:spcAft>
                <a:spcPts val="600"/>
              </a:spcAft>
              <a:defRPr sz="1300" b="1">
                <a:solidFill>
                  <a:srgbClr val="002855"/>
                </a:solidFill>
                <a:latin typeface="Arial"/>
              </a:defRPr>
            </a:pPr>
            <a:r>
              <a:rPr lang="vi-VN" sz="1400" noProof="1"/>
              <a:t>1. NHÓM NGƯỜI DÙNG &amp; TỔ CHỨC (04 BẢNG)</a:t>
            </a:r>
          </a:p>
          <a:p>
            <a:pPr>
              <a:spcAft>
                <a:spcPts val="400"/>
              </a:spcAft>
            </a:pPr>
            <a:r>
              <a:rPr lang="vi-VN" sz="1400" b="1" noProof="1">
                <a:solidFill>
                  <a:srgbClr val="002855"/>
                </a:solidFill>
                <a:latin typeface="Arial"/>
              </a:rPr>
              <a:t>• USERS: </a:t>
            </a:r>
            <a:r>
              <a:rPr lang="vi-VN" sz="1200" noProof="1">
                <a:solidFill>
                  <a:srgbClr val="334155"/>
                </a:solidFill>
                <a:latin typeface="Arial"/>
              </a:rPr>
              <a:t>Quản lý tài khoản đăng nhập, mật khẩu mã hóa (Bcrypt) và vai trò phân quyền (Admin, Editor, Contributor, User).</a:t>
            </a:r>
          </a:p>
          <a:p>
            <a:pPr>
              <a:spcAft>
                <a:spcPts val="400"/>
              </a:spcAft>
            </a:pPr>
            <a:r>
              <a:rPr lang="vi-VN" sz="1400" b="1" noProof="1">
                <a:solidFill>
                  <a:srgbClr val="002855"/>
                </a:solidFill>
                <a:latin typeface="Arial"/>
              </a:rPr>
              <a:t>• ORGANIZATIONS: </a:t>
            </a:r>
            <a:r>
              <a:rPr lang="vi-VN" sz="1200" noProof="1">
                <a:solidFill>
                  <a:srgbClr val="334155"/>
                </a:solidFill>
                <a:latin typeface="Arial"/>
              </a:rPr>
              <a:t>Quản lý cơ cấu các Ban chuyên môn cấp trường, phòng ban và đơn vị trực thuộc.</a:t>
            </a:r>
          </a:p>
          <a:p>
            <a:pPr>
              <a:spcAft>
                <a:spcPts val="400"/>
              </a:spcAft>
            </a:pPr>
            <a:r>
              <a:rPr lang="vi-VN" sz="1400" b="1" noProof="1">
                <a:solidFill>
                  <a:srgbClr val="002855"/>
                </a:solidFill>
                <a:latin typeface="Arial"/>
              </a:rPr>
              <a:t>• UNION_BRANCHES: </a:t>
            </a:r>
            <a:r>
              <a:rPr lang="vi-VN" sz="1200" noProof="1">
                <a:solidFill>
                  <a:srgbClr val="334155"/>
                </a:solidFill>
                <a:latin typeface="Arial"/>
              </a:rPr>
              <a:t>Quản lý danh mục 16 Tổ Công đoàn cơ sở, thông tin Tổ trưởng và email liên hệ tác nghiệp.</a:t>
            </a:r>
          </a:p>
          <a:p>
            <a:pPr>
              <a:spcAft>
                <a:spcPts val="400"/>
              </a:spcAft>
            </a:pPr>
            <a:r>
              <a:rPr lang="vi-VN" sz="1400" b="1" noProof="1">
                <a:solidFill>
                  <a:srgbClr val="002855"/>
                </a:solidFill>
                <a:latin typeface="Arial"/>
              </a:rPr>
              <a:t>• MEMBERS: </a:t>
            </a:r>
            <a:r>
              <a:rPr lang="vi-VN" sz="1200" noProof="1">
                <a:solidFill>
                  <a:srgbClr val="334155"/>
                </a:solidFill>
                <a:latin typeface="Arial"/>
              </a:rPr>
              <a:t>Quản lý hồ sơ công đoàn viên, chức vụ, học hàm học vị và đơn vị công tác toàn trường.</a:t>
            </a:r>
          </a:p>
          <a:p>
            <a:pPr>
              <a:spcBef>
                <a:spcPts val="1000"/>
              </a:spcBef>
              <a:spcAft>
                <a:spcPts val="600"/>
              </a:spcAft>
              <a:defRPr sz="1300" b="1">
                <a:solidFill>
                  <a:srgbClr val="002855"/>
                </a:solidFill>
                <a:latin typeface="Arial"/>
              </a:defRPr>
            </a:pPr>
            <a:r>
              <a:rPr lang="vi-VN" sz="1400" noProof="1"/>
              <a:t>2. NHÓM NỘI DUNG &amp; TƯƠNG TÁC (04 BẢNG)</a:t>
            </a:r>
          </a:p>
          <a:p>
            <a:pPr>
              <a:spcAft>
                <a:spcPts val="400"/>
              </a:spcAft>
            </a:pPr>
            <a:r>
              <a:rPr lang="vi-VN" sz="1400" b="1" noProof="1">
                <a:solidFill>
                  <a:srgbClr val="002855"/>
                </a:solidFill>
                <a:latin typeface="Arial"/>
              </a:rPr>
              <a:t>• ARTICLES: </a:t>
            </a:r>
            <a:r>
              <a:rPr lang="vi-VN" sz="1200" noProof="1">
                <a:solidFill>
                  <a:srgbClr val="334155"/>
                </a:solidFill>
                <a:latin typeface="Arial"/>
              </a:rPr>
              <a:t>Lưu trữ toàn bộ nội dung tin bài truyền thông, tiêu đề, Sapo, bài viết HTML và ảnh sự kiện.</a:t>
            </a:r>
          </a:p>
          <a:p>
            <a:pPr>
              <a:spcAft>
                <a:spcPts val="400"/>
              </a:spcAft>
            </a:pPr>
            <a:r>
              <a:rPr lang="vi-VN" sz="1400" b="1" noProof="1">
                <a:solidFill>
                  <a:srgbClr val="002855"/>
                </a:solidFill>
                <a:latin typeface="Arial"/>
              </a:rPr>
              <a:t>• CATEGORIES: </a:t>
            </a:r>
            <a:r>
              <a:rPr lang="vi-VN" sz="1200" noProof="1">
                <a:solidFill>
                  <a:srgbClr val="334155"/>
                </a:solidFill>
                <a:latin typeface="Arial"/>
              </a:rPr>
              <a:t>Phân loại bài viết theo 5 chuyên mục: Phong trào, Tuyên truyền, Nữ công, Thi đua, Chính sách.</a:t>
            </a:r>
          </a:p>
          <a:p>
            <a:pPr>
              <a:spcAft>
                <a:spcPts val="400"/>
              </a:spcAft>
            </a:pPr>
            <a:r>
              <a:rPr lang="vi-VN" sz="1400" b="1" noProof="1">
                <a:solidFill>
                  <a:srgbClr val="002855"/>
                </a:solidFill>
                <a:latin typeface="Arial"/>
              </a:rPr>
              <a:t>• ARTICLE_AUDITS: </a:t>
            </a:r>
            <a:r>
              <a:rPr lang="vi-VN" sz="1200" noProof="1">
                <a:solidFill>
                  <a:srgbClr val="334155"/>
                </a:solidFill>
                <a:latin typeface="Arial"/>
              </a:rPr>
              <a:t>Nhật ký kiểm duyệt bài viết, ghi nhận lịch sử duyệt bài, người thẩm định và lý do từ chối.</a:t>
            </a:r>
          </a:p>
          <a:p>
            <a:pPr>
              <a:spcAft>
                <a:spcPts val="400"/>
              </a:spcAft>
            </a:pPr>
            <a:r>
              <a:rPr lang="vi-VN" sz="1400" b="1" noProof="1">
                <a:solidFill>
                  <a:srgbClr val="002855"/>
                </a:solidFill>
                <a:latin typeface="Arial"/>
              </a:rPr>
              <a:t>• COMMENTS: </a:t>
            </a:r>
            <a:r>
              <a:rPr lang="vi-VN" sz="1200" noProof="1">
                <a:solidFill>
                  <a:srgbClr val="334155"/>
                </a:solidFill>
                <a:latin typeface="Arial"/>
              </a:rPr>
              <a:t>Lưu trữ bình luận, ý kiến đóng góp của đoàn viên dưới bài viết và trạng thái duyệt bình luận.</a:t>
            </a:r>
          </a:p>
        </p:txBody>
      </p:sp>
      <p:sp>
        <p:nvSpPr>
          <p:cNvPr id="7" name="TextBox 6"/>
          <p:cNvSpPr txBox="1"/>
          <p:nvPr/>
        </p:nvSpPr>
        <p:spPr>
          <a:xfrm>
            <a:off x="6336792" y="1371600"/>
            <a:ext cx="5257800" cy="4237057"/>
          </a:xfrm>
          <a:prstGeom prst="rect">
            <a:avLst/>
          </a:prstGeom>
          <a:noFill/>
        </p:spPr>
        <p:txBody>
          <a:bodyPr wrap="square" lIns="0" tIns="0">
            <a:spAutoFit/>
          </a:bodyPr>
          <a:lstStyle/>
          <a:p>
            <a:pPr>
              <a:spcAft>
                <a:spcPts val="600"/>
              </a:spcAft>
              <a:defRPr sz="1300" b="1">
                <a:solidFill>
                  <a:srgbClr val="D97706"/>
                </a:solidFill>
                <a:latin typeface="Arial"/>
              </a:defRPr>
            </a:pPr>
            <a:r>
              <a:rPr lang="vi-VN" sz="1200" noProof="1"/>
              <a:t>3. NHÓM XUẤT BẢN ĐA KÊNH &amp; TIỆN ÍCH (03 BẢNG)</a:t>
            </a:r>
          </a:p>
          <a:p>
            <a:pPr>
              <a:spcAft>
                <a:spcPts val="400"/>
              </a:spcAft>
            </a:pPr>
            <a:r>
              <a:rPr lang="vi-VN" sz="1600" b="1" noProof="1">
                <a:solidFill>
                  <a:srgbClr val="D97706"/>
                </a:solidFill>
                <a:latin typeface="Arial"/>
              </a:rPr>
              <a:t>• PUBLISH_LOGS: </a:t>
            </a:r>
            <a:r>
              <a:rPr lang="vi-VN" sz="1400" noProof="1">
                <a:solidFill>
                  <a:srgbClr val="334155"/>
                </a:solidFill>
                <a:latin typeface="Arial"/>
              </a:rPr>
              <a:t>Ghi vết lịch sử xuất bản đa kênh lên Fanpage Facebook (Post ID) và Zalo OA (Message ID).</a:t>
            </a:r>
          </a:p>
          <a:p>
            <a:pPr>
              <a:spcAft>
                <a:spcPts val="400"/>
              </a:spcAft>
            </a:pPr>
            <a:r>
              <a:rPr lang="vi-VN" sz="1600" b="1" noProof="1">
                <a:solidFill>
                  <a:srgbClr val="D97706"/>
                </a:solidFill>
                <a:latin typeface="Arial"/>
              </a:rPr>
              <a:t>• SCHEDULES: </a:t>
            </a:r>
            <a:r>
              <a:rPr lang="vi-VN" sz="1400" noProof="1">
                <a:solidFill>
                  <a:srgbClr val="334155"/>
                </a:solidFill>
                <a:latin typeface="Arial"/>
              </a:rPr>
              <a:t>Quản lý tác vụ lập lịch hẹn giờ phát hành bài viết tự động qua tiến trình ngầm (Node-cron).</a:t>
            </a:r>
          </a:p>
          <a:p>
            <a:pPr>
              <a:spcAft>
                <a:spcPts val="400"/>
              </a:spcAft>
            </a:pPr>
            <a:r>
              <a:rPr lang="vi-VN" sz="1600" b="1" noProof="1">
                <a:solidFill>
                  <a:srgbClr val="D97706"/>
                </a:solidFill>
                <a:latin typeface="Arial"/>
              </a:rPr>
              <a:t>• BOOKMARKS: </a:t>
            </a:r>
            <a:r>
              <a:rPr lang="vi-VN" sz="1400" noProof="1">
                <a:solidFill>
                  <a:srgbClr val="334155"/>
                </a:solidFill>
                <a:latin typeface="Arial"/>
              </a:rPr>
              <a:t>Lưu trữ danh sách bài viết đánh dấu yêu thích và đọc sau của từng đoàn viên.</a:t>
            </a:r>
          </a:p>
          <a:p>
            <a:pPr>
              <a:spcBef>
                <a:spcPts val="1000"/>
              </a:spcBef>
              <a:spcAft>
                <a:spcPts val="600"/>
              </a:spcAft>
              <a:defRPr sz="1300" b="1">
                <a:solidFill>
                  <a:srgbClr val="D97706"/>
                </a:solidFill>
                <a:latin typeface="Arial"/>
              </a:defRPr>
            </a:pPr>
            <a:r>
              <a:rPr lang="vi-VN" sz="1200" noProof="1"/>
              <a:t>4. NHÓM NGHIỆP VỤ &amp; PHÚC LỢI (04 BẢNG)</a:t>
            </a:r>
          </a:p>
          <a:p>
            <a:pPr>
              <a:spcAft>
                <a:spcPts val="400"/>
              </a:spcAft>
            </a:pPr>
            <a:r>
              <a:rPr lang="vi-VN" sz="1600" b="1" noProof="1">
                <a:solidFill>
                  <a:srgbClr val="D97706"/>
                </a:solidFill>
                <a:latin typeface="Arial"/>
              </a:rPr>
              <a:t>• AID_REQUESTS: </a:t>
            </a:r>
            <a:r>
              <a:rPr lang="vi-VN" sz="1400" noProof="1">
                <a:solidFill>
                  <a:srgbClr val="334155"/>
                </a:solidFill>
                <a:latin typeface="Arial"/>
              </a:rPr>
              <a:t>Tiếp nhận và quản lý quy trình xét duyệt đơn đề nghị trợ cấp khó khăn của công đoàn viên.</a:t>
            </a:r>
          </a:p>
          <a:p>
            <a:pPr>
              <a:spcAft>
                <a:spcPts val="400"/>
              </a:spcAft>
            </a:pPr>
            <a:r>
              <a:rPr lang="vi-VN" sz="1600" b="1" noProof="1">
                <a:solidFill>
                  <a:srgbClr val="D97706"/>
                </a:solidFill>
                <a:latin typeface="Arial"/>
              </a:rPr>
              <a:t>• WELFARE_PROGRAMS: </a:t>
            </a:r>
            <a:r>
              <a:rPr lang="vi-VN" sz="1400" noProof="1">
                <a:solidFill>
                  <a:srgbClr val="334155"/>
                </a:solidFill>
                <a:latin typeface="Arial"/>
              </a:rPr>
              <a:t>Quản lý danh mục các chương trình chăm lo, định mức kinh phí và điều kiện thụ hưởng.</a:t>
            </a:r>
          </a:p>
          <a:p>
            <a:pPr>
              <a:spcAft>
                <a:spcPts val="400"/>
              </a:spcAft>
            </a:pPr>
            <a:r>
              <a:rPr lang="vi-VN" sz="1600" b="1" noProof="1">
                <a:solidFill>
                  <a:srgbClr val="D97706"/>
                </a:solidFill>
                <a:latin typeface="Arial"/>
              </a:rPr>
              <a:t>• DOCUMENTS: </a:t>
            </a:r>
            <a:r>
              <a:rPr lang="vi-VN" sz="1400" noProof="1">
                <a:solidFill>
                  <a:srgbClr val="334155"/>
                </a:solidFill>
                <a:latin typeface="Arial"/>
              </a:rPr>
              <a:t>Kho văn bản pháp quy, nghị quyết, quy chế và tệp PDF scan cho đoàn viên tải về tra cứu.</a:t>
            </a:r>
          </a:p>
          <a:p>
            <a:pPr>
              <a:spcAft>
                <a:spcPts val="400"/>
              </a:spcAft>
            </a:pPr>
            <a:r>
              <a:rPr lang="vi-VN" sz="1600" b="1" noProof="1">
                <a:solidFill>
                  <a:srgbClr val="D97706"/>
                </a:solidFill>
                <a:latin typeface="Arial"/>
              </a:rPr>
              <a:t>• TEMPLATES: </a:t>
            </a:r>
            <a:r>
              <a:rPr lang="vi-VN" sz="1400" noProof="1">
                <a:solidFill>
                  <a:srgbClr val="334155"/>
                </a:solidFill>
                <a:latin typeface="Arial"/>
              </a:rPr>
              <a:t>Kho biểu mẫu nghiệp vụ công đoàn chuẩn hóa (.docx) phục vụ công tác tại các Tổ Công đoàn.</a:t>
            </a:r>
          </a:p>
        </p:txBody>
      </p:sp>
      <p:sp>
        <p:nvSpPr>
          <p:cNvPr id="8" name="Rectangle 7"/>
          <p:cNvSpPr/>
          <p:nvPr/>
        </p:nvSpPr>
        <p:spPr>
          <a:xfrm>
            <a:off x="6089904" y="1600200"/>
            <a:ext cx="9144" cy="44805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4. CHỨC NĂNG TRỢ LÝ AI</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Quy trình kỹ thuật xử lý tài liệu &amp; Cơ chế AI trong hệ thống</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sp>
        <p:nvSpPr>
          <p:cNvPr id="6" name="TextBox 5"/>
          <p:cNvSpPr txBox="1"/>
          <p:nvPr/>
        </p:nvSpPr>
        <p:spPr>
          <a:xfrm>
            <a:off x="594360" y="1508760"/>
            <a:ext cx="2514600" cy="4344779"/>
          </a:xfrm>
          <a:prstGeom prst="rect">
            <a:avLst/>
          </a:prstGeom>
          <a:noFill/>
        </p:spPr>
        <p:txBody>
          <a:bodyPr wrap="square" lIns="0" tIns="0">
            <a:spAutoFit/>
          </a:bodyPr>
          <a:lstStyle/>
          <a:p>
            <a:pPr>
              <a:spcAft>
                <a:spcPts val="400"/>
              </a:spcAft>
              <a:defRPr sz="1100" b="1">
                <a:solidFill>
                  <a:srgbClr val="0284C7"/>
                </a:solidFill>
                <a:latin typeface="Arial"/>
              </a:defRPr>
            </a:pPr>
            <a:r>
              <a:rPr lang="vi-VN" sz="1600" noProof="1"/>
              <a:t>GIAI ĐOẠN 01 ──►</a:t>
            </a:r>
          </a:p>
          <a:p>
            <a:pPr>
              <a:spcAft>
                <a:spcPts val="200"/>
              </a:spcAft>
              <a:defRPr sz="1400" b="1">
                <a:solidFill>
                  <a:srgbClr val="002855"/>
                </a:solidFill>
                <a:latin typeface="Arial"/>
              </a:defRPr>
            </a:pPr>
            <a:r>
              <a:rPr lang="vi-VN" sz="1600" noProof="1"/>
              <a:t>Bóc tách tài liệu đa định dạng</a:t>
            </a:r>
          </a:p>
          <a:p>
            <a:pPr>
              <a:spcAft>
                <a:spcPts val="1200"/>
              </a:spcAft>
              <a:defRPr sz="1050" b="1">
                <a:solidFill>
                  <a:srgbClr val="D97706"/>
                </a:solidFill>
                <a:latin typeface="Arial"/>
              </a:defRPr>
            </a:pPr>
            <a:r>
              <a:rPr lang="vi-VN" sz="1200" noProof="1"/>
              <a:t>Buffer &amp; Thư viện chuyên dụng</a:t>
            </a:r>
          </a:p>
          <a:p>
            <a:pPr>
              <a:spcAft>
                <a:spcPts val="800"/>
              </a:spcAft>
              <a:defRPr sz="1000">
                <a:solidFill>
                  <a:srgbClr val="334155"/>
                </a:solidFill>
                <a:latin typeface="Arial"/>
              </a:defRPr>
            </a:pPr>
            <a:r>
              <a:rPr lang="vi-VN" sz="1600" noProof="1"/>
              <a:t>• Word (.docx): Dùng mammoth chuyển đổi HTML và JSZip bóc tách hình ảnh nhúng.</a:t>
            </a:r>
          </a:p>
          <a:p>
            <a:pPr>
              <a:spcAft>
                <a:spcPts val="800"/>
              </a:spcAft>
              <a:defRPr sz="1000">
                <a:solidFill>
                  <a:srgbClr val="334155"/>
                </a:solidFill>
                <a:latin typeface="Arial"/>
              </a:defRPr>
            </a:pPr>
            <a:r>
              <a:rPr lang="vi-VN" sz="1600" noProof="1"/>
              <a:t>• Excel (.xlsx): Dùng SheetJS chuyển đổi các bảng số liệu sang Markdown Table.</a:t>
            </a:r>
          </a:p>
          <a:p>
            <a:pPr>
              <a:spcAft>
                <a:spcPts val="800"/>
              </a:spcAft>
              <a:defRPr sz="1000">
                <a:solidFill>
                  <a:srgbClr val="334155"/>
                </a:solidFill>
                <a:latin typeface="Arial"/>
              </a:defRPr>
            </a:pPr>
            <a:r>
              <a:rPr lang="vi-VN" sz="1600" noProof="1"/>
              <a:t>• PDF (.pdf): Dùng pdf-parse trích xuất chữ; quét stream nhị phân bóc tách ảnh.</a:t>
            </a:r>
          </a:p>
        </p:txBody>
      </p:sp>
      <p:sp>
        <p:nvSpPr>
          <p:cNvPr id="7" name="Rectangle 6"/>
          <p:cNvSpPr/>
          <p:nvPr/>
        </p:nvSpPr>
        <p:spPr>
          <a:xfrm>
            <a:off x="32644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8" name="TextBox 7"/>
          <p:cNvSpPr txBox="1"/>
          <p:nvPr/>
        </p:nvSpPr>
        <p:spPr>
          <a:xfrm>
            <a:off x="3419856" y="1508760"/>
            <a:ext cx="2514600" cy="4098558"/>
          </a:xfrm>
          <a:prstGeom prst="rect">
            <a:avLst/>
          </a:prstGeom>
          <a:noFill/>
        </p:spPr>
        <p:txBody>
          <a:bodyPr wrap="square" lIns="0" tIns="0">
            <a:spAutoFit/>
          </a:bodyPr>
          <a:lstStyle/>
          <a:p>
            <a:pPr>
              <a:spcAft>
                <a:spcPts val="400"/>
              </a:spcAft>
              <a:defRPr sz="1100" b="1">
                <a:solidFill>
                  <a:srgbClr val="0284C7"/>
                </a:solidFill>
                <a:latin typeface="Arial"/>
              </a:defRPr>
            </a:pPr>
            <a:r>
              <a:rPr lang="vi-VN" sz="1600" noProof="1"/>
              <a:t>GIAI ĐOẠN 02 ──►</a:t>
            </a:r>
          </a:p>
          <a:p>
            <a:pPr>
              <a:spcAft>
                <a:spcPts val="200"/>
              </a:spcAft>
              <a:defRPr sz="1400" b="1">
                <a:solidFill>
                  <a:srgbClr val="002855"/>
                </a:solidFill>
                <a:latin typeface="Arial"/>
              </a:defRPr>
            </a:pPr>
            <a:r>
              <a:rPr lang="vi-VN" sz="1600" noProof="1"/>
              <a:t>Làm sạch &amp; Chuẩn hóa Unicode</a:t>
            </a:r>
          </a:p>
          <a:p>
            <a:pPr>
              <a:spcAft>
                <a:spcPts val="1200"/>
              </a:spcAft>
              <a:defRPr sz="1050" b="1">
                <a:solidFill>
                  <a:srgbClr val="D97706"/>
                </a:solidFill>
                <a:latin typeface="Arial"/>
              </a:defRPr>
            </a:pPr>
            <a:r>
              <a:rPr lang="vi-VN" sz="1200" noProof="1"/>
              <a:t>Xử lý phông chữ tiếng Việt</a:t>
            </a:r>
          </a:p>
          <a:p>
            <a:pPr>
              <a:spcAft>
                <a:spcPts val="800"/>
              </a:spcAft>
              <a:defRPr sz="1000">
                <a:solidFill>
                  <a:srgbClr val="334155"/>
                </a:solidFill>
                <a:latin typeface="Arial"/>
              </a:defRPr>
            </a:pPr>
            <a:r>
              <a:rPr lang="vi-VN" sz="1600" noProof="1"/>
              <a:t>• Chuẩn hóa Unicode NFC: Tự động sửa lỗi gõ dấu tổ hợp (NFD) từ các tài liệu cũ.</a:t>
            </a:r>
          </a:p>
          <a:p>
            <a:pPr>
              <a:spcAft>
                <a:spcPts val="800"/>
              </a:spcAft>
              <a:defRPr sz="1000">
                <a:solidFill>
                  <a:srgbClr val="334155"/>
                </a:solidFill>
                <a:latin typeface="Arial"/>
              </a:defRPr>
            </a:pPr>
            <a:r>
              <a:rPr lang="vi-VN" sz="1600" noProof="1"/>
              <a:t>• Lọc nhiễu dữ liệu: Gỡ bỏ ký tự điều khiển hệ thống, số trang lặp lạ</a:t>
            </a:r>
            <a:r>
              <a:rPr lang="en-US" sz="1600" noProof="1"/>
              <a:t>i</a:t>
            </a:r>
            <a:r>
              <a:rPr lang="vi-VN" sz="1600" noProof="1"/>
              <a:t>.</a:t>
            </a:r>
          </a:p>
          <a:p>
            <a:pPr>
              <a:spcAft>
                <a:spcPts val="800"/>
              </a:spcAft>
              <a:defRPr sz="1000">
                <a:solidFill>
                  <a:srgbClr val="334155"/>
                </a:solidFill>
                <a:latin typeface="Arial"/>
              </a:defRPr>
            </a:pPr>
            <a:r>
              <a:rPr lang="vi-VN" sz="1600" noProof="1"/>
              <a:t>• Nối từ ngắt dòng: Ghép liền các từ bị ngắt dòng do dấu gạch nối (ví dụ: hoạt- động).</a:t>
            </a:r>
          </a:p>
        </p:txBody>
      </p:sp>
      <p:sp>
        <p:nvSpPr>
          <p:cNvPr id="9" name="Rectangle 8"/>
          <p:cNvSpPr/>
          <p:nvPr/>
        </p:nvSpPr>
        <p:spPr>
          <a:xfrm>
            <a:off x="6089904"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10" name="TextBox 9"/>
          <p:cNvSpPr txBox="1"/>
          <p:nvPr/>
        </p:nvSpPr>
        <p:spPr>
          <a:xfrm>
            <a:off x="6245352" y="1508760"/>
            <a:ext cx="2523744" cy="3867725"/>
          </a:xfrm>
          <a:prstGeom prst="rect">
            <a:avLst/>
          </a:prstGeom>
          <a:noFill/>
        </p:spPr>
        <p:txBody>
          <a:bodyPr wrap="square" lIns="0" tIns="0">
            <a:spAutoFit/>
          </a:bodyPr>
          <a:lstStyle/>
          <a:p>
            <a:pPr>
              <a:spcAft>
                <a:spcPts val="400"/>
              </a:spcAft>
              <a:defRPr sz="1100" b="1">
                <a:solidFill>
                  <a:srgbClr val="0284C7"/>
                </a:solidFill>
                <a:latin typeface="Arial"/>
              </a:defRPr>
            </a:pPr>
            <a:r>
              <a:rPr lang="vi-VN" sz="1600" noProof="1"/>
              <a:t>GIAI ĐOẠN 03 ──►</a:t>
            </a:r>
          </a:p>
          <a:p>
            <a:pPr>
              <a:spcAft>
                <a:spcPts val="200"/>
              </a:spcAft>
              <a:defRPr sz="1400" b="1">
                <a:solidFill>
                  <a:srgbClr val="002855"/>
                </a:solidFill>
                <a:latin typeface="Arial"/>
              </a:defRPr>
            </a:pPr>
            <a:r>
              <a:rPr lang="vi-VN" sz="1600" noProof="1"/>
              <a:t>Trích xuất thực thể &amp; Vision OCR</a:t>
            </a:r>
          </a:p>
          <a:p>
            <a:pPr>
              <a:spcAft>
                <a:spcPts val="1200"/>
              </a:spcAft>
              <a:defRPr sz="1050" b="1">
                <a:solidFill>
                  <a:srgbClr val="D97706"/>
                </a:solidFill>
                <a:latin typeface="Arial"/>
              </a:defRPr>
            </a:pPr>
            <a:r>
              <a:rPr lang="vi-VN" sz="1200" noProof="1"/>
              <a:t>Regex Heuristics &amp; Multimodal AI</a:t>
            </a:r>
          </a:p>
          <a:p>
            <a:pPr>
              <a:spcAft>
                <a:spcPts val="800"/>
              </a:spcAft>
              <a:defRPr sz="1000">
                <a:solidFill>
                  <a:srgbClr val="334155"/>
                </a:solidFill>
                <a:latin typeface="Arial"/>
              </a:defRPr>
            </a:pPr>
            <a:r>
              <a:rPr lang="vi-VN" sz="1600" noProof="1"/>
              <a:t>• Bóc tách thông tin then chốt: Dùng Regex quét nhanh ngày giờ, địa điểm, thành phần.</a:t>
            </a:r>
          </a:p>
          <a:p>
            <a:pPr>
              <a:spcAft>
                <a:spcPts val="800"/>
              </a:spcAft>
              <a:defRPr sz="1000">
                <a:solidFill>
                  <a:srgbClr val="334155"/>
                </a:solidFill>
                <a:latin typeface="Arial"/>
              </a:defRPr>
            </a:pPr>
            <a:r>
              <a:rPr lang="vi-VN" sz="1600" noProof="1"/>
              <a:t>• Backdrop OCR: Gửi ảnh Base64 lên Gemini Vision nhận diện</a:t>
            </a:r>
            <a:r>
              <a:rPr lang="en-US" sz="1600" noProof="1"/>
              <a:t> </a:t>
            </a:r>
            <a:r>
              <a:rPr lang="vi-VN" sz="1600" noProof="1"/>
              <a:t>sự kiện.</a:t>
            </a:r>
          </a:p>
          <a:p>
            <a:pPr>
              <a:spcAft>
                <a:spcPts val="800"/>
              </a:spcAft>
              <a:defRPr sz="1000">
                <a:solidFill>
                  <a:srgbClr val="334155"/>
                </a:solidFill>
                <a:latin typeface="Arial"/>
              </a:defRPr>
            </a:pPr>
            <a:r>
              <a:rPr lang="vi-VN" sz="1600" noProof="1"/>
              <a:t>• Tự động sinh câu chú thích ảnh từ 15–25 từ bằng tiếng Việt.</a:t>
            </a:r>
          </a:p>
        </p:txBody>
      </p:sp>
      <p:sp>
        <p:nvSpPr>
          <p:cNvPr id="11" name="Rectangle 10"/>
          <p:cNvSpPr/>
          <p:nvPr/>
        </p:nvSpPr>
        <p:spPr>
          <a:xfrm>
            <a:off x="89154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12" name="TextBox 11"/>
          <p:cNvSpPr txBox="1"/>
          <p:nvPr/>
        </p:nvSpPr>
        <p:spPr>
          <a:xfrm>
            <a:off x="9070848" y="1508760"/>
            <a:ext cx="2670048" cy="4606389"/>
          </a:xfrm>
          <a:prstGeom prst="rect">
            <a:avLst/>
          </a:prstGeom>
          <a:noFill/>
        </p:spPr>
        <p:txBody>
          <a:bodyPr wrap="square" lIns="0" tIns="0">
            <a:spAutoFit/>
          </a:bodyPr>
          <a:lstStyle/>
          <a:p>
            <a:pPr>
              <a:spcAft>
                <a:spcPts val="400"/>
              </a:spcAft>
              <a:defRPr sz="1100" b="1">
                <a:solidFill>
                  <a:srgbClr val="002855"/>
                </a:solidFill>
                <a:latin typeface="Arial"/>
              </a:defRPr>
            </a:pPr>
            <a:r>
              <a:rPr lang="vi-VN" sz="1600" noProof="1">
                <a:solidFill>
                  <a:srgbClr val="0284C7"/>
                </a:solidFill>
              </a:rPr>
              <a:t>GIAI ĐOẠN 04</a:t>
            </a:r>
          </a:p>
          <a:p>
            <a:pPr>
              <a:spcAft>
                <a:spcPts val="200"/>
              </a:spcAft>
              <a:defRPr sz="1400" b="1">
                <a:solidFill>
                  <a:srgbClr val="002855"/>
                </a:solidFill>
                <a:latin typeface="Arial"/>
              </a:defRPr>
            </a:pPr>
            <a:r>
              <a:rPr lang="vi-VN" sz="1600" noProof="1"/>
              <a:t>Cơ chế chịu lỗi &amp; Dự phòng</a:t>
            </a:r>
          </a:p>
          <a:p>
            <a:pPr>
              <a:spcAft>
                <a:spcPts val="1200"/>
              </a:spcAft>
              <a:defRPr sz="1050" b="1">
                <a:solidFill>
                  <a:srgbClr val="D97706"/>
                </a:solidFill>
                <a:latin typeface="Arial"/>
              </a:defRPr>
            </a:pPr>
            <a:r>
              <a:rPr lang="vi-VN" sz="1200" noProof="1"/>
              <a:t>Multi-model Failover &amp; Groq Cloud</a:t>
            </a:r>
          </a:p>
          <a:p>
            <a:pPr>
              <a:spcAft>
                <a:spcPts val="800"/>
              </a:spcAft>
              <a:defRPr sz="1000">
                <a:solidFill>
                  <a:srgbClr val="334155"/>
                </a:solidFill>
                <a:latin typeface="Arial"/>
              </a:defRPr>
            </a:pPr>
            <a:r>
              <a:rPr lang="vi-VN" sz="1600" noProof="1"/>
              <a:t>• Tự động luân chuyển mô hình khi API bận: Gemini 2.5 Flash ──► 2.0 Flash ──► 1.5 Flash.</a:t>
            </a:r>
          </a:p>
          <a:p>
            <a:pPr>
              <a:spcAft>
                <a:spcPts val="800"/>
              </a:spcAft>
              <a:defRPr sz="1000">
                <a:solidFill>
                  <a:srgbClr val="334155"/>
                </a:solidFill>
                <a:latin typeface="Arial"/>
              </a:defRPr>
            </a:pPr>
            <a:r>
              <a:rPr lang="vi-VN" sz="1600" noProof="1"/>
              <a:t>• Dự phòng qua Groq Cloud: Chuyển đổi sang mô hình Qwen / LLaMA tốc độ cao khi dịch vụ Google gián đoạn.</a:t>
            </a:r>
          </a:p>
          <a:p>
            <a:pPr>
              <a:spcAft>
                <a:spcPts val="800"/>
              </a:spcAft>
              <a:defRPr sz="1000">
                <a:solidFill>
                  <a:srgbClr val="334155"/>
                </a:solidFill>
                <a:latin typeface="Arial"/>
              </a:defRPr>
            </a:pPr>
            <a:r>
              <a:rPr lang="vi-VN" sz="1600" noProof="1"/>
              <a:t>• Kiểm soát cấu trúc: Trích xuất và xác thực JSON an toàn trước khi trả về trình soạn thảo.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5. DEMO KẾT QUẢ</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Giao diện Cổng thông tin đoàn viên</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pic>
        <p:nvPicPr>
          <p:cNvPr id="6" name="Picture 5" descr="image22.png"/>
          <p:cNvPicPr>
            <a:picLocks noChangeAspect="1"/>
          </p:cNvPicPr>
          <p:nvPr/>
        </p:nvPicPr>
        <p:blipFill>
          <a:blip r:embed="rId4"/>
          <a:stretch>
            <a:fillRect/>
          </a:stretch>
        </p:blipFill>
        <p:spPr>
          <a:xfrm>
            <a:off x="594360" y="1417320"/>
            <a:ext cx="5669280" cy="2807208"/>
          </a:xfrm>
          <a:prstGeom prst="rect">
            <a:avLst/>
          </a:prstGeom>
        </p:spPr>
      </p:pic>
      <p:sp>
        <p:nvSpPr>
          <p:cNvPr id="7" name="TextBox 6"/>
          <p:cNvSpPr txBox="1"/>
          <p:nvPr/>
        </p:nvSpPr>
        <p:spPr>
          <a:xfrm>
            <a:off x="594360" y="4334256"/>
            <a:ext cx="5669280" cy="1341393"/>
          </a:xfrm>
          <a:prstGeom prst="rect">
            <a:avLst/>
          </a:prstGeom>
          <a:noFill/>
        </p:spPr>
        <p:txBody>
          <a:bodyPr wrap="square" lIns="0" tIns="0">
            <a:spAutoFit/>
          </a:bodyPr>
          <a:lstStyle/>
          <a:p>
            <a:pPr>
              <a:spcAft>
                <a:spcPts val="300"/>
              </a:spcAft>
              <a:defRPr sz="1200" b="1">
                <a:solidFill>
                  <a:srgbClr val="002855"/>
                </a:solidFill>
                <a:latin typeface="Arial"/>
              </a:defRPr>
            </a:pPr>
            <a:r>
              <a:rPr lang="vi-VN" sz="1600" noProof="1"/>
              <a:t>Trang chủ Cổng thông tin Công đoàn TDMU</a:t>
            </a:r>
          </a:p>
          <a:p>
            <a:pPr>
              <a:spcAft>
                <a:spcPts val="200"/>
              </a:spcAft>
              <a:defRPr sz="1000">
                <a:solidFill>
                  <a:srgbClr val="334155"/>
                </a:solidFill>
                <a:latin typeface="Arial"/>
              </a:defRPr>
            </a:pPr>
            <a:r>
              <a:rPr lang="vi-VN" sz="1600" noProof="1"/>
              <a:t>• Chuẩn nhận diện thương hiệu TDMU, tích hợp menu điều hướng đa chuyên mục phong trào.</a:t>
            </a:r>
          </a:p>
          <a:p>
            <a:pPr>
              <a:defRPr sz="1000">
                <a:solidFill>
                  <a:srgbClr val="334155"/>
                </a:solidFill>
                <a:latin typeface="Arial"/>
              </a:defRPr>
            </a:pPr>
            <a:r>
              <a:rPr lang="vi-VN" sz="1600" noProof="1"/>
              <a:t>• Banner sự kiện nổi bật và luồng tin tức phong trào cập nhật thời gian thực từ CSDL.</a:t>
            </a:r>
          </a:p>
        </p:txBody>
      </p:sp>
      <p:pic>
        <p:nvPicPr>
          <p:cNvPr id="8" name="Picture 7" descr="image24.png"/>
          <p:cNvPicPr>
            <a:picLocks noChangeAspect="1"/>
          </p:cNvPicPr>
          <p:nvPr/>
        </p:nvPicPr>
        <p:blipFill>
          <a:blip r:embed="rId5"/>
          <a:stretch>
            <a:fillRect/>
          </a:stretch>
        </p:blipFill>
        <p:spPr>
          <a:xfrm>
            <a:off x="6656832" y="1417320"/>
            <a:ext cx="4937760" cy="2852928"/>
          </a:xfrm>
          <a:prstGeom prst="rect">
            <a:avLst/>
          </a:prstGeom>
        </p:spPr>
      </p:pic>
      <p:sp>
        <p:nvSpPr>
          <p:cNvPr id="9" name="TextBox 8"/>
          <p:cNvSpPr txBox="1"/>
          <p:nvPr/>
        </p:nvSpPr>
        <p:spPr>
          <a:xfrm>
            <a:off x="6656832" y="4379976"/>
            <a:ext cx="4937760" cy="1341393"/>
          </a:xfrm>
          <a:prstGeom prst="rect">
            <a:avLst/>
          </a:prstGeom>
          <a:noFill/>
        </p:spPr>
        <p:txBody>
          <a:bodyPr wrap="square" lIns="0" tIns="0">
            <a:spAutoFit/>
          </a:bodyPr>
          <a:lstStyle/>
          <a:p>
            <a:pPr>
              <a:spcAft>
                <a:spcPts val="300"/>
              </a:spcAft>
              <a:defRPr sz="1200" b="1">
                <a:solidFill>
                  <a:srgbClr val="002855"/>
                </a:solidFill>
                <a:latin typeface="Arial"/>
              </a:defRPr>
            </a:pPr>
            <a:r>
              <a:rPr lang="vi-VN" sz="1600" noProof="1"/>
              <a:t>Trang Chi tiết bài viết &amp; Tương tác độc giả</a:t>
            </a:r>
          </a:p>
          <a:p>
            <a:pPr>
              <a:spcAft>
                <a:spcPts val="200"/>
              </a:spcAft>
              <a:defRPr sz="1000">
                <a:solidFill>
                  <a:srgbClr val="334155"/>
                </a:solidFill>
                <a:latin typeface="Arial"/>
              </a:defRPr>
            </a:pPr>
            <a:r>
              <a:rPr lang="vi-VN" sz="1600" noProof="1"/>
              <a:t>• Toàn văn nội dung tin bài, tích hợp phát thanh bản tin trực tuyến tự động (Audio TTS).</a:t>
            </a:r>
          </a:p>
          <a:p>
            <a:pPr>
              <a:defRPr sz="1000">
                <a:solidFill>
                  <a:srgbClr val="334155"/>
                </a:solidFill>
                <a:latin typeface="Arial"/>
              </a:defRPr>
            </a:pPr>
            <a:r>
              <a:rPr lang="vi-VN" sz="1600" noProof="1"/>
              <a:t>• Tải văn bản biểu mẫu đính kèm (.docx, .pdf) và theo dõi danh mục bài viết đọc nhiều nhất.</a:t>
            </a:r>
          </a:p>
        </p:txBody>
      </p:sp>
      <p:sp>
        <p:nvSpPr>
          <p:cNvPr id="10" name="Rectangle 9"/>
          <p:cNvSpPr/>
          <p:nvPr/>
        </p:nvSpPr>
        <p:spPr>
          <a:xfrm>
            <a:off x="6455664" y="160020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5. DEMO KẾT QUẢ</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Phân hệ Quản trị bài viết &amp; Trợ lý AI</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pic>
        <p:nvPicPr>
          <p:cNvPr id="6" name="Picture 5" descr="image31.png"/>
          <p:cNvPicPr>
            <a:picLocks noChangeAspect="1"/>
          </p:cNvPicPr>
          <p:nvPr/>
        </p:nvPicPr>
        <p:blipFill>
          <a:blip r:embed="rId4"/>
          <a:stretch>
            <a:fillRect/>
          </a:stretch>
        </p:blipFill>
        <p:spPr>
          <a:xfrm>
            <a:off x="594360" y="1417320"/>
            <a:ext cx="5669280" cy="2816352"/>
          </a:xfrm>
          <a:prstGeom prst="rect">
            <a:avLst/>
          </a:prstGeom>
        </p:spPr>
      </p:pic>
      <p:sp>
        <p:nvSpPr>
          <p:cNvPr id="7" name="TextBox 6"/>
          <p:cNvSpPr txBox="1"/>
          <p:nvPr/>
        </p:nvSpPr>
        <p:spPr>
          <a:xfrm>
            <a:off x="594360" y="4343400"/>
            <a:ext cx="5669280" cy="1341393"/>
          </a:xfrm>
          <a:prstGeom prst="rect">
            <a:avLst/>
          </a:prstGeom>
          <a:noFill/>
        </p:spPr>
        <p:txBody>
          <a:bodyPr wrap="square" lIns="0" tIns="0">
            <a:spAutoFit/>
          </a:bodyPr>
          <a:lstStyle/>
          <a:p>
            <a:pPr>
              <a:spcAft>
                <a:spcPts val="300"/>
              </a:spcAft>
              <a:defRPr sz="1200" b="1">
                <a:solidFill>
                  <a:srgbClr val="002855"/>
                </a:solidFill>
                <a:latin typeface="Arial"/>
              </a:defRPr>
            </a:pPr>
            <a:r>
              <a:rPr lang="vi-VN" sz="1600" noProof="1"/>
              <a:t>Phòng Biên tập Đa kênh AI Studio</a:t>
            </a:r>
          </a:p>
          <a:p>
            <a:pPr>
              <a:spcAft>
                <a:spcPts val="200"/>
              </a:spcAft>
              <a:defRPr sz="1000">
                <a:solidFill>
                  <a:srgbClr val="334155"/>
                </a:solidFill>
                <a:latin typeface="Arial"/>
              </a:defRPr>
            </a:pPr>
            <a:r>
              <a:rPr lang="vi-VN" sz="1600" noProof="1"/>
              <a:t>• Nạp tài liệu đa định dạng (.docx, .pdf, .xlsx); AI đọc kế hoạch và lập bài tự động.</a:t>
            </a:r>
          </a:p>
          <a:p>
            <a:pPr>
              <a:defRPr sz="1000">
                <a:solidFill>
                  <a:srgbClr val="334155"/>
                </a:solidFill>
                <a:latin typeface="Arial"/>
              </a:defRPr>
            </a:pPr>
            <a:r>
              <a:rPr lang="vi-VN" sz="1600" noProof="1"/>
              <a:t>• Nhận diện phông nền (Backdrop OCR) từ ảnh sự kiện, tự động tạo chú thích báo chí.</a:t>
            </a:r>
          </a:p>
        </p:txBody>
      </p:sp>
      <p:pic>
        <p:nvPicPr>
          <p:cNvPr id="8" name="Picture 7" descr="image29.png"/>
          <p:cNvPicPr>
            <a:picLocks noChangeAspect="1"/>
          </p:cNvPicPr>
          <p:nvPr/>
        </p:nvPicPr>
        <p:blipFill>
          <a:blip r:embed="rId5"/>
          <a:stretch>
            <a:fillRect/>
          </a:stretch>
        </p:blipFill>
        <p:spPr>
          <a:xfrm>
            <a:off x="6656832" y="1417320"/>
            <a:ext cx="4937760" cy="2852928"/>
          </a:xfrm>
          <a:prstGeom prst="rect">
            <a:avLst/>
          </a:prstGeom>
        </p:spPr>
      </p:pic>
      <p:sp>
        <p:nvSpPr>
          <p:cNvPr id="9" name="TextBox 8"/>
          <p:cNvSpPr txBox="1"/>
          <p:nvPr/>
        </p:nvSpPr>
        <p:spPr>
          <a:xfrm>
            <a:off x="6656832" y="4379976"/>
            <a:ext cx="4937760" cy="1341393"/>
          </a:xfrm>
          <a:prstGeom prst="rect">
            <a:avLst/>
          </a:prstGeom>
          <a:noFill/>
        </p:spPr>
        <p:txBody>
          <a:bodyPr wrap="square" lIns="0" tIns="0">
            <a:spAutoFit/>
          </a:bodyPr>
          <a:lstStyle/>
          <a:p>
            <a:pPr>
              <a:spcAft>
                <a:spcPts val="300"/>
              </a:spcAft>
              <a:defRPr sz="1200" b="1">
                <a:solidFill>
                  <a:srgbClr val="002855"/>
                </a:solidFill>
                <a:latin typeface="Arial"/>
              </a:defRPr>
            </a:pPr>
            <a:r>
              <a:rPr lang="vi-VN" sz="1600" noProof="1"/>
              <a:t>Bảng Điều hành &amp; Giám sát Xuất bản Đa kênh</a:t>
            </a:r>
          </a:p>
          <a:p>
            <a:pPr>
              <a:spcAft>
                <a:spcPts val="200"/>
              </a:spcAft>
              <a:defRPr sz="1000">
                <a:solidFill>
                  <a:srgbClr val="334155"/>
                </a:solidFill>
                <a:latin typeface="Arial"/>
              </a:defRPr>
            </a:pPr>
            <a:r>
              <a:rPr lang="vi-VN" sz="1600" noProof="1"/>
              <a:t>• Theo dõi 4 chỉ số KPI vòng đời tin bài và hàng đợi kiểm duyệt bài viết của 16 Tổ CĐ.</a:t>
            </a:r>
          </a:p>
          <a:p>
            <a:pPr>
              <a:defRPr sz="1000">
                <a:solidFill>
                  <a:srgbClr val="334155"/>
                </a:solidFill>
                <a:latin typeface="Arial"/>
              </a:defRPr>
            </a:pPr>
            <a:r>
              <a:rPr lang="vi-VN" sz="1600" noProof="1"/>
              <a:t>• Thống kê trực quan hiệu quả tiếp cận đồng bộ trên Website, Fanpage Facebook và Zalo OA.</a:t>
            </a:r>
          </a:p>
        </p:txBody>
      </p:sp>
      <p:sp>
        <p:nvSpPr>
          <p:cNvPr id="10" name="Rectangle 9"/>
          <p:cNvSpPr/>
          <p:nvPr/>
        </p:nvSpPr>
        <p:spPr>
          <a:xfrm>
            <a:off x="6455664" y="160020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tIns="0" rIns="0" bIns="0">
            <a:spAutoFit/>
          </a:bodyPr>
          <a:lstStyle/>
          <a:p>
            <a:pPr>
              <a:defRPr sz="1100" b="1">
                <a:solidFill>
                  <a:srgbClr val="D97706"/>
                </a:solidFill>
                <a:latin typeface="Arial"/>
              </a:defRPr>
            </a:pPr>
            <a:r>
              <a:rPr lang="vi-VN" noProof="1"/>
              <a:t>6. KẾT LUẬN &amp; ĐỊNH HƯỚNG PHÁT TRIỂN</a:t>
            </a:r>
          </a:p>
        </p:txBody>
      </p:sp>
      <p:sp>
        <p:nvSpPr>
          <p:cNvPr id="3" name="TextBox 2"/>
          <p:cNvSpPr txBox="1"/>
          <p:nvPr/>
        </p:nvSpPr>
        <p:spPr>
          <a:xfrm>
            <a:off x="594360" y="621792"/>
            <a:ext cx="8961120" cy="457200"/>
          </a:xfrm>
          <a:prstGeom prst="rect">
            <a:avLst/>
          </a:prstGeom>
          <a:noFill/>
        </p:spPr>
        <p:txBody>
          <a:bodyPr wrap="square" lIns="0" tIns="0" rIns="0" bIns="0">
            <a:spAutoFit/>
          </a:bodyPr>
          <a:lstStyle/>
          <a:p>
            <a:pPr>
              <a:defRPr sz="2200" b="1">
                <a:solidFill>
                  <a:srgbClr val="002855"/>
                </a:solidFill>
                <a:latin typeface="Arial"/>
              </a:defRPr>
            </a:pPr>
            <a:r>
              <a:rPr lang="vi-VN" noProof="1"/>
              <a:t>Đánh giá kết quả đạt được &amp; Định hướng phát triển</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sp>
        <p:nvSpPr>
          <p:cNvPr id="6" name="TextBox 5"/>
          <p:cNvSpPr txBox="1"/>
          <p:nvPr/>
        </p:nvSpPr>
        <p:spPr>
          <a:xfrm>
            <a:off x="594360" y="1508760"/>
            <a:ext cx="5257800" cy="4591000"/>
          </a:xfrm>
          <a:prstGeom prst="rect">
            <a:avLst/>
          </a:prstGeom>
          <a:noFill/>
        </p:spPr>
        <p:txBody>
          <a:bodyPr wrap="square" lIns="0" tIns="0">
            <a:spAutoFit/>
          </a:bodyPr>
          <a:lstStyle/>
          <a:p>
            <a:pPr>
              <a:spcAft>
                <a:spcPts val="1400"/>
              </a:spcAft>
              <a:defRPr sz="1600" b="1">
                <a:solidFill>
                  <a:srgbClr val="002855"/>
                </a:solidFill>
                <a:latin typeface="Arial"/>
              </a:defRPr>
            </a:pPr>
            <a:r>
              <a:rPr lang="vi-VN" noProof="1"/>
              <a:t>KẾT QUẢ ĐẠT ĐƯỢC CỦA ĐỀ TÀI</a:t>
            </a:r>
          </a:p>
          <a:p>
            <a:pPr>
              <a:spcAft>
                <a:spcPts val="200"/>
              </a:spcAft>
              <a:defRPr sz="1150" b="1">
                <a:solidFill>
                  <a:srgbClr val="002855"/>
                </a:solidFill>
                <a:latin typeface="Arial"/>
              </a:defRPr>
            </a:pPr>
            <a:r>
              <a:rPr lang="vi-VN" sz="1600" noProof="1"/>
              <a:t>• Xây dựng hoàn thiện Cổng thông tin &amp; Hệ thống CMS</a:t>
            </a:r>
          </a:p>
          <a:p>
            <a:pPr>
              <a:spcAft>
                <a:spcPts val="1000"/>
              </a:spcAft>
              <a:defRPr sz="1050">
                <a:solidFill>
                  <a:srgbClr val="334155"/>
                </a:solidFill>
                <a:latin typeface="Arial"/>
              </a:defRPr>
            </a:pPr>
            <a:r>
              <a:rPr lang="vi-VN" sz="1400" noProof="1"/>
              <a:t>Hoàn thiện Website Cổng thông tin đoàn viên và phân hệ quản trị bài viết, vận hành ổn định trên môi trường thử nghiệm.</a:t>
            </a:r>
          </a:p>
          <a:p>
            <a:pPr>
              <a:spcAft>
                <a:spcPts val="200"/>
              </a:spcAft>
              <a:defRPr sz="1150" b="1">
                <a:solidFill>
                  <a:srgbClr val="002855"/>
                </a:solidFill>
                <a:latin typeface="Arial"/>
              </a:defRPr>
            </a:pPr>
            <a:r>
              <a:rPr lang="vi-VN" sz="1600" noProof="1"/>
              <a:t>• Trợ lý AI đọc tài liệu &amp; tự động viết bài hoàn chỉnh</a:t>
            </a:r>
          </a:p>
          <a:p>
            <a:pPr>
              <a:spcAft>
                <a:spcPts val="1000"/>
              </a:spcAft>
              <a:defRPr sz="1050">
                <a:solidFill>
                  <a:srgbClr val="334155"/>
                </a:solidFill>
                <a:latin typeface="Arial"/>
              </a:defRPr>
            </a:pPr>
            <a:r>
              <a:rPr lang="vi-VN" sz="1400" noProof="1"/>
              <a:t>Ứng dụng Google Gemini AI đọc file kế hoạch sự kiện (.docx, .xlsx, .pdf) để trích xuất thông tin, viết bài tin tức và gợi ý tiêu đề.</a:t>
            </a:r>
          </a:p>
          <a:p>
            <a:pPr>
              <a:spcAft>
                <a:spcPts val="200"/>
              </a:spcAft>
              <a:defRPr sz="1150" b="1">
                <a:solidFill>
                  <a:srgbClr val="002855"/>
                </a:solidFill>
                <a:latin typeface="Arial"/>
              </a:defRPr>
            </a:pPr>
            <a:r>
              <a:rPr lang="vi-VN" sz="1600" noProof="1"/>
              <a:t>• Nhận diện và trích xuất chữ trên ảnh sự kiện</a:t>
            </a:r>
          </a:p>
          <a:p>
            <a:pPr>
              <a:spcAft>
                <a:spcPts val="1000"/>
              </a:spcAft>
              <a:defRPr sz="1050">
                <a:solidFill>
                  <a:srgbClr val="334155"/>
                </a:solidFill>
                <a:latin typeface="Arial"/>
              </a:defRPr>
            </a:pPr>
            <a:r>
              <a:rPr lang="vi-VN" sz="1400" noProof="1"/>
              <a:t>Ứng dụng AI Vision phân tích ảnh chụp phông nền, biểu ngữ (Backdrop OCR) để lấy thông tin và tự động tạo câu chú thích ảnh phong trào.</a:t>
            </a:r>
          </a:p>
          <a:p>
            <a:pPr>
              <a:spcAft>
                <a:spcPts val="200"/>
              </a:spcAft>
              <a:defRPr sz="1150" b="1">
                <a:solidFill>
                  <a:srgbClr val="002855"/>
                </a:solidFill>
                <a:latin typeface="Arial"/>
              </a:defRPr>
            </a:pPr>
            <a:r>
              <a:rPr lang="vi-VN" sz="1600" noProof="1"/>
              <a:t>• Tự động hóa đăng bài đa kênh lên Website, Facebook, Zalo</a:t>
            </a:r>
          </a:p>
          <a:p>
            <a:pPr>
              <a:spcAft>
                <a:spcPts val="1000"/>
              </a:spcAft>
              <a:defRPr sz="1050">
                <a:solidFill>
                  <a:srgbClr val="334155"/>
                </a:solidFill>
                <a:latin typeface="Arial"/>
              </a:defRPr>
            </a:pPr>
            <a:r>
              <a:rPr lang="vi-VN" sz="1400" noProof="1"/>
              <a:t>Kết nối thành công Meta Facebook Graph API v19.0 và Zalo API để tự động xuất bản bài viết và hình ảnh lên Fanpage, nhóm Zalo, có cơ chế hẹn giờ đăng.</a:t>
            </a:r>
          </a:p>
        </p:txBody>
      </p:sp>
      <p:sp>
        <p:nvSpPr>
          <p:cNvPr id="7" name="TextBox 6"/>
          <p:cNvSpPr txBox="1"/>
          <p:nvPr/>
        </p:nvSpPr>
        <p:spPr>
          <a:xfrm>
            <a:off x="6336792" y="1508760"/>
            <a:ext cx="5257800" cy="3729226"/>
          </a:xfrm>
          <a:prstGeom prst="rect">
            <a:avLst/>
          </a:prstGeom>
          <a:noFill/>
        </p:spPr>
        <p:txBody>
          <a:bodyPr wrap="square" lIns="0" tIns="0">
            <a:spAutoFit/>
          </a:bodyPr>
          <a:lstStyle/>
          <a:p>
            <a:pPr>
              <a:spcAft>
                <a:spcPts val="1400"/>
              </a:spcAft>
              <a:defRPr sz="1600" b="1">
                <a:solidFill>
                  <a:srgbClr val="D97706"/>
                </a:solidFill>
                <a:latin typeface="Arial"/>
              </a:defRPr>
            </a:pPr>
            <a:r>
              <a:rPr lang="vi-VN" noProof="1"/>
              <a:t>ĐỊNH HƯỚNG PHÁT TRIỂN TIẾP THEO</a:t>
            </a:r>
            <a:r>
              <a:rPr lang="vi-VN" sz="1400" noProof="1"/>
              <a:t>.</a:t>
            </a:r>
          </a:p>
          <a:p>
            <a:pPr>
              <a:spcAft>
                <a:spcPts val="200"/>
              </a:spcAft>
              <a:defRPr sz="1150" b="1">
                <a:solidFill>
                  <a:srgbClr val="D97706"/>
                </a:solidFill>
                <a:latin typeface="Arial"/>
              </a:defRPr>
            </a:pPr>
            <a:r>
              <a:rPr lang="vi-VN" sz="1600" noProof="1"/>
              <a:t>• Tích hợp mô hình AI tạo ảnh minh họa (Gen Image)</a:t>
            </a:r>
          </a:p>
          <a:p>
            <a:pPr>
              <a:spcAft>
                <a:spcPts val="1000"/>
              </a:spcAft>
              <a:defRPr sz="1050">
                <a:solidFill>
                  <a:srgbClr val="334155"/>
                </a:solidFill>
                <a:latin typeface="Arial"/>
              </a:defRPr>
            </a:pPr>
            <a:r>
              <a:rPr lang="vi-VN" sz="1400" noProof="1"/>
              <a:t>Ứng dụng AI tạo ảnh tự động sinh các hình ảnh minh họa, phông nền phong trào phù hợp với nội dung bài viết khi chưa có ảnh chụp thực tế.</a:t>
            </a:r>
          </a:p>
          <a:p>
            <a:pPr>
              <a:spcAft>
                <a:spcPts val="200"/>
              </a:spcAft>
              <a:defRPr sz="1150" b="1">
                <a:solidFill>
                  <a:srgbClr val="D97706"/>
                </a:solidFill>
                <a:latin typeface="Arial"/>
              </a:defRPr>
            </a:pPr>
            <a:r>
              <a:rPr lang="vi-VN" sz="1600" noProof="1"/>
              <a:t>• Triển khai AI cục bộ bảo mật dữ liệu (Local AI)</a:t>
            </a:r>
          </a:p>
          <a:p>
            <a:pPr>
              <a:spcAft>
                <a:spcPts val="1000"/>
              </a:spcAft>
              <a:defRPr sz="1050">
                <a:solidFill>
                  <a:srgbClr val="334155"/>
                </a:solidFill>
                <a:latin typeface="Arial"/>
              </a:defRPr>
            </a:pPr>
            <a:r>
              <a:rPr lang="vi-VN" sz="1400" noProof="1"/>
              <a:t>Nghiên cứu chạy mô hình ngôn ngữ lớn (LLM) trực tiếp trên máy chủ nội bộ trường, đảm bảo bảo mật tuyệt đối các kế hoạch và tài liệu nhạy cảm.</a:t>
            </a:r>
          </a:p>
          <a:p>
            <a:pPr>
              <a:spcAft>
                <a:spcPts val="200"/>
              </a:spcAft>
              <a:defRPr sz="1150" b="1">
                <a:solidFill>
                  <a:srgbClr val="D97706"/>
                </a:solidFill>
                <a:latin typeface="Arial"/>
              </a:defRPr>
            </a:pPr>
            <a:r>
              <a:rPr lang="vi-VN" sz="1600" noProof="1"/>
              <a:t>• Tự động tạo video tin tức ngắn từ bài viết (AI Video)</a:t>
            </a:r>
          </a:p>
          <a:p>
            <a:pPr>
              <a:spcAft>
                <a:spcPts val="1000"/>
              </a:spcAft>
              <a:defRPr sz="1050">
                <a:solidFill>
                  <a:srgbClr val="334155"/>
                </a:solidFill>
                <a:latin typeface="Arial"/>
              </a:defRPr>
            </a:pPr>
            <a:r>
              <a:rPr lang="vi-VN" sz="1400" noProof="1"/>
              <a:t>Tự động chuyển đổi nội dung tin bài và hình ảnh thành video ngắn (Shorts / Reels) để lan tỏa mạnh mẽ hoạt động phong trào trên mạng xã hội.</a:t>
            </a:r>
          </a:p>
        </p:txBody>
      </p:sp>
      <p:sp>
        <p:nvSpPr>
          <p:cNvPr id="8" name="Rectangle 7"/>
          <p:cNvSpPr/>
          <p:nvPr/>
        </p:nvSpPr>
        <p:spPr>
          <a:xfrm>
            <a:off x="6089904"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Box 1"/>
          <p:cNvSpPr txBox="1"/>
          <p:nvPr/>
        </p:nvSpPr>
        <p:spPr>
          <a:xfrm>
            <a:off x="914400" y="2011680"/>
            <a:ext cx="10360152" cy="914400"/>
          </a:xfrm>
          <a:prstGeom prst="rect">
            <a:avLst/>
          </a:prstGeom>
          <a:noFill/>
        </p:spPr>
        <p:txBody>
          <a:bodyPr wrap="square" lIns="0" tIns="0">
            <a:spAutoFit/>
          </a:bodyPr>
          <a:lstStyle/>
          <a:p>
            <a:pPr algn="ctr">
              <a:defRPr sz="2600" b="1">
                <a:solidFill>
                  <a:srgbClr val="002855"/>
                </a:solidFill>
                <a:latin typeface="Arial"/>
              </a:defRPr>
            </a:pPr>
            <a:r>
              <a:rPr lang="vi-VN" noProof="1"/>
              <a:t>CẢM ƠN THẦY VÀ CÁC BẠN ĐÃ LẮNG NGHE!</a:t>
            </a:r>
          </a:p>
        </p:txBody>
      </p:sp>
      <p:sp>
        <p:nvSpPr>
          <p:cNvPr id="3" name="Rectangle 2"/>
          <p:cNvSpPr/>
          <p:nvPr/>
        </p:nvSpPr>
        <p:spPr>
          <a:xfrm>
            <a:off x="5175504" y="3017520"/>
            <a:ext cx="18288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vi-VN" noProof="1"/>
          </a:p>
        </p:txBody>
      </p:sp>
      <p:sp>
        <p:nvSpPr>
          <p:cNvPr id="4" name="TextBox 3"/>
          <p:cNvSpPr txBox="1"/>
          <p:nvPr/>
        </p:nvSpPr>
        <p:spPr>
          <a:xfrm>
            <a:off x="914400" y="3291840"/>
            <a:ext cx="10360152" cy="615553"/>
          </a:xfrm>
          <a:prstGeom prst="rect">
            <a:avLst/>
          </a:prstGeom>
          <a:noFill/>
        </p:spPr>
        <p:txBody>
          <a:bodyPr wrap="square" lIns="0" tIns="0">
            <a:spAutoFit/>
          </a:bodyPr>
          <a:lstStyle/>
          <a:p>
            <a:pPr algn="ctr">
              <a:spcAft>
                <a:spcPts val="1200"/>
              </a:spcAft>
              <a:defRPr sz="1400" b="1">
                <a:solidFill>
                  <a:srgbClr val="D97706"/>
                </a:solidFill>
                <a:latin typeface="Arial"/>
              </a:defRPr>
            </a:pPr>
            <a:r>
              <a:rPr lang="vi-VN" noProof="1"/>
              <a:t>Nhóm 2 xin trân trọng cảm ơn sự hướng dẫn tận tình của ThS. Võ Quốc Lương</a:t>
            </a:r>
          </a:p>
          <a:p>
            <a:pPr algn="ctr">
              <a:defRPr sz="1300">
                <a:solidFill>
                  <a:srgbClr val="334155"/>
                </a:solidFill>
                <a:latin typeface="Arial"/>
              </a:defRPr>
            </a:pPr>
            <a:r>
              <a:rPr lang="vi-VN" noProof="1"/>
              <a:t>Kính mời Thầy nhận xét, góp ý cho nhóm hoàn thiện đề tài</a:t>
            </a:r>
            <a:r>
              <a:rPr lang="en-US" noProof="1"/>
              <a:t> ạ.</a:t>
            </a:r>
            <a:endParaRPr lang="vi-VN" noProof="1"/>
          </a:p>
        </p:txBody>
      </p:sp>
      <p:pic>
        <p:nvPicPr>
          <p:cNvPr id="5" name="Picture 4" descr="image.png"/>
          <p:cNvPicPr>
            <a:picLocks noChangeAspect="1"/>
          </p:cNvPicPr>
          <p:nvPr/>
        </p:nvPicPr>
        <p:blipFill>
          <a:blip r:embed="rId3"/>
          <a:stretch>
            <a:fillRect/>
          </a:stretch>
        </p:blipFill>
        <p:spPr>
          <a:xfrm>
            <a:off x="5084064" y="4572000"/>
            <a:ext cx="2011680" cy="7863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2849</Words>
  <Application>Microsoft Office PowerPoint</Application>
  <PresentationFormat>Màn hình rộng</PresentationFormat>
  <Paragraphs>179</Paragraphs>
  <Slides>11</Slides>
  <Notes>10</Notes>
  <HiddenSlides>0</HiddenSlides>
  <MMClips>0</MMClips>
  <ScaleCrop>false</ScaleCrop>
  <HeadingPairs>
    <vt:vector size="6" baseType="variant">
      <vt:variant>
        <vt:lpstr>Phông được Dùng</vt:lpstr>
      </vt:variant>
      <vt:variant>
        <vt:i4>1</vt:i4>
      </vt:variant>
      <vt:variant>
        <vt:lpstr>Chủ đề</vt:lpstr>
      </vt:variant>
      <vt:variant>
        <vt:i4>1</vt:i4>
      </vt:variant>
      <vt:variant>
        <vt:lpstr>Tiêu đề Bản chiếu</vt:lpstr>
      </vt:variant>
      <vt:variant>
        <vt:i4>11</vt:i4>
      </vt:variant>
    </vt:vector>
  </HeadingPairs>
  <TitlesOfParts>
    <vt:vector size="13" baseType="lpstr">
      <vt:lpstr>Arial</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Bình Dương</cp:lastModifiedBy>
  <cp:revision>5</cp:revision>
  <dcterms:created xsi:type="dcterms:W3CDTF">2026-10-25T04:53:38Z</dcterms:created>
  <dcterms:modified xsi:type="dcterms:W3CDTF">2026-10-25T19:45:07Z</dcterms:modified>
</cp:coreProperties>
</file>