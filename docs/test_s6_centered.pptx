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69" r:id="rId2"/>
    <p:sldId id="257" r:id="rId3"/>
    <p:sldId id="258" r:id="rId4"/>
    <p:sldId id="270" r:id="rId24"/>
    <p:sldId id="262" r:id="rId5"/>
    <p:sldId id="263" r:id="rId6"/>
    <p:sldId id="264" r:id="rId7"/>
    <p:sldId id="265" r:id="rId8"/>
    <p:sldId id="266" r:id="rId9"/>
    <p:sldId id="267" r:id="rId10"/>
    <p:sldId id="268" r:id="rId11"/>
  </p:sldIdLst>
  <p:sldSz cx="12192000" cy="6858000"/>
  <p:notesSz cx="6858000" cy="12192000"/>
  <p:embeddedFontLst>
    <p:embeddedFont>
      <p:font typeface="Arimo Bold" panose="020B0604020202020204" charset="0"/>
      <p:regular r:id="rId13"/>
    </p:embeddedFont>
    <p:embeddedFont>
      <p:font typeface="Carlito" panose="020F0502020204030204" pitchFamily="34" charset="0"/>
      <p:regular r:id="rId14"/>
      <p:bold r:id="rId15"/>
      <p:italic r:id="rId16"/>
      <p:boldItalic r:id="rId17"/>
    </p:embeddedFont>
    <p:embeddedFont>
      <p:font typeface="Carlito Bold" panose="020F0502020204030204" pitchFamily="34" charset="0"/>
      <p:bold r:id="rId18"/>
    </p:embeddedFont>
    <p:embeddedFont>
      <p:font typeface="PT Sans Bold" panose="020B0604020202020204" charset="0"/>
      <p:regular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1F3A"/>
    <a:srgbClr val="F4F8FC"/>
    <a:srgbClr val="0028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9" d="100"/>
          <a:sy n="99" d="100"/>
        </p:scale>
        <p:origin x="762"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notesMaster" Target="notesMasters/notesMaster1.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font" Target="fonts/font4.fntdata"/><Relationship Id="rId17" Type="http://schemas.openxmlformats.org/officeDocument/2006/relationships/font" Target="fonts/font5.fntdata"/><Relationship Id="rId18" Type="http://schemas.openxmlformats.org/officeDocument/2006/relationships/font" Target="fonts/font6.fntdata"/><Relationship Id="rId19" Type="http://schemas.openxmlformats.org/officeDocument/2006/relationships/font" Target="fonts/font7.fntdata"/><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23674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70760-38B1-42FB-B2D2-BA4FD83FF1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AADA22-B080-E6A2-1C04-E65B283A25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958D18-A1FE-B437-BB00-D96CFFB4C3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44EE5B-A4BC-0FF2-FF8F-B8613CA9097C}"/>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2868401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txBody>
          <a:bodyPr/>
          <a:lstStyle/>
          <a:p>
            <a:endParaRPr lang="vi-VN"/>
          </a:p>
        </p:txBody>
      </p:sp>
      <p:pic>
        <p:nvPicPr>
          <p:cNvPr id="3" name="Image 0" descr="preencoded.png">
            <a:hlinkClick r:id="rId2"/>
          </p:cNvPr>
          <p:cNvPicPr>
            <a:picLocks noChangeAspect="1"/>
          </p:cNvPicPr>
          <p:nvPr/>
        </p:nvPicPr>
        <p:blipFill>
          <a:blip r:embed="rId3"/>
          <a:stretch>
            <a:fillRect/>
          </a:stretch>
        </p:blipFill>
        <p:spPr>
          <a:xfrm>
            <a:off x="27432000"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4F8FC"/>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27432000"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pic>
        <p:nvPicPr>
          <p:cNvPr id="3" name="Image 0" descr="preencoded.png">
            <a:hlinkClick r:id="rId2"/>
          </p:cNvPr>
          <p:cNvPicPr>
            <a:picLocks noChangeAspect="1"/>
          </p:cNvPicPr>
          <p:nvPr/>
        </p:nvPicPr>
        <p:blipFill>
          <a:blip r:embed="rId3"/>
          <a:stretch>
            <a:fillRect/>
          </a:stretch>
        </p:blipFill>
        <p:spPr>
          <a:xfrm>
            <a:off x="27432000" y="65589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master 4">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pic>
        <p:nvPicPr>
          <p:cNvPr id="3" name="Image 0" descr="preencoded.png">
            <a:hlinkClick r:id="rId2"/>
          </p:cNvPr>
          <p:cNvPicPr>
            <a:picLocks noChangeAspect="1"/>
          </p:cNvPicPr>
          <p:nvPr/>
        </p:nvPicPr>
        <p:blipFill>
          <a:blip r:embed="rId3"/>
          <a:stretch>
            <a:fillRect/>
          </a:stretch>
        </p:blipFill>
        <p:spPr>
          <a:xfrm>
            <a:off x="27432000" y="65589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master 5">
    <p:bg>
      <p:bgPr>
        <a:solidFill>
          <a:srgbClr val="F6F8FB"/>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27432000" y="65589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master 6">
    <p:bg>
      <p:bgPr>
        <a:solidFill>
          <a:srgbClr val="F4F8F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27432000" y="0"/>
            <a:ext cx="12191695" cy="6858000"/>
          </a:xfrm>
          <a:prstGeom prst="rect">
            <a:avLst/>
          </a:prstGeom>
        </p:spPr>
      </p:pic>
      <p:pic>
        <p:nvPicPr>
          <p:cNvPr id="3" name="Image 1" descr="preencoded.png">
            <a:hlinkClick r:id="rId3"/>
          </p:cNvPr>
          <p:cNvPicPr>
            <a:picLocks noChangeAspect="1"/>
          </p:cNvPicPr>
          <p:nvPr/>
        </p:nvPicPr>
        <p:blipFill>
          <a:blip r:embed="rId4"/>
          <a:stretch>
            <a:fillRect/>
          </a:stretch>
        </p:blipFill>
        <p:spPr>
          <a:xfrm>
            <a:off x="27432000"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11.png"/><Relationship Id="rId8"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A983F-C224-0CF5-B8C3-359BD09BAA85}"/>
            </a:ext>
          </a:extLst>
        </p:cNvPr>
        <p:cNvGrpSpPr/>
        <p:nvPr/>
      </p:nvGrpSpPr>
      <p:grpSpPr>
        <a:xfrm>
          <a:off x="0" y="0"/>
          <a:ext cx="0" cy="0"/>
          <a:chOff x="0" y="0"/>
          <a:chExt cx="0" cy="0"/>
        </a:xfrm>
      </p:grpSpPr>
      <p:sp>
        <p:nvSpPr>
          <p:cNvPr id="2" name="TextBox 1"/>
          <p:cNvSpPr txBox="1"/>
          <p:nvPr/>
        </p:nvSpPr>
        <p:spPr>
          <a:xfrm>
            <a:off x="777240" y="868680"/>
            <a:ext cx="7772400" cy="274320"/>
          </a:xfrm>
          <a:prstGeom prst="rect">
            <a:avLst/>
          </a:prstGeom>
          <a:noFill/>
        </p:spPr>
        <p:txBody>
          <a:bodyPr wrap="square" lIns="0" tIns="0">
            <a:spAutoFit/>
          </a:bodyPr>
          <a:lstStyle/>
          <a:p>
            <a:pPr>
              <a:defRPr sz="1300" b="1">
                <a:solidFill>
                  <a:srgbClr val="002855"/>
                </a:solidFill>
                <a:latin typeface="Arial"/>
              </a:defRPr>
            </a:pPr>
            <a:r>
              <a:t>TRƯỜNG ĐẠI HỌC THỦ DẦU MỘT · VIỆN CÔNG NGHỆ SỐ</a:t>
            </a:r>
          </a:p>
        </p:txBody>
      </p:sp>
      <p:sp>
        <p:nvSpPr>
          <p:cNvPr id="3" name="TextBox 2"/>
          <p:cNvSpPr txBox="1"/>
          <p:nvPr/>
        </p:nvSpPr>
        <p:spPr>
          <a:xfrm>
            <a:off x="777240" y="1508760"/>
            <a:ext cx="4572000" cy="320040"/>
          </a:xfrm>
          <a:prstGeom prst="rect">
            <a:avLst/>
          </a:prstGeom>
          <a:noFill/>
        </p:spPr>
        <p:txBody>
          <a:bodyPr wrap="square" lIns="0" tIns="0">
            <a:spAutoFit/>
          </a:bodyPr>
          <a:lstStyle/>
          <a:p>
            <a:pPr>
              <a:defRPr sz="1400" b="1">
                <a:solidFill>
                  <a:srgbClr val="D97706"/>
                </a:solidFill>
                <a:latin typeface="Arial"/>
              </a:defRPr>
            </a:pPr>
            <a:r>
              <a:t>BÁO CÁO ĐỒ ÁN CƠ SỞ NGÀNH</a:t>
            </a:r>
          </a:p>
        </p:txBody>
      </p:sp>
      <p:sp>
        <p:nvSpPr>
          <p:cNvPr id="4" name="TextBox 3"/>
          <p:cNvSpPr txBox="1"/>
          <p:nvPr/>
        </p:nvSpPr>
        <p:spPr>
          <a:xfrm>
            <a:off x="777240" y="1965960"/>
            <a:ext cx="10515600" cy="1280160"/>
          </a:xfrm>
          <a:prstGeom prst="rect">
            <a:avLst/>
          </a:prstGeom>
          <a:noFill/>
        </p:spPr>
        <p:txBody>
          <a:bodyPr wrap="square" lIns="0" tIns="0">
            <a:spAutoFit/>
          </a:bodyPr>
          <a:lstStyle/>
          <a:p>
            <a:pPr>
              <a:spcAft>
                <a:spcPts val="400"/>
              </a:spcAft>
              <a:defRPr sz="2600" b="1">
                <a:solidFill>
                  <a:srgbClr val="002855"/>
                </a:solidFill>
                <a:latin typeface="Arial"/>
              </a:defRPr>
            </a:pPr>
            <a:r>
              <a:t>XÂY DỰNG WEBSITE TRUYỀN THÔNG CÔNG ĐOÀN TDMU</a:t>
            </a:r>
          </a:p>
          <a:p>
            <a:pPr>
              <a:defRPr sz="2600" b="1">
                <a:solidFill>
                  <a:srgbClr val="002855"/>
                </a:solidFill>
                <a:latin typeface="Arial"/>
              </a:defRPr>
            </a:pPr>
            <a:r>
              <a:t>TÍCH HỢP AI HỖ TRỢ TẠO VÀ ĐĂNG TẢI NỘI DUNG</a:t>
            </a:r>
          </a:p>
        </p:txBody>
      </p:sp>
      <p:sp>
        <p:nvSpPr>
          <p:cNvPr id="5" name="Rectangle 4"/>
          <p:cNvSpPr/>
          <p:nvPr/>
        </p:nvSpPr>
        <p:spPr>
          <a:xfrm>
            <a:off x="777240" y="3429000"/>
            <a:ext cx="164592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3703320"/>
            <a:ext cx="10515600" cy="2011680"/>
          </a:xfrm>
          <a:prstGeom prst="rect">
            <a:avLst/>
          </a:prstGeom>
          <a:noFill/>
        </p:spPr>
        <p:txBody>
          <a:bodyPr wrap="square" lIns="0" tIns="0">
            <a:spAutoFit/>
          </a:bodyPr>
          <a:lstStyle/>
          <a:p>
            <a:pPr>
              <a:spcAft>
                <a:spcPts val="800"/>
              </a:spcAft>
              <a:defRPr sz="1300" b="1">
                <a:solidFill>
                  <a:srgbClr val="002855"/>
                </a:solidFill>
                <a:latin typeface="Arial"/>
              </a:defRPr>
            </a:pPr>
            <a:r>
              <a:t>GVHD: ThS. Võ Quốc Lương   |   Nhóm thực hiện: Nhóm 2</a:t>
            </a:r>
          </a:p>
          <a:p>
            <a:pPr>
              <a:spcAft>
                <a:spcPts val="400"/>
              </a:spcAft>
              <a:defRPr sz="1200">
                <a:solidFill>
                  <a:srgbClr val="334155"/>
                </a:solidFill>
                <a:latin typeface="Arial"/>
              </a:defRPr>
            </a:pPr>
            <a:r>
              <a:t>• Nguyễn Bình Dương (Trưởng nhóm) - MSSV: 2424802010319 - Lớp: D24CNTT05</a:t>
            </a:r>
          </a:p>
          <a:p>
            <a:pPr>
              <a:spcAft>
                <a:spcPts val="400"/>
              </a:spcAft>
              <a:defRPr sz="1200">
                <a:solidFill>
                  <a:srgbClr val="334155"/>
                </a:solidFill>
                <a:latin typeface="Arial"/>
              </a:defRPr>
            </a:pPr>
            <a:r>
              <a:t>• Trần Hồng Thanh - MSSV: 2424802010439 - Lớp: D24CNTT03</a:t>
            </a:r>
          </a:p>
          <a:p>
            <a:pPr>
              <a:spcAft>
                <a:spcPts val="400"/>
              </a:spcAft>
              <a:defRPr sz="1200">
                <a:solidFill>
                  <a:srgbClr val="334155"/>
                </a:solidFill>
                <a:latin typeface="Arial"/>
              </a:defRPr>
            </a:pPr>
            <a:r>
              <a:t>• Phạm Anh Tuấn - MSSV: 2324802010393 - Lớp: D23CNTT03</a:t>
            </a:r>
          </a:p>
          <a:p>
            <a:pPr>
              <a:spcBef>
                <a:spcPts val="1200"/>
              </a:spcBef>
              <a:defRPr sz="1050" b="1">
                <a:solidFill>
                  <a:srgbClr val="94A3B8"/>
                </a:solidFill>
                <a:latin typeface="Arial"/>
              </a:defRPr>
            </a:pPr>
            <a:r>
              <a:t>HỌC PHẦN: ĐỒ ÁN CƠ SỞ NGÀNH · BÌNH DƯƠNG, NĂM HỌC 2026 – 2027</a:t>
            </a:r>
          </a:p>
        </p:txBody>
      </p:sp>
      <p:pic>
        <p:nvPicPr>
          <p:cNvPr id="7" name="Picture 6" descr="image.png"/>
          <p:cNvPicPr>
            <a:picLocks noChangeAspect="1"/>
          </p:cNvPicPr>
          <p:nvPr/>
        </p:nvPicPr>
        <p:blipFill>
          <a:blip r:embed="rId3"/>
          <a:stretch>
            <a:fillRect/>
          </a:stretch>
        </p:blipFill>
        <p:spPr>
          <a:xfrm>
            <a:off x="8961120" y="777240"/>
            <a:ext cx="2377440" cy="932688"/>
          </a:xfrm>
          <a:prstGeom prst="rect">
            <a:avLst/>
          </a:prstGeom>
        </p:spPr>
      </p:pic>
    </p:spTree>
    <p:extLst>
      <p:ext uri="{BB962C8B-B14F-4D97-AF65-F5344CB8AC3E}">
        <p14:creationId xmlns:p14="http://schemas.microsoft.com/office/powerpoint/2010/main" val="2220241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Box 1"/>
          <p:cNvSpPr txBox="1"/>
          <p:nvPr/>
        </p:nvSpPr>
        <p:spPr>
          <a:xfrm>
            <a:off x="594360" y="365760"/>
            <a:ext cx="8686800" cy="256032"/>
          </a:xfrm>
          <a:prstGeom prst="rect">
            <a:avLst/>
          </a:prstGeom>
          <a:noFill/>
        </p:spPr>
        <p:txBody>
          <a:bodyPr wrap="square" lIns="0" rIns="0" tIns="0" bIns="0">
            <a:spAutoFit/>
          </a:bodyPr>
          <a:lstStyle/>
          <a:p>
            <a:pPr>
              <a:defRPr sz="1100" b="1">
                <a:solidFill>
                  <a:srgbClr val="D97706"/>
                </a:solidFill>
                <a:latin typeface="Arial"/>
              </a:defRPr>
            </a:pPr>
            <a:r>
              <a:t>1. GIỚI THIỆU ĐỀ TÀI</a:t>
            </a:r>
          </a:p>
        </p:txBody>
      </p:sp>
      <p:sp>
        <p:nvSpPr>
          <p:cNvPr id="3" name="TextBox 2"/>
          <p:cNvSpPr txBox="1"/>
          <p:nvPr/>
        </p:nvSpPr>
        <p:spPr>
          <a:xfrm>
            <a:off x="594360" y="621792"/>
            <a:ext cx="8961120" cy="457200"/>
          </a:xfrm>
          <a:prstGeom prst="rect">
            <a:avLst/>
          </a:prstGeom>
          <a:noFill/>
        </p:spPr>
        <p:txBody>
          <a:bodyPr wrap="square" lIns="0" rIns="0" tIns="0" bIns="0">
            <a:spAutoFit/>
          </a:bodyPr>
          <a:lstStyle/>
          <a:p>
            <a:pPr>
              <a:defRPr sz="2200" b="1">
                <a:solidFill>
                  <a:srgbClr val="002855"/>
                </a:solidFill>
                <a:latin typeface="Arial"/>
              </a:defRPr>
            </a:pPr>
            <a:r>
              <a:t>Bối cảnh &amp; Khó khăn thực tế</a:t>
            </a:r>
          </a:p>
        </p:txBody>
      </p:sp>
      <p:sp>
        <p:nvSpPr>
          <p:cNvPr id="4" name="Rectangle 3"/>
          <p:cNvSpPr/>
          <p:nvPr/>
        </p:nvSpPr>
        <p:spPr>
          <a:xfrm>
            <a:off x="59436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4"/>
          <a:stretch>
            <a:fillRect/>
          </a:stretch>
        </p:blipFill>
        <p:spPr>
          <a:xfrm>
            <a:off x="9875520" y="292608"/>
            <a:ext cx="1691640" cy="658368"/>
          </a:xfrm>
          <a:prstGeom prst="rect">
            <a:avLst/>
          </a:prstGeom>
        </p:spPr>
      </p:pic>
      <p:sp>
        <p:nvSpPr>
          <p:cNvPr id="6" name="TextBox 5"/>
          <p:cNvSpPr txBox="1"/>
          <p:nvPr/>
        </p:nvSpPr>
        <p:spPr>
          <a:xfrm>
            <a:off x="594360" y="1508760"/>
            <a:ext cx="3931920" cy="4846320"/>
          </a:xfrm>
          <a:prstGeom prst="rect">
            <a:avLst/>
          </a:prstGeom>
          <a:noFill/>
        </p:spPr>
        <p:txBody>
          <a:bodyPr wrap="square" lIns="0" tIns="0">
            <a:spAutoFit/>
          </a:bodyPr>
          <a:lstStyle/>
          <a:p>
            <a:pPr>
              <a:spcAft>
                <a:spcPts val="1000"/>
              </a:spcAft>
              <a:defRPr sz="1300" b="1">
                <a:solidFill>
                  <a:srgbClr val="D97706"/>
                </a:solidFill>
                <a:latin typeface="Arial"/>
              </a:defRPr>
            </a:pPr>
            <a:r>
              <a:t>ĐẶC THÙ HOẠT ĐỘNG CÔNG ĐOÀN</a:t>
            </a:r>
          </a:p>
          <a:p>
            <a:pPr>
              <a:spcAft>
                <a:spcPts val="200"/>
              </a:spcAft>
              <a:defRPr sz="4000" b="1">
                <a:solidFill>
                  <a:srgbClr val="002855"/>
                </a:solidFill>
                <a:latin typeface="Arial"/>
              </a:defRPr>
            </a:pPr>
            <a:r>
              <a:t>800+</a:t>
            </a:r>
          </a:p>
          <a:p>
            <a:pPr>
              <a:spcAft>
                <a:spcPts val="1600"/>
              </a:spcAft>
              <a:defRPr sz="1150" b="1">
                <a:solidFill>
                  <a:srgbClr val="334155"/>
                </a:solidFill>
                <a:latin typeface="Arial"/>
              </a:defRPr>
            </a:pPr>
            <a:r>
              <a:t>Cán bộ, giảng viên và người lao động</a:t>
            </a:r>
          </a:p>
          <a:p>
            <a:pPr>
              <a:spcAft>
                <a:spcPts val="1000"/>
              </a:spcAft>
              <a:defRPr sz="1100">
                <a:solidFill>
                  <a:srgbClr val="334155"/>
                </a:solidFill>
                <a:latin typeface="Arial"/>
              </a:defRPr>
            </a:pPr>
            <a:r>
              <a:t>Công đoàn Trường Đại học Thủ Dầu Một là tổ chức đại diện, chăm lo đời sống và bảo vệ quyền lợi hợp pháp cho hơn 800 công đoàn viên tại các khoa, phòng ban và viện nghiên cứu trực thuộc.</a:t>
            </a:r>
          </a:p>
          <a:p>
            <a:pPr>
              <a:defRPr sz="1100">
                <a:solidFill>
                  <a:srgbClr val="334155"/>
                </a:solidFill>
                <a:latin typeface="Arial"/>
              </a:defRPr>
            </a:pPr>
            <a:r>
              <a:t>Công tác truyền thông đóng vai trò cầu nối quan trọng nhằm phổ biến kịp thời chế độ chính sách, gắn kết phong trào và lan tỏa các hoạt động thi đua trong toàn trường.</a:t>
            </a:r>
          </a:p>
        </p:txBody>
      </p:sp>
      <p:sp>
        <p:nvSpPr>
          <p:cNvPr id="7" name="Rectangle 6"/>
          <p:cNvSpPr/>
          <p:nvPr/>
        </p:nvSpPr>
        <p:spPr>
          <a:xfrm>
            <a:off x="4800600" y="1691640"/>
            <a:ext cx="9144" cy="4389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20640" y="1508760"/>
            <a:ext cx="6446520" cy="4846320"/>
          </a:xfrm>
          <a:prstGeom prst="rect">
            <a:avLst/>
          </a:prstGeom>
          <a:noFill/>
        </p:spPr>
        <p:txBody>
          <a:bodyPr wrap="square" lIns="0" tIns="0">
            <a:spAutoFit/>
          </a:bodyPr>
          <a:lstStyle/>
          <a:p>
            <a:pPr>
              <a:spcAft>
                <a:spcPts val="1400"/>
              </a:spcAft>
              <a:defRPr sz="1300" b="1">
                <a:solidFill>
                  <a:srgbClr val="D97706"/>
                </a:solidFill>
                <a:latin typeface="Arial"/>
              </a:defRPr>
            </a:pPr>
            <a:r>
              <a:t>3 KHÓ KHĂN THỰC TẾ TRONG TÁC NGHIỆP</a:t>
            </a:r>
          </a:p>
          <a:p>
            <a:pPr>
              <a:spcAft>
                <a:spcPts val="300"/>
              </a:spcAft>
              <a:defRPr sz="1300" b="1">
                <a:solidFill>
                  <a:srgbClr val="002855"/>
                </a:solidFill>
                <a:latin typeface="Arial"/>
              </a:defRPr>
            </a:pPr>
            <a:r>
              <a:t>1. Cán bộ truyền thông hoạt động kiêm nhiệm</a:t>
            </a:r>
          </a:p>
          <a:p>
            <a:pPr>
              <a:spcAft>
                <a:spcPts val="1400"/>
              </a:spcAft>
              <a:defRPr sz="1100">
                <a:solidFill>
                  <a:srgbClr val="334155"/>
                </a:solidFill>
                <a:latin typeface="Arial"/>
              </a:defRPr>
            </a:pPr>
            <a:r>
              <a:t>Cán bộ công đoàn hầu hết là giảng viên và chuyên viên kiêm nhiệm, bận công tác chuyên môn. Việc tiếp nhận các văn bản kế hoạch thô và tự viết bài tin tức sự kiện mất rất nhiều thời gian.</a:t>
            </a:r>
          </a:p>
          <a:p>
            <a:pPr>
              <a:spcAft>
                <a:spcPts val="300"/>
              </a:spcAft>
              <a:defRPr sz="1300" b="1">
                <a:solidFill>
                  <a:srgbClr val="002855"/>
                </a:solidFill>
                <a:latin typeface="Arial"/>
              </a:defRPr>
            </a:pPr>
            <a:r>
              <a:t>2. Quy trình đăng tin thủ công, phân tán nhiều kênh</a:t>
            </a:r>
          </a:p>
          <a:p>
            <a:pPr>
              <a:spcAft>
                <a:spcPts val="1400"/>
              </a:spcAft>
              <a:defRPr sz="1100">
                <a:solidFill>
                  <a:srgbClr val="334155"/>
                </a:solidFill>
                <a:latin typeface="Arial"/>
              </a:defRPr>
            </a:pPr>
            <a:r>
              <a:t>Quy trình xuất bản rời rạc; cán bộ phải sao chép nội dung, tải ảnh và định dạng thủ công lặp lại trên từng kênh (Website, Facebook, Zalo cơ sở), dễ sót tin và tốn công sức.</a:t>
            </a:r>
          </a:p>
          <a:p>
            <a:pPr>
              <a:spcAft>
                <a:spcPts val="300"/>
              </a:spcAft>
              <a:defRPr sz="1300" b="1">
                <a:solidFill>
                  <a:srgbClr val="002855"/>
                </a:solidFill>
                <a:latin typeface="Arial"/>
              </a:defRPr>
            </a:pPr>
            <a:r>
              <a:t>3. Chưa có hệ thống quản lý và đo lường tập trung</a:t>
            </a:r>
          </a:p>
          <a:p>
            <a:pPr>
              <a:spcAft>
                <a:spcPts val="1400"/>
              </a:spcAft>
              <a:defRPr sz="1100">
                <a:solidFill>
                  <a:srgbClr val="334155"/>
                </a:solidFill>
                <a:latin typeface="Arial"/>
              </a:defRPr>
            </a:pPr>
            <a:r>
              <a:t>Tin bài và tài liệu lưu trữ tản mạn. Chưa có công cụ quản trị tập trung để theo dõi số lượng bài viết, lượt xem và mức độ tương tác của đoàn viên để đánh giá hiệu quả phong trào.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Box 1"/>
          <p:cNvSpPr txBox="1"/>
          <p:nvPr/>
        </p:nvSpPr>
        <p:spPr>
          <a:xfrm>
            <a:off x="594360" y="365760"/>
            <a:ext cx="8686800" cy="256032"/>
          </a:xfrm>
          <a:prstGeom prst="rect">
            <a:avLst/>
          </a:prstGeom>
          <a:noFill/>
        </p:spPr>
        <p:txBody>
          <a:bodyPr wrap="square" lIns="0" rIns="0" tIns="0" bIns="0">
            <a:spAutoFit/>
          </a:bodyPr>
          <a:lstStyle/>
          <a:p>
            <a:pPr>
              <a:defRPr sz="1100" b="1">
                <a:solidFill>
                  <a:srgbClr val="D97706"/>
                </a:solidFill>
                <a:latin typeface="Arial"/>
              </a:defRPr>
            </a:pPr>
            <a:r>
              <a:t>1. GIỚI THIỆU ĐỀ TÀI</a:t>
            </a:r>
          </a:p>
        </p:txBody>
      </p:sp>
      <p:sp>
        <p:nvSpPr>
          <p:cNvPr id="3" name="TextBox 2"/>
          <p:cNvSpPr txBox="1"/>
          <p:nvPr/>
        </p:nvSpPr>
        <p:spPr>
          <a:xfrm>
            <a:off x="594360" y="621792"/>
            <a:ext cx="8961120" cy="457200"/>
          </a:xfrm>
          <a:prstGeom prst="rect">
            <a:avLst/>
          </a:prstGeom>
          <a:noFill/>
        </p:spPr>
        <p:txBody>
          <a:bodyPr wrap="square" lIns="0" rIns="0" tIns="0" bIns="0">
            <a:spAutoFit/>
          </a:bodyPr>
          <a:lstStyle/>
          <a:p>
            <a:pPr>
              <a:defRPr sz="2200" b="1">
                <a:solidFill>
                  <a:srgbClr val="002855"/>
                </a:solidFill>
                <a:latin typeface="Arial"/>
              </a:defRPr>
            </a:pPr>
            <a:r>
              <a:t>Mục tiêu nghiên cứu &amp; Định hướng giải quyết</a:t>
            </a:r>
          </a:p>
        </p:txBody>
      </p:sp>
      <p:sp>
        <p:nvSpPr>
          <p:cNvPr id="4" name="Rectangle 3"/>
          <p:cNvSpPr/>
          <p:nvPr/>
        </p:nvSpPr>
        <p:spPr>
          <a:xfrm>
            <a:off x="59436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4"/>
          <a:stretch>
            <a:fillRect/>
          </a:stretch>
        </p:blipFill>
        <p:spPr>
          <a:xfrm>
            <a:off x="9875520" y="292608"/>
            <a:ext cx="1691640" cy="658368"/>
          </a:xfrm>
          <a:prstGeom prst="rect">
            <a:avLst/>
          </a:prstGeom>
        </p:spPr>
      </p:pic>
      <p:sp>
        <p:nvSpPr>
          <p:cNvPr id="6" name="TextBox 5"/>
          <p:cNvSpPr txBox="1"/>
          <p:nvPr/>
        </p:nvSpPr>
        <p:spPr>
          <a:xfrm>
            <a:off x="594360" y="1508760"/>
            <a:ext cx="3383280" cy="4846320"/>
          </a:xfrm>
          <a:prstGeom prst="rect">
            <a:avLst/>
          </a:prstGeom>
          <a:noFill/>
        </p:spPr>
        <p:txBody>
          <a:bodyPr wrap="square" lIns="0" tIns="0">
            <a:spAutoFit/>
          </a:bodyPr>
          <a:lstStyle/>
          <a:p>
            <a:pPr>
              <a:spcAft>
                <a:spcPts val="300"/>
              </a:spcAft>
              <a:defRPr sz="1100" b="1">
                <a:solidFill>
                  <a:srgbClr val="D97706"/>
                </a:solidFill>
                <a:latin typeface="Arial"/>
              </a:defRPr>
            </a:pPr>
            <a:r>
              <a:t>MỤC TIÊU 01</a:t>
            </a:r>
          </a:p>
          <a:p>
            <a:pPr>
              <a:spcAft>
                <a:spcPts val="200"/>
              </a:spcAft>
              <a:defRPr sz="1500" b="1">
                <a:solidFill>
                  <a:srgbClr val="002855"/>
                </a:solidFill>
                <a:latin typeface="Arial"/>
              </a:defRPr>
            </a:pPr>
            <a:r>
              <a:t>Cổng thông tin tập trung</a:t>
            </a:r>
          </a:p>
          <a:p>
            <a:pPr>
              <a:spcAft>
                <a:spcPts val="1400"/>
              </a:spcAft>
              <a:defRPr sz="1050" b="1">
                <a:solidFill>
                  <a:srgbClr val="0284C7"/>
                </a:solidFill>
                <a:latin typeface="Arial"/>
              </a:defRPr>
            </a:pPr>
            <a:r>
              <a:t>Xây dựng Website &amp; Quản trị CMS</a:t>
            </a:r>
          </a:p>
          <a:p>
            <a:pPr>
              <a:spcAft>
                <a:spcPts val="1000"/>
              </a:spcAft>
              <a:defRPr sz="1050">
                <a:solidFill>
                  <a:srgbClr val="334155"/>
                </a:solidFill>
                <a:latin typeface="Arial"/>
              </a:defRPr>
            </a:pPr>
            <a:r>
              <a:t>• Xây dựng Website Cổng thông tin cho đoàn viên và phân hệ quản trị CMS cho Công đoàn Trường ĐH Thủ Dầu Một.</a:t>
            </a:r>
          </a:p>
          <a:p>
            <a:pPr>
              <a:spcAft>
                <a:spcPts val="1000"/>
              </a:spcAft>
              <a:defRPr sz="1050">
                <a:solidFill>
                  <a:srgbClr val="334155"/>
                </a:solidFill>
                <a:latin typeface="Arial"/>
              </a:defRPr>
            </a:pPr>
            <a:r>
              <a:t>• Quản lý tập trung toàn bộ tin tức phong trào, văn bản biểu mẫu và chương trình phúc lợi.</a:t>
            </a:r>
          </a:p>
          <a:p>
            <a:pPr>
              <a:spcAft>
                <a:spcPts val="1000"/>
              </a:spcAft>
              <a:defRPr sz="1050">
                <a:solidFill>
                  <a:srgbClr val="334155"/>
                </a:solidFill>
                <a:latin typeface="Arial"/>
              </a:defRPr>
            </a:pPr>
            <a:r>
              <a:t>• Chuẩn hóa quy trình biên tập và thẩm định phê duyệt bài viết trước khi xuất bản.</a:t>
            </a:r>
          </a:p>
        </p:txBody>
      </p:sp>
      <p:sp>
        <p:nvSpPr>
          <p:cNvPr id="7" name="Rectangle 6"/>
          <p:cNvSpPr/>
          <p:nvPr/>
        </p:nvSpPr>
        <p:spPr>
          <a:xfrm>
            <a:off x="4178808" y="1691640"/>
            <a:ext cx="9144" cy="4389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0" y="1508760"/>
            <a:ext cx="3383280" cy="4846320"/>
          </a:xfrm>
          <a:prstGeom prst="rect">
            <a:avLst/>
          </a:prstGeom>
          <a:noFill/>
        </p:spPr>
        <p:txBody>
          <a:bodyPr wrap="square" lIns="0" tIns="0">
            <a:spAutoFit/>
          </a:bodyPr>
          <a:lstStyle/>
          <a:p>
            <a:pPr>
              <a:spcAft>
                <a:spcPts val="300"/>
              </a:spcAft>
              <a:defRPr sz="1100" b="1">
                <a:solidFill>
                  <a:srgbClr val="D97706"/>
                </a:solidFill>
                <a:latin typeface="Arial"/>
              </a:defRPr>
            </a:pPr>
            <a:r>
              <a:t>MỤC TIÊU 02</a:t>
            </a:r>
          </a:p>
          <a:p>
            <a:pPr>
              <a:spcAft>
                <a:spcPts val="200"/>
              </a:spcAft>
              <a:defRPr sz="1500" b="1">
                <a:solidFill>
                  <a:srgbClr val="002855"/>
                </a:solidFill>
                <a:latin typeface="Arial"/>
              </a:defRPr>
            </a:pPr>
            <a:r>
              <a:t>Trợ lý AI hỗ trợ nội dung</a:t>
            </a:r>
          </a:p>
          <a:p>
            <a:pPr>
              <a:spcAft>
                <a:spcPts val="1400"/>
              </a:spcAft>
              <a:defRPr sz="1050" b="1">
                <a:solidFill>
                  <a:srgbClr val="0284C7"/>
                </a:solidFill>
                <a:latin typeface="Arial"/>
              </a:defRPr>
            </a:pPr>
            <a:r>
              <a:t>Tự động hóa viết bài từ kế hoạch</a:t>
            </a:r>
          </a:p>
          <a:p>
            <a:pPr>
              <a:spcAft>
                <a:spcPts val="1000"/>
              </a:spcAft>
              <a:defRPr sz="1050">
                <a:solidFill>
                  <a:srgbClr val="334155"/>
                </a:solidFill>
                <a:latin typeface="Arial"/>
              </a:defRPr>
            </a:pPr>
            <a:r>
              <a:t>• Tiếp nhận trực tiếp file kế hoạch sự kiện Word, Excel, PDF và nhận diện chữ trên ảnh phông nền (Backdrop OCR).</a:t>
            </a:r>
          </a:p>
          <a:p>
            <a:pPr>
              <a:spcAft>
                <a:spcPts val="1000"/>
              </a:spcAft>
              <a:defRPr sz="1050">
                <a:solidFill>
                  <a:srgbClr val="334155"/>
                </a:solidFill>
                <a:latin typeface="Arial"/>
              </a:defRPr>
            </a:pPr>
            <a:r>
              <a:t>• Tự động sinh bài viết tin tức hoàn chỉnh có tiêu đề gợi ý, đoạn mở bài và thân bài chuẩn văn phong.</a:t>
            </a:r>
          </a:p>
          <a:p>
            <a:pPr>
              <a:spcAft>
                <a:spcPts val="1000"/>
              </a:spcAft>
              <a:defRPr sz="1050">
                <a:solidFill>
                  <a:srgbClr val="334155"/>
                </a:solidFill>
                <a:latin typeface="Arial"/>
              </a:defRPr>
            </a:pPr>
            <a:r>
              <a:t>• Cho phép cán bộ chọn đoạn văn để yêu cầu AI chỉnh sửa lại câu từ theo yêu cầu.</a:t>
            </a:r>
          </a:p>
        </p:txBody>
      </p:sp>
      <p:sp>
        <p:nvSpPr>
          <p:cNvPr id="9" name="Rectangle 8"/>
          <p:cNvSpPr/>
          <p:nvPr/>
        </p:nvSpPr>
        <p:spPr>
          <a:xfrm>
            <a:off x="7973568" y="1691640"/>
            <a:ext cx="9144" cy="4389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1508760"/>
            <a:ext cx="3383280" cy="4846320"/>
          </a:xfrm>
          <a:prstGeom prst="rect">
            <a:avLst/>
          </a:prstGeom>
          <a:noFill/>
        </p:spPr>
        <p:txBody>
          <a:bodyPr wrap="square" lIns="0" tIns="0">
            <a:spAutoFit/>
          </a:bodyPr>
          <a:lstStyle/>
          <a:p>
            <a:pPr>
              <a:spcAft>
                <a:spcPts val="300"/>
              </a:spcAft>
              <a:defRPr sz="1100" b="1">
                <a:solidFill>
                  <a:srgbClr val="D97706"/>
                </a:solidFill>
                <a:latin typeface="Arial"/>
              </a:defRPr>
            </a:pPr>
            <a:r>
              <a:t>MỤC TIÊU 03</a:t>
            </a:r>
          </a:p>
          <a:p>
            <a:pPr>
              <a:spcAft>
                <a:spcPts val="200"/>
              </a:spcAft>
              <a:defRPr sz="1500" b="1">
                <a:solidFill>
                  <a:srgbClr val="002855"/>
                </a:solidFill>
                <a:latin typeface="Arial"/>
              </a:defRPr>
            </a:pPr>
            <a:r>
              <a:t>Xuất bản đa kênh &amp; Đo lường</a:t>
            </a:r>
          </a:p>
          <a:p>
            <a:pPr>
              <a:spcAft>
                <a:spcPts val="1400"/>
              </a:spcAft>
              <a:defRPr sz="1050" b="1">
                <a:solidFill>
                  <a:srgbClr val="0284C7"/>
                </a:solidFill>
                <a:latin typeface="Arial"/>
              </a:defRPr>
            </a:pPr>
            <a:r>
              <a:t>Đồng bộ Facebook &amp; Thống kê</a:t>
            </a:r>
          </a:p>
          <a:p>
            <a:pPr>
              <a:spcAft>
                <a:spcPts val="1000"/>
              </a:spcAft>
              <a:defRPr sz="1050">
                <a:solidFill>
                  <a:srgbClr val="334155"/>
                </a:solidFill>
                <a:latin typeface="Arial"/>
              </a:defRPr>
            </a:pPr>
            <a:r>
              <a:t>• Tự động tóm tắt bài viết thành bản tin ngắn và kết nối Facebook Graph API đăng tự động lên Fanpage Công đoàn.</a:t>
            </a:r>
          </a:p>
          <a:p>
            <a:pPr>
              <a:spcAft>
                <a:spcPts val="1000"/>
              </a:spcAft>
              <a:defRPr sz="1050">
                <a:solidFill>
                  <a:srgbClr val="334155"/>
                </a:solidFill>
                <a:latin typeface="Arial"/>
              </a:defRPr>
            </a:pPr>
            <a:r>
              <a:t>• Thiết lập cơ chế hẹn giờ đăng bài tự động theo khung giờ phong trào.</a:t>
            </a:r>
          </a:p>
          <a:p>
            <a:pPr>
              <a:spcAft>
                <a:spcPts val="1000"/>
              </a:spcAft>
              <a:defRPr sz="1050">
                <a:solidFill>
                  <a:srgbClr val="334155"/>
                </a:solidFill>
                <a:latin typeface="Arial"/>
              </a:defRPr>
            </a:pPr>
            <a:r>
              <a:t>• Trang quản trị theo dõi số lượng bài viết, lượt xem và mức độ tương tác của bạn đọc.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65760"/>
            <a:ext cx="8686800" cy="256032"/>
          </a:xfrm>
          <a:prstGeom prst="rect">
            <a:avLst/>
          </a:prstGeom>
          <a:noFill/>
        </p:spPr>
        <p:txBody>
          <a:bodyPr wrap="square" lIns="0" rIns="0" tIns="0" bIns="0">
            <a:spAutoFit/>
          </a:bodyPr>
          <a:lstStyle/>
          <a:p>
            <a:pPr>
              <a:defRPr sz="1100" b="1">
                <a:solidFill>
                  <a:srgbClr val="D97706"/>
                </a:solidFill>
                <a:latin typeface="Arial"/>
              </a:defRPr>
            </a:pPr>
            <a:r>
              <a:t>2. GIẢI PHÁP CÔNG NGHỆ</a:t>
            </a:r>
          </a:p>
        </p:txBody>
      </p:sp>
      <p:sp>
        <p:nvSpPr>
          <p:cNvPr id="3" name="TextBox 2"/>
          <p:cNvSpPr txBox="1"/>
          <p:nvPr/>
        </p:nvSpPr>
        <p:spPr>
          <a:xfrm>
            <a:off x="594360" y="621792"/>
            <a:ext cx="8961120" cy="457200"/>
          </a:xfrm>
          <a:prstGeom prst="rect">
            <a:avLst/>
          </a:prstGeom>
          <a:noFill/>
        </p:spPr>
        <p:txBody>
          <a:bodyPr wrap="square" lIns="0" rIns="0" tIns="0" bIns="0">
            <a:spAutoFit/>
          </a:bodyPr>
          <a:lstStyle/>
          <a:p>
            <a:pPr>
              <a:defRPr sz="2200" b="1">
                <a:solidFill>
                  <a:srgbClr val="002855"/>
                </a:solidFill>
                <a:latin typeface="Arial"/>
              </a:defRPr>
            </a:pPr>
            <a:r>
              <a:t>Công nghệ sử dụng trong đề tài</a:t>
            </a:r>
          </a:p>
        </p:txBody>
      </p:sp>
      <p:sp>
        <p:nvSpPr>
          <p:cNvPr id="4" name="Rectangle 3"/>
          <p:cNvSpPr/>
          <p:nvPr/>
        </p:nvSpPr>
        <p:spPr>
          <a:xfrm>
            <a:off x="59436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9875520" y="292608"/>
            <a:ext cx="1691640" cy="658368"/>
          </a:xfrm>
          <a:prstGeom prst="rect">
            <a:avLst/>
          </a:prstGeom>
        </p:spPr>
      </p:pic>
      <p:sp>
        <p:nvSpPr>
          <p:cNvPr id="6" name="TextBox 5"/>
          <p:cNvSpPr txBox="1"/>
          <p:nvPr/>
        </p:nvSpPr>
        <p:spPr>
          <a:xfrm>
            <a:off x="594360" y="1508760"/>
            <a:ext cx="3383280" cy="4846320"/>
          </a:xfrm>
          <a:prstGeom prst="rect">
            <a:avLst/>
          </a:prstGeom>
          <a:noFill/>
        </p:spPr>
        <p:txBody>
          <a:bodyPr wrap="square" lIns="0" tIns="0">
            <a:spAutoFit/>
          </a:bodyPr>
          <a:lstStyle/>
          <a:p>
            <a:pPr>
              <a:spcAft>
                <a:spcPts val="300"/>
              </a:spcAft>
              <a:defRPr sz="1500" b="1">
                <a:solidFill>
                  <a:srgbClr val="002855"/>
                </a:solidFill>
                <a:latin typeface="Arial"/>
              </a:defRPr>
            </a:pPr>
            <a:r>
              <a:t>Giao diện người dùng (Frontend)</a:t>
            </a:r>
          </a:p>
          <a:p>
            <a:pPr>
              <a:spcAft>
                <a:spcPts val="1200"/>
              </a:spcAft>
              <a:defRPr sz="1100" b="1">
                <a:solidFill>
                  <a:srgbClr val="0284C7"/>
                </a:solidFill>
                <a:latin typeface="Arial"/>
              </a:defRPr>
            </a:pPr>
            <a:r>
              <a:t>React 18 · Tailwind CSS · Vite</a:t>
            </a:r>
          </a:p>
          <a:p>
            <a:pPr>
              <a:spcAft>
                <a:spcPts val="1200"/>
              </a:spcAft>
              <a:defRPr sz="1050">
                <a:solidFill>
                  <a:srgbClr val="334155"/>
                </a:solidFill>
                <a:latin typeface="Arial"/>
              </a:defRPr>
            </a:pPr>
            <a:r>
              <a:t>Xây dựng Website Cổng thông tin đoàn viên và trang quản trị Admin CMS với tốc độ tải trang nhanh (Single Page Application), hiển thị tốt trên cả máy tính và điện thoại.</a:t>
            </a:r>
          </a:p>
          <a:p>
            <a:pPr>
              <a:spcAft>
                <a:spcPts val="800"/>
              </a:spcAft>
              <a:defRPr sz="1000">
                <a:solidFill>
                  <a:srgbClr val="334155"/>
                </a:solidFill>
                <a:latin typeface="Arial"/>
              </a:defRPr>
            </a:pPr>
            <a:r>
              <a:t>• Giao diện hiện đại, tải nhanh, không cần nạp lại toàn bộ trang web.</a:t>
            </a:r>
          </a:p>
          <a:p>
            <a:pPr>
              <a:spcAft>
                <a:spcPts val="800"/>
              </a:spcAft>
              <a:defRPr sz="1000">
                <a:solidFill>
                  <a:srgbClr val="334155"/>
                </a:solidFill>
                <a:latin typeface="Arial"/>
              </a:defRPr>
            </a:pPr>
            <a:r>
              <a:t>• Trình soạn thảo bài viết trực quan, dễ sử dụng cho cán bộ công đoàn.</a:t>
            </a:r>
          </a:p>
          <a:p>
            <a:pPr>
              <a:spcAft>
                <a:spcPts val="800"/>
              </a:spcAft>
              <a:defRPr sz="1000">
                <a:solidFill>
                  <a:srgbClr val="334155"/>
                </a:solidFill>
                <a:latin typeface="Arial"/>
              </a:defRPr>
            </a:pPr>
            <a:r>
              <a:t>• Tự động co giãn theo kích thước màn hình thiết bị (Responsive UI).</a:t>
            </a:r>
          </a:p>
        </p:txBody>
      </p:sp>
      <p:sp>
        <p:nvSpPr>
          <p:cNvPr id="7" name="Rectangle 6"/>
          <p:cNvSpPr/>
          <p:nvPr/>
        </p:nvSpPr>
        <p:spPr>
          <a:xfrm>
            <a:off x="4178808" y="1691640"/>
            <a:ext cx="9144" cy="4389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0" y="1508760"/>
            <a:ext cx="3383280" cy="4846320"/>
          </a:xfrm>
          <a:prstGeom prst="rect">
            <a:avLst/>
          </a:prstGeom>
          <a:noFill/>
        </p:spPr>
        <p:txBody>
          <a:bodyPr wrap="square" lIns="0" tIns="0">
            <a:spAutoFit/>
          </a:bodyPr>
          <a:lstStyle/>
          <a:p>
            <a:pPr>
              <a:spcAft>
                <a:spcPts val="300"/>
              </a:spcAft>
              <a:defRPr sz="1500" b="1">
                <a:solidFill>
                  <a:srgbClr val="002855"/>
                </a:solidFill>
                <a:latin typeface="Arial"/>
              </a:defRPr>
            </a:pPr>
            <a:r>
              <a:t>Máy chủ xử lý &amp; CSDL (Backend)</a:t>
            </a:r>
          </a:p>
          <a:p>
            <a:pPr>
              <a:spcAft>
                <a:spcPts val="1200"/>
              </a:spcAft>
              <a:defRPr sz="1100" b="1">
                <a:solidFill>
                  <a:srgbClr val="059669"/>
                </a:solidFill>
                <a:latin typeface="Arial"/>
              </a:defRPr>
            </a:pPr>
            <a:r>
              <a:t>Node.js 18+ · Express · SQL Server 2022</a:t>
            </a:r>
          </a:p>
          <a:p>
            <a:pPr>
              <a:spcAft>
                <a:spcPts val="1200"/>
              </a:spcAft>
              <a:defRPr sz="1050">
                <a:solidFill>
                  <a:srgbClr val="334155"/>
                </a:solidFill>
                <a:latin typeface="Arial"/>
              </a:defRPr>
            </a:pPr>
            <a:r>
              <a:t>Cung cấp hệ thống API kết nối giữa giao diện và cơ sở dữ liệu, xử lý nghiệp vụ, phân quyền bảo mật tài khoản và lưu trữ an toàn 15 bảng dữ liệu quan hệ.</a:t>
            </a:r>
          </a:p>
          <a:p>
            <a:pPr>
              <a:spcAft>
                <a:spcPts val="800"/>
              </a:spcAft>
              <a:defRPr sz="1000">
                <a:solidFill>
                  <a:srgbClr val="334155"/>
                </a:solidFill>
                <a:latin typeface="Arial"/>
              </a:defRPr>
            </a:pPr>
            <a:r>
              <a:t>• Bảo mật đăng nhập và phân quyền bằng JSON Web Token (JWT).</a:t>
            </a:r>
          </a:p>
          <a:p>
            <a:pPr>
              <a:spcAft>
                <a:spcPts val="800"/>
              </a:spcAft>
              <a:defRPr sz="1000">
                <a:solidFill>
                  <a:srgbClr val="334155"/>
                </a:solidFill>
                <a:latin typeface="Arial"/>
              </a:defRPr>
            </a:pPr>
            <a:r>
              <a:t>• Lưu trữ và ràng buộc dữ liệu toàn vẹn trên Microsoft SQL Server 2022.</a:t>
            </a:r>
          </a:p>
          <a:p>
            <a:pPr>
              <a:spcAft>
                <a:spcPts val="800"/>
              </a:spcAft>
              <a:defRPr sz="1000">
                <a:solidFill>
                  <a:srgbClr val="334155"/>
                </a:solidFill>
                <a:latin typeface="Arial"/>
              </a:defRPr>
            </a:pPr>
            <a:r>
              <a:t>• Tự động đăng bài đúng giờ hẹn thông qua tiến trình ngầm (Node-cron).</a:t>
            </a:r>
          </a:p>
        </p:txBody>
      </p:sp>
      <p:sp>
        <p:nvSpPr>
          <p:cNvPr id="9" name="Rectangle 8"/>
          <p:cNvSpPr/>
          <p:nvPr/>
        </p:nvSpPr>
        <p:spPr>
          <a:xfrm>
            <a:off x="7973568" y="1691640"/>
            <a:ext cx="9144" cy="4389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1508760"/>
            <a:ext cx="3383280" cy="4846320"/>
          </a:xfrm>
          <a:prstGeom prst="rect">
            <a:avLst/>
          </a:prstGeom>
          <a:noFill/>
        </p:spPr>
        <p:txBody>
          <a:bodyPr wrap="square" lIns="0" tIns="0">
            <a:spAutoFit/>
          </a:bodyPr>
          <a:lstStyle/>
          <a:p>
            <a:pPr>
              <a:spcAft>
                <a:spcPts val="300"/>
              </a:spcAft>
              <a:defRPr sz="1500" b="1">
                <a:solidFill>
                  <a:srgbClr val="002855"/>
                </a:solidFill>
                <a:latin typeface="Arial"/>
              </a:defRPr>
            </a:pPr>
            <a:r>
              <a:t>Trí tuệ nhân tạo &amp; Đa kênh (AI &amp; APIs)</a:t>
            </a:r>
          </a:p>
          <a:p>
            <a:pPr>
              <a:spcAft>
                <a:spcPts val="1200"/>
              </a:spcAft>
              <a:defRPr sz="1100" b="1">
                <a:solidFill>
                  <a:srgbClr val="D97706"/>
                </a:solidFill>
                <a:latin typeface="Arial"/>
              </a:defRPr>
            </a:pPr>
            <a:r>
              <a:t>Google Gemini API · Meta Graph API · Zalo API</a:t>
            </a:r>
          </a:p>
          <a:p>
            <a:pPr>
              <a:spcAft>
                <a:spcPts val="1200"/>
              </a:spcAft>
              <a:defRPr sz="1050">
                <a:solidFill>
                  <a:srgbClr val="334155"/>
                </a:solidFill>
                <a:latin typeface="Arial"/>
              </a:defRPr>
            </a:pPr>
            <a:r>
              <a:t>Tích hợp mô hình AI xử lý tiếng Việt hỗ trợ đọc kế hoạch thô và viết bài; kết hợp kết nối Facebook và Zalo để tự động xuất bản bài viết lên các kênh truyền thông Công đoàn.</a:t>
            </a:r>
          </a:p>
          <a:p>
            <a:pPr>
              <a:spcAft>
                <a:spcPts val="800"/>
              </a:spcAft>
              <a:defRPr sz="1000">
                <a:solidFill>
                  <a:srgbClr val="334155"/>
                </a:solidFill>
                <a:latin typeface="Arial"/>
              </a:defRPr>
            </a:pPr>
            <a:r>
              <a:t>• Google Gemini API: Đọc kế hoạch sự kiện, nhận diện chữ trên ảnh, viết bài.</a:t>
            </a:r>
          </a:p>
          <a:p>
            <a:pPr>
              <a:spcAft>
                <a:spcPts val="800"/>
              </a:spcAft>
              <a:defRPr sz="1000">
                <a:solidFill>
                  <a:srgbClr val="334155"/>
                </a:solidFill>
                <a:latin typeface="Arial"/>
              </a:defRPr>
            </a:pPr>
            <a:r>
              <a:t>• Meta Graph API &amp; Zalo API: Tự động đăng bài viết và hình ảnh lên Fanpage và Zalo.</a:t>
            </a:r>
          </a:p>
          <a:p>
            <a:pPr>
              <a:spcAft>
                <a:spcPts val="800"/>
              </a:spcAft>
              <a:defRPr sz="1000">
                <a:solidFill>
                  <a:srgbClr val="334155"/>
                </a:solidFill>
                <a:latin typeface="Arial"/>
              </a:defRPr>
            </a:pPr>
            <a:r>
              <a:t>• Tiết kiệm thời gian soạn bài và đồng bộ thông tin phong trào nhanh chóng.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Box 1"/>
          <p:cNvSpPr txBox="1"/>
          <p:nvPr/>
        </p:nvSpPr>
        <p:spPr>
          <a:xfrm>
            <a:off x="594360" y="365760"/>
            <a:ext cx="8686800" cy="256032"/>
          </a:xfrm>
          <a:prstGeom prst="rect">
            <a:avLst/>
          </a:prstGeom>
          <a:noFill/>
        </p:spPr>
        <p:txBody>
          <a:bodyPr wrap="square" lIns="0" rIns="0" tIns="0" bIns="0">
            <a:spAutoFit/>
          </a:bodyPr>
          <a:lstStyle/>
          <a:p>
            <a:pPr>
              <a:defRPr sz="1100" b="1">
                <a:solidFill>
                  <a:srgbClr val="D97706"/>
                </a:solidFill>
                <a:latin typeface="Arial"/>
              </a:defRPr>
            </a:pPr>
            <a:r>
              <a:t>3. PHÂN TÍCH &amp; THIẾT KẾ HỆ THỐNG</a:t>
            </a:r>
          </a:p>
        </p:txBody>
      </p:sp>
      <p:sp>
        <p:nvSpPr>
          <p:cNvPr id="3" name="TextBox 2"/>
          <p:cNvSpPr txBox="1"/>
          <p:nvPr/>
        </p:nvSpPr>
        <p:spPr>
          <a:xfrm>
            <a:off x="594360" y="621792"/>
            <a:ext cx="8961120" cy="457200"/>
          </a:xfrm>
          <a:prstGeom prst="rect">
            <a:avLst/>
          </a:prstGeom>
          <a:noFill/>
        </p:spPr>
        <p:txBody>
          <a:bodyPr wrap="square" lIns="0" rIns="0" tIns="0" bIns="0">
            <a:spAutoFit/>
          </a:bodyPr>
          <a:lstStyle/>
          <a:p>
            <a:pPr>
              <a:defRPr sz="2200" b="1">
                <a:solidFill>
                  <a:srgbClr val="002855"/>
                </a:solidFill>
                <a:latin typeface="Arial"/>
              </a:defRPr>
            </a:pPr>
            <a:r>
              <a:t>Phân tích chức năng &amp; Ma trận phân quyền 4 vai trò (RBAC)</a:t>
            </a:r>
          </a:p>
        </p:txBody>
      </p:sp>
      <p:sp>
        <p:nvSpPr>
          <p:cNvPr id="4" name="Rectangle 3"/>
          <p:cNvSpPr/>
          <p:nvPr/>
        </p:nvSpPr>
        <p:spPr>
          <a:xfrm>
            <a:off x="59436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4"/>
          <a:stretch>
            <a:fillRect/>
          </a:stretch>
        </p:blipFill>
        <p:spPr>
          <a:xfrm>
            <a:off x="9875520" y="292608"/>
            <a:ext cx="1691640" cy="658368"/>
          </a:xfrm>
          <a:prstGeom prst="rect">
            <a:avLst/>
          </a:prstGeom>
        </p:spPr>
      </p:pic>
      <p:graphicFrame>
        <p:nvGraphicFramePr>
          <p:cNvPr id="6" name="Table 5"/>
          <p:cNvGraphicFramePr>
            <a:graphicFrameLocks noGrp="1"/>
          </p:cNvGraphicFramePr>
          <p:nvPr/>
        </p:nvGraphicFramePr>
        <p:xfrm>
          <a:off x="594360" y="1463040"/>
          <a:ext cx="11000232" cy="4709160"/>
        </p:xfrm>
        <a:graphic>
          <a:graphicData uri="http://schemas.openxmlformats.org/drawingml/2006/table">
            <a:tbl>
              <a:tblPr firstRow="1" bandRow="1">
                <a:tableStyleId>{5C22544A-7EE6-4342-B048-85BDC9FD1C3A}</a:tableStyleId>
              </a:tblPr>
              <a:tblGrid>
                <a:gridCol w="3319272"/>
                <a:gridCol w="1920240"/>
                <a:gridCol w="1920240"/>
                <a:gridCol w="1920240"/>
                <a:gridCol w="1920240"/>
              </a:tblGrid>
              <a:tr h="784860">
                <a:tc>
                  <a:txBody>
                    <a:bodyPr wrap="square"/>
                    <a:lstStyle/>
                    <a:p>
                      <a:pPr algn="l"/>
                      <a:r>
                        <a:rPr sz="1200" b="1">
                          <a:solidFill>
                            <a:srgbClr val="FFFFFF"/>
                          </a:solidFill>
                          <a:latin typeface="Arial"/>
                        </a:rPr>
                        <a:t>Phân hệ &amp; Chức năng nghiệp vụ</a:t>
                      </a:r>
                    </a:p>
                  </a:txBody>
                  <a:tcPr anchor="ctr">
                    <a:solidFill>
                      <a:srgbClr val="002855"/>
                    </a:solidFill>
                  </a:tcPr>
                </a:tc>
                <a:tc>
                  <a:txBody>
                    <a:bodyPr wrap="square"/>
                    <a:lstStyle/>
                    <a:p>
                      <a:pPr algn="ctr"/>
                      <a:r>
                        <a:rPr sz="1100" b="1">
                          <a:solidFill>
                            <a:srgbClr val="FFFFFF"/>
                          </a:solidFill>
                          <a:latin typeface="Arial"/>
                        </a:rPr>
                        <a:t>Quản trị viên (Admin)</a:t>
                      </a:r>
                    </a:p>
                    <a:p>
                      <a:pPr algn="ctr"/>
                      <a:r>
                        <a:rPr sz="1100" b="1">
                          <a:solidFill>
                            <a:srgbClr val="FFFFFF"/>
                          </a:solidFill>
                          <a:latin typeface="Arial"/>
                        </a:rPr>
                        <a:t>Ban Chấp hành</a:t>
                      </a:r>
                    </a:p>
                  </a:txBody>
                  <a:tcPr anchor="ctr">
                    <a:solidFill>
                      <a:srgbClr val="002855"/>
                    </a:solidFill>
                  </a:tcPr>
                </a:tc>
                <a:tc>
                  <a:txBody>
                    <a:bodyPr wrap="square"/>
                    <a:lstStyle/>
                    <a:p>
                      <a:pPr algn="ctr"/>
                      <a:r>
                        <a:rPr sz="1100" b="1">
                          <a:solidFill>
                            <a:srgbClr val="FFFFFF"/>
                          </a:solidFill>
                          <a:latin typeface="Arial"/>
                        </a:rPr>
                        <a:t>Biên tập viên (Editor)</a:t>
                      </a:r>
                    </a:p>
                    <a:p>
                      <a:pPr algn="ctr"/>
                      <a:r>
                        <a:rPr sz="1100" b="1">
                          <a:solidFill>
                            <a:srgbClr val="FFFFFF"/>
                          </a:solidFill>
                          <a:latin typeface="Arial"/>
                        </a:rPr>
                        <a:t>Ban Tuyên giáo</a:t>
                      </a:r>
                    </a:p>
                  </a:txBody>
                  <a:tcPr anchor="ctr">
                    <a:solidFill>
                      <a:srgbClr val="002855"/>
                    </a:solidFill>
                  </a:tcPr>
                </a:tc>
                <a:tc>
                  <a:txBody>
                    <a:bodyPr wrap="square"/>
                    <a:lstStyle/>
                    <a:p>
                      <a:pPr algn="ctr"/>
                      <a:r>
                        <a:rPr sz="1100" b="1">
                          <a:solidFill>
                            <a:srgbClr val="FFFFFF"/>
                          </a:solidFill>
                          <a:latin typeface="Arial"/>
                        </a:rPr>
                        <a:t>Cộng tác viên (Contributor)</a:t>
                      </a:r>
                    </a:p>
                    <a:p>
                      <a:pPr algn="ctr"/>
                      <a:r>
                        <a:rPr sz="1100" b="1">
                          <a:solidFill>
                            <a:srgbClr val="FFFFFF"/>
                          </a:solidFill>
                          <a:latin typeface="Arial"/>
                        </a:rPr>
                        <a:t>16 Tổ Công đoàn</a:t>
                      </a:r>
                    </a:p>
                  </a:txBody>
                  <a:tcPr anchor="ctr">
                    <a:solidFill>
                      <a:srgbClr val="002855"/>
                    </a:solidFill>
                  </a:tcPr>
                </a:tc>
                <a:tc>
                  <a:txBody>
                    <a:bodyPr wrap="square"/>
                    <a:lstStyle/>
                    <a:p>
                      <a:pPr algn="ctr"/>
                      <a:r>
                        <a:rPr sz="1100" b="1">
                          <a:solidFill>
                            <a:srgbClr val="FFFFFF"/>
                          </a:solidFill>
                          <a:latin typeface="Arial"/>
                        </a:rPr>
                        <a:t>Đoàn viên / Độc giả</a:t>
                      </a:r>
                    </a:p>
                    <a:p>
                      <a:pPr algn="ctr"/>
                      <a:r>
                        <a:rPr sz="1100" b="1">
                          <a:solidFill>
                            <a:srgbClr val="FFFFFF"/>
                          </a:solidFill>
                          <a:latin typeface="Arial"/>
                        </a:rPr>
                        <a:t>Cán bộ, Giảng viên</a:t>
                      </a:r>
                    </a:p>
                  </a:txBody>
                  <a:tcPr anchor="ctr">
                    <a:solidFill>
                      <a:srgbClr val="002855"/>
                    </a:solidFill>
                  </a:tcPr>
                </a:tc>
              </a:tr>
              <a:tr h="784860">
                <a:tc>
                  <a:txBody>
                    <a:bodyPr wrap="square"/>
                    <a:lstStyle/>
                    <a:p>
                      <a:pPr algn="l"/>
                      <a:r>
                        <a:rPr sz="1050" b="1">
                          <a:solidFill>
                            <a:srgbClr val="334155"/>
                          </a:solidFill>
                          <a:latin typeface="Arial"/>
                        </a:rPr>
                        <a:t>1. Cổng thông tin &amp; Tương tác</a:t>
                      </a:r>
                    </a:p>
                    <a:p>
                      <a:pPr algn="l"/>
                      <a:r>
                        <a:rPr sz="1050" b="0">
                          <a:solidFill>
                            <a:srgbClr val="334155"/>
                          </a:solidFill>
                          <a:latin typeface="Arial"/>
                        </a:rPr>
                        <a:t>Xem tin tức, tìm kiếm, tải văn bản biểu mẫu, bình luận tương tác, gửi góp ý.</a:t>
                      </a:r>
                    </a:p>
                  </a:txBody>
                  <a:tcPr anchor="ctr">
                    <a:solidFill>
                      <a:srgbClr val="FFFFFF"/>
                    </a:solidFill>
                  </a:tcPr>
                </a:tc>
                <a:tc>
                  <a:txBody>
                    <a:bodyPr wrap="square"/>
                    <a:lstStyle/>
                    <a:p>
                      <a:pPr algn="ctr"/>
                      <a:r>
                        <a:rPr sz="1100" b="1">
                          <a:solidFill>
                            <a:srgbClr val="059669"/>
                          </a:solidFill>
                          <a:latin typeface="Arial"/>
                        </a:rPr>
                        <a:t>✔ Toàn quyền</a:t>
                      </a:r>
                    </a:p>
                    <a:p>
                      <a:pPr algn="ctr"/>
                      <a:r>
                        <a:rPr sz="1100" b="0">
                          <a:solidFill>
                            <a:srgbClr val="059669"/>
                          </a:solidFill>
                          <a:latin typeface="Arial"/>
                        </a:rPr>
                        <a:t>Xem &amp; kiểm duyệt</a:t>
                      </a:r>
                    </a:p>
                  </a:txBody>
                  <a:tcPr anchor="ctr">
                    <a:solidFill>
                      <a:srgbClr val="FFFFFF"/>
                    </a:solidFill>
                  </a:tcPr>
                </a:tc>
                <a:tc>
                  <a:txBody>
                    <a:bodyPr wrap="square"/>
                    <a:lstStyle/>
                    <a:p>
                      <a:pPr algn="ctr"/>
                      <a:r>
                        <a:rPr sz="1100" b="1">
                          <a:solidFill>
                            <a:srgbClr val="059669"/>
                          </a:solidFill>
                          <a:latin typeface="Arial"/>
                        </a:rPr>
                        <a:t>✔ Toàn quyền</a:t>
                      </a:r>
                    </a:p>
                    <a:p>
                      <a:pPr algn="ctr"/>
                      <a:r>
                        <a:rPr sz="1100" b="0">
                          <a:solidFill>
                            <a:srgbClr val="059669"/>
                          </a:solidFill>
                          <a:latin typeface="Arial"/>
                        </a:rPr>
                        <a:t>Xem &amp; kiểm duyệt</a:t>
                      </a:r>
                    </a:p>
                  </a:txBody>
                  <a:tcPr anchor="ctr">
                    <a:solidFill>
                      <a:srgbClr val="FFFFFF"/>
                    </a:solidFill>
                  </a:tcPr>
                </a:tc>
                <a:tc>
                  <a:txBody>
                    <a:bodyPr wrap="square"/>
                    <a:lstStyle/>
                    <a:p>
                      <a:pPr algn="ctr"/>
                      <a:r>
                        <a:rPr sz="1100" b="1">
                          <a:solidFill>
                            <a:srgbClr val="059669"/>
                          </a:solidFill>
                          <a:latin typeface="Arial"/>
                        </a:rPr>
                        <a:t>✔ Toàn quyền</a:t>
                      </a:r>
                    </a:p>
                    <a:p>
                      <a:pPr algn="ctr"/>
                      <a:r>
                        <a:rPr sz="1100" b="0">
                          <a:solidFill>
                            <a:srgbClr val="059669"/>
                          </a:solidFill>
                          <a:latin typeface="Arial"/>
                        </a:rPr>
                        <a:t>Xem &amp; tham gia</a:t>
                      </a:r>
                    </a:p>
                  </a:txBody>
                  <a:tcPr anchor="ctr">
                    <a:solidFill>
                      <a:srgbClr val="FFFFFF"/>
                    </a:solidFill>
                  </a:tcPr>
                </a:tc>
                <a:tc>
                  <a:txBody>
                    <a:bodyPr wrap="square"/>
                    <a:lstStyle/>
                    <a:p>
                      <a:pPr algn="ctr"/>
                      <a:r>
                        <a:rPr sz="1100" b="1">
                          <a:solidFill>
                            <a:srgbClr val="0284C7"/>
                          </a:solidFill>
                          <a:latin typeface="Arial"/>
                        </a:rPr>
                        <a:t>✔ Tiếp cận</a:t>
                      </a:r>
                    </a:p>
                    <a:p>
                      <a:pPr algn="ctr"/>
                      <a:r>
                        <a:rPr sz="1100" b="0">
                          <a:solidFill>
                            <a:srgbClr val="0284C7"/>
                          </a:solidFill>
                          <a:latin typeface="Arial"/>
                        </a:rPr>
                        <a:t>Xem &amp; bình luận</a:t>
                      </a:r>
                    </a:p>
                  </a:txBody>
                  <a:tcPr anchor="ctr">
                    <a:solidFill>
                      <a:srgbClr val="FFFFFF"/>
                    </a:solidFill>
                  </a:tcPr>
                </a:tc>
              </a:tr>
              <a:tr h="784860">
                <a:tc>
                  <a:txBody>
                    <a:bodyPr wrap="square"/>
                    <a:lstStyle/>
                    <a:p>
                      <a:pPr algn="l"/>
                      <a:r>
                        <a:rPr sz="1050" b="1">
                          <a:solidFill>
                            <a:srgbClr val="334155"/>
                          </a:solidFill>
                          <a:latin typeface="Arial"/>
                        </a:rPr>
                        <a:t>2. Soạn thảo &amp; Trợ lý AI</a:t>
                      </a:r>
                    </a:p>
                    <a:p>
                      <a:pPr algn="l"/>
                      <a:r>
                        <a:rPr sz="1050" b="0">
                          <a:solidFill>
                            <a:srgbClr val="334155"/>
                          </a:solidFill>
                          <a:latin typeface="Arial"/>
                        </a:rPr>
                        <a:t>Đọc file kế hoạch/ảnh sự kiện, gọi Gemini AI tạo bài viết nháp, gợi ý tiêu đề.</a:t>
                      </a:r>
                    </a:p>
                  </a:txBody>
                  <a:tcPr anchor="ctr">
                    <a:solidFill>
                      <a:srgbClr val="F8FAFC"/>
                    </a:solidFill>
                  </a:tcPr>
                </a:tc>
                <a:tc>
                  <a:txBody>
                    <a:bodyPr wrap="square"/>
                    <a:lstStyle/>
                    <a:p>
                      <a:pPr algn="ctr"/>
                      <a:r>
                        <a:rPr sz="1100" b="1">
                          <a:solidFill>
                            <a:srgbClr val="059669"/>
                          </a:solidFill>
                          <a:latin typeface="Arial"/>
                        </a:rPr>
                        <a:t>✔ Toàn quyền</a:t>
                      </a:r>
                    </a:p>
                    <a:p>
                      <a:pPr algn="ctr"/>
                      <a:r>
                        <a:rPr sz="1100" b="0">
                          <a:solidFill>
                            <a:srgbClr val="059669"/>
                          </a:solidFill>
                          <a:latin typeface="Arial"/>
                        </a:rPr>
                        <a:t>Dùng AI &amp; duyệt</a:t>
                      </a:r>
                    </a:p>
                  </a:txBody>
                  <a:tcPr anchor="ctr">
                    <a:solidFill>
                      <a:srgbClr val="F8FAFC"/>
                    </a:solidFill>
                  </a:tcPr>
                </a:tc>
                <a:tc>
                  <a:txBody>
                    <a:bodyPr wrap="square"/>
                    <a:lstStyle/>
                    <a:p>
                      <a:pPr algn="ctr"/>
                      <a:r>
                        <a:rPr sz="1100" b="1">
                          <a:solidFill>
                            <a:srgbClr val="059669"/>
                          </a:solidFill>
                          <a:latin typeface="Arial"/>
                        </a:rPr>
                        <a:t>✔ Toàn quyền</a:t>
                      </a:r>
                    </a:p>
                    <a:p>
                      <a:pPr algn="ctr"/>
                      <a:r>
                        <a:rPr sz="1100" b="0">
                          <a:solidFill>
                            <a:srgbClr val="059669"/>
                          </a:solidFill>
                          <a:latin typeface="Arial"/>
                        </a:rPr>
                        <a:t>Dùng AI &amp; sửa</a:t>
                      </a:r>
                    </a:p>
                  </a:txBody>
                  <a:tcPr anchor="ctr">
                    <a:solidFill>
                      <a:srgbClr val="F8FAFC"/>
                    </a:solidFill>
                  </a:tcPr>
                </a:tc>
                <a:tc>
                  <a:txBody>
                    <a:bodyPr wrap="square"/>
                    <a:lstStyle/>
                    <a:p>
                      <a:pPr algn="ctr"/>
                      <a:r>
                        <a:rPr sz="1100" b="1">
                          <a:solidFill>
                            <a:srgbClr val="059669"/>
                          </a:solidFill>
                          <a:latin typeface="Arial"/>
                        </a:rPr>
                        <a:t>✔ Viết bài nháp</a:t>
                      </a:r>
                    </a:p>
                    <a:p>
                      <a:pPr algn="ctr"/>
                      <a:r>
                        <a:rPr sz="1100" b="0">
                          <a:solidFill>
                            <a:srgbClr val="059669"/>
                          </a:solidFill>
                          <a:latin typeface="Arial"/>
                        </a:rPr>
                        <a:t>Dùng AI hỗ trợ viết</a:t>
                      </a:r>
                    </a:p>
                  </a:txBody>
                  <a:tcPr anchor="ctr">
                    <a:solidFill>
                      <a:srgbClr val="F8FAFC"/>
                    </a:solidFill>
                  </a:tcPr>
                </a:tc>
                <a:tc>
                  <a:txBody>
                    <a:bodyPr wrap="square"/>
                    <a:lstStyle/>
                    <a:p>
                      <a:pPr algn="ctr"/>
                      <a:r>
                        <a:rPr sz="1100" b="1">
                          <a:solidFill>
                            <a:srgbClr val="94A3B8"/>
                          </a:solidFill>
                          <a:latin typeface="Arial"/>
                        </a:rPr>
                        <a:t>✖</a:t>
                      </a:r>
                    </a:p>
                    <a:p>
                      <a:pPr algn="ctr"/>
                      <a:r>
                        <a:rPr sz="1100" b="0">
                          <a:solidFill>
                            <a:srgbClr val="94A3B8"/>
                          </a:solidFill>
                          <a:latin typeface="Arial"/>
                        </a:rPr>
                        <a:t>Không phân quyền</a:t>
                      </a:r>
                    </a:p>
                  </a:txBody>
                  <a:tcPr anchor="ctr">
                    <a:solidFill>
                      <a:srgbClr val="F8FAFC"/>
                    </a:solidFill>
                  </a:tcPr>
                </a:tc>
              </a:tr>
              <a:tr h="784860">
                <a:tc>
                  <a:txBody>
                    <a:bodyPr wrap="square"/>
                    <a:lstStyle/>
                    <a:p>
                      <a:pPr algn="l"/>
                      <a:r>
                        <a:rPr sz="1050" b="1">
                          <a:solidFill>
                            <a:srgbClr val="334155"/>
                          </a:solidFill>
                          <a:latin typeface="Arial"/>
                        </a:rPr>
                        <a:t>3. Thẩm định &amp; Phê duyệt bài viết</a:t>
                      </a:r>
                    </a:p>
                    <a:p>
                      <a:pPr algn="l"/>
                      <a:r>
                        <a:rPr sz="1050" b="0">
                          <a:solidFill>
                            <a:srgbClr val="334155"/>
                          </a:solidFill>
                          <a:latin typeface="Arial"/>
                        </a:rPr>
                        <a:t>Kiểm duyệt hàng đợi bài nháp, biên tập sửa lỗi, yêu cầu chỉnh sửa, cấp phép đăng.</a:t>
                      </a:r>
                    </a:p>
                  </a:txBody>
                  <a:tcPr anchor="ctr">
                    <a:solidFill>
                      <a:srgbClr val="FFFFFF"/>
                    </a:solidFill>
                  </a:tcPr>
                </a:tc>
                <a:tc>
                  <a:txBody>
                    <a:bodyPr wrap="square"/>
                    <a:lstStyle/>
                    <a:p>
                      <a:pPr algn="ctr"/>
                      <a:r>
                        <a:rPr sz="1100" b="1">
                          <a:solidFill>
                            <a:srgbClr val="059669"/>
                          </a:solidFill>
                          <a:latin typeface="Arial"/>
                        </a:rPr>
                        <a:t>✔ Phê duyệt</a:t>
                      </a:r>
                    </a:p>
                    <a:p>
                      <a:pPr algn="ctr"/>
                      <a:r>
                        <a:rPr sz="1100" b="0">
                          <a:solidFill>
                            <a:srgbClr val="059669"/>
                          </a:solidFill>
                          <a:latin typeface="Arial"/>
                        </a:rPr>
                        <a:t>Cấp cao nhất</a:t>
                      </a:r>
                    </a:p>
                  </a:txBody>
                  <a:tcPr anchor="ctr">
                    <a:solidFill>
                      <a:srgbClr val="FFFFFF"/>
                    </a:solidFill>
                  </a:tcPr>
                </a:tc>
                <a:tc>
                  <a:txBody>
                    <a:bodyPr wrap="square"/>
                    <a:lstStyle/>
                    <a:p>
                      <a:pPr algn="ctr"/>
                      <a:r>
                        <a:rPr sz="1100" b="1">
                          <a:solidFill>
                            <a:srgbClr val="059669"/>
                          </a:solidFill>
                          <a:latin typeface="Arial"/>
                        </a:rPr>
                        <a:t>✔ Thẩm định</a:t>
                      </a:r>
                    </a:p>
                    <a:p>
                      <a:pPr algn="ctr"/>
                      <a:r>
                        <a:rPr sz="1100" b="0">
                          <a:solidFill>
                            <a:srgbClr val="059669"/>
                          </a:solidFill>
                          <a:latin typeface="Arial"/>
                        </a:rPr>
                        <a:t>Kiểm duyệt bài viết</a:t>
                      </a:r>
                    </a:p>
                  </a:txBody>
                  <a:tcPr anchor="ctr">
                    <a:solidFill>
                      <a:srgbClr val="FFFFFF"/>
                    </a:solidFill>
                  </a:tcPr>
                </a:tc>
                <a:tc>
                  <a:txBody>
                    <a:bodyPr wrap="square"/>
                    <a:lstStyle/>
                    <a:p>
                      <a:pPr algn="ctr"/>
                      <a:r>
                        <a:rPr sz="1100" b="1">
                          <a:solidFill>
                            <a:srgbClr val="94A3B8"/>
                          </a:solidFill>
                          <a:latin typeface="Arial"/>
                        </a:rPr>
                        <a:t>✖</a:t>
                      </a:r>
                    </a:p>
                    <a:p>
                      <a:pPr algn="ctr"/>
                      <a:r>
                        <a:rPr sz="1100" b="0">
                          <a:solidFill>
                            <a:srgbClr val="94A3B8"/>
                          </a:solidFill>
                          <a:latin typeface="Arial"/>
                        </a:rPr>
                        <a:t>Nộp bài chờ duyệt</a:t>
                      </a:r>
                    </a:p>
                  </a:txBody>
                  <a:tcPr anchor="ctr">
                    <a:solidFill>
                      <a:srgbClr val="FFFFFF"/>
                    </a:solidFill>
                  </a:tcPr>
                </a:tc>
                <a:tc>
                  <a:txBody>
                    <a:bodyPr wrap="square"/>
                    <a:lstStyle/>
                    <a:p>
                      <a:pPr algn="ctr"/>
                      <a:r>
                        <a:rPr sz="1100" b="1">
                          <a:solidFill>
                            <a:srgbClr val="94A3B8"/>
                          </a:solidFill>
                          <a:latin typeface="Arial"/>
                        </a:rPr>
                        <a:t>✖</a:t>
                      </a:r>
                    </a:p>
                    <a:p>
                      <a:pPr algn="ctr"/>
                      <a:r>
                        <a:rPr sz="1100" b="0">
                          <a:solidFill>
                            <a:srgbClr val="94A3B8"/>
                          </a:solidFill>
                          <a:latin typeface="Arial"/>
                        </a:rPr>
                        <a:t>Không phân quyền</a:t>
                      </a:r>
                    </a:p>
                  </a:txBody>
                  <a:tcPr anchor="ctr">
                    <a:solidFill>
                      <a:srgbClr val="FFFFFF"/>
                    </a:solidFill>
                  </a:tcPr>
                </a:tc>
              </a:tr>
              <a:tr h="784860">
                <a:tc>
                  <a:txBody>
                    <a:bodyPr wrap="square"/>
                    <a:lstStyle/>
                    <a:p>
                      <a:pPr algn="l"/>
                      <a:r>
                        <a:rPr sz="1050" b="1">
                          <a:solidFill>
                            <a:srgbClr val="334155"/>
                          </a:solidFill>
                          <a:latin typeface="Arial"/>
                        </a:rPr>
                        <a:t>4. Lập lịch &amp; Đăng bài đa kênh</a:t>
                      </a:r>
                    </a:p>
                    <a:p>
                      <a:pPr algn="l"/>
                      <a:r>
                        <a:rPr sz="1050" b="0">
                          <a:solidFill>
                            <a:srgbClr val="334155"/>
                          </a:solidFill>
                          <a:latin typeface="Arial"/>
                        </a:rPr>
                        <a:t>Hẹn giờ đăng tự động; đồng bộ xuất bản bài viết và hình ảnh lên Fanpage Facebook.</a:t>
                      </a:r>
                    </a:p>
                  </a:txBody>
                  <a:tcPr anchor="ctr">
                    <a:solidFill>
                      <a:srgbClr val="F8FAFC"/>
                    </a:solidFill>
                  </a:tcPr>
                </a:tc>
                <a:tc>
                  <a:txBody>
                    <a:bodyPr wrap="square"/>
                    <a:lstStyle/>
                    <a:p>
                      <a:pPr algn="ctr"/>
                      <a:r>
                        <a:rPr sz="1100" b="1">
                          <a:solidFill>
                            <a:srgbClr val="059669"/>
                          </a:solidFill>
                          <a:latin typeface="Arial"/>
                        </a:rPr>
                        <a:t>✔ Toàn quyền</a:t>
                      </a:r>
                    </a:p>
                    <a:p>
                      <a:pPr algn="ctr"/>
                      <a:r>
                        <a:rPr sz="1100" b="0">
                          <a:solidFill>
                            <a:srgbClr val="059669"/>
                          </a:solidFill>
                          <a:latin typeface="Arial"/>
                        </a:rPr>
                        <a:t>Cấu hình &amp; xuất bản</a:t>
                      </a:r>
                    </a:p>
                  </a:txBody>
                  <a:tcPr anchor="ctr">
                    <a:solidFill>
                      <a:srgbClr val="F8FAFC"/>
                    </a:solidFill>
                  </a:tcPr>
                </a:tc>
                <a:tc>
                  <a:txBody>
                    <a:bodyPr wrap="square"/>
                    <a:lstStyle/>
                    <a:p>
                      <a:pPr algn="ctr"/>
                      <a:r>
                        <a:rPr sz="1100" b="1">
                          <a:solidFill>
                            <a:srgbClr val="059669"/>
                          </a:solidFill>
                          <a:latin typeface="Arial"/>
                        </a:rPr>
                        <a:t>✔ Trực tiếp</a:t>
                      </a:r>
                    </a:p>
                    <a:p>
                      <a:pPr algn="ctr"/>
                      <a:r>
                        <a:rPr sz="1100" b="0">
                          <a:solidFill>
                            <a:srgbClr val="059669"/>
                          </a:solidFill>
                          <a:latin typeface="Arial"/>
                        </a:rPr>
                        <a:t>Lập lịch &amp; Đăng tin</a:t>
                      </a:r>
                    </a:p>
                  </a:txBody>
                  <a:tcPr anchor="ctr">
                    <a:solidFill>
                      <a:srgbClr val="F8FAFC"/>
                    </a:solidFill>
                  </a:tcPr>
                </a:tc>
                <a:tc>
                  <a:txBody>
                    <a:bodyPr wrap="square"/>
                    <a:lstStyle/>
                    <a:p>
                      <a:pPr algn="ctr"/>
                      <a:r>
                        <a:rPr sz="1100" b="1">
                          <a:solidFill>
                            <a:srgbClr val="94A3B8"/>
                          </a:solidFill>
                          <a:latin typeface="Arial"/>
                        </a:rPr>
                        <a:t>✖</a:t>
                      </a:r>
                    </a:p>
                    <a:p>
                      <a:pPr algn="ctr"/>
                      <a:r>
                        <a:rPr sz="1100" b="0">
                          <a:solidFill>
                            <a:srgbClr val="94A3B8"/>
                          </a:solidFill>
                          <a:latin typeface="Arial"/>
                        </a:rPr>
                        <a:t>Không phân quyền</a:t>
                      </a:r>
                    </a:p>
                  </a:txBody>
                  <a:tcPr anchor="ctr">
                    <a:solidFill>
                      <a:srgbClr val="F8FAFC"/>
                    </a:solidFill>
                  </a:tcPr>
                </a:tc>
                <a:tc>
                  <a:txBody>
                    <a:bodyPr wrap="square"/>
                    <a:lstStyle/>
                    <a:p>
                      <a:pPr algn="ctr"/>
                      <a:r>
                        <a:rPr sz="1100" b="1">
                          <a:solidFill>
                            <a:srgbClr val="94A3B8"/>
                          </a:solidFill>
                          <a:latin typeface="Arial"/>
                        </a:rPr>
                        <a:t>✖</a:t>
                      </a:r>
                    </a:p>
                    <a:p>
                      <a:pPr algn="ctr"/>
                      <a:r>
                        <a:rPr sz="1100" b="0">
                          <a:solidFill>
                            <a:srgbClr val="94A3B8"/>
                          </a:solidFill>
                          <a:latin typeface="Arial"/>
                        </a:rPr>
                        <a:t>Không phân quyền</a:t>
                      </a:r>
                    </a:p>
                  </a:txBody>
                  <a:tcPr anchor="ctr">
                    <a:solidFill>
                      <a:srgbClr val="F8FAFC"/>
                    </a:solidFill>
                  </a:tcPr>
                </a:tc>
              </a:tr>
              <a:tr h="784860">
                <a:tc>
                  <a:txBody>
                    <a:bodyPr wrap="square"/>
                    <a:lstStyle/>
                    <a:p>
                      <a:pPr algn="l"/>
                      <a:r>
                        <a:rPr sz="1050" b="1">
                          <a:solidFill>
                            <a:srgbClr val="334155"/>
                          </a:solidFill>
                          <a:latin typeface="Arial"/>
                        </a:rPr>
                        <a:t>5. Quản trị hệ thống &amp; CSDL</a:t>
                      </a:r>
                    </a:p>
                    <a:p>
                      <a:pPr algn="l"/>
                      <a:r>
                        <a:rPr sz="1050" b="0">
                          <a:solidFill>
                            <a:srgbClr val="334155"/>
                          </a:solidFill>
                          <a:latin typeface="Arial"/>
                        </a:rPr>
                        <a:t>Quản lý tài khoản người dùng, cơ cấu 16 Tổ CĐ, cấu hình Token AI, nhật ký hệ thống.</a:t>
                      </a:r>
                    </a:p>
                  </a:txBody>
                  <a:tcPr anchor="ctr">
                    <a:solidFill>
                      <a:srgbClr val="FFFFFF"/>
                    </a:solidFill>
                  </a:tcPr>
                </a:tc>
                <a:tc>
                  <a:txBody>
                    <a:bodyPr wrap="square"/>
                    <a:lstStyle/>
                    <a:p>
                      <a:pPr algn="ctr"/>
                      <a:r>
                        <a:rPr sz="1100" b="1">
                          <a:solidFill>
                            <a:srgbClr val="059669"/>
                          </a:solidFill>
                          <a:latin typeface="Arial"/>
                        </a:rPr>
                        <a:t>✔ Toàn quyền</a:t>
                      </a:r>
                    </a:p>
                    <a:p>
                      <a:pPr algn="ctr"/>
                      <a:r>
                        <a:rPr sz="1100" b="0">
                          <a:solidFill>
                            <a:srgbClr val="059669"/>
                          </a:solidFill>
                          <a:latin typeface="Arial"/>
                        </a:rPr>
                        <a:t>Quản trị hệ thống</a:t>
                      </a:r>
                    </a:p>
                  </a:txBody>
                  <a:tcPr anchor="ctr">
                    <a:solidFill>
                      <a:srgbClr val="FFFFFF"/>
                    </a:solidFill>
                  </a:tcPr>
                </a:tc>
                <a:tc>
                  <a:txBody>
                    <a:bodyPr wrap="square"/>
                    <a:lstStyle/>
                    <a:p>
                      <a:pPr algn="ctr"/>
                      <a:r>
                        <a:rPr sz="1100" b="1">
                          <a:solidFill>
                            <a:srgbClr val="94A3B8"/>
                          </a:solidFill>
                          <a:latin typeface="Arial"/>
                        </a:rPr>
                        <a:t>✖</a:t>
                      </a:r>
                    </a:p>
                    <a:p>
                      <a:pPr algn="ctr"/>
                      <a:r>
                        <a:rPr sz="1100" b="0">
                          <a:solidFill>
                            <a:srgbClr val="94A3B8"/>
                          </a:solidFill>
                          <a:latin typeface="Arial"/>
                        </a:rPr>
                        <a:t>Không phân quyền</a:t>
                      </a:r>
                    </a:p>
                  </a:txBody>
                  <a:tcPr anchor="ctr">
                    <a:solidFill>
                      <a:srgbClr val="FFFFFF"/>
                    </a:solidFill>
                  </a:tcPr>
                </a:tc>
                <a:tc>
                  <a:txBody>
                    <a:bodyPr wrap="square"/>
                    <a:lstStyle/>
                    <a:p>
                      <a:pPr algn="ctr"/>
                      <a:r>
                        <a:rPr sz="1100" b="1">
                          <a:solidFill>
                            <a:srgbClr val="94A3B8"/>
                          </a:solidFill>
                          <a:latin typeface="Arial"/>
                        </a:rPr>
                        <a:t>✖</a:t>
                      </a:r>
                    </a:p>
                    <a:p>
                      <a:pPr algn="ctr"/>
                      <a:r>
                        <a:rPr sz="1100" b="0">
                          <a:solidFill>
                            <a:srgbClr val="94A3B8"/>
                          </a:solidFill>
                          <a:latin typeface="Arial"/>
                        </a:rPr>
                        <a:t>Không phân quyền</a:t>
                      </a:r>
                    </a:p>
                  </a:txBody>
                  <a:tcPr anchor="ctr">
                    <a:solidFill>
                      <a:srgbClr val="FFFFFF"/>
                    </a:solidFill>
                  </a:tcPr>
                </a:tc>
                <a:tc>
                  <a:txBody>
                    <a:bodyPr wrap="square"/>
                    <a:lstStyle/>
                    <a:p>
                      <a:pPr algn="ctr"/>
                      <a:r>
                        <a:rPr sz="1100" b="1">
                          <a:solidFill>
                            <a:srgbClr val="94A3B8"/>
                          </a:solidFill>
                          <a:latin typeface="Arial"/>
                        </a:rPr>
                        <a:t>✖</a:t>
                      </a:r>
                    </a:p>
                    <a:p>
                      <a:pPr algn="ctr"/>
                      <a:r>
                        <a:rPr sz="1100" b="0">
                          <a:solidFill>
                            <a:srgbClr val="94A3B8"/>
                          </a:solidFill>
                          <a:latin typeface="Arial"/>
                        </a:rPr>
                        <a:t>Không phân quyền</a:t>
                      </a:r>
                    </a:p>
                  </a:txBody>
                  <a:tcPr anchor="ctr">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Box 1"/>
          <p:cNvSpPr txBox="1"/>
          <p:nvPr/>
        </p:nvSpPr>
        <p:spPr>
          <a:xfrm>
            <a:off x="594360" y="365760"/>
            <a:ext cx="8686800" cy="256032"/>
          </a:xfrm>
          <a:prstGeom prst="rect">
            <a:avLst/>
          </a:prstGeom>
          <a:noFill/>
        </p:spPr>
        <p:txBody>
          <a:bodyPr wrap="square" lIns="0" rIns="0" tIns="0" bIns="0">
            <a:spAutoFit/>
          </a:bodyPr>
          <a:lstStyle/>
          <a:p>
            <a:pPr>
              <a:defRPr sz="1100" b="1">
                <a:solidFill>
                  <a:srgbClr val="D97706"/>
                </a:solidFill>
                <a:latin typeface="Arial"/>
              </a:defRPr>
            </a:pPr>
            <a:r>
              <a:t>3. PHÂN TÍCH &amp; THIẾT KẾ HỆ THỐNG</a:t>
            </a:r>
          </a:p>
        </p:txBody>
      </p:sp>
      <p:sp>
        <p:nvSpPr>
          <p:cNvPr id="3" name="TextBox 2"/>
          <p:cNvSpPr txBox="1"/>
          <p:nvPr/>
        </p:nvSpPr>
        <p:spPr>
          <a:xfrm>
            <a:off x="594360" y="621792"/>
            <a:ext cx="8961120" cy="457200"/>
          </a:xfrm>
          <a:prstGeom prst="rect">
            <a:avLst/>
          </a:prstGeom>
          <a:noFill/>
        </p:spPr>
        <p:txBody>
          <a:bodyPr wrap="square" lIns="0" rIns="0" tIns="0" bIns="0">
            <a:spAutoFit/>
          </a:bodyPr>
          <a:lstStyle/>
          <a:p>
            <a:pPr>
              <a:defRPr sz="2200" b="1">
                <a:solidFill>
                  <a:srgbClr val="002855"/>
                </a:solidFill>
                <a:latin typeface="Arial"/>
              </a:defRPr>
            </a:pPr>
            <a:r>
              <a:t>Thiết kế cơ sở dữ liệu quan hệ gồm 15 bảng</a:t>
            </a:r>
          </a:p>
        </p:txBody>
      </p:sp>
      <p:sp>
        <p:nvSpPr>
          <p:cNvPr id="4" name="Rectangle 3"/>
          <p:cNvSpPr/>
          <p:nvPr/>
        </p:nvSpPr>
        <p:spPr>
          <a:xfrm>
            <a:off x="59436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4"/>
          <a:stretch>
            <a:fillRect/>
          </a:stretch>
        </p:blipFill>
        <p:spPr>
          <a:xfrm>
            <a:off x="9875520" y="292608"/>
            <a:ext cx="1691640" cy="658368"/>
          </a:xfrm>
          <a:prstGeom prst="rect">
            <a:avLst/>
          </a:prstGeom>
        </p:spPr>
      </p:pic>
      <p:pic>
        <p:nvPicPr>
          <p:cNvPr id="6" name="Picture 5" descr="image21.png"/>
          <p:cNvPicPr>
            <a:picLocks noChangeAspect="1"/>
          </p:cNvPicPr>
          <p:nvPr/>
        </p:nvPicPr>
        <p:blipFill>
          <a:blip r:embed="rId5"/>
          <a:stretch>
            <a:fillRect/>
          </a:stretch>
        </p:blipFill>
        <p:spPr>
          <a:xfrm>
            <a:off x="2934366" y="1325880"/>
            <a:ext cx="6322961" cy="4892040"/>
          </a:xfrm>
          <a:prstGeom prst="rect">
            <a:avLst/>
          </a:prstGeom>
        </p:spPr>
      </p:pic>
      <p:sp>
        <p:nvSpPr>
          <p:cNvPr id="7" name="TextBox 6"/>
          <p:cNvSpPr txBox="1"/>
          <p:nvPr/>
        </p:nvSpPr>
        <p:spPr>
          <a:xfrm>
            <a:off x="594360" y="6291072"/>
            <a:ext cx="11000232" cy="320040"/>
          </a:xfrm>
          <a:prstGeom prst="rect">
            <a:avLst/>
          </a:prstGeom>
          <a:noFill/>
        </p:spPr>
        <p:txBody>
          <a:bodyPr wrap="square" lIns="0" tIns="0">
            <a:spAutoFit/>
          </a:bodyPr>
          <a:lstStyle/>
          <a:p>
            <a:pPr algn="ctr">
              <a:defRPr sz="1100" i="1">
                <a:solidFill>
                  <a:srgbClr val="94A3B8"/>
                </a:solidFill>
                <a:latin typeface="Arial"/>
              </a:defRPr>
            </a:pPr>
            <a:r>
              <a:t>Sơ đồ quan hệ thực thể (ERD) gồm 15 bảng chuẩn hóa 3NF triển khai thực tế trên Microsoft SQL Server 2022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Box 1"/>
          <p:cNvSpPr txBox="1"/>
          <p:nvPr/>
        </p:nvSpPr>
        <p:spPr>
          <a:xfrm>
            <a:off x="594360" y="365760"/>
            <a:ext cx="8686800" cy="256032"/>
          </a:xfrm>
          <a:prstGeom prst="rect">
            <a:avLst/>
          </a:prstGeom>
          <a:noFill/>
        </p:spPr>
        <p:txBody>
          <a:bodyPr wrap="square" lIns="0" rIns="0" tIns="0" bIns="0">
            <a:spAutoFit/>
          </a:bodyPr>
          <a:lstStyle/>
          <a:p>
            <a:pPr>
              <a:defRPr sz="1100" b="1">
                <a:solidFill>
                  <a:srgbClr val="D97706"/>
                </a:solidFill>
                <a:latin typeface="Arial"/>
              </a:defRPr>
            </a:pPr>
            <a:r>
              <a:t>4. CHỨC NĂNG TRỢ LÝ AI</a:t>
            </a:r>
          </a:p>
        </p:txBody>
      </p:sp>
      <p:sp>
        <p:nvSpPr>
          <p:cNvPr id="3" name="TextBox 2"/>
          <p:cNvSpPr txBox="1"/>
          <p:nvPr/>
        </p:nvSpPr>
        <p:spPr>
          <a:xfrm>
            <a:off x="594360" y="621792"/>
            <a:ext cx="8961120" cy="457200"/>
          </a:xfrm>
          <a:prstGeom prst="rect">
            <a:avLst/>
          </a:prstGeom>
          <a:noFill/>
        </p:spPr>
        <p:txBody>
          <a:bodyPr wrap="square" lIns="0" rIns="0" tIns="0" bIns="0">
            <a:spAutoFit/>
          </a:bodyPr>
          <a:lstStyle/>
          <a:p>
            <a:pPr>
              <a:defRPr sz="2200" b="1">
                <a:solidFill>
                  <a:srgbClr val="002855"/>
                </a:solidFill>
                <a:latin typeface="Arial"/>
              </a:defRPr>
            </a:pPr>
            <a:r>
              <a:t>Quy trình kỹ thuật xử lý tài liệu &amp; Cơ chế AI trong hệ thống</a:t>
            </a:r>
          </a:p>
        </p:txBody>
      </p:sp>
      <p:sp>
        <p:nvSpPr>
          <p:cNvPr id="4" name="Rectangle 3"/>
          <p:cNvSpPr/>
          <p:nvPr/>
        </p:nvSpPr>
        <p:spPr>
          <a:xfrm>
            <a:off x="59436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4"/>
          <a:stretch>
            <a:fillRect/>
          </a:stretch>
        </p:blipFill>
        <p:spPr>
          <a:xfrm>
            <a:off x="9875520" y="292608"/>
            <a:ext cx="1691640" cy="658368"/>
          </a:xfrm>
          <a:prstGeom prst="rect">
            <a:avLst/>
          </a:prstGeom>
        </p:spPr>
      </p:pic>
      <p:sp>
        <p:nvSpPr>
          <p:cNvPr id="6" name="TextBox 5"/>
          <p:cNvSpPr txBox="1"/>
          <p:nvPr/>
        </p:nvSpPr>
        <p:spPr>
          <a:xfrm>
            <a:off x="594360" y="1508760"/>
            <a:ext cx="2514600" cy="4846320"/>
          </a:xfrm>
          <a:prstGeom prst="rect">
            <a:avLst/>
          </a:prstGeom>
          <a:noFill/>
        </p:spPr>
        <p:txBody>
          <a:bodyPr wrap="square" lIns="0" tIns="0">
            <a:spAutoFit/>
          </a:bodyPr>
          <a:lstStyle/>
          <a:p>
            <a:pPr>
              <a:spcAft>
                <a:spcPts val="400"/>
              </a:spcAft>
              <a:defRPr sz="1100" b="1">
                <a:solidFill>
                  <a:srgbClr val="0284C7"/>
                </a:solidFill>
                <a:latin typeface="Arial"/>
              </a:defRPr>
            </a:pPr>
            <a:r>
              <a:t>GIAI ĐOẠN 01 ──►</a:t>
            </a:r>
          </a:p>
          <a:p>
            <a:pPr>
              <a:spcAft>
                <a:spcPts val="200"/>
              </a:spcAft>
              <a:defRPr sz="1400" b="1">
                <a:solidFill>
                  <a:srgbClr val="002855"/>
                </a:solidFill>
                <a:latin typeface="Arial"/>
              </a:defRPr>
            </a:pPr>
            <a:r>
              <a:t>Bóc tách tài liệu đa định dạng</a:t>
            </a:r>
          </a:p>
          <a:p>
            <a:pPr>
              <a:spcAft>
                <a:spcPts val="1200"/>
              </a:spcAft>
              <a:defRPr sz="1050" b="1">
                <a:solidFill>
                  <a:srgbClr val="D97706"/>
                </a:solidFill>
                <a:latin typeface="Arial"/>
              </a:defRPr>
            </a:pPr>
            <a:r>
              <a:t>Buffer &amp; Thư viện chuyên dụng</a:t>
            </a:r>
          </a:p>
          <a:p>
            <a:pPr>
              <a:spcAft>
                <a:spcPts val="800"/>
              </a:spcAft>
              <a:defRPr sz="1000">
                <a:solidFill>
                  <a:srgbClr val="334155"/>
                </a:solidFill>
                <a:latin typeface="Arial"/>
              </a:defRPr>
            </a:pPr>
            <a:r>
              <a:t>• Word (.docx): Dùng mammoth chuyển đổi HTML và JSZip bóc tách hình ảnh nhúng.</a:t>
            </a:r>
          </a:p>
          <a:p>
            <a:pPr>
              <a:spcAft>
                <a:spcPts val="800"/>
              </a:spcAft>
              <a:defRPr sz="1000">
                <a:solidFill>
                  <a:srgbClr val="334155"/>
                </a:solidFill>
                <a:latin typeface="Arial"/>
              </a:defRPr>
            </a:pPr>
            <a:r>
              <a:t>• Excel (.xlsx): Dùng SheetJS chuyển đổi các bảng số liệu sang Markdown Table.</a:t>
            </a:r>
          </a:p>
          <a:p>
            <a:pPr>
              <a:spcAft>
                <a:spcPts val="800"/>
              </a:spcAft>
              <a:defRPr sz="1000">
                <a:solidFill>
                  <a:srgbClr val="334155"/>
                </a:solidFill>
                <a:latin typeface="Arial"/>
              </a:defRPr>
            </a:pPr>
            <a:r>
              <a:t>• PDF (.pdf): Dùng pdf-parse trích xuất chữ; quét stream nhị phân bóc tách ảnh.</a:t>
            </a:r>
          </a:p>
        </p:txBody>
      </p:sp>
      <p:sp>
        <p:nvSpPr>
          <p:cNvPr id="7" name="Rectangle 6"/>
          <p:cNvSpPr/>
          <p:nvPr/>
        </p:nvSpPr>
        <p:spPr>
          <a:xfrm>
            <a:off x="3264408" y="1691640"/>
            <a:ext cx="9144" cy="4389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19856" y="1508760"/>
            <a:ext cx="2514600" cy="4846320"/>
          </a:xfrm>
          <a:prstGeom prst="rect">
            <a:avLst/>
          </a:prstGeom>
          <a:noFill/>
        </p:spPr>
        <p:txBody>
          <a:bodyPr wrap="square" lIns="0" tIns="0">
            <a:spAutoFit/>
          </a:bodyPr>
          <a:lstStyle/>
          <a:p>
            <a:pPr>
              <a:spcAft>
                <a:spcPts val="400"/>
              </a:spcAft>
              <a:defRPr sz="1100" b="1">
                <a:solidFill>
                  <a:srgbClr val="0284C7"/>
                </a:solidFill>
                <a:latin typeface="Arial"/>
              </a:defRPr>
            </a:pPr>
            <a:r>
              <a:t>GIAI ĐOẠN 02 ──►</a:t>
            </a:r>
          </a:p>
          <a:p>
            <a:pPr>
              <a:spcAft>
                <a:spcPts val="200"/>
              </a:spcAft>
              <a:defRPr sz="1400" b="1">
                <a:solidFill>
                  <a:srgbClr val="002855"/>
                </a:solidFill>
                <a:latin typeface="Arial"/>
              </a:defRPr>
            </a:pPr>
            <a:r>
              <a:t>Làm sạch &amp; Chuẩn hóa Unicode</a:t>
            </a:r>
          </a:p>
          <a:p>
            <a:pPr>
              <a:spcAft>
                <a:spcPts val="1200"/>
              </a:spcAft>
              <a:defRPr sz="1050" b="1">
                <a:solidFill>
                  <a:srgbClr val="D97706"/>
                </a:solidFill>
                <a:latin typeface="Arial"/>
              </a:defRPr>
            </a:pPr>
            <a:r>
              <a:t>Xử lý phông chữ tiếng Việt</a:t>
            </a:r>
          </a:p>
          <a:p>
            <a:pPr>
              <a:spcAft>
                <a:spcPts val="800"/>
              </a:spcAft>
              <a:defRPr sz="1000">
                <a:solidFill>
                  <a:srgbClr val="334155"/>
                </a:solidFill>
                <a:latin typeface="Arial"/>
              </a:defRPr>
            </a:pPr>
            <a:r>
              <a:t>• Chuẩn hóa Unicode NFC: Tự động sửa lỗi gõ dấu tổ hợp (NFD) từ các tài liệu cũ.</a:t>
            </a:r>
          </a:p>
          <a:p>
            <a:pPr>
              <a:spcAft>
                <a:spcPts val="800"/>
              </a:spcAft>
              <a:defRPr sz="1000">
                <a:solidFill>
                  <a:srgbClr val="334155"/>
                </a:solidFill>
                <a:latin typeface="Arial"/>
              </a:defRPr>
            </a:pPr>
            <a:r>
              <a:t>• Lọc nhiễu dữ liệu: Gỡ bỏ ký tự điều khiển hệ thống, số trang lặp lại vô nghĩa.</a:t>
            </a:r>
          </a:p>
          <a:p>
            <a:pPr>
              <a:spcAft>
                <a:spcPts val="800"/>
              </a:spcAft>
              <a:defRPr sz="1000">
                <a:solidFill>
                  <a:srgbClr val="334155"/>
                </a:solidFill>
                <a:latin typeface="Arial"/>
              </a:defRPr>
            </a:pPr>
            <a:r>
              <a:t>• Nối từ ngắt dòng: Ghép liền các từ bị ngắt dòng do dấu gạch nối (ví dụ: hoạt- động).</a:t>
            </a:r>
          </a:p>
        </p:txBody>
      </p:sp>
      <p:sp>
        <p:nvSpPr>
          <p:cNvPr id="9" name="Rectangle 8"/>
          <p:cNvSpPr/>
          <p:nvPr/>
        </p:nvSpPr>
        <p:spPr>
          <a:xfrm>
            <a:off x="6089904" y="1691640"/>
            <a:ext cx="9144" cy="4389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45352" y="1508760"/>
            <a:ext cx="2514600" cy="4846320"/>
          </a:xfrm>
          <a:prstGeom prst="rect">
            <a:avLst/>
          </a:prstGeom>
          <a:noFill/>
        </p:spPr>
        <p:txBody>
          <a:bodyPr wrap="square" lIns="0" tIns="0">
            <a:spAutoFit/>
          </a:bodyPr>
          <a:lstStyle/>
          <a:p>
            <a:pPr>
              <a:spcAft>
                <a:spcPts val="400"/>
              </a:spcAft>
              <a:defRPr sz="1100" b="1">
                <a:solidFill>
                  <a:srgbClr val="0284C7"/>
                </a:solidFill>
                <a:latin typeface="Arial"/>
              </a:defRPr>
            </a:pPr>
            <a:r>
              <a:t>GIAI ĐOẠN 03 ──►</a:t>
            </a:r>
          </a:p>
          <a:p>
            <a:pPr>
              <a:spcAft>
                <a:spcPts val="200"/>
              </a:spcAft>
              <a:defRPr sz="1400" b="1">
                <a:solidFill>
                  <a:srgbClr val="002855"/>
                </a:solidFill>
                <a:latin typeface="Arial"/>
              </a:defRPr>
            </a:pPr>
            <a:r>
              <a:t>Trích xuất thực thể &amp; Vision OCR</a:t>
            </a:r>
          </a:p>
          <a:p>
            <a:pPr>
              <a:spcAft>
                <a:spcPts val="1200"/>
              </a:spcAft>
              <a:defRPr sz="1050" b="1">
                <a:solidFill>
                  <a:srgbClr val="D97706"/>
                </a:solidFill>
                <a:latin typeface="Arial"/>
              </a:defRPr>
            </a:pPr>
            <a:r>
              <a:t>Regex Heuristics &amp; Multimodal AI</a:t>
            </a:r>
          </a:p>
          <a:p>
            <a:pPr>
              <a:spcAft>
                <a:spcPts val="800"/>
              </a:spcAft>
              <a:defRPr sz="1000">
                <a:solidFill>
                  <a:srgbClr val="334155"/>
                </a:solidFill>
                <a:latin typeface="Arial"/>
              </a:defRPr>
            </a:pPr>
            <a:r>
              <a:t>• Bóc tách thông tin then chốt: Dùng Regex quét nhanh ngày giờ, địa điểm, thành phần.</a:t>
            </a:r>
          </a:p>
          <a:p>
            <a:pPr>
              <a:spcAft>
                <a:spcPts val="800"/>
              </a:spcAft>
              <a:defRPr sz="1000">
                <a:solidFill>
                  <a:srgbClr val="334155"/>
                </a:solidFill>
                <a:latin typeface="Arial"/>
              </a:defRPr>
            </a:pPr>
            <a:r>
              <a:t>• Backdrop OCR: Gửi ảnh Base64 lên Gemini Vision nhận diện chữ trên phông nền sự kiện.</a:t>
            </a:r>
          </a:p>
          <a:p>
            <a:pPr>
              <a:spcAft>
                <a:spcPts val="800"/>
              </a:spcAft>
              <a:defRPr sz="1000">
                <a:solidFill>
                  <a:srgbClr val="334155"/>
                </a:solidFill>
                <a:latin typeface="Arial"/>
              </a:defRPr>
            </a:pPr>
            <a:r>
              <a:t>• Tự động sinh câu chú thích ảnh báo chí trung thực từ 15–25 từ bằng tiếng Việt.</a:t>
            </a:r>
          </a:p>
        </p:txBody>
      </p:sp>
      <p:sp>
        <p:nvSpPr>
          <p:cNvPr id="11" name="Rectangle 10"/>
          <p:cNvSpPr/>
          <p:nvPr/>
        </p:nvSpPr>
        <p:spPr>
          <a:xfrm>
            <a:off x="8915400" y="1691640"/>
            <a:ext cx="9144" cy="4389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70848" y="1508760"/>
            <a:ext cx="2514600" cy="4846320"/>
          </a:xfrm>
          <a:prstGeom prst="rect">
            <a:avLst/>
          </a:prstGeom>
          <a:noFill/>
        </p:spPr>
        <p:txBody>
          <a:bodyPr wrap="square" lIns="0" tIns="0">
            <a:spAutoFit/>
          </a:bodyPr>
          <a:lstStyle/>
          <a:p>
            <a:pPr>
              <a:spcAft>
                <a:spcPts val="400"/>
              </a:spcAft>
              <a:defRPr sz="1100" b="1">
                <a:solidFill>
                  <a:srgbClr val="002855"/>
                </a:solidFill>
                <a:latin typeface="Arial"/>
              </a:defRPr>
            </a:pPr>
            <a:r>
              <a:t>GIAI ĐOẠN 04</a:t>
            </a:r>
          </a:p>
          <a:p>
            <a:pPr>
              <a:spcAft>
                <a:spcPts val="200"/>
              </a:spcAft>
              <a:defRPr sz="1400" b="1">
                <a:solidFill>
                  <a:srgbClr val="002855"/>
                </a:solidFill>
                <a:latin typeface="Arial"/>
              </a:defRPr>
            </a:pPr>
            <a:r>
              <a:t>Cơ chế chịu lỗi &amp; Dự phòng</a:t>
            </a:r>
          </a:p>
          <a:p>
            <a:pPr>
              <a:spcAft>
                <a:spcPts val="1200"/>
              </a:spcAft>
              <a:defRPr sz="1050" b="1">
                <a:solidFill>
                  <a:srgbClr val="D97706"/>
                </a:solidFill>
                <a:latin typeface="Arial"/>
              </a:defRPr>
            </a:pPr>
            <a:r>
              <a:t>Multi-model Failover &amp; Groq Cloud</a:t>
            </a:r>
          </a:p>
          <a:p>
            <a:pPr>
              <a:spcAft>
                <a:spcPts val="800"/>
              </a:spcAft>
              <a:defRPr sz="1000">
                <a:solidFill>
                  <a:srgbClr val="334155"/>
                </a:solidFill>
                <a:latin typeface="Arial"/>
              </a:defRPr>
            </a:pPr>
            <a:r>
              <a:t>• Tự động luân chuyển mô hình khi API bận: Gemini 2.5 Flash ──► 2.0 Flash ──► 1.5 Flash.</a:t>
            </a:r>
          </a:p>
          <a:p>
            <a:pPr>
              <a:spcAft>
                <a:spcPts val="800"/>
              </a:spcAft>
              <a:defRPr sz="1000">
                <a:solidFill>
                  <a:srgbClr val="334155"/>
                </a:solidFill>
                <a:latin typeface="Arial"/>
              </a:defRPr>
            </a:pPr>
            <a:r>
              <a:t>• Dự phòng qua Groq Cloud: Chuyển đổi sang mô hình Qwen / LLaMA tốc độ cao khi dịch vụ Google gián đoạn.</a:t>
            </a:r>
          </a:p>
          <a:p>
            <a:pPr>
              <a:spcAft>
                <a:spcPts val="800"/>
              </a:spcAft>
              <a:defRPr sz="1000">
                <a:solidFill>
                  <a:srgbClr val="334155"/>
                </a:solidFill>
                <a:latin typeface="Arial"/>
              </a:defRPr>
            </a:pPr>
            <a:r>
              <a:t>• Kiểm soát cấu trúc: Trích xuất và xác thực JSON an toàn trước khi trả về trình soạn thảo.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Box 1"/>
          <p:cNvSpPr txBox="1"/>
          <p:nvPr/>
        </p:nvSpPr>
        <p:spPr>
          <a:xfrm>
            <a:off x="594360" y="365760"/>
            <a:ext cx="8686800" cy="256032"/>
          </a:xfrm>
          <a:prstGeom prst="rect">
            <a:avLst/>
          </a:prstGeom>
          <a:noFill/>
        </p:spPr>
        <p:txBody>
          <a:bodyPr wrap="square" lIns="0" rIns="0" tIns="0" bIns="0">
            <a:spAutoFit/>
          </a:bodyPr>
          <a:lstStyle/>
          <a:p>
            <a:pPr>
              <a:defRPr sz="1100" b="1">
                <a:solidFill>
                  <a:srgbClr val="D97706"/>
                </a:solidFill>
                <a:latin typeface="Arial"/>
              </a:defRPr>
            </a:pPr>
            <a:r>
              <a:t>5. DEMO KẾT QUẢ</a:t>
            </a:r>
          </a:p>
        </p:txBody>
      </p:sp>
      <p:sp>
        <p:nvSpPr>
          <p:cNvPr id="3" name="TextBox 2"/>
          <p:cNvSpPr txBox="1"/>
          <p:nvPr/>
        </p:nvSpPr>
        <p:spPr>
          <a:xfrm>
            <a:off x="594360" y="621792"/>
            <a:ext cx="8961120" cy="457200"/>
          </a:xfrm>
          <a:prstGeom prst="rect">
            <a:avLst/>
          </a:prstGeom>
          <a:noFill/>
        </p:spPr>
        <p:txBody>
          <a:bodyPr wrap="square" lIns="0" rIns="0" tIns="0" bIns="0">
            <a:spAutoFit/>
          </a:bodyPr>
          <a:lstStyle/>
          <a:p>
            <a:pPr>
              <a:defRPr sz="2200" b="1">
                <a:solidFill>
                  <a:srgbClr val="002855"/>
                </a:solidFill>
                <a:latin typeface="Arial"/>
              </a:defRPr>
            </a:pPr>
            <a:r>
              <a:t>Giao diện Cổng thông tin đoàn viên</a:t>
            </a:r>
          </a:p>
        </p:txBody>
      </p:sp>
      <p:sp>
        <p:nvSpPr>
          <p:cNvPr id="4" name="Rectangle 3"/>
          <p:cNvSpPr/>
          <p:nvPr/>
        </p:nvSpPr>
        <p:spPr>
          <a:xfrm>
            <a:off x="59436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6"/>
          <a:stretch>
            <a:fillRect/>
          </a:stretch>
        </p:blipFill>
        <p:spPr>
          <a:xfrm>
            <a:off x="9875520" y="292608"/>
            <a:ext cx="1691640" cy="658368"/>
          </a:xfrm>
          <a:prstGeom prst="rect">
            <a:avLst/>
          </a:prstGeom>
        </p:spPr>
      </p:pic>
      <p:pic>
        <p:nvPicPr>
          <p:cNvPr id="6" name="Picture 5" descr="image22.png"/>
          <p:cNvPicPr>
            <a:picLocks noChangeAspect="1"/>
          </p:cNvPicPr>
          <p:nvPr/>
        </p:nvPicPr>
        <p:blipFill>
          <a:blip r:embed="rId7"/>
          <a:stretch>
            <a:fillRect/>
          </a:stretch>
        </p:blipFill>
        <p:spPr>
          <a:xfrm>
            <a:off x="594360" y="1417320"/>
            <a:ext cx="5669280" cy="2807208"/>
          </a:xfrm>
          <a:prstGeom prst="rect">
            <a:avLst/>
          </a:prstGeom>
        </p:spPr>
      </p:pic>
      <p:sp>
        <p:nvSpPr>
          <p:cNvPr id="7" name="TextBox 6"/>
          <p:cNvSpPr txBox="1"/>
          <p:nvPr/>
        </p:nvSpPr>
        <p:spPr>
          <a:xfrm>
            <a:off x="594360" y="4334256"/>
            <a:ext cx="5669280" cy="1645920"/>
          </a:xfrm>
          <a:prstGeom prst="rect">
            <a:avLst/>
          </a:prstGeom>
          <a:noFill/>
        </p:spPr>
        <p:txBody>
          <a:bodyPr wrap="square" lIns="0" tIns="0">
            <a:spAutoFit/>
          </a:bodyPr>
          <a:lstStyle/>
          <a:p>
            <a:pPr>
              <a:spcAft>
                <a:spcPts val="300"/>
              </a:spcAft>
              <a:defRPr sz="1200" b="1">
                <a:solidFill>
                  <a:srgbClr val="002855"/>
                </a:solidFill>
                <a:latin typeface="Arial"/>
              </a:defRPr>
            </a:pPr>
            <a:r>
              <a:t>Trang chủ Cổng thông tin Công đoàn TDMU</a:t>
            </a:r>
          </a:p>
          <a:p>
            <a:pPr>
              <a:spcAft>
                <a:spcPts val="200"/>
              </a:spcAft>
              <a:defRPr sz="1000">
                <a:solidFill>
                  <a:srgbClr val="334155"/>
                </a:solidFill>
                <a:latin typeface="Arial"/>
              </a:defRPr>
            </a:pPr>
            <a:r>
              <a:t>• Chuẩn nhận diện thương hiệu TDMU, tích hợp menu điều hướng đa chuyên mục phong trào.</a:t>
            </a:r>
          </a:p>
          <a:p>
            <a:pPr>
              <a:defRPr sz="1000">
                <a:solidFill>
                  <a:srgbClr val="334155"/>
                </a:solidFill>
                <a:latin typeface="Arial"/>
              </a:defRPr>
            </a:pPr>
            <a:r>
              <a:t>• Banner sự kiện nổi bật và luồng tin tức phong trào cập nhật thời gian thực từ CSDL.</a:t>
            </a:r>
          </a:p>
        </p:txBody>
      </p:sp>
      <p:pic>
        <p:nvPicPr>
          <p:cNvPr id="8" name="Picture 7" descr="image24.png"/>
          <p:cNvPicPr>
            <a:picLocks noChangeAspect="1"/>
          </p:cNvPicPr>
          <p:nvPr/>
        </p:nvPicPr>
        <p:blipFill>
          <a:blip r:embed="rId8"/>
          <a:stretch>
            <a:fillRect/>
          </a:stretch>
        </p:blipFill>
        <p:spPr>
          <a:xfrm>
            <a:off x="6656832" y="1417320"/>
            <a:ext cx="4937760" cy="2852928"/>
          </a:xfrm>
          <a:prstGeom prst="rect">
            <a:avLst/>
          </a:prstGeom>
        </p:spPr>
      </p:pic>
      <p:sp>
        <p:nvSpPr>
          <p:cNvPr id="9" name="TextBox 8"/>
          <p:cNvSpPr txBox="1"/>
          <p:nvPr/>
        </p:nvSpPr>
        <p:spPr>
          <a:xfrm>
            <a:off x="6656832" y="4379976"/>
            <a:ext cx="4937760" cy="1645920"/>
          </a:xfrm>
          <a:prstGeom prst="rect">
            <a:avLst/>
          </a:prstGeom>
          <a:noFill/>
        </p:spPr>
        <p:txBody>
          <a:bodyPr wrap="square" lIns="0" tIns="0">
            <a:spAutoFit/>
          </a:bodyPr>
          <a:lstStyle/>
          <a:p>
            <a:pPr>
              <a:spcAft>
                <a:spcPts val="300"/>
              </a:spcAft>
              <a:defRPr sz="1200" b="1">
                <a:solidFill>
                  <a:srgbClr val="002855"/>
                </a:solidFill>
                <a:latin typeface="Arial"/>
              </a:defRPr>
            </a:pPr>
            <a:r>
              <a:t>Trang Chi tiết bài viết &amp; Tương tác độc giả</a:t>
            </a:r>
          </a:p>
          <a:p>
            <a:pPr>
              <a:spcAft>
                <a:spcPts val="200"/>
              </a:spcAft>
              <a:defRPr sz="1000">
                <a:solidFill>
                  <a:srgbClr val="334155"/>
                </a:solidFill>
                <a:latin typeface="Arial"/>
              </a:defRPr>
            </a:pPr>
            <a:r>
              <a:t>• Toàn văn nội dung tin bài, tích hợp phát thanh bản tin trực tuyến tự động (Audio TTS).</a:t>
            </a:r>
          </a:p>
          <a:p>
            <a:pPr>
              <a:defRPr sz="1000">
                <a:solidFill>
                  <a:srgbClr val="334155"/>
                </a:solidFill>
                <a:latin typeface="Arial"/>
              </a:defRPr>
            </a:pPr>
            <a:r>
              <a:t>• Tải văn bản biểu mẫu đính kèm (.docx, .pdf) và theo dõi danh mục bài viết đọc nhiều nhất.</a:t>
            </a:r>
          </a:p>
        </p:txBody>
      </p:sp>
      <p:sp>
        <p:nvSpPr>
          <p:cNvPr id="10" name="Rectangle 9"/>
          <p:cNvSpPr/>
          <p:nvPr/>
        </p:nvSpPr>
        <p:spPr>
          <a:xfrm>
            <a:off x="6455664" y="1600200"/>
            <a:ext cx="9144" cy="4389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Box 1"/>
          <p:cNvSpPr txBox="1"/>
          <p:nvPr/>
        </p:nvSpPr>
        <p:spPr>
          <a:xfrm>
            <a:off x="594360" y="365760"/>
            <a:ext cx="8686800" cy="256032"/>
          </a:xfrm>
          <a:prstGeom prst="rect">
            <a:avLst/>
          </a:prstGeom>
          <a:noFill/>
        </p:spPr>
        <p:txBody>
          <a:bodyPr wrap="square" lIns="0" rIns="0" tIns="0" bIns="0">
            <a:spAutoFit/>
          </a:bodyPr>
          <a:lstStyle/>
          <a:p>
            <a:pPr>
              <a:defRPr sz="1100" b="1">
                <a:solidFill>
                  <a:srgbClr val="D97706"/>
                </a:solidFill>
                <a:latin typeface="Arial"/>
              </a:defRPr>
            </a:pPr>
            <a:r>
              <a:t>5. DEMO KẾT QUẢ</a:t>
            </a:r>
          </a:p>
        </p:txBody>
      </p:sp>
      <p:sp>
        <p:nvSpPr>
          <p:cNvPr id="3" name="TextBox 2"/>
          <p:cNvSpPr txBox="1"/>
          <p:nvPr/>
        </p:nvSpPr>
        <p:spPr>
          <a:xfrm>
            <a:off x="594360" y="621792"/>
            <a:ext cx="8961120" cy="457200"/>
          </a:xfrm>
          <a:prstGeom prst="rect">
            <a:avLst/>
          </a:prstGeom>
          <a:noFill/>
        </p:spPr>
        <p:txBody>
          <a:bodyPr wrap="square" lIns="0" rIns="0" tIns="0" bIns="0">
            <a:spAutoFit/>
          </a:bodyPr>
          <a:lstStyle/>
          <a:p>
            <a:pPr>
              <a:defRPr sz="2200" b="1">
                <a:solidFill>
                  <a:srgbClr val="002855"/>
                </a:solidFill>
                <a:latin typeface="Arial"/>
              </a:defRPr>
            </a:pPr>
            <a:r>
              <a:t>Phân hệ Quản trị bài viết &amp; Trợ lý AI</a:t>
            </a:r>
          </a:p>
        </p:txBody>
      </p:sp>
      <p:sp>
        <p:nvSpPr>
          <p:cNvPr id="4" name="Rectangle 3"/>
          <p:cNvSpPr/>
          <p:nvPr/>
        </p:nvSpPr>
        <p:spPr>
          <a:xfrm>
            <a:off x="59436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6"/>
          <a:stretch>
            <a:fillRect/>
          </a:stretch>
        </p:blipFill>
        <p:spPr>
          <a:xfrm>
            <a:off x="9875520" y="292608"/>
            <a:ext cx="1691640" cy="658368"/>
          </a:xfrm>
          <a:prstGeom prst="rect">
            <a:avLst/>
          </a:prstGeom>
        </p:spPr>
      </p:pic>
      <p:pic>
        <p:nvPicPr>
          <p:cNvPr id="6" name="Picture 5" descr="image31.png"/>
          <p:cNvPicPr>
            <a:picLocks noChangeAspect="1"/>
          </p:cNvPicPr>
          <p:nvPr/>
        </p:nvPicPr>
        <p:blipFill>
          <a:blip r:embed="rId7"/>
          <a:stretch>
            <a:fillRect/>
          </a:stretch>
        </p:blipFill>
        <p:spPr>
          <a:xfrm>
            <a:off x="594360" y="1417320"/>
            <a:ext cx="5669280" cy="2816352"/>
          </a:xfrm>
          <a:prstGeom prst="rect">
            <a:avLst/>
          </a:prstGeom>
        </p:spPr>
      </p:pic>
      <p:sp>
        <p:nvSpPr>
          <p:cNvPr id="7" name="TextBox 6"/>
          <p:cNvSpPr txBox="1"/>
          <p:nvPr/>
        </p:nvSpPr>
        <p:spPr>
          <a:xfrm>
            <a:off x="594360" y="4343400"/>
            <a:ext cx="5669280" cy="1645920"/>
          </a:xfrm>
          <a:prstGeom prst="rect">
            <a:avLst/>
          </a:prstGeom>
          <a:noFill/>
        </p:spPr>
        <p:txBody>
          <a:bodyPr wrap="square" lIns="0" tIns="0">
            <a:spAutoFit/>
          </a:bodyPr>
          <a:lstStyle/>
          <a:p>
            <a:pPr>
              <a:spcAft>
                <a:spcPts val="300"/>
              </a:spcAft>
              <a:defRPr sz="1200" b="1">
                <a:solidFill>
                  <a:srgbClr val="002855"/>
                </a:solidFill>
                <a:latin typeface="Arial"/>
              </a:defRPr>
            </a:pPr>
            <a:r>
              <a:t>Phòng Biên tập Đa kênh AI Studio</a:t>
            </a:r>
          </a:p>
          <a:p>
            <a:pPr>
              <a:spcAft>
                <a:spcPts val="200"/>
              </a:spcAft>
              <a:defRPr sz="1000">
                <a:solidFill>
                  <a:srgbClr val="334155"/>
                </a:solidFill>
                <a:latin typeface="Arial"/>
              </a:defRPr>
            </a:pPr>
            <a:r>
              <a:t>• Nạp tài liệu đa định dạng (.docx, .pdf, .xlsx); AI đọc kế hoạch và lập bài tự động.</a:t>
            </a:r>
          </a:p>
          <a:p>
            <a:pPr>
              <a:defRPr sz="1000">
                <a:solidFill>
                  <a:srgbClr val="334155"/>
                </a:solidFill>
                <a:latin typeface="Arial"/>
              </a:defRPr>
            </a:pPr>
            <a:r>
              <a:t>• Nhận diện phông nền (Backdrop OCR) từ ảnh sự kiện, tự động tạo chú thích báo chí.</a:t>
            </a:r>
          </a:p>
        </p:txBody>
      </p:sp>
      <p:pic>
        <p:nvPicPr>
          <p:cNvPr id="8" name="Picture 7" descr="image29.png"/>
          <p:cNvPicPr>
            <a:picLocks noChangeAspect="1"/>
          </p:cNvPicPr>
          <p:nvPr/>
        </p:nvPicPr>
        <p:blipFill>
          <a:blip r:embed="rId8"/>
          <a:stretch>
            <a:fillRect/>
          </a:stretch>
        </p:blipFill>
        <p:spPr>
          <a:xfrm>
            <a:off x="6656832" y="1417320"/>
            <a:ext cx="4937760" cy="2852928"/>
          </a:xfrm>
          <a:prstGeom prst="rect">
            <a:avLst/>
          </a:prstGeom>
        </p:spPr>
      </p:pic>
      <p:sp>
        <p:nvSpPr>
          <p:cNvPr id="9" name="TextBox 8"/>
          <p:cNvSpPr txBox="1"/>
          <p:nvPr/>
        </p:nvSpPr>
        <p:spPr>
          <a:xfrm>
            <a:off x="6656832" y="4379976"/>
            <a:ext cx="4937760" cy="1645920"/>
          </a:xfrm>
          <a:prstGeom prst="rect">
            <a:avLst/>
          </a:prstGeom>
          <a:noFill/>
        </p:spPr>
        <p:txBody>
          <a:bodyPr wrap="square" lIns="0" tIns="0">
            <a:spAutoFit/>
          </a:bodyPr>
          <a:lstStyle/>
          <a:p>
            <a:pPr>
              <a:spcAft>
                <a:spcPts val="300"/>
              </a:spcAft>
              <a:defRPr sz="1200" b="1">
                <a:solidFill>
                  <a:srgbClr val="002855"/>
                </a:solidFill>
                <a:latin typeface="Arial"/>
              </a:defRPr>
            </a:pPr>
            <a:r>
              <a:t>Bảng Điều hành &amp; Giám sát Xuất bản Đa kênh</a:t>
            </a:r>
          </a:p>
          <a:p>
            <a:pPr>
              <a:spcAft>
                <a:spcPts val="200"/>
              </a:spcAft>
              <a:defRPr sz="1000">
                <a:solidFill>
                  <a:srgbClr val="334155"/>
                </a:solidFill>
                <a:latin typeface="Arial"/>
              </a:defRPr>
            </a:pPr>
            <a:r>
              <a:t>• Theo dõi 4 chỉ số KPI vòng đời tin bài và hàng đợi kiểm duyệt bài viết của 16 Tổ CĐ.</a:t>
            </a:r>
          </a:p>
          <a:p>
            <a:pPr>
              <a:defRPr sz="1000">
                <a:solidFill>
                  <a:srgbClr val="334155"/>
                </a:solidFill>
                <a:latin typeface="Arial"/>
              </a:defRPr>
            </a:pPr>
            <a:r>
              <a:t>• Thống kê trực quan hiệu quả tiếp cận đồng bộ trên Website, Fanpage Facebook và Zalo OA.</a:t>
            </a:r>
          </a:p>
        </p:txBody>
      </p:sp>
      <p:sp>
        <p:nvSpPr>
          <p:cNvPr id="10" name="Rectangle 9"/>
          <p:cNvSpPr/>
          <p:nvPr/>
        </p:nvSpPr>
        <p:spPr>
          <a:xfrm>
            <a:off x="6455664" y="1600200"/>
            <a:ext cx="9144" cy="4389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Box 1"/>
          <p:cNvSpPr txBox="1"/>
          <p:nvPr/>
        </p:nvSpPr>
        <p:spPr>
          <a:xfrm>
            <a:off x="594360" y="365760"/>
            <a:ext cx="8686800" cy="256032"/>
          </a:xfrm>
          <a:prstGeom prst="rect">
            <a:avLst/>
          </a:prstGeom>
          <a:noFill/>
        </p:spPr>
        <p:txBody>
          <a:bodyPr wrap="square" lIns="0" rIns="0" tIns="0" bIns="0">
            <a:spAutoFit/>
          </a:bodyPr>
          <a:lstStyle/>
          <a:p>
            <a:pPr>
              <a:defRPr sz="1100" b="1">
                <a:solidFill>
                  <a:srgbClr val="D97706"/>
                </a:solidFill>
                <a:latin typeface="Arial"/>
              </a:defRPr>
            </a:pPr>
            <a:r>
              <a:t>6. KẾT LUẬN &amp; ĐỊNH HƯỚNG PHÁT TRIỂN</a:t>
            </a:r>
          </a:p>
        </p:txBody>
      </p:sp>
      <p:sp>
        <p:nvSpPr>
          <p:cNvPr id="3" name="TextBox 2"/>
          <p:cNvSpPr txBox="1"/>
          <p:nvPr/>
        </p:nvSpPr>
        <p:spPr>
          <a:xfrm>
            <a:off x="594360" y="621792"/>
            <a:ext cx="8961120" cy="457200"/>
          </a:xfrm>
          <a:prstGeom prst="rect">
            <a:avLst/>
          </a:prstGeom>
          <a:noFill/>
        </p:spPr>
        <p:txBody>
          <a:bodyPr wrap="square" lIns="0" rIns="0" tIns="0" bIns="0">
            <a:spAutoFit/>
          </a:bodyPr>
          <a:lstStyle/>
          <a:p>
            <a:pPr>
              <a:defRPr sz="2200" b="1">
                <a:solidFill>
                  <a:srgbClr val="002855"/>
                </a:solidFill>
                <a:latin typeface="Arial"/>
              </a:defRPr>
            </a:pPr>
            <a:r>
              <a:t>Đánh giá kết quả đạt được &amp; Định hướng phát triển</a:t>
            </a:r>
          </a:p>
        </p:txBody>
      </p:sp>
      <p:sp>
        <p:nvSpPr>
          <p:cNvPr id="4" name="Rectangle 3"/>
          <p:cNvSpPr/>
          <p:nvPr/>
        </p:nvSpPr>
        <p:spPr>
          <a:xfrm>
            <a:off x="594360" y="1115568"/>
            <a:ext cx="105156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3"/>
          <a:stretch>
            <a:fillRect/>
          </a:stretch>
        </p:blipFill>
        <p:spPr>
          <a:xfrm>
            <a:off x="9875520" y="292608"/>
            <a:ext cx="1691640" cy="658368"/>
          </a:xfrm>
          <a:prstGeom prst="rect">
            <a:avLst/>
          </a:prstGeom>
        </p:spPr>
      </p:pic>
      <p:sp>
        <p:nvSpPr>
          <p:cNvPr id="6" name="TextBox 5"/>
          <p:cNvSpPr txBox="1"/>
          <p:nvPr/>
        </p:nvSpPr>
        <p:spPr>
          <a:xfrm>
            <a:off x="594360" y="1508760"/>
            <a:ext cx="5257800" cy="4846320"/>
          </a:xfrm>
          <a:prstGeom prst="rect">
            <a:avLst/>
          </a:prstGeom>
          <a:noFill/>
        </p:spPr>
        <p:txBody>
          <a:bodyPr wrap="square" lIns="0" tIns="0">
            <a:spAutoFit/>
          </a:bodyPr>
          <a:lstStyle/>
          <a:p>
            <a:pPr>
              <a:spcAft>
                <a:spcPts val="1400"/>
              </a:spcAft>
              <a:defRPr sz="1600" b="1">
                <a:solidFill>
                  <a:srgbClr val="002855"/>
                </a:solidFill>
                <a:latin typeface="Arial"/>
              </a:defRPr>
            </a:pPr>
            <a:r>
              <a:t>KẾT QUẢ ĐẠT ĐƯỢC CỦA ĐỀ TÀI</a:t>
            </a:r>
          </a:p>
          <a:p>
            <a:pPr>
              <a:spcAft>
                <a:spcPts val="200"/>
              </a:spcAft>
              <a:defRPr sz="1150" b="1">
                <a:solidFill>
                  <a:srgbClr val="002855"/>
                </a:solidFill>
                <a:latin typeface="Arial"/>
              </a:defRPr>
            </a:pPr>
            <a:r>
              <a:t>• Xây dựng hoàn thiện Cổng thông tin &amp; Hệ thống CMS</a:t>
            </a:r>
          </a:p>
          <a:p>
            <a:pPr>
              <a:spcAft>
                <a:spcPts val="1000"/>
              </a:spcAft>
              <a:defRPr sz="1050">
                <a:solidFill>
                  <a:srgbClr val="334155"/>
                </a:solidFill>
                <a:latin typeface="Arial"/>
              </a:defRPr>
            </a:pPr>
            <a:r>
              <a:t>Hoàn thiện Website Cổng thông tin đoàn viên và phân hệ quản trị bài viết, vận hành ổn định trên môi trường thử nghiệm.</a:t>
            </a:r>
          </a:p>
          <a:p>
            <a:pPr>
              <a:spcAft>
                <a:spcPts val="200"/>
              </a:spcAft>
              <a:defRPr sz="1150" b="1">
                <a:solidFill>
                  <a:srgbClr val="002855"/>
                </a:solidFill>
                <a:latin typeface="Arial"/>
              </a:defRPr>
            </a:pPr>
            <a:r>
              <a:t>• Trợ lý AI đọc tài liệu &amp; tự động viết bài hoàn chỉnh</a:t>
            </a:r>
          </a:p>
          <a:p>
            <a:pPr>
              <a:spcAft>
                <a:spcPts val="1000"/>
              </a:spcAft>
              <a:defRPr sz="1050">
                <a:solidFill>
                  <a:srgbClr val="334155"/>
                </a:solidFill>
                <a:latin typeface="Arial"/>
              </a:defRPr>
            </a:pPr>
            <a:r>
              <a:t>Ứng dụng Google Gemini AI đọc file kế hoạch sự kiện (.docx, .xlsx, .pdf) để trích xuất thông tin, viết bài tin tức và gợi ý tiêu đề.</a:t>
            </a:r>
          </a:p>
          <a:p>
            <a:pPr>
              <a:spcAft>
                <a:spcPts val="200"/>
              </a:spcAft>
              <a:defRPr sz="1150" b="1">
                <a:solidFill>
                  <a:srgbClr val="002855"/>
                </a:solidFill>
                <a:latin typeface="Arial"/>
              </a:defRPr>
            </a:pPr>
            <a:r>
              <a:t>• Nhận diện và trích xuất chữ trên ảnh sự kiện</a:t>
            </a:r>
          </a:p>
          <a:p>
            <a:pPr>
              <a:spcAft>
                <a:spcPts val="1000"/>
              </a:spcAft>
              <a:defRPr sz="1050">
                <a:solidFill>
                  <a:srgbClr val="334155"/>
                </a:solidFill>
                <a:latin typeface="Arial"/>
              </a:defRPr>
            </a:pPr>
            <a:r>
              <a:t>Ứng dụng AI Vision phân tích ảnh chụp phông nền, biểu ngữ (Backdrop OCR) để lấy thông tin và tự động tạo câu chú thích ảnh phong trào.</a:t>
            </a:r>
          </a:p>
          <a:p>
            <a:pPr>
              <a:spcAft>
                <a:spcPts val="200"/>
              </a:spcAft>
              <a:defRPr sz="1150" b="1">
                <a:solidFill>
                  <a:srgbClr val="002855"/>
                </a:solidFill>
                <a:latin typeface="Arial"/>
              </a:defRPr>
            </a:pPr>
            <a:r>
              <a:t>• Tự động hóa đăng bài đa kênh lên Website, Facebook, Zalo</a:t>
            </a:r>
          </a:p>
          <a:p>
            <a:pPr>
              <a:spcAft>
                <a:spcPts val="1000"/>
              </a:spcAft>
              <a:defRPr sz="1050">
                <a:solidFill>
                  <a:srgbClr val="334155"/>
                </a:solidFill>
                <a:latin typeface="Arial"/>
              </a:defRPr>
            </a:pPr>
            <a:r>
              <a:t>Kết nối thành công Meta Facebook Graph API v19.0 và Zalo API để tự động xuất bản bài viết và hình ảnh lên Fanpage, nhóm Zalo, có cơ chế hẹn giờ đăng.</a:t>
            </a:r>
          </a:p>
        </p:txBody>
      </p:sp>
      <p:sp>
        <p:nvSpPr>
          <p:cNvPr id="7" name="TextBox 6"/>
          <p:cNvSpPr txBox="1"/>
          <p:nvPr/>
        </p:nvSpPr>
        <p:spPr>
          <a:xfrm>
            <a:off x="6336792" y="1508760"/>
            <a:ext cx="5257800" cy="4846320"/>
          </a:xfrm>
          <a:prstGeom prst="rect">
            <a:avLst/>
          </a:prstGeom>
          <a:noFill/>
        </p:spPr>
        <p:txBody>
          <a:bodyPr wrap="square" lIns="0" tIns="0">
            <a:spAutoFit/>
          </a:bodyPr>
          <a:lstStyle/>
          <a:p>
            <a:pPr>
              <a:spcAft>
                <a:spcPts val="1400"/>
              </a:spcAft>
              <a:defRPr sz="1600" b="1">
                <a:solidFill>
                  <a:srgbClr val="D97706"/>
                </a:solidFill>
                <a:latin typeface="Arial"/>
              </a:defRPr>
            </a:pPr>
            <a:r>
              <a:t>ĐỊNH HƯỚNG PHÁT TRIỂN TIẾP THEO</a:t>
            </a:r>
          </a:p>
          <a:p>
            <a:pPr>
              <a:spcAft>
                <a:spcPts val="200"/>
              </a:spcAft>
              <a:defRPr sz="1150" b="1">
                <a:solidFill>
                  <a:srgbClr val="D97706"/>
                </a:solidFill>
                <a:latin typeface="Arial"/>
              </a:defRPr>
            </a:pPr>
            <a:r>
              <a:t>• Liên kết tài khoản Zalo &amp; Gửi thông báo cá nhân</a:t>
            </a:r>
          </a:p>
          <a:p>
            <a:pPr>
              <a:spcAft>
                <a:spcPts val="1000"/>
              </a:spcAft>
              <a:defRPr sz="1050">
                <a:solidFill>
                  <a:srgbClr val="334155"/>
                </a:solidFill>
                <a:latin typeface="Arial"/>
              </a:defRPr>
            </a:pPr>
            <a:r>
              <a:t>Cho phép đoàn viên liên kết trực tiếp tài khoản Cổng thông tin với Zalo để nhận thông báo hoạt động, chế độ chính sách mới nhất.</a:t>
            </a:r>
          </a:p>
          <a:p>
            <a:pPr>
              <a:spcAft>
                <a:spcPts val="200"/>
              </a:spcAft>
              <a:defRPr sz="1150" b="1">
                <a:solidFill>
                  <a:srgbClr val="D97706"/>
                </a:solidFill>
                <a:latin typeface="Arial"/>
              </a:defRPr>
            </a:pPr>
            <a:r>
              <a:t>• Tích hợp mô hình AI tạo ảnh minh họa (Gen Image)</a:t>
            </a:r>
          </a:p>
          <a:p>
            <a:pPr>
              <a:spcAft>
                <a:spcPts val="1000"/>
              </a:spcAft>
              <a:defRPr sz="1050">
                <a:solidFill>
                  <a:srgbClr val="334155"/>
                </a:solidFill>
                <a:latin typeface="Arial"/>
              </a:defRPr>
            </a:pPr>
            <a:r>
              <a:t>Ứng dụng AI tạo ảnh tự động sinh các hình ảnh minh họa, phông nền phong trào phù hợp với nội dung bài viết khi chưa có ảnh chụp thực tế.</a:t>
            </a:r>
          </a:p>
          <a:p>
            <a:pPr>
              <a:spcAft>
                <a:spcPts val="200"/>
              </a:spcAft>
              <a:defRPr sz="1150" b="1">
                <a:solidFill>
                  <a:srgbClr val="D97706"/>
                </a:solidFill>
                <a:latin typeface="Arial"/>
              </a:defRPr>
            </a:pPr>
            <a:r>
              <a:t>• Triển khai AI cục bộ bảo mật dữ liệu (Local AI)</a:t>
            </a:r>
          </a:p>
          <a:p>
            <a:pPr>
              <a:spcAft>
                <a:spcPts val="1000"/>
              </a:spcAft>
              <a:defRPr sz="1050">
                <a:solidFill>
                  <a:srgbClr val="334155"/>
                </a:solidFill>
                <a:latin typeface="Arial"/>
              </a:defRPr>
            </a:pPr>
            <a:r>
              <a:t>Nghiên cứu chạy mô hình ngôn ngữ lớn (LLM) trực tiếp trên máy chủ nội bộ trường, đảm bảo bảo mật tuyệt đối các kế hoạch và tài liệu nhạy cảm.</a:t>
            </a:r>
          </a:p>
          <a:p>
            <a:pPr>
              <a:spcAft>
                <a:spcPts val="200"/>
              </a:spcAft>
              <a:defRPr sz="1150" b="1">
                <a:solidFill>
                  <a:srgbClr val="D97706"/>
                </a:solidFill>
                <a:latin typeface="Arial"/>
              </a:defRPr>
            </a:pPr>
            <a:r>
              <a:t>• Tự động tạo video tin tức ngắn từ bài viết (AI Video)</a:t>
            </a:r>
          </a:p>
          <a:p>
            <a:pPr>
              <a:spcAft>
                <a:spcPts val="1000"/>
              </a:spcAft>
              <a:defRPr sz="1050">
                <a:solidFill>
                  <a:srgbClr val="334155"/>
                </a:solidFill>
                <a:latin typeface="Arial"/>
              </a:defRPr>
            </a:pPr>
            <a:r>
              <a:t>Tự động chuyển đổi nội dung tin bài và hình ảnh thành video ngắn (Shorts / Reels) để lan tỏa mạnh mẽ hoạt động phong trào trên mạng xã hội.</a:t>
            </a:r>
          </a:p>
        </p:txBody>
      </p:sp>
      <p:sp>
        <p:nvSpPr>
          <p:cNvPr id="8" name="Rectangle 7"/>
          <p:cNvSpPr/>
          <p:nvPr/>
        </p:nvSpPr>
        <p:spPr>
          <a:xfrm>
            <a:off x="6089904" y="1691640"/>
            <a:ext cx="9144" cy="4389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Box 1"/>
          <p:cNvSpPr txBox="1"/>
          <p:nvPr/>
        </p:nvSpPr>
        <p:spPr>
          <a:xfrm>
            <a:off x="914400" y="2011680"/>
            <a:ext cx="10360152" cy="914400"/>
          </a:xfrm>
          <a:prstGeom prst="rect">
            <a:avLst/>
          </a:prstGeom>
          <a:noFill/>
        </p:spPr>
        <p:txBody>
          <a:bodyPr wrap="square" lIns="0" tIns="0">
            <a:spAutoFit/>
          </a:bodyPr>
          <a:lstStyle/>
          <a:p>
            <a:pPr algn="ctr">
              <a:defRPr sz="2600" b="1">
                <a:solidFill>
                  <a:srgbClr val="002855"/>
                </a:solidFill>
                <a:latin typeface="Arial"/>
              </a:defRPr>
            </a:pPr>
            <a:r>
              <a:t>CẢM ƠN THẦY VÀ CÁC BẠN ĐÃ LẮNG NGHE!</a:t>
            </a:r>
          </a:p>
        </p:txBody>
      </p:sp>
      <p:sp>
        <p:nvSpPr>
          <p:cNvPr id="3" name="Rectangle 2"/>
          <p:cNvSpPr/>
          <p:nvPr/>
        </p:nvSpPr>
        <p:spPr>
          <a:xfrm>
            <a:off x="5175504" y="3017520"/>
            <a:ext cx="182880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291840"/>
            <a:ext cx="10360152" cy="1371600"/>
          </a:xfrm>
          <a:prstGeom prst="rect">
            <a:avLst/>
          </a:prstGeom>
          <a:noFill/>
        </p:spPr>
        <p:txBody>
          <a:bodyPr wrap="square" lIns="0" tIns="0">
            <a:spAutoFit/>
          </a:bodyPr>
          <a:lstStyle/>
          <a:p>
            <a:pPr algn="ctr">
              <a:spcAft>
                <a:spcPts val="1200"/>
              </a:spcAft>
              <a:defRPr sz="1400" b="1">
                <a:solidFill>
                  <a:srgbClr val="D97706"/>
                </a:solidFill>
                <a:latin typeface="Arial"/>
              </a:defRPr>
            </a:pPr>
            <a:r>
              <a:t>Nhóm 2 xin trân trọng cảm ơn sự hướng dẫn tận tình của ThS. Võ Quốc Lương</a:t>
            </a:r>
          </a:p>
          <a:p>
            <a:pPr algn="ctr">
              <a:defRPr sz="1300">
                <a:solidFill>
                  <a:srgbClr val="334155"/>
                </a:solidFill>
                <a:latin typeface="Arial"/>
              </a:defRPr>
            </a:pPr>
            <a:r>
              <a:t>Kính mời Quý Thầy Cô và Hội đồng nhận xét, góp ý cho nhóm hoàn thiện đề tài!</a:t>
            </a:r>
          </a:p>
        </p:txBody>
      </p:sp>
      <p:pic>
        <p:nvPicPr>
          <p:cNvPr id="5" name="Picture 4" descr="image.png"/>
          <p:cNvPicPr>
            <a:picLocks noChangeAspect="1"/>
          </p:cNvPicPr>
          <p:nvPr/>
        </p:nvPicPr>
        <p:blipFill>
          <a:blip r:embed="rId3"/>
          <a:stretch>
            <a:fillRect/>
          </a:stretch>
        </p:blipFill>
        <p:spPr>
          <a:xfrm>
            <a:off x="5084064" y="4572000"/>
            <a:ext cx="2011680" cy="78638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TotalTime>
  <Words>853</Words>
  <Application>Microsoft Office PowerPoint</Application>
  <PresentationFormat>Màn hình rộng</PresentationFormat>
  <Paragraphs>116</Paragraphs>
  <Slides>10</Slides>
  <Notes>10</Notes>
  <HiddenSlides>0</HiddenSlides>
  <MMClips>0</MMClips>
  <ScaleCrop>false</ScaleCrop>
  <HeadingPairs>
    <vt:vector size="6" baseType="variant">
      <vt:variant>
        <vt:lpstr>Phông được Dùng</vt:lpstr>
      </vt:variant>
      <vt:variant>
        <vt:i4>5</vt:i4>
      </vt:variant>
      <vt:variant>
        <vt:lpstr>Chủ đề</vt:lpstr>
      </vt:variant>
      <vt:variant>
        <vt:i4>1</vt:i4>
      </vt:variant>
      <vt:variant>
        <vt:lpstr>Tiêu đề Bản chiếu</vt:lpstr>
      </vt:variant>
      <vt:variant>
        <vt:i4>10</vt:i4>
      </vt:variant>
    </vt:vector>
  </HeadingPairs>
  <TitlesOfParts>
    <vt:vector size="16" baseType="lpstr">
      <vt:lpstr>Arimo Bold</vt:lpstr>
      <vt:lpstr>Arial</vt:lpstr>
      <vt:lpstr>PT Sans Bold</vt:lpstr>
      <vt:lpstr>Carlito Bold</vt:lpstr>
      <vt:lpstr>Carlito</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Nguyễn Bình Dương</cp:lastModifiedBy>
  <cp:revision>3</cp:revision>
  <dcterms:created xsi:type="dcterms:W3CDTF">2026-10-25T04:53:38Z</dcterms:created>
  <dcterms:modified xsi:type="dcterms:W3CDTF">2026-10-25T14:27:08Z</dcterms:modified>
</cp:coreProperties>
</file>