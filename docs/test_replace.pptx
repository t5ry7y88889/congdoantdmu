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p:scale>
          <a:sx n="100" d="100"/>
          <a:sy n="100" d="100"/>
        </p:scale>
        <p:origin x="876" y="180"/>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marL="0" indent="0" algn="ctr">
              <a:spcBef>
                <a:spcPts val="1500"/>
              </a:spcBef>
              <a:buNone/>
              <a:defRPr/>
            </a:pPr>
            <a:r>
              <a:rPr lang="vi-VN" sz="2000" b="1" noProof="1">
                <a:solidFill>
                  <a:srgbClr val="F6E7BD"/>
                </a:solidFill>
                <a:latin typeface="Segoe UI" panose="020B0502040204020203" pitchFamily="34" charset="0"/>
                <a:ea typeface="Arial"/>
                <a:cs typeface="Segoe UI" panose="020B0502040204020203" pitchFamily="34" charset="0"/>
              </a:rPr>
              <a:t>BÁO CÁO </a:t>
            </a:r>
            <a:r>
              <a:rPr lang="en-US" sz="2000" b="1" noProof="1">
                <a:solidFill>
                  <a:srgbClr val="F6E7BD"/>
                </a:solidFill>
                <a:latin typeface="Segoe UI" panose="020B0502040204020203" pitchFamily="34" charset="0"/>
                <a:ea typeface="Arial"/>
                <a:cs typeface="Segoe UI" panose="020B0502040204020203" pitchFamily="34" charset="0"/>
              </a:rPr>
              <a:t>MÔN ĐỒ ÁN CƠ SỞ NGÀNH</a:t>
            </a:r>
            <a:endParaRPr lang="vi-VN" sz="2000" noProof="1">
              <a:latin typeface="Segoe UI" panose="020B0502040204020203" pitchFamily="34" charset="0"/>
              <a:cs typeface="Segoe UI" panose="020B0502040204020203" pitchFamily="34" charset="0"/>
            </a:endParaRP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marL="0" indent="0" algn="ctr">
              <a:buNone/>
              <a:defRPr/>
            </a:pPr>
            <a:r>
              <a:rPr lang="vi-VN" noProof="1">
                <a:solidFill>
                  <a:srgbClr val="31415C"/>
                </a:solidFill>
                <a:latin typeface="Segoe UI" panose="020B0502040204020203" pitchFamily="34" charset="0"/>
                <a:ea typeface="Arial"/>
                <a:cs typeface="Segoe UI" panose="020B0502040204020203" pitchFamily="34" charset="0"/>
              </a:rPr>
              <a:t>Nhóm thực hiện: </a:t>
            </a:r>
            <a:r>
              <a:rPr lang="vi-VN" b="1" noProof="1">
                <a:solidFill>
                  <a:srgbClr val="002855"/>
                </a:solidFill>
                <a:latin typeface="Segoe UI" panose="020B0502040204020203" pitchFamily="34" charset="0"/>
                <a:ea typeface="Arial"/>
                <a:cs typeface="Segoe UI" panose="020B0502040204020203" pitchFamily="34" charset="0"/>
              </a:rPr>
              <a:t>Nhóm 2</a:t>
            </a:r>
            <a:endParaRPr lang="vi-VN" noProof="1">
              <a:latin typeface="Segoe UI" panose="020B0502040204020203" pitchFamily="34" charset="0"/>
              <a:cs typeface="Segoe UI" panose="020B0502040204020203" pitchFamily="34" charset="0"/>
            </a:endParaRP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marL="0" indent="0">
              <a:buNone/>
              <a:defRPr/>
            </a:pPr>
            <a:r>
              <a:rPr lang="vi-VN" sz="2400" b="0" i="0" u="none" baseline="-25000" noProof="1">
                <a:solidFill>
                  <a:srgbClr val="000000"/>
                </a:solidFill>
                <a:latin typeface="Segoe UI" panose="020B0502040204020203" pitchFamily="34" charset="0"/>
                <a:ea typeface="Arial"/>
                <a:cs typeface="Segoe UI" panose="020B0502040204020203" pitchFamily="34" charset="0"/>
              </a:rPr>
              <a:t>1. Nguyễn Bình Dương - MSSV: 2424802010319 - Lớp: D24CNTT05</a:t>
            </a:r>
            <a:br>
              <a:rPr lang="vi-VN" sz="2400" b="0" i="0" u="none" baseline="-25000" noProof="1">
                <a:solidFill>
                  <a:srgbClr val="000000"/>
                </a:solidFill>
                <a:latin typeface="Segoe UI" panose="020B0502040204020203" pitchFamily="34" charset="0"/>
                <a:ea typeface="Arial"/>
                <a:cs typeface="Segoe UI" panose="020B0502040204020203" pitchFamily="34" charset="0"/>
              </a:rPr>
            </a:br>
            <a:r>
              <a:rPr lang="vi-VN" sz="2400" b="0" i="0" u="none" baseline="-25000" noProof="1">
                <a:solidFill>
                  <a:srgbClr val="000000"/>
                </a:solidFill>
                <a:latin typeface="Segoe UI" panose="020B0502040204020203" pitchFamily="34" charset="0"/>
                <a:ea typeface="Arial"/>
                <a:cs typeface="Segoe UI" panose="020B0502040204020203" pitchFamily="34" charset="0"/>
              </a:rPr>
              <a:t>2. Trần Hồng Thanh - MSSV: 2424802010439 - Lớp: D24CNTT03</a:t>
            </a:r>
            <a:br>
              <a:rPr lang="vi-VN" sz="2400" b="0" i="0" u="none" baseline="-25000" noProof="1">
                <a:solidFill>
                  <a:srgbClr val="000000"/>
                </a:solidFill>
                <a:latin typeface="Segoe UI" panose="020B0502040204020203" pitchFamily="34" charset="0"/>
                <a:ea typeface="Arial"/>
                <a:cs typeface="Segoe UI" panose="020B0502040204020203" pitchFamily="34" charset="0"/>
              </a:rPr>
            </a:br>
            <a:r>
              <a:rPr lang="vi-VN" sz="2400" b="0" i="0" u="none" baseline="-25000" noProof="1">
                <a:solidFill>
                  <a:srgbClr val="000000"/>
                </a:solidFill>
                <a:latin typeface="Segoe UI" panose="020B0502040204020203" pitchFamily="34" charset="0"/>
                <a:ea typeface="Arial"/>
                <a:cs typeface="Segoe UI" panose="020B0502040204020203" pitchFamily="34" charset="0"/>
              </a:rPr>
              <a:t>3. Phạm Anh Tuấn      -  MSSV: 2324802010393 - Lớp: D23CNTT03</a:t>
            </a:r>
            <a:endParaRPr lang="vi-VN" sz="3200" b="0" baseline="-25000" noProof="1">
              <a:latin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lnSpc>
                <a:spcPts val="2832"/>
              </a:lnSpc>
              <a:spcAft>
                <a:spcPts val="600"/>
              </a:spcAft>
              <a:defRPr/>
            </a:pPr>
            <a:r>
              <a:rPr lang="vi-VN" sz="3200" b="1" noProof="1">
                <a:solidFill>
                  <a:srgbClr val="002855"/>
                </a:solidFill>
                <a:latin typeface="Arial"/>
                <a:ea typeface="Arial"/>
                <a:cs typeface="Arial"/>
              </a:rPr>
              <a:t>Bối cảnh </a:t>
            </a:r>
            <a:r>
              <a:rPr lang="vi-VN" sz="3200" b="1" noProof="1">
                <a:solidFill>
                  <a:srgbClr val="002855"/>
                </a:solidFill>
                <a:latin typeface="Arial"/>
              </a:rPr>
              <a:t>và tính cấp thiết của đề tài</a:t>
            </a:r>
            <a:endParaRPr lang="vi-VN" sz="3200" noProof="1"/>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2400" b="1" noProof="1">
                <a:solidFill>
                  <a:srgbClr val="D4A017"/>
                </a:solidFill>
                <a:latin typeface="Arial"/>
                <a:ea typeface="Arial"/>
                <a:cs typeface="Arial"/>
              </a:rPr>
              <a:t>800+ </a:t>
            </a:r>
            <a:r>
              <a:rPr lang="vi-VN" sz="1100" noProof="1">
                <a:solidFill>
                  <a:srgbClr val="40506B"/>
                </a:solidFill>
                <a:latin typeface="Arial"/>
                <a:ea typeface="Arial"/>
                <a:cs typeface="Arial"/>
              </a:rPr>
              <a:t>cán bộ, giảng viên và người lao động</a:t>
            </a:r>
            <a:endParaRPr lang="vi-VN" sz="1100" noProof="1"/>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8A97AB"/>
                </a:solidFill>
                <a:latin typeface="Arial"/>
                <a:ea typeface="Arial"/>
                <a:cs typeface="Arial"/>
              </a:rPr>
              <a:t>Kênh hiện tại:</a:t>
            </a:r>
            <a:endParaRPr lang="vi-VN" sz="1100" noProof="1"/>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40506B"/>
                </a:solidFill>
                <a:latin typeface="Arial"/>
                <a:ea typeface="Arial"/>
                <a:cs typeface="Arial"/>
              </a:rPr>
              <a:t>Mục tin trên Website trường · Fanpage Facebook · nhóm Zalo</a:t>
            </a:r>
            <a:endParaRPr lang="vi-VN" sz="1100" noProof="1"/>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1100" noProof="1">
                <a:solidFill>
                  <a:srgbClr val="40506B"/>
                </a:solidFill>
                <a:latin typeface="Arial"/>
                <a:ea typeface="Arial"/>
                <a:cs typeface="Arial"/>
              </a:rPr>
              <a:t>Đội ngũ truyền thông hoạt động </a:t>
            </a:r>
            <a:r>
              <a:rPr lang="vi-VN" b="1" noProof="1">
                <a:solidFill>
                  <a:srgbClr val="D4A017"/>
                </a:solidFill>
                <a:latin typeface="Arial"/>
                <a:ea typeface="Arial"/>
                <a:cs typeface="Arial"/>
              </a:rPr>
              <a:t>kiêm nhiệm </a:t>
            </a:r>
            <a:endParaRPr lang="vi-VN" sz="1100" noProof="1"/>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Áp lực kiêm nhiệm </a:t>
            </a:r>
            <a:endParaRPr lang="vi-VN" sz="1400" noProof="1"/>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Cán bộ là giảng viên/chuyên viên kiêm nhiệm; cao điểm giảng dạy khiến tốc độ ra bài chậm</a:t>
            </a:r>
            <a:endParaRPr lang="vi-VN" sz="1100" noProof="1"/>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895974" y="2110680"/>
            <a:ext cx="5762625" cy="136625"/>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Cần nhiều thời gian khi sáng tạo nội dung báo chí &amp; đa phương tiện</a:t>
            </a:r>
            <a:endParaRPr lang="vi-VN" sz="1400" noProof="1"/>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771249569" name="Text 22"/>
          <p:cNvSpPr/>
          <p:nvPr/>
        </p:nvSpPr>
        <p:spPr bwMode="auto">
          <a:xfrm>
            <a:off x="5219700" y="2907804"/>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0316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0316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031629"/>
            <a:ext cx="5642125"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Đăng tải thủ công, phân tán nhiều kênh</a:t>
            </a:r>
            <a:endParaRPr lang="vi-VN" sz="1400" noProof="1"/>
          </a:p>
        </p:txBody>
      </p:sp>
      <p:sp>
        <p:nvSpPr>
          <p:cNvPr id="2000591319" name="Text 26"/>
          <p:cNvSpPr/>
          <p:nvPr/>
        </p:nvSpPr>
        <p:spPr bwMode="auto">
          <a:xfrm>
            <a:off x="5895975" y="3231655"/>
            <a:ext cx="5762624" cy="171450"/>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Đăng lại từng nền tảng (Website, Facebook, Zalo), copy-paste nhiều lượt, dễ lệch thông tin giữa các kênh.</a:t>
            </a:r>
            <a:endParaRPr lang="vi-VN" sz="1100" noProof="1"/>
          </a:p>
        </p:txBody>
      </p:sp>
      <p:sp>
        <p:nvSpPr>
          <p:cNvPr id="1184167521" name="Text 27"/>
          <p:cNvSpPr/>
          <p:nvPr/>
        </p:nvSpPr>
        <p:spPr bwMode="auto">
          <a:xfrm>
            <a:off x="5219700" y="3751768"/>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649402166" name="Text 28"/>
          <p:cNvSpPr/>
          <p:nvPr/>
        </p:nvSpPr>
        <p:spPr bwMode="auto">
          <a:xfrm>
            <a:off x="5381625" y="3875593"/>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392645965" name="Text 29"/>
          <p:cNvSpPr/>
          <p:nvPr/>
        </p:nvSpPr>
        <p:spPr bwMode="auto">
          <a:xfrm>
            <a:off x="5378006" y="3875593"/>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04</a:t>
            </a:r>
            <a:endParaRPr lang="vi-VN" sz="1600" noProof="1"/>
          </a:p>
        </p:txBody>
      </p:sp>
      <p:sp>
        <p:nvSpPr>
          <p:cNvPr id="473528342" name="Text 30"/>
          <p:cNvSpPr/>
          <p:nvPr/>
        </p:nvSpPr>
        <p:spPr bwMode="auto">
          <a:xfrm>
            <a:off x="5895975" y="3875593"/>
            <a:ext cx="5388004"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Thiếu lịch hẹn giờ xuất bản tự động</a:t>
            </a:r>
            <a:endParaRPr lang="vi-VN" sz="1400" noProof="1"/>
          </a:p>
        </p:txBody>
      </p:sp>
      <p:sp>
        <p:nvSpPr>
          <p:cNvPr id="1587790627" name="Text 31"/>
          <p:cNvSpPr/>
          <p:nvPr/>
        </p:nvSpPr>
        <p:spPr bwMode="auto">
          <a:xfrm>
            <a:off x="5895975" y="4075618"/>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998169476" name="Text 32"/>
          <p:cNvSpPr/>
          <p:nvPr/>
        </p:nvSpPr>
        <p:spPr bwMode="auto">
          <a:xfrm>
            <a:off x="5230375" y="4493229"/>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472541620" name="Text 33"/>
          <p:cNvSpPr/>
          <p:nvPr/>
        </p:nvSpPr>
        <p:spPr bwMode="auto">
          <a:xfrm>
            <a:off x="5381625" y="4617054"/>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648601177" name="Text 34"/>
          <p:cNvSpPr/>
          <p:nvPr/>
        </p:nvSpPr>
        <p:spPr bwMode="auto">
          <a:xfrm>
            <a:off x="5378006" y="4617054"/>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05</a:t>
            </a:r>
            <a:endParaRPr lang="vi-VN" sz="1600" noProof="1"/>
          </a:p>
        </p:txBody>
      </p:sp>
      <p:sp>
        <p:nvSpPr>
          <p:cNvPr id="1043762863" name="Text 35"/>
          <p:cNvSpPr/>
          <p:nvPr/>
        </p:nvSpPr>
        <p:spPr bwMode="auto">
          <a:xfrm>
            <a:off x="5895975" y="4617054"/>
            <a:ext cx="4737824"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Không có công cụ đo lường, thống kê tập trung</a:t>
            </a:r>
            <a:endParaRPr lang="vi-VN" sz="1400" noProof="1"/>
          </a:p>
        </p:txBody>
      </p:sp>
      <p:sp>
        <p:nvSpPr>
          <p:cNvPr id="1335701097" name="Text 36"/>
          <p:cNvSpPr/>
          <p:nvPr/>
        </p:nvSpPr>
        <p:spPr bwMode="auto">
          <a:xfrm>
            <a:off x="5895974" y="4817079"/>
            <a:ext cx="5642126" cy="237909"/>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Chưa biết bài nào đọc nhiều, tương tác ra sao ở nội dung tuyên truyền, thống kê đa kênh</a:t>
            </a: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Mục tiêu &amp; yêu cầu của hệ thống</a:t>
            </a:r>
            <a:endParaRPr lang="vi-VN" sz="2400" noProof="1"/>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Mục tiêu đề tài</a:t>
            </a:r>
            <a:endParaRPr lang="vi-VN" sz="2000" noProof="1"/>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marL="152400" indent="-152400" algn="l">
              <a:buSzPct val="100000"/>
              <a:buChar char="•"/>
              <a:defRPr/>
            </a:pPr>
            <a:r>
              <a:rPr lang="vi-VN" sz="2000" noProof="1">
                <a:solidFill>
                  <a:srgbClr val="40506B"/>
                </a:solidFill>
                <a:latin typeface="Arial"/>
                <a:ea typeface="Arial"/>
                <a:cs typeface="Arial"/>
              </a:rPr>
              <a:t>Website truyền thông riêng của Công đoàn TDMU, tích hợp AI hỗ trợ tạo &amp; đăng tải nội dung</a:t>
            </a:r>
            <a:endParaRPr lang="vi-VN" sz="2000" noProof="1"/>
          </a:p>
          <a:p>
            <a:pPr marL="152400" indent="-152400" algn="l">
              <a:buSzPct val="100000"/>
              <a:buChar char="•"/>
              <a:defRPr/>
            </a:pPr>
            <a:r>
              <a:rPr lang="vi-VN" sz="2000" noProof="1">
                <a:solidFill>
                  <a:srgbClr val="40506B"/>
                </a:solidFill>
                <a:latin typeface="Arial"/>
                <a:ea typeface="Arial"/>
                <a:cs typeface="Arial"/>
              </a:rPr>
              <a:t>Kiến trúc 3 tầng hiện đại: React SPA – Node.js –MSSQL</a:t>
            </a:r>
            <a:endParaRPr lang="vi-VN" sz="2000" noProof="1"/>
          </a:p>
          <a:p>
            <a:pPr marL="152400" indent="-152400" algn="l">
              <a:buSzPct val="100000"/>
              <a:buChar char="•"/>
              <a:defRPr/>
            </a:pPr>
            <a:r>
              <a:rPr lang="vi-VN" sz="2000" noProof="1">
                <a:solidFill>
                  <a:srgbClr val="40506B"/>
                </a:solidFill>
                <a:latin typeface="Arial"/>
                <a:ea typeface="Arial"/>
                <a:cs typeface="Arial"/>
              </a:rPr>
              <a:t>Thay quy trình thủ công bằng quy trình số hóa khép kín, minh bạch</a:t>
            </a:r>
            <a:endParaRPr lang="vi-VN" sz="2000" noProof="1"/>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người dùng</a:t>
            </a:r>
            <a:endParaRPr lang="vi-VN" sz="2000" noProof="1"/>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Tra cứu tin tức theo chuyên mục, </a:t>
            </a:r>
          </a:p>
          <a:p>
            <a:pPr algn="l">
              <a:buSzPct val="100000"/>
              <a:defRPr/>
            </a:pPr>
            <a:r>
              <a:rPr lang="vi-VN" noProof="1">
                <a:solidFill>
                  <a:srgbClr val="40506B"/>
                </a:solidFill>
                <a:latin typeface="Arial"/>
                <a:ea typeface="Arial"/>
                <a:cs typeface="Arial"/>
              </a:rPr>
              <a:t>   tìm kiếm nâng cao</a:t>
            </a:r>
            <a:endParaRPr lang="vi-VN" noProof="1"/>
          </a:p>
          <a:p>
            <a:pPr marL="152400" indent="-152400" algn="l">
              <a:buSzPct val="100000"/>
              <a:buChar char="•"/>
              <a:defRPr/>
            </a:pPr>
            <a:r>
              <a:rPr lang="vi-VN" noProof="1">
                <a:solidFill>
                  <a:srgbClr val="40506B"/>
                </a:solidFill>
                <a:latin typeface="Arial"/>
                <a:ea typeface="Arial"/>
                <a:cs typeface="Arial"/>
              </a:rPr>
              <a:t>Xem bài viết báo chí</a:t>
            </a:r>
            <a:endParaRPr lang="vi-VN" noProof="1"/>
          </a:p>
          <a:p>
            <a:pPr marL="152400" indent="-152400" algn="l">
              <a:buSzPct val="100000"/>
              <a:buChar char="•"/>
              <a:defRPr/>
            </a:pPr>
            <a:r>
              <a:rPr lang="vi-VN" noProof="1">
                <a:solidFill>
                  <a:srgbClr val="40506B"/>
                </a:solidFill>
                <a:latin typeface="Arial"/>
                <a:ea typeface="Arial"/>
                <a:cs typeface="Arial"/>
              </a:rPr>
              <a:t>Tương tác với bài, chia sẻ Facebook/Zalo</a:t>
            </a:r>
          </a:p>
          <a:p>
            <a:pPr marL="152400" indent="-152400" algn="l">
              <a:buSzPct val="100000"/>
              <a:buChar char="•"/>
              <a:defRPr/>
            </a:pPr>
            <a:r>
              <a:rPr lang="vi-VN" noProof="1">
                <a:solidFill>
                  <a:srgbClr val="40506B"/>
                </a:solidFill>
                <a:latin typeface="Arial"/>
                <a:ea typeface="Arial"/>
                <a:cs typeface="Arial"/>
              </a:rPr>
              <a:t>Giao diện tối ưu trên PC, Tablet, Smartphone</a:t>
            </a:r>
            <a:endParaRPr lang="vi-VN" noProof="1"/>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quản lý</a:t>
            </a:r>
            <a:endParaRPr lang="vi-VN" sz="2000" noProof="1"/>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Phân quyền RBAC: Admin / Editor / Contributor</a:t>
            </a:r>
            <a:endParaRPr lang="vi-VN" noProof="1"/>
          </a:p>
          <a:p>
            <a:pPr marL="152400" indent="-152400" algn="l">
              <a:buSzPct val="100000"/>
              <a:buChar char="•"/>
              <a:defRPr/>
            </a:pPr>
            <a:r>
              <a:rPr lang="vi-VN" noProof="1">
                <a:solidFill>
                  <a:srgbClr val="40506B"/>
                </a:solidFill>
                <a:latin typeface="Arial"/>
                <a:ea typeface="Arial"/>
                <a:cs typeface="Arial"/>
              </a:rPr>
              <a:t>Kiểm duyệt 4 bước: Nháp → Chờ duyệt → Duyệt → Xuất bản</a:t>
            </a:r>
            <a:endParaRPr lang="vi-VN" noProof="1"/>
          </a:p>
          <a:p>
            <a:pPr marL="152400" indent="-152400" algn="l">
              <a:buSzPct val="100000"/>
              <a:buChar char="•"/>
              <a:defRPr/>
            </a:pPr>
            <a:r>
              <a:rPr lang="vi-VN" noProof="1">
                <a:solidFill>
                  <a:srgbClr val="40506B"/>
                </a:solidFill>
                <a:latin typeface="Arial"/>
                <a:ea typeface="Arial"/>
                <a:cs typeface="Arial"/>
              </a:rPr>
              <a:t>AI Studio hỗ trợ sinh bài, gợi ý tiêu đề, tóm tắt</a:t>
            </a:r>
            <a:endParaRPr lang="vi-VN" noProof="1"/>
          </a:p>
          <a:p>
            <a:pPr marL="152400" indent="-152400" algn="l">
              <a:buSzPct val="100000"/>
              <a:buChar char="•"/>
              <a:defRPr/>
            </a:pPr>
            <a:r>
              <a:rPr lang="vi-VN" noProof="1">
                <a:solidFill>
                  <a:srgbClr val="40506B"/>
                </a:solidFill>
                <a:latin typeface="Arial"/>
                <a:ea typeface="Arial"/>
                <a:cs typeface="Arial"/>
              </a:rPr>
              <a:t>Hẹn giờ xuất bản, đồng bộ Fanpage, Dashboard thống kê</a:t>
            </a:r>
            <a:endParaRPr lang="vi-VN" noProof="1"/>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Cổng thông tin công chúng &amp; đoàn viên</a:t>
            </a:r>
            <a:endParaRPr lang="vi-VN" sz="2400" noProof="1"/>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Tin tức &amp; tìm kiếm nâng cao</a:t>
            </a:r>
            <a:endParaRPr lang="vi-VN" sz="2000" noProof="1"/>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Lọc theo 5 chuyên mục · tìm kiếm toàn văn theo từ khóa, tác giả, thời gian · danh sách chia trang.</a:t>
            </a:r>
            <a:endParaRPr lang="vi-VN" sz="1100" noProof="1"/>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Xem bài viết đa phương tiện</a:t>
            </a:r>
            <a:endParaRPr lang="vi-VN" sz="2000" noProof="1"/>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Giao diện chuẩn báo chí (Headline–Sapo–Body), album ảnh độ phân giải cao, video nhúng, văn bản đính kèm.</a:t>
            </a:r>
            <a:endParaRPr lang="vi-VN" sz="1100" noProof="1"/>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Tương tác độc giả</a:t>
            </a:r>
            <a:endParaRPr lang="vi-VN" sz="2000" noProof="1"/>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Thích (Like) · bình luận · chia sẻ nhanh Facebook/Zalo.</a:t>
            </a:r>
            <a:endParaRPr lang="vi-VN" sz="1100" noProof="1"/>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Kho văn bản &amp; biểu mẫu</a:t>
            </a:r>
            <a:endParaRPr lang="vi-VN" sz="2000" noProof="1"/>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Tra cứu văn bản pháp quy, tải PDF scan; mẫu đơn điện tử chuẩn hóa tải về Word/PDF.</a:t>
            </a:r>
            <a:endParaRPr lang="vi-VN" sz="1100" noProof="1"/>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Phân hệ Quản trị CMS &amp; AI Studio</a:t>
            </a:r>
            <a:endParaRPr lang="vi-VN" sz="2400" noProof="1"/>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Quản trị &amp; phân quyền RBAC</a:t>
            </a:r>
            <a:endParaRPr lang="vi-VN" sz="1150" noProof="1"/>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Admin / Editor / Contributor / Member</a:t>
            </a:r>
            <a:r>
              <a:rPr lang="en-US" sz="950" noProof="1">
                <a:solidFill>
                  <a:srgbClr val="4A5A72"/>
                </a:solidFill>
                <a:latin typeface="Arial"/>
                <a:ea typeface="Arial"/>
                <a:cs typeface="Arial"/>
              </a:rPr>
              <a:t>/ Guest</a:t>
            </a:r>
            <a:r>
              <a:rPr lang="vi-VN" sz="950" noProof="1">
                <a:solidFill>
                  <a:srgbClr val="4A5A72"/>
                </a:solidFill>
                <a:latin typeface="Arial"/>
                <a:ea typeface="Arial"/>
                <a:cs typeface="Arial"/>
              </a:rPr>
              <a:t>; mỗi tài khoản gán đúng</a:t>
            </a:r>
            <a:r>
              <a:rPr lang="en-US" sz="950" noProof="1">
                <a:solidFill>
                  <a:srgbClr val="4A5A72"/>
                </a:solidFill>
                <a:latin typeface="Arial"/>
                <a:ea typeface="Arial"/>
                <a:cs typeface="Arial"/>
              </a:rPr>
              <a:t> với chức danh và chức năng trong</a:t>
            </a:r>
            <a:r>
              <a:rPr lang="vi-VN" sz="950" noProof="1">
                <a:solidFill>
                  <a:srgbClr val="4A5A72"/>
                </a:solidFill>
                <a:latin typeface="Arial"/>
                <a:ea typeface="Arial"/>
                <a:cs typeface="Arial"/>
              </a:rPr>
              <a:t> Tổ công đoàn trực thuộc.</a:t>
            </a:r>
            <a:endParaRPr lang="vi-VN" sz="950" noProof="1"/>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Soạn thảo bài viết (CMS)</a:t>
            </a:r>
            <a:endParaRPr lang="vi-VN" sz="1150" noProof="1"/>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Trình soạn thảo CKEditor 5 : </a:t>
            </a:r>
            <a:r>
              <a:rPr lang="en-US" sz="950" noProof="1">
                <a:solidFill>
                  <a:srgbClr val="4A5A72"/>
                </a:solidFill>
                <a:latin typeface="Arial"/>
                <a:ea typeface="Arial"/>
                <a:cs typeface="Arial"/>
              </a:rPr>
              <a:t>Viết bài ,</a:t>
            </a:r>
            <a:r>
              <a:rPr lang="vi-VN" sz="950" noProof="1">
                <a:solidFill>
                  <a:srgbClr val="4A5A72"/>
                </a:solidFill>
                <a:latin typeface="Arial"/>
                <a:ea typeface="Arial"/>
                <a:cs typeface="Arial"/>
              </a:rPr>
              <a:t>chèn bảng, media</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a:t>
            </a:r>
            <a:endParaRPr lang="vi-VN" sz="950" noProof="1"/>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Kiểm duyệt 4 bước</a:t>
            </a:r>
            <a:endParaRPr lang="vi-VN" sz="1150" noProof="1"/>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Draft → Chờ duyệt → Đã duyệt → Xuất bản / Hẹn lịch; xem trước Live Preview, duyệt</a:t>
            </a:r>
            <a:r>
              <a:rPr lang="en-US" sz="950" noProof="1">
                <a:solidFill>
                  <a:srgbClr val="4A5A72"/>
                </a:solidFill>
                <a:latin typeface="Arial"/>
                <a:ea typeface="Arial"/>
                <a:cs typeface="Arial"/>
              </a:rPr>
              <a:t> bằng 1 click đơn giản.</a:t>
            </a:r>
            <a:endParaRPr lang="vi-VN" sz="950" noProof="1"/>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Hẹn giờ xuất bản</a:t>
            </a:r>
            <a:endParaRPr lang="vi-VN" sz="1150" noProof="1"/>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marL="0" indent="0" algn="l">
              <a:lnSpc>
                <a:spcPts val="1359"/>
              </a:lnSpc>
              <a:buNone/>
              <a:defRPr/>
            </a:pPr>
            <a:r>
              <a:rPr lang="en-US" sz="950" noProof="1">
                <a:solidFill>
                  <a:srgbClr val="4A5A72"/>
                </a:solidFill>
                <a:latin typeface="Arial"/>
                <a:ea typeface="Arial"/>
                <a:cs typeface="Arial"/>
              </a:rPr>
              <a:t>T</a:t>
            </a:r>
            <a:r>
              <a:rPr lang="vi-VN" sz="950" noProof="1">
                <a:solidFill>
                  <a:srgbClr val="4A5A72"/>
                </a:solidFill>
                <a:latin typeface="Arial"/>
                <a:ea typeface="Arial"/>
                <a:cs typeface="Arial"/>
              </a:rPr>
              <a:t>ự động đăng vào khung giờ </a:t>
            </a:r>
            <a:r>
              <a:rPr lang="en-US" sz="950" noProof="1">
                <a:solidFill>
                  <a:srgbClr val="4A5A72"/>
                </a:solidFill>
                <a:latin typeface="Arial"/>
                <a:ea typeface="Arial"/>
                <a:cs typeface="Arial"/>
              </a:rPr>
              <a:t>bất kì mà </a:t>
            </a:r>
            <a:r>
              <a:rPr lang="vi-VN" sz="950" noProof="1">
                <a:solidFill>
                  <a:srgbClr val="4A5A72"/>
                </a:solidFill>
                <a:latin typeface="Arial"/>
                <a:ea typeface="Arial"/>
                <a:cs typeface="Arial"/>
              </a:rPr>
              <a:t>không cần trực máy.</a:t>
            </a:r>
            <a:endParaRPr lang="vi-VN" sz="950" noProof="1"/>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Đồng bộ Fanpage Facebook</a:t>
            </a:r>
            <a:endParaRPr lang="vi-VN" sz="1150" noProof="1"/>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Tích hợp Meta Graph API v19: đăng bài kèm ảnh, link lên Fanpage Công đoàn chỉ với 1 click.</a:t>
            </a:r>
            <a:endParaRPr lang="vi-VN" sz="950" noProof="1"/>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Dashboard đo lường</a:t>
            </a:r>
            <a:endParaRPr lang="vi-VN" sz="1150" noProof="1"/>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KPI lượt xem, like, bình luận, chia sẻ; biểu đồ độ phủ sóng Website–Facebook theo tháng.</a:t>
            </a:r>
            <a:endParaRPr lang="vi-VN" sz="950" noProof="1"/>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Kho văn bản &amp; biểu mẫu</a:t>
            </a:r>
            <a:endParaRPr lang="vi-VN" sz="1150" noProof="1"/>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Thêm/sửa số hiệu văn bản, trích yếu, tải PDF scan; quản lý mẫu đơn theo danh mục.</a:t>
            </a:r>
            <a:endParaRPr lang="vi-VN" sz="950" noProof="1"/>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Audit &amp; cấu hình hệ thống</a:t>
            </a:r>
            <a:endParaRPr lang="vi-VN" sz="1150" noProof="1"/>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Nhật ký kiểm toán mọi thao tác; cấu hình khóa Gemini API, Facebook, SMTP; định mức Token AI.</a:t>
            </a:r>
            <a:endParaRPr lang="vi-VN" sz="950" noProof="1"/>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Trợ lý AI Copilot — điểm đột phá</a:t>
            </a:r>
            <a:endParaRPr lang="vi-VN" sz="2400" noProof="1"/>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marL="0" indent="0" algn="l">
              <a:lnSpc>
                <a:spcPts val="1686"/>
              </a:lnSpc>
              <a:spcBef>
                <a:spcPts val="1050"/>
              </a:spcBef>
              <a:buNone/>
              <a:defRPr/>
            </a:pPr>
            <a:r>
              <a:rPr lang="vi-VN" sz="1100" noProof="1">
                <a:solidFill>
                  <a:srgbClr val="40506B"/>
                </a:solidFill>
                <a:latin typeface="Arial"/>
                <a:ea typeface="Arial"/>
                <a:cs typeface="Arial"/>
              </a:rPr>
              <a:t>Đề tài ứng dụng </a:t>
            </a:r>
            <a:r>
              <a:rPr lang="vi-VN" sz="1100" b="1" noProof="1">
                <a:solidFill>
                  <a:srgbClr val="002855"/>
                </a:solidFill>
                <a:latin typeface="Arial"/>
                <a:ea typeface="Arial"/>
                <a:cs typeface="Arial"/>
              </a:rPr>
              <a:t>GenAI</a:t>
            </a:r>
            <a:r>
              <a:rPr lang="vi-VN" sz="1100" noProof="1">
                <a:solidFill>
                  <a:srgbClr val="40506B"/>
                </a:solidFill>
                <a:latin typeface="Arial"/>
                <a:ea typeface="Arial"/>
                <a:cs typeface="Arial"/>
              </a:rPr>
              <a:t> giải quyết bài toán thiếu nhân lực biên tập: sinh bài hoàn chỉnh từ tài liệu thô, gợi ý tiêu đề, tóm tắt tin, chuẩn hóa văn phong báo chí công đoàn.</a:t>
            </a:r>
            <a:endParaRPr lang="vi-VN" sz="1100" noProof="1"/>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Autopilot viết</a:t>
            </a:r>
            <a:r>
              <a:rPr lang="en-US" sz="1150" b="1" noProof="1">
                <a:solidFill>
                  <a:srgbClr val="002855"/>
                </a:solidFill>
                <a:latin typeface="Arial"/>
                <a:ea typeface="Arial"/>
                <a:cs typeface="Arial"/>
              </a:rPr>
              <a:t> bài</a:t>
            </a:r>
            <a:endParaRPr lang="vi-VN" sz="1150" noProof="1"/>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Phân tích hồ sơ sự kiện (DOCX, PPTX, PDF, ảnh…) để chấp bút bài báo hoàn chỉnh theo chuẩn Who–What–Where–When–Why–How.</a:t>
            </a:r>
            <a:endParaRPr lang="vi-VN" sz="950" noProof="1"/>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Lead / Sapo thu hút</a:t>
            </a:r>
            <a:endParaRPr lang="vi-VN" sz="1150" noProof="1"/>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Tự động tóm tắt sự kiện thành đoạn mở đầu cô đọng, kích thích độc giả đọc tiếp toàn văn.</a:t>
            </a:r>
            <a:endParaRPr lang="vi-VN" sz="950" noProof="1"/>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a:t>
            </a:r>
            <a:r>
              <a:rPr lang="en-US" sz="1050" b="1" noProof="1">
                <a:solidFill>
                  <a:srgbClr val="F6C945"/>
                </a:solidFill>
                <a:latin typeface="Arial"/>
                <a:ea typeface="Arial"/>
                <a:cs typeface="Arial"/>
              </a:rPr>
              <a:t>4</a:t>
            </a:r>
            <a:endParaRPr lang="vi-VN" sz="1050" noProof="1"/>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Hiệu đính văn phong</a:t>
            </a:r>
            <a:endParaRPr lang="vi-VN" sz="1150" noProof="1"/>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Kiểm tra chính tả tiếng Việt, chuẩn hóa câu từ, điều chỉnh văn phong đoàn thể chính luận.</a:t>
            </a:r>
            <a:endParaRPr lang="vi-VN" sz="950" noProof="1"/>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a:t>
            </a:r>
            <a:r>
              <a:rPr lang="en-US" sz="1050" b="1" noProof="1">
                <a:solidFill>
                  <a:srgbClr val="F6C945"/>
                </a:solidFill>
                <a:latin typeface="Arial"/>
                <a:ea typeface="Arial"/>
                <a:cs typeface="Arial"/>
              </a:rPr>
              <a:t>5</a:t>
            </a:r>
            <a:endParaRPr lang="vi-VN" sz="1050" noProof="1"/>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Bubble Menu</a:t>
            </a:r>
            <a:endParaRPr lang="vi-VN" sz="1150" noProof="1"/>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Bôi đen đoạn văn bản → viết lại ngắn/dài/đổi </a:t>
            </a:r>
            <a:r>
              <a:rPr lang="en-US" sz="950" noProof="1">
                <a:solidFill>
                  <a:srgbClr val="4A5A72"/>
                </a:solidFill>
                <a:latin typeface="Arial"/>
                <a:ea typeface="Arial"/>
                <a:cs typeface="Arial"/>
              </a:rPr>
              <a:t>phong cách</a:t>
            </a:r>
            <a:r>
              <a:rPr lang="vi-VN" sz="950" noProof="1">
                <a:solidFill>
                  <a:srgbClr val="4A5A72"/>
                </a:solidFill>
                <a:latin typeface="Arial"/>
                <a:ea typeface="Arial"/>
                <a:cs typeface="Arial"/>
              </a:rPr>
              <a:t> chỉ trong 0.5s, tốc độ 300+ token/s.</a:t>
            </a:r>
            <a:endParaRPr lang="vi-VN" sz="950" noProof="1"/>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marL="0" indent="0" algn="l">
              <a:lnSpc>
                <a:spcPts val="1519"/>
              </a:lnSpc>
              <a:buNone/>
              <a:defRPr/>
            </a:pPr>
            <a:r>
              <a:rPr lang="vi-VN" sz="1000" b="1" noProof="1">
                <a:solidFill>
                  <a:srgbClr val="F6C945"/>
                </a:solidFill>
                <a:latin typeface="Arial"/>
                <a:ea typeface="Arial"/>
                <a:cs typeface="Arial"/>
              </a:rPr>
              <a:t>Hạ tầng AI:</a:t>
            </a:r>
            <a:r>
              <a:rPr lang="vi-VN" sz="1000" noProof="1">
                <a:solidFill>
                  <a:srgbClr val="EAF1FA"/>
                </a:solidFill>
                <a:latin typeface="Arial"/>
                <a:ea typeface="Arial"/>
                <a:cs typeface="Arial"/>
              </a:rPr>
              <a:t> Google Gemini Flash/Pro (SDK @google/genai) · </a:t>
            </a:r>
            <a:r>
              <a:rPr lang="vi-VN" sz="1000" b="1" noProof="1">
                <a:solidFill>
                  <a:srgbClr val="F6C945"/>
                </a:solidFill>
                <a:latin typeface="Arial"/>
                <a:ea typeface="Arial"/>
                <a:cs typeface="Arial"/>
              </a:rPr>
              <a:t>Streaming SSE</a:t>
            </a:r>
            <a:r>
              <a:rPr lang="vi-VN" sz="1000" noProof="1">
                <a:solidFill>
                  <a:srgbClr val="EAF1FA"/>
                </a:solidFill>
                <a:latin typeface="Arial"/>
                <a:ea typeface="Arial"/>
                <a:cs typeface="Arial"/>
              </a:rPr>
              <a:t> phản hồi &lt;1s · Prompt chuẩn ngữ cảnh Công đoàn TDMU · Kiểm soát định mức Token AI theo vai trò.</a:t>
            </a:r>
            <a:endParaRPr lang="vi-VN" sz="1000" noProof="1"/>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Kiến trúc hệ thống — 4 trụ cột công nghệ</a:t>
            </a:r>
            <a:endParaRPr lang="vi-VN" sz="2400" noProof="1"/>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Frontend</a:t>
            </a:r>
            <a:endParaRPr lang="vi-VN" sz="1450" noProof="1"/>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GIAO DIỆN NGƯỜI DÙNG</a:t>
            </a:r>
            <a:endParaRPr lang="vi-VN" sz="850" noProof="1"/>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CKEditor 5 · Tiptap</a:t>
            </a:r>
            <a:endParaRPr lang="vi-VN" sz="950" noProof="1"/>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Giao diện theo nhận diện thương hiệu TDMU </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tối ưu màn hình di động.</a:t>
            </a:r>
            <a:endParaRPr lang="vi-VN" sz="950" noProof="1"/>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Backend</a:t>
            </a:r>
            <a:endParaRPr lang="vi-VN" sz="1450" noProof="1"/>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XỬ LÝ NGHIỆP VỤ</a:t>
            </a:r>
            <a:endParaRPr lang="vi-VN" sz="850" noProof="1"/>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Node.js 18+</a:t>
            </a:r>
            <a:endParaRPr lang="vi-VN" sz="950" noProof="1"/>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RESTful API</a:t>
            </a:r>
            <a:endParaRPr lang="vi-VN" sz="950" noProof="1"/>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Graph API v19</a:t>
            </a:r>
            <a:endParaRPr lang="vi-VN" sz="950" noProof="1"/>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Xác thực phi trạng thái JWT, mã hóa mật khẩu Bcrypt; tự động hóa xuất bản đúng giờ và đồng bộ bài viết lên Fanpage Facebook.</a:t>
            </a:r>
            <a:endParaRPr lang="vi-VN" sz="950" noProof="1"/>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Cơ sở dữ liệu</a:t>
            </a:r>
            <a:endParaRPr lang="vi-VN" sz="1450" noProof="1"/>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LƯU TRỮ &amp; TOÀN VẸN</a:t>
            </a:r>
            <a:endParaRPr lang="vi-VN" sz="850" noProof="1"/>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Microsoft SQL Server</a:t>
            </a:r>
            <a:endParaRPr lang="vi-VN" sz="950" noProof="1"/>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Khóa chính/ngoại ràng </a:t>
            </a:r>
            <a:r>
              <a:rPr lang="en-US" sz="950" noProof="1">
                <a:solidFill>
                  <a:srgbClr val="4A5A72"/>
                </a:solidFill>
                <a:latin typeface="Arial"/>
                <a:ea typeface="Arial"/>
                <a:cs typeface="Arial"/>
              </a:rPr>
              <a:t>buộc</a:t>
            </a:r>
            <a:r>
              <a:rPr lang="vi-VN" sz="950" noProof="1">
                <a:solidFill>
                  <a:srgbClr val="4A5A72"/>
                </a:solidFill>
                <a:latin typeface="Arial"/>
                <a:ea typeface="Arial"/>
                <a:cs typeface="Arial"/>
              </a:rPr>
              <a:t>, Cascade thích hợp; chỉ mục trên slug, chuyên mục, trạng thá</a:t>
            </a:r>
            <a:r>
              <a:rPr lang="en-US" sz="950" noProof="1">
                <a:solidFill>
                  <a:srgbClr val="4A5A72"/>
                </a:solidFill>
                <a:latin typeface="Arial"/>
                <a:ea typeface="Arial"/>
                <a:cs typeface="Arial"/>
              </a:rPr>
              <a:t>i.</a:t>
            </a:r>
            <a:endParaRPr lang="vi-VN" sz="950" noProof="1"/>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Trí tuệ nhân tạo</a:t>
            </a:r>
            <a:endParaRPr lang="vi-VN" sz="1450" noProof="1"/>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SÁNG TẠO NỘI DUNG</a:t>
            </a:r>
            <a:endParaRPr lang="vi-VN" sz="850" noProof="1"/>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Gemini Flash/Pro</a:t>
            </a:r>
            <a:endParaRPr lang="vi-VN" sz="950" noProof="1"/>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Groq (Qwen/Llama)</a:t>
            </a:r>
            <a:endParaRPr lang="vi-VN" sz="950" noProof="1"/>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AI sinh nội dung theo thời gian thực; bộ prompt chuẩn ngữ cảnh Công đoàn đúng điều lệ và văn phong báo chí.</a:t>
            </a:r>
            <a:endParaRPr lang="vi-VN" sz="950" noProof="1"/>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Use Case tổng quan — tác nhân &amp; phân hệ chức năng</a:t>
            </a:r>
            <a:endParaRPr lang="vi-VN" sz="2400" noProof="1"/>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4 NHÓM TÁC NHÂN (ACTOR)</a:t>
            </a:r>
            <a:endParaRPr lang="vi-VN" sz="1000" noProof="1"/>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Quản trị viên (Admin)</a:t>
            </a:r>
            <a:endParaRPr lang="vi-VN" sz="1000" noProof="1"/>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Biên tập viên (Editor)</a:t>
            </a:r>
            <a:endParaRPr lang="vi-VN" sz="1000" noProof="1"/>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Cộng tác viên (Contributor)</a:t>
            </a:r>
            <a:endParaRPr lang="vi-VN" sz="1000" noProof="1"/>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Đoàn viên / Độc giả</a:t>
            </a:r>
            <a:endParaRPr lang="vi-VN" sz="1000" noProof="1"/>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6 PHÂN HỆ CHỨC NĂNG CỐT LÕI</a:t>
            </a:r>
            <a:endParaRPr lang="vi-VN" sz="1000" noProof="1"/>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Quản lý bài viết &amp; nội dung</a:t>
            </a:r>
            <a:r>
              <a:rPr lang="vi-VN" sz="1000" noProof="1">
                <a:solidFill>
                  <a:srgbClr val="40506B"/>
                </a:solidFill>
                <a:latin typeface="Arial"/>
                <a:ea typeface="Arial"/>
                <a:cs typeface="Arial"/>
              </a:rPr>
              <a:t> — soạn thảo, media, autosave, phân quyền tác giả</a:t>
            </a:r>
            <a:endParaRPr lang="vi-VN" sz="1000" noProof="1"/>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Trợ lý AI Copilot</a:t>
            </a:r>
            <a:r>
              <a:rPr lang="vi-VN" sz="1000" noProof="1">
                <a:solidFill>
                  <a:srgbClr val="40506B"/>
                </a:solidFill>
                <a:latin typeface="Arial"/>
                <a:ea typeface="Arial"/>
                <a:cs typeface="Arial"/>
              </a:rPr>
              <a:t> — sinh bài, gợi ý tiêu đề, kiểm tra Token</a:t>
            </a:r>
            <a:endParaRPr lang="vi-VN" sz="1000" noProof="1"/>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Kiểm duyệt &amp; xuất bản đa kênh</a:t>
            </a:r>
            <a:r>
              <a:rPr lang="vi-VN" sz="1000" noProof="1">
                <a:solidFill>
                  <a:srgbClr val="40506B"/>
                </a:solidFill>
                <a:latin typeface="Arial"/>
                <a:ea typeface="Arial"/>
                <a:cs typeface="Arial"/>
              </a:rPr>
              <a:t> — preview, hẹn giờ, đồng bộ Facebook</a:t>
            </a:r>
            <a:endParaRPr lang="vi-VN" sz="1000" noProof="1"/>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Tra cứu thông tin &amp; tương tác</a:t>
            </a:r>
            <a:r>
              <a:rPr lang="vi-VN" sz="1000" noProof="1">
                <a:solidFill>
                  <a:srgbClr val="40506B"/>
                </a:solidFill>
                <a:latin typeface="Arial"/>
                <a:ea typeface="Arial"/>
                <a:cs typeface="Arial"/>
              </a:rPr>
              <a:t> — tin tức, văn bản, trợ cấp, góp ý</a:t>
            </a:r>
            <a:endParaRPr lang="vi-VN" sz="1000" noProof="1"/>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Quản trị hệ thống</a:t>
            </a:r>
            <a:r>
              <a:rPr lang="vi-VN" sz="1000" noProof="1">
                <a:solidFill>
                  <a:srgbClr val="40506B"/>
                </a:solidFill>
                <a:latin typeface="Arial"/>
                <a:ea typeface="Arial"/>
                <a:cs typeface="Arial"/>
              </a:rPr>
              <a:t> — RBAC, cấu hình API, sao lưu, audit logs</a:t>
            </a:r>
            <a:endParaRPr lang="vi-VN" sz="1000" noProof="1"/>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marL="0" indent="0" algn="l">
              <a:lnSpc>
                <a:spcPts val="1463"/>
              </a:lnSpc>
              <a:buNone/>
              <a:defRPr/>
            </a:pPr>
            <a:r>
              <a:rPr lang="vi-VN" sz="1000" b="1" noProof="1">
                <a:solidFill>
                  <a:srgbClr val="002855"/>
                </a:solidFill>
                <a:latin typeface="Arial"/>
                <a:ea typeface="Arial"/>
                <a:cs typeface="Arial"/>
              </a:rPr>
              <a:t>26 use case</a:t>
            </a:r>
            <a:r>
              <a:rPr lang="vi-VN" sz="1000" noProof="1">
                <a:solidFill>
                  <a:srgbClr val="24456E"/>
                </a:solidFill>
                <a:latin typeface="Arial"/>
                <a:ea typeface="Arial"/>
                <a:cs typeface="Arial"/>
              </a:rPr>
              <a:t> được phân rã theo chuẩn UML với đầy đủ quan h</a:t>
            </a:r>
            <a:r>
              <a:rPr lang="en-US" sz="1000" noProof="1">
                <a:solidFill>
                  <a:srgbClr val="24456E"/>
                </a:solidFill>
                <a:latin typeface="Arial"/>
                <a:ea typeface="Arial"/>
                <a:cs typeface="Arial"/>
              </a:rPr>
              <a:t>ệ</a:t>
            </a:r>
            <a:r>
              <a:rPr lang="vi-VN" sz="1000" noProof="1">
                <a:solidFill>
                  <a:srgbClr val="24456E"/>
                </a:solidFill>
                <a:latin typeface="Arial"/>
                <a:ea typeface="Arial"/>
                <a:cs typeface="Arial"/>
              </a:rPr>
              <a:t>, luồng sự kiện chính, thay thế và ngoại lệ.</a:t>
            </a:r>
            <a:endParaRPr lang="vi-VN" sz="1000" noProof="1"/>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Thiết kế cơ sở dữ liệu</a:t>
            </a:r>
            <a:endParaRPr lang="vi-VN" sz="2400" noProof="1"/>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sp>
        <p:nvSpPr>
          <p:cNvPr id="1162282214" name="Text 2"/>
          <p:cNvSpPr/>
          <p:nvPr/>
        </p:nvSpPr>
        <p:spPr bwMode="auto">
          <a:xfrm>
            <a:off x="533400" y="1264444"/>
            <a:ext cx="5857875" cy="1785938"/>
          </a:xfrm>
          <a:prstGeom prst="roundRect">
            <a:avLst>
              <a:gd name="adj" fmla="val 74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24472586" name="Text 3"/>
          <p:cNvSpPr/>
          <p:nvPr/>
        </p:nvSpPr>
        <p:spPr bwMode="auto">
          <a:xfrm>
            <a:off x="714375" y="1407319"/>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Hệ quản trị &amp; mô hình</a:t>
            </a:r>
            <a:endParaRPr lang="vi-VN" sz="1150" noProof="1"/>
          </a:p>
        </p:txBody>
      </p:sp>
      <p:sp>
        <p:nvSpPr>
          <p:cNvPr id="1967574883" name="Text 4"/>
          <p:cNvSpPr/>
          <p:nvPr/>
        </p:nvSpPr>
        <p:spPr bwMode="auto">
          <a:xfrm>
            <a:off x="714375" y="1645444"/>
            <a:ext cx="5495925" cy="1262063"/>
          </a:xfrm>
          <a:prstGeom prst="rect">
            <a:avLst/>
          </a:prstGeom>
          <a:noFill/>
          <a:ln/>
        </p:spPr>
        <p:txBody>
          <a:bodyPr wrap="square" lIns="152400" tIns="0" rIns="0" bIns="66675" rtlCol="0" anchor="t"/>
          <a:lstStyle/>
          <a:p>
            <a:pPr marL="342900" indent="-342900" algn="l">
              <a:lnSpc>
                <a:spcPts val="1463"/>
              </a:lnSpc>
              <a:buSzPct val="100000"/>
              <a:buChar char="•"/>
              <a:defRPr/>
            </a:pPr>
            <a:r>
              <a:rPr lang="vi-VN" sz="1000" noProof="1">
                <a:solidFill>
                  <a:srgbClr val="40506B"/>
                </a:solidFill>
                <a:latin typeface="Arial"/>
                <a:ea typeface="Arial"/>
                <a:cs typeface="Arial"/>
              </a:rPr>
              <a:t>Microsoft SQL Server + Connection Pool tối ưu kết nối</a:t>
            </a:r>
            <a:r>
              <a:rPr lang="vi-VN" sz="1000" noProof="1"/>
              <a:t> ,</a:t>
            </a:r>
            <a:r>
              <a:rPr lang="vi-VN" sz="1000" noProof="1">
                <a:solidFill>
                  <a:srgbClr val="40506B"/>
                </a:solidFill>
                <a:latin typeface="Arial"/>
                <a:cs typeface="Arial"/>
              </a:rPr>
              <a:t> c</a:t>
            </a:r>
            <a:r>
              <a:rPr lang="vi-VN" sz="1000" noProof="1">
                <a:solidFill>
                  <a:srgbClr val="40506B"/>
                </a:solidFill>
                <a:latin typeface="Arial"/>
                <a:ea typeface="Arial"/>
                <a:cs typeface="Arial"/>
              </a:rPr>
              <a:t>huẩn hóa dữ liệu </a:t>
            </a:r>
            <a:r>
              <a:rPr lang="vi-VN" sz="1200" b="1" noProof="1">
                <a:solidFill>
                  <a:srgbClr val="16243A"/>
                </a:solidFill>
                <a:latin typeface="Arial"/>
                <a:ea typeface="Arial"/>
                <a:cs typeface="Arial"/>
              </a:rPr>
              <a:t>3NF</a:t>
            </a:r>
            <a:r>
              <a:rPr lang="vi-VN" sz="1000" noProof="1">
                <a:solidFill>
                  <a:srgbClr val="40506B"/>
                </a:solidFill>
                <a:latin typeface="Arial"/>
                <a:ea typeface="Arial"/>
                <a:cs typeface="Arial"/>
              </a:rPr>
              <a:t>, loại bỏ dư thừa, đảm bảo nhất quán</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ACID Transactions — hoàn tác 100% khi có sự cố</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Khóa PK/FK ràng buộc toàn vẹn tham chiếu, Cascade thích hợp</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Indexing slug, chuyên mục, trạng thái → tăng tốc 5–10 lần</a:t>
            </a:r>
            <a:endParaRPr lang="vi-VN" sz="1000" noProof="1"/>
          </a:p>
        </p:txBody>
      </p:sp>
      <p:sp>
        <p:nvSpPr>
          <p:cNvPr id="380914844" name="Text 5"/>
          <p:cNvSpPr/>
          <p:nvPr/>
        </p:nvSpPr>
        <p:spPr bwMode="auto">
          <a:xfrm>
            <a:off x="533400" y="3164681"/>
            <a:ext cx="5857875" cy="1714500"/>
          </a:xfrm>
          <a:prstGeom prst="roundRect">
            <a:avLst>
              <a:gd name="adj" fmla="val 7778"/>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769482477" name="Text 6"/>
          <p:cNvSpPr/>
          <p:nvPr/>
        </p:nvSpPr>
        <p:spPr bwMode="auto">
          <a:xfrm>
            <a:off x="714375" y="3307556"/>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15 bảng nghiệp vụ chính</a:t>
            </a:r>
            <a:endParaRPr lang="vi-VN" sz="1150" noProof="1"/>
          </a:p>
        </p:txBody>
      </p:sp>
      <p:sp>
        <p:nvSpPr>
          <p:cNvPr id="1608541823" name="Text 7"/>
          <p:cNvSpPr/>
          <p:nvPr/>
        </p:nvSpPr>
        <p:spPr bwMode="auto">
          <a:xfrm>
            <a:off x="714375" y="3545681"/>
            <a:ext cx="122188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ORGANIZATIONS</a:t>
            </a:r>
            <a:endParaRPr lang="vi-VN" sz="900" noProof="1"/>
          </a:p>
        </p:txBody>
      </p:sp>
      <p:sp>
        <p:nvSpPr>
          <p:cNvPr id="1553966374" name="Text 8"/>
          <p:cNvSpPr/>
          <p:nvPr/>
        </p:nvSpPr>
        <p:spPr bwMode="auto">
          <a:xfrm>
            <a:off x="1984623" y="3545681"/>
            <a:ext cx="13937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UNION_BRANCHES</a:t>
            </a:r>
            <a:endParaRPr lang="vi-VN" sz="900" noProof="1"/>
          </a:p>
        </p:txBody>
      </p:sp>
      <p:sp>
        <p:nvSpPr>
          <p:cNvPr id="1555805195" name="Text 9"/>
          <p:cNvSpPr/>
          <p:nvPr/>
        </p:nvSpPr>
        <p:spPr bwMode="auto">
          <a:xfrm>
            <a:off x="3426693" y="3545681"/>
            <a:ext cx="82549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MEMBERS</a:t>
            </a:r>
            <a:endParaRPr lang="vi-VN" sz="900" noProof="1"/>
          </a:p>
        </p:txBody>
      </p:sp>
      <p:sp>
        <p:nvSpPr>
          <p:cNvPr id="14697596" name="Text 10"/>
          <p:cNvSpPr/>
          <p:nvPr/>
        </p:nvSpPr>
        <p:spPr bwMode="auto">
          <a:xfrm>
            <a:off x="4300553" y="3545681"/>
            <a:ext cx="654324"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USERS</a:t>
            </a:r>
            <a:endParaRPr lang="vi-VN" sz="900" noProof="1"/>
          </a:p>
        </p:txBody>
      </p:sp>
      <p:sp>
        <p:nvSpPr>
          <p:cNvPr id="1060775627" name="Text 11"/>
          <p:cNvSpPr/>
          <p:nvPr/>
        </p:nvSpPr>
        <p:spPr bwMode="auto">
          <a:xfrm>
            <a:off x="5003245" y="3545681"/>
            <a:ext cx="99666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CATEGORIES</a:t>
            </a:r>
            <a:endParaRPr lang="vi-VN" sz="900" noProof="1"/>
          </a:p>
        </p:txBody>
      </p:sp>
      <p:sp>
        <p:nvSpPr>
          <p:cNvPr id="1730038241" name="Text 12"/>
          <p:cNvSpPr/>
          <p:nvPr/>
        </p:nvSpPr>
        <p:spPr bwMode="auto">
          <a:xfrm>
            <a:off x="714374" y="3860006"/>
            <a:ext cx="88104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ARTICLES</a:t>
            </a:r>
            <a:endParaRPr lang="vi-VN" sz="900" noProof="1"/>
          </a:p>
        </p:txBody>
      </p:sp>
      <p:sp>
        <p:nvSpPr>
          <p:cNvPr id="1362803006" name="Text 13"/>
          <p:cNvSpPr/>
          <p:nvPr/>
        </p:nvSpPr>
        <p:spPr bwMode="auto">
          <a:xfrm>
            <a:off x="1641928" y="3860006"/>
            <a:ext cx="1247938"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ARTICLE_AUDITS</a:t>
            </a:r>
            <a:endParaRPr lang="vi-VN" sz="900" noProof="1"/>
          </a:p>
        </p:txBody>
      </p:sp>
      <p:sp>
        <p:nvSpPr>
          <p:cNvPr id="127377906" name="Text 14"/>
          <p:cNvSpPr/>
          <p:nvPr/>
        </p:nvSpPr>
        <p:spPr bwMode="auto">
          <a:xfrm>
            <a:off x="2936378" y="3860006"/>
            <a:ext cx="91454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COMMENTS</a:t>
            </a:r>
            <a:endParaRPr lang="vi-VN" sz="900" noProof="1"/>
          </a:p>
        </p:txBody>
      </p:sp>
      <p:sp>
        <p:nvSpPr>
          <p:cNvPr id="1620711932" name="Text 15"/>
          <p:cNvSpPr/>
          <p:nvPr/>
        </p:nvSpPr>
        <p:spPr bwMode="auto">
          <a:xfrm>
            <a:off x="3897439" y="3860006"/>
            <a:ext cx="10214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l">
              <a:buNone/>
              <a:defRPr/>
            </a:pPr>
            <a:r>
              <a:rPr lang="vi-VN" sz="900" b="1" noProof="1">
                <a:solidFill>
                  <a:srgbClr val="24456E"/>
                </a:solidFill>
                <a:latin typeface="Arial"/>
                <a:ea typeface="Arial"/>
                <a:cs typeface="Arial"/>
              </a:rPr>
              <a:t>BOOKMARKS</a:t>
            </a:r>
            <a:endParaRPr lang="vi-VN" sz="900" noProof="1"/>
          </a:p>
        </p:txBody>
      </p:sp>
      <p:sp>
        <p:nvSpPr>
          <p:cNvPr id="1165322204" name="Text 16"/>
          <p:cNvSpPr/>
          <p:nvPr/>
        </p:nvSpPr>
        <p:spPr bwMode="auto">
          <a:xfrm>
            <a:off x="4965352" y="3860006"/>
            <a:ext cx="1010927"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DOCUMENTS</a:t>
            </a:r>
            <a:endParaRPr lang="vi-VN" sz="900" noProof="1"/>
          </a:p>
        </p:txBody>
      </p:sp>
      <p:sp>
        <p:nvSpPr>
          <p:cNvPr id="97641124" name="Text 18"/>
          <p:cNvSpPr/>
          <p:nvPr/>
        </p:nvSpPr>
        <p:spPr bwMode="auto">
          <a:xfrm>
            <a:off x="2223196" y="4174331"/>
            <a:ext cx="98396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SCHEDULES</a:t>
            </a:r>
            <a:endParaRPr lang="vi-VN" sz="900" noProof="1"/>
          </a:p>
        </p:txBody>
      </p:sp>
      <p:sp>
        <p:nvSpPr>
          <p:cNvPr id="1931732471" name="Text 19"/>
          <p:cNvSpPr/>
          <p:nvPr/>
        </p:nvSpPr>
        <p:spPr bwMode="auto">
          <a:xfrm>
            <a:off x="3273832" y="4174331"/>
            <a:ext cx="155492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WELFARE_PROGRAMS</a:t>
            </a:r>
            <a:endParaRPr lang="vi-VN" sz="900" noProof="1"/>
          </a:p>
        </p:txBody>
      </p:sp>
      <p:sp>
        <p:nvSpPr>
          <p:cNvPr id="1567713886" name="Text 20"/>
          <p:cNvSpPr/>
          <p:nvPr/>
        </p:nvSpPr>
        <p:spPr bwMode="auto">
          <a:xfrm>
            <a:off x="4895427" y="4174331"/>
            <a:ext cx="116753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AID_REQUESTS</a:t>
            </a:r>
            <a:endParaRPr lang="vi-VN" sz="900" noProof="1"/>
          </a:p>
        </p:txBody>
      </p:sp>
      <p:sp>
        <p:nvSpPr>
          <p:cNvPr id="1848429268" name="Text 21"/>
          <p:cNvSpPr/>
          <p:nvPr/>
        </p:nvSpPr>
        <p:spPr bwMode="auto">
          <a:xfrm>
            <a:off x="714375" y="4488656"/>
            <a:ext cx="1343026"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INBOX_FEEDBACK</a:t>
            </a:r>
            <a:endParaRPr lang="vi-VN" sz="900" noProof="1"/>
          </a:p>
        </p:txBody>
      </p:sp>
      <p:sp>
        <p:nvSpPr>
          <p:cNvPr id="1898289275" name="Text 22"/>
          <p:cNvSpPr/>
          <p:nvPr/>
        </p:nvSpPr>
        <p:spPr bwMode="auto">
          <a:xfrm>
            <a:off x="6638925" y="1264444"/>
            <a:ext cx="5019675" cy="5334000"/>
          </a:xfrm>
          <a:prstGeom prst="roundRect">
            <a:avLst>
              <a:gd name="adj" fmla="val 2657"/>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246624806" name="Image 1"/>
          <p:cNvPicPr>
            <a:picLocks noChangeAspect="1"/>
          </p:cNvPicPr>
          <p:nvPr/>
        </p:nvPicPr>
        <p:blipFill>
          <a:blip r:embed="rId4"/>
          <a:srcRect/>
          <a:stretch/>
        </p:blipFill>
        <p:spPr bwMode="auto">
          <a:xfrm>
            <a:off x="6781800" y="1409781"/>
            <a:ext cx="4733925" cy="3661903"/>
          </a:xfrm>
          <a:prstGeom prst="rect">
            <a:avLst/>
          </a:prstGeom>
        </p:spPr>
      </p:pic>
      <p:sp>
        <p:nvSpPr>
          <p:cNvPr id="517730841" name="Text 23"/>
          <p:cNvSpPr/>
          <p:nvPr/>
        </p:nvSpPr>
        <p:spPr bwMode="auto">
          <a:xfrm>
            <a:off x="6734461" y="5169396"/>
            <a:ext cx="4828604"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Sơ đồ quan hệ trong cơ sở dữ liệu</a:t>
            </a:r>
            <a:endParaRPr lang="vi-VN" sz="900" noProof="1"/>
          </a:p>
        </p:txBody>
      </p:sp>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Giao diện Cổng thông tin công chúng &amp; đoàn viên</a:t>
            </a:r>
            <a:endParaRPr lang="vi-VN" sz="2400" noProof="1"/>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Nhận diện thương hiệu TDMU</a:t>
            </a:r>
            <a:endParaRPr lang="vi-VN" sz="1000" noProof="1"/>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Bảng xếp hạng Thi đua 16 Tổ dữ liệu thời gian thực</a:t>
            </a:r>
            <a:endParaRPr lang="vi-VN" sz="1000" noProof="1"/>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Quick Preview Modal xem bài ngay trên trang chủ</a:t>
            </a:r>
            <a:endParaRPr lang="vi-VN" sz="1000" noProof="1"/>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Tối ưu trên Desktop – Tablet – Mobile</a:t>
            </a:r>
            <a:endParaRPr lang="vi-VN" sz="1000" noProof="1"/>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Header nhận diện thương hiệu, menu 8 chuyên mục, Slider sự kiện phong trào &amp; điểm tin nóng</a:t>
            </a:r>
            <a:endParaRPr lang="vi-VN" sz="1200" noProof="1"/>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cs typeface="Arial"/>
              </a:rP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Hiển thị toàn văn tin tức chính luận với phông chữ chuẩn báo chí, tích hợp album hình ảnh sự kiện độ phân giải cao và danh sách các tệp văn bản pháp quy đính kèm</a:t>
            </a:r>
            <a:endParaRPr lang="vi-VN" sz="1200" noProof="1"/>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Phân hệ Quản trị CMS &amp; AI Studio</a:t>
            </a:r>
            <a:endParaRPr lang="vi-VN" sz="2400" noProof="1"/>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Bảng điều hành 4 KPI vòng đời nội dung</a:t>
            </a:r>
            <a:endParaRPr lang="vi-VN" sz="1000" noProof="1"/>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Hàng đợi 'Cần xử lý' — duyệt bài nhanh 1 click</a:t>
            </a:r>
            <a:endParaRPr lang="vi-VN" sz="1000" noProof="1"/>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AI Studio 3 vùng: Tủ bản thảo · Canvas 3 tầng · Copilot</a:t>
            </a:r>
            <a:endParaRPr lang="vi-VN" sz="1000" noProof="1"/>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Tab phát hành: Website / Facebook / Zalo OA / Hẹn lịch</a:t>
            </a:r>
            <a:endParaRPr lang="vi-VN" sz="1000" noProof="1"/>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Phòng Biên tập Đa kênh AI Studio</a:t>
            </a:r>
            <a:endParaRPr lang="vi-VN" sz="1000" i="1" noProof="1"/>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en-US" sz="1200" noProof="1">
                <a:solidFill>
                  <a:srgbClr val="8A97AB"/>
                </a:solidFill>
                <a:latin typeface="Arial"/>
                <a:ea typeface="Arial"/>
                <a:cs typeface="Arial"/>
              </a:rPr>
              <a:t> Trình </a:t>
            </a:r>
            <a:r>
              <a:rPr lang="vi-VN" sz="1200" noProof="1">
                <a:solidFill>
                  <a:srgbClr val="8A97AB"/>
                </a:solidFill>
                <a:latin typeface="Arial"/>
                <a:ea typeface="Arial"/>
                <a:cs typeface="Arial"/>
              </a:rPr>
              <a:t>soạn thảo </a:t>
            </a:r>
            <a:r>
              <a:rPr lang="en-US" sz="1200" noProof="1">
                <a:solidFill>
                  <a:srgbClr val="8A97AB"/>
                </a:solidFill>
                <a:latin typeface="Arial"/>
                <a:ea typeface="Arial"/>
                <a:cs typeface="Arial"/>
              </a:rPr>
              <a:t>bài viết</a:t>
            </a:r>
            <a:r>
              <a:rPr lang="vi-VN" sz="1200" noProof="1">
                <a:solidFill>
                  <a:srgbClr val="8A97AB"/>
                </a:solidFill>
                <a:latin typeface="Arial"/>
                <a:ea typeface="Arial"/>
                <a:cs typeface="Arial"/>
              </a:rPr>
              <a:t>, tab Facebook</a:t>
            </a:r>
            <a:r>
              <a:rPr lang="en-US" sz="1200" noProof="1">
                <a:solidFill>
                  <a:srgbClr val="8A97AB"/>
                </a:solidFill>
                <a:latin typeface="Arial"/>
                <a:ea typeface="Arial"/>
                <a:cs typeface="Arial"/>
              </a:rPr>
              <a:t> , Zalo</a:t>
            </a:r>
            <a:r>
              <a:rPr lang="vi-VN" sz="1200" noProof="1">
                <a:solidFill>
                  <a:srgbClr val="8A97AB"/>
                </a:solidFill>
                <a:latin typeface="Arial"/>
                <a:ea typeface="Arial"/>
                <a:cs typeface="Arial"/>
              </a:rPr>
              <a:t> &amp; Trợ lý AI sinh nội dung theo thời gian thực</a:t>
            </a:r>
            <a:endParaRPr lang="vi-VN" sz="1200" noProof="1"/>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Bảng Điều Hành (Dashboard)</a:t>
            </a:r>
            <a:endParaRPr lang="vi-VN" sz="1000" i="1" noProof="1"/>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solidFill>
                  <a:srgbClr val="8A97AB"/>
                </a:solidFill>
                <a:latin typeface="Arial"/>
                <a:ea typeface="Arial"/>
                <a:cs typeface="Arial"/>
              </a:rPr>
              <a:t>4 KPI thời gian thực, biểu đồ độ phủ sóng Website–Facebook và hàng đợi phê duyệt bài viết</a:t>
            </a:r>
            <a:endParaRPr lang="vi-VN" sz="1200" noProof="1"/>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6. KẾT QUẢ THỰC NGHIỆM</a:t>
            </a:r>
            <a:endParaRPr lang="vi-VN" sz="1000" noProof="1"/>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Kết quả thực nghiệm &amp; hướng phát triển</a:t>
            </a:r>
            <a:endParaRPr lang="vi-VN" sz="2400" noProof="1"/>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BIÊN SOẠN BÀI BÁO</a:t>
            </a:r>
            <a:endParaRPr lang="vi-VN" sz="900" noProof="1"/>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pPr marL="0" indent="0" algn="ctr">
              <a:lnSpc>
                <a:spcPts val="1359"/>
              </a:lnSpc>
              <a:buNone/>
              <a:defRPr/>
            </a:pPr>
            <a:r>
              <a:rPr lang="vi-VN" sz="950" noProof="1">
                <a:solidFill>
                  <a:srgbClr val="40506B"/>
                </a:solidFill>
                <a:latin typeface="Arial"/>
                <a:ea typeface="Arial"/>
                <a:cs typeface="Arial"/>
              </a:rPr>
              <a:t>Với AI Autopilot, giảm từ 45–60 phút/bài; văn phong 5W1H đạt &gt;95%</a:t>
            </a:r>
            <a:endParaRPr lang="vi-VN" sz="950" noProof="1"/>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ĐỒNG BỘ FACEBOOK</a:t>
            </a:r>
            <a:endParaRPr lang="vi-VN" sz="900" noProof="1"/>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pPr marL="0" indent="0" algn="ctr">
              <a:lnSpc>
                <a:spcPts val="1359"/>
              </a:lnSpc>
              <a:buNone/>
              <a:defRPr/>
            </a:pPr>
            <a:r>
              <a:rPr lang="vi-VN" sz="950" noProof="1">
                <a:solidFill>
                  <a:srgbClr val="40506B"/>
                </a:solidFill>
                <a:latin typeface="Arial"/>
                <a:ea typeface="Arial"/>
                <a:cs typeface="Arial"/>
              </a:rPr>
              <a:t>Đăng tự động lên Fanpage ngay sau phê duyệt; Scheduler chính xác tuyệt đối</a:t>
            </a:r>
            <a:endParaRPr lang="vi-VN" sz="950" noProof="1"/>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pPr marL="0" indent="0" algn="l">
              <a:spcAft>
                <a:spcPts val="750"/>
              </a:spcAft>
              <a:buNone/>
              <a:defRPr/>
            </a:pPr>
            <a:r>
              <a:rPr lang="vi-VN" sz="1200" b="1" noProof="1">
                <a:solidFill>
                  <a:srgbClr val="F6C945"/>
                </a:solidFill>
                <a:latin typeface="Arial"/>
                <a:ea typeface="Arial"/>
                <a:cs typeface="Arial"/>
              </a:rPr>
              <a:t>Hướng phát triển</a:t>
            </a:r>
            <a:endParaRPr lang="vi-VN" sz="1200" noProof="1"/>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pPr marL="190500" indent="-190500" algn="l">
              <a:lnSpc>
                <a:spcPts val="1463"/>
              </a:lnSpc>
              <a:buSzPct val="100000"/>
              <a:buChar char="→"/>
              <a:defRPr/>
            </a:pPr>
            <a:r>
              <a:rPr lang="vi-VN" sz="1000" noProof="1">
                <a:solidFill>
                  <a:srgbClr val="EAF1FA"/>
                </a:solidFill>
                <a:latin typeface="Arial"/>
                <a:ea typeface="Arial"/>
                <a:cs typeface="Arial"/>
              </a:rPr>
              <a:t>Hoàn thiện đầy đủ 26 use case và toàn bộ phân hệ theo thiết kế</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Triển khai chạy thực tế với dữ liệu chính thức của Công đoàn trường</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Mở rộng xuất bản Zalo OA, TikTok/Reels, kho Media tự động hóa</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Nâng cao bảo mật, sao lưu CSDL và tối ưu chi phí Token AI theo vai trò</a:t>
            </a:r>
            <a:endParaRPr lang="vi-VN" sz="1000" noProof="1"/>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a:pPr>
            <a:r>
              <a:rPr lang="vi-VN" sz="4800" b="1" noProof="1">
                <a:solidFill>
                  <a:srgbClr val="002855"/>
                </a:solidFill>
                <a:latin typeface="Arial"/>
              </a:rPr>
              <a:t>Cảm ơn thầy </a:t>
            </a:r>
            <a:r>
              <a:rPr lang="en-US" sz="4800" b="1" noProof="1">
                <a:solidFill>
                  <a:srgbClr val="002855"/>
                </a:solidFill>
                <a:latin typeface="Arial"/>
              </a:rPr>
              <a:t>và các bạn </a:t>
            </a:r>
            <a:r>
              <a:rPr lang="vi-VN" sz="4800" b="1" noProof="1">
                <a:solidFill>
                  <a:srgbClr val="002855"/>
                </a:solidFill>
                <a:latin typeface="Arial"/>
              </a:rPr>
              <a:t>đã lắng nghe!</a:t>
            </a:r>
            <a:endParaRPr lang="vi-VN" sz="4800" noProof="1"/>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marL="0" indent="0" algn="ctr">
              <a:buNone/>
              <a:defRPr/>
            </a:pPr>
            <a:r>
              <a:rPr lang="en-US" sz="4800" b="1" noProof="1">
                <a:solidFill>
                  <a:srgbClr val="002855"/>
                </a:solidFill>
                <a:latin typeface="Arial"/>
                <a:cs typeface="Arial"/>
              </a:rPr>
              <a:t>Em xin mời thầy nhận xét và đặt câu hỏi cho nhóm em ạ</a:t>
            </a:r>
            <a:endParaRPr lang="vi-VN" sz="4800" noProof="1"/>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958</TotalTime>
  <Words>2006</Words>
  <Application>Microsoft Office PowerPoint</Application>
  <PresentationFormat>Màn hình rộng</PresentationFormat>
  <Paragraphs>224</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11</cp:revision>
  <dcterms:created xsi:type="dcterms:W3CDTF">2026-10-11T03:00:50Z</dcterms:created>
  <dcterms:modified xsi:type="dcterms:W3CDTF">2026-10-24T04:04:47Z</dcterms:modified>
</cp:coreProperties>
</file>