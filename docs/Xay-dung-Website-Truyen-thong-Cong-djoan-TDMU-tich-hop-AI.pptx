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 ExtraBold"/>
      <p:regular r:id="rId201315"/>
    </p:embeddedFont>
    <p:embeddedFont>
      <p:font typeface="Noto Sans"/>
      <p:regular r:id="rId201316"/>
    </p:embeddedFont>
    <p:embeddedFont>
      <p:font typeface="Noto Sans Medium"/>
      <p:regular r:id="rId201317"/>
    </p:embeddedFont>
    <p:embeddedFont>
      <p:font typeface="Noto Sans Semi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1422718"/>
            <a:ext cx="637524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BÁO CÁO ĐỒ ÁN CƠ SỞ NGÀNH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3387" y="1795760"/>
            <a:ext cx="5943451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04" kern="100" dirty="0">
                <a:solidFill>
                  <a:srgbClr val="000000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Xây dựng Website Truyền thông Công đoàn TDMU tích hợp AI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33387" y="4597698"/>
            <a:ext cx="1485863" cy="50701"/>
          </a:xfrm>
          <a:prstGeom prst="roundRect">
            <a:avLst>
              <a:gd name="adj" fmla="val 49999"/>
            </a:avLst>
          </a:prstGeom>
          <a:solidFill>
            <a:srgbClr val="0F3B2E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4895195"/>
            <a:ext cx="594345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Nhóm 2 · GVHD: ThS. Võ Quốc Lương · Năm học 2026–2027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0218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01 · VẤN ĐỀ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819384"/>
            <a:ext cx="1127731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Truyền thông công đoàn đang bị phân tán ở nhiều khâu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2134731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Hơn 800 cán bộ, giảng viên và người lao động cần một cách tiếp cận thống nhất hơn.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189" y="2607766"/>
            <a:ext cx="3555911" cy="3793034"/>
          </a:xfrm>
          <a:prstGeom prst="roundRect">
            <a:avLst>
              <a:gd name="adj" fmla="val 2700"/>
            </a:avLst>
          </a:prstGeom>
          <a:noFill/>
          <a:ln w="25399">
            <a:solidFill>
              <a:srgbClr val="47736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2861766"/>
            <a:ext cx="457189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1182" y="3453269"/>
            <a:ext cx="304792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Nhiều kênh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11182" y="3985657"/>
            <a:ext cx="3047924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Công đoàn TDMU phục vụ hơn 800 cán bộ, giảng viên và người lao động.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317892" y="2607766"/>
            <a:ext cx="3555911" cy="3793034"/>
          </a:xfrm>
          <a:prstGeom prst="roundRect">
            <a:avLst>
              <a:gd name="adj" fmla="val 2700"/>
            </a:avLst>
          </a:prstGeom>
          <a:noFill/>
          <a:ln w="25399">
            <a:solidFill>
              <a:srgbClr val="47736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86" y="2861766"/>
            <a:ext cx="457189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1886" y="3453269"/>
            <a:ext cx="304792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Kiêm nhiệm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571886" y="3985657"/>
            <a:ext cx="3047924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Viết bài, xử lý hình ảnh và đăng lại trên nhiều kênh gây chậm trễ, dễ lệch thông tin.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178595" y="2607766"/>
            <a:ext cx="3555911" cy="3793034"/>
          </a:xfrm>
          <a:prstGeom prst="roundRect">
            <a:avLst>
              <a:gd name="adj" fmla="val 2700"/>
            </a:avLst>
          </a:prstGeom>
          <a:noFill/>
          <a:ln w="25399">
            <a:solidFill>
              <a:srgbClr val="47736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89" y="2861766"/>
            <a:ext cx="457189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32589" y="3453269"/>
            <a:ext cx="304792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Thiếu kiểm soát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432589" y="3985657"/>
            <a:ext cx="3047924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Chưa có nơi tập trung để kiểm duyệt, hẹn giờ xuất bản và đo lường tương tác đa kênh.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0218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02 · GIẢI PHÁP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819384"/>
            <a:ext cx="1127731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Một hệ thống hợp nhất toàn bộ vòng đời nội dung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2134731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Từ tư liệu sự kiện thô đến bài viết được kiểm duyệt, xuất bản trên Website và đồng bộ sang mạng xã hội.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189" y="2607766"/>
            <a:ext cx="3555911" cy="3793034"/>
          </a:xfrm>
          <a:prstGeom prst="roundRect">
            <a:avLst>
              <a:gd name="adj" fmla="val 2700"/>
            </a:avLst>
          </a:prstGeom>
          <a:solidFill>
            <a:srgbClr val="F7FA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2836366"/>
            <a:ext cx="457189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783" y="3427869"/>
            <a:ext cx="309872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Cổng thông tin cho đoàn viên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85783" y="4356437"/>
            <a:ext cx="309872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Tin tức, văn bản, biểu mẫu, phúc lợi và góp ý.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317892" y="2607766"/>
            <a:ext cx="3555911" cy="3793034"/>
          </a:xfrm>
          <a:prstGeom prst="roundRect">
            <a:avLst>
              <a:gd name="adj" fmla="val 2700"/>
            </a:avLst>
          </a:prstGeom>
          <a:solidFill>
            <a:srgbClr val="F7FAF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486" y="2836366"/>
            <a:ext cx="457189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6486" y="3427869"/>
            <a:ext cx="309872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CMS quản trị nội dung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546486" y="4356437"/>
            <a:ext cx="3098722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Admin, Editor và Contributor cùng làm việc trên một quy trình.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178595" y="2607766"/>
            <a:ext cx="3555911" cy="3793034"/>
          </a:xfrm>
          <a:prstGeom prst="roundRect">
            <a:avLst>
              <a:gd name="adj" fmla="val 2700"/>
            </a:avLst>
          </a:prstGeom>
          <a:solidFill>
            <a:srgbClr val="F7FAF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190" y="2836366"/>
            <a:ext cx="457189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07190" y="3427869"/>
            <a:ext cx="309872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AI Copilot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407190" y="3960257"/>
            <a:ext cx="3098722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Dựng bản thảo, gợi ý tiêu đề, tóm tắt và chuẩn hóa văn phong.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0218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03 · QUY TRÌNH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819384"/>
            <a:ext cx="1127731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Quy trình vận hành được gom thành một luồng rõ ràng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2121396"/>
            <a:ext cx="8711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189" y="2441476"/>
            <a:ext cx="2590735" cy="1905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2610346"/>
            <a:ext cx="259073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Tiếp nhận tư liệu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189" y="3084056"/>
            <a:ext cx="2590735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Nhận kế hoạch, thông báo, hình ảnh hoặc từ khóa sự kiện.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52716" y="2121396"/>
            <a:ext cx="8711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52716" y="2441476"/>
            <a:ext cx="2590735" cy="1905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10" name="Text 8"/>
          <p:cNvSpPr/>
          <p:nvPr/>
        </p:nvSpPr>
        <p:spPr>
          <a:xfrm>
            <a:off x="3352716" y="2610346"/>
            <a:ext cx="259073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AI dựng nội dung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52716" y="3084056"/>
            <a:ext cx="2590735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Hỗ trợ 5W1H, Sapo, tiêu đề và phiên bản ngắn cho từng kênh.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48244" y="2121396"/>
            <a:ext cx="8711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48244" y="2441476"/>
            <a:ext cx="2590735" cy="1905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2610346"/>
            <a:ext cx="259073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Rà soát và duyệt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48244" y="3084056"/>
            <a:ext cx="2590735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Biên tập viên rà soát; Ban Chấp hành kiểm duyệt và phê duyệt.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3771" y="2121396"/>
            <a:ext cx="8711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3771" y="2441476"/>
            <a:ext cx="2590735" cy="1905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3771" y="2610346"/>
            <a:ext cx="2590735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Phát hành và đo lường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3771" y="3414256"/>
            <a:ext cx="2590735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Đăng ngay hoặc hẹn giờ lên Website và Fanpage; Dashboard theo dõi kết quả.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189" y="5212159"/>
            <a:ext cx="11277318" cy="1188641"/>
          </a:xfrm>
          <a:prstGeom prst="roundRect">
            <a:avLst>
              <a:gd name="adj" fmla="val 8077"/>
            </a:avLst>
          </a:prstGeom>
          <a:solidFill>
            <a:srgbClr val="4B3F0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783" y="5511244"/>
            <a:ext cx="10820129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Điểm kiểm soát: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AI chỉ hỗ trợ tạo nội dung. 100% bài viết vẫn phải qua kiểm duyệt trước khi phát hành.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0218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04 · AI COPILOT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819384"/>
            <a:ext cx="1127731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AI biến tư liệu thô thành nội dung sẵn sàng phát hành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2134731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AI rút ngắn phần việc lặp lại, còn con người giữ quyền biên tập và kiểm duyệt.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607766"/>
            <a:ext cx="571486" cy="57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3313569"/>
            <a:ext cx="247643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Đọc hiểu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189" y="3845957"/>
            <a:ext cx="2476438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Đọc tài liệu sự kiện và dựng bản thảo theo cấu trúc 5W1H.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815" y="2607766"/>
            <a:ext cx="571486" cy="571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90815" y="3313569"/>
            <a:ext cx="247643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Đặt tiêu đề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3390815" y="3845957"/>
            <a:ext cx="247643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Đề xuất tiêu đề trang trọng, dễ tiếp cận.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2" y="2607766"/>
            <a:ext cx="571486" cy="571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24442" y="3313569"/>
            <a:ext cx="247643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Đa kênh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6324442" y="3845957"/>
            <a:ext cx="2476438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Tạo Sapo cho Website và bản riêng cho Facebook/Zalo.</a:t>
            </a:r>
            <a:endParaRPr lang="en-US" sz="1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068" y="2607766"/>
            <a:ext cx="571486" cy="571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58068" y="3313569"/>
            <a:ext cx="247643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Chuẩn hóa</a:t>
            </a:r>
            <a:endParaRPr lang="en-US" sz="2400" dirty="0"/>
          </a:p>
        </p:txBody>
      </p:sp>
      <p:sp>
        <p:nvSpPr>
          <p:cNvPr id="16" name="Text 10"/>
          <p:cNvSpPr/>
          <p:nvPr/>
        </p:nvSpPr>
        <p:spPr>
          <a:xfrm>
            <a:off x="9258068" y="3845957"/>
            <a:ext cx="2476438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Rà soát chính tả, thuật ngữ và văn phong truyền thông công đoàn.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0218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05 · KIẾN TRÚC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819384"/>
            <a:ext cx="1127731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Kiến trúc công nghệ tách rõ giao diện, nghiệp vụ, dữ liệu và AI</a:t>
            </a:r>
            <a:endParaRPr lang="en-US" sz="4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121396"/>
            <a:ext cx="457189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2712899"/>
            <a:ext cx="259073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Frontend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189" y="3245287"/>
            <a:ext cx="2590735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React 18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Tailwind CSS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Giao diện Responsive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112" y="2121396"/>
            <a:ext cx="457189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05112" y="2712899"/>
            <a:ext cx="2362141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Backend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3505112" y="3245287"/>
            <a:ext cx="2362141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Node.js 18+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Express RESTful API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JWT, Bcrypt và Node-cron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2" y="2121396"/>
            <a:ext cx="457189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4442" y="2712899"/>
            <a:ext cx="2362141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Dữ liệu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6324442" y="3245287"/>
            <a:ext cx="2362141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Microsoft SQL Server 2022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Chuẩn hóa 3NF, PK/FK và Indexing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1" y="2121396"/>
            <a:ext cx="457189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3771" y="2712899"/>
            <a:ext cx="259073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Tích hợp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9143771" y="3245287"/>
            <a:ext cx="259073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Google Gemini API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Meta Graph API v19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3270168" y="2121396"/>
            <a:ext cx="12700" cy="4279404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17" name="Shape 11"/>
          <p:cNvSpPr/>
          <p:nvPr/>
        </p:nvSpPr>
        <p:spPr>
          <a:xfrm>
            <a:off x="6089498" y="2121396"/>
            <a:ext cx="12700" cy="4279404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18" name="Shape 12"/>
          <p:cNvSpPr/>
          <p:nvPr/>
        </p:nvSpPr>
        <p:spPr>
          <a:xfrm>
            <a:off x="8908827" y="2121396"/>
            <a:ext cx="12700" cy="4279404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19" name="Text 13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939721"/>
            <a:ext cx="404107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06 · THIẾT KẾ HỆ THỐNG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1288887"/>
            <a:ext cx="3583890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Đặt đúng vai trò và đúng dữ liệu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3190915"/>
            <a:ext cx="3583890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Bốn tác nhân — </a:t>
            </a:r>
            <a:pPr algn="l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E3EEE7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Admin, Editor, Contributor và User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— đi qua 5 nhóm nghiệp vụ: nội dung, AI, xuất bản đa kênh, cổng thông tin và quản trị người dùng.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189" y="4953794"/>
            <a:ext cx="895923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5251609"/>
            <a:ext cx="3583890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A8C4B7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Use Case tổng quát là khung liên kết giữa quyền hạn, quy trình và chức năng của sản phẩm.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5357" y="457200"/>
            <a:ext cx="6997525" cy="5829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987643"/>
            <a:ext cx="541006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07 · CƠ SỞ DỮ LIỆU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1397198"/>
            <a:ext cx="4952876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spc="-144" kern="100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15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189" y="2429010"/>
            <a:ext cx="4952876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Bảng dữ liệu giữ cho nội dung nhất quán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189" y="4331037"/>
            <a:ext cx="4952876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Mô hình quan hệ được chuẩn hóa , kết nối nhóm người dùng, bài viết, kiểm duyệt, lịch đăng, tài liệu, phúc lợi và phản hồi đoàn viên.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189" y="5434866"/>
            <a:ext cx="4952876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A8C4B7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Khóa chính, khóa ngoại và chỉ mục hỗ trợ tính toàn vẹn giao dịch và truy vấn các luồng nội dung chính.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442" y="0"/>
            <a:ext cx="5460863" cy="6832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0218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08 · BẰNG CHỨNG SẢN PHẨM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819384"/>
            <a:ext cx="1127731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Cổng thông tin giúp đoàn viên đọc, tra cứu và tương tác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2134731"/>
            <a:ext cx="1127731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Trang chủ tập trung tin tức và sự kiện; bài viết hiển thị theo bố cục báo chí, có album ảnh, tài liệu đính kèm, Like, bình luận và chia sẻ.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189" y="2890937"/>
            <a:ext cx="5486263" cy="3509863"/>
          </a:xfrm>
          <a:prstGeom prst="rect">
            <a:avLst/>
          </a:prstGeom>
          <a:solidFill>
            <a:srgbClr val="F7FA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84" y="3068737"/>
            <a:ext cx="5130672" cy="31542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48244" y="2890937"/>
            <a:ext cx="5486263" cy="3509863"/>
          </a:xfrm>
          <a:prstGeom prst="rect">
            <a:avLst/>
          </a:prstGeom>
          <a:solidFill>
            <a:srgbClr val="F7FAF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039" y="3068737"/>
            <a:ext cx="5130672" cy="31542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0218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09 · KẾT QUẢ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819384"/>
            <a:ext cx="1127731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Phân hệ quản trị biến việc xuất bản thành một quy trình có thể đo lường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2134731"/>
            <a:ext cx="1127731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Admin CMS tập trung hàng đợi duyệt bài, phòng biên tập AI, lịch đăng, xem trước Facebook/Zalo và Dashboard theo dõi tình trạng tin bài.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189" y="2890937"/>
            <a:ext cx="5486263" cy="2143423"/>
          </a:xfrm>
          <a:prstGeom prst="rect">
            <a:avLst/>
          </a:prstGeom>
          <a:solidFill>
            <a:srgbClr val="F7FA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84" y="3068737"/>
            <a:ext cx="5130672" cy="178782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48244" y="2890937"/>
            <a:ext cx="5486263" cy="2143423"/>
          </a:xfrm>
          <a:prstGeom prst="rect">
            <a:avLst/>
          </a:prstGeom>
          <a:solidFill>
            <a:srgbClr val="F7FAF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039" y="3068737"/>
            <a:ext cx="5130672" cy="178782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189" y="5212159"/>
            <a:ext cx="11277318" cy="1188641"/>
          </a:xfrm>
          <a:prstGeom prst="roundRect">
            <a:avLst>
              <a:gd name="adj" fmla="val 8077"/>
            </a:avLst>
          </a:prstGeom>
          <a:solidFill>
            <a:srgbClr val="183A13"/>
          </a:solidFill>
          <a:ln/>
        </p:spPr>
      </p:sp>
      <p:sp>
        <p:nvSpPr>
          <p:cNvPr id="10" name="Text 6"/>
          <p:cNvSpPr/>
          <p:nvPr/>
        </p:nvSpPr>
        <p:spPr>
          <a:xfrm>
            <a:off x="685783" y="5511244"/>
            <a:ext cx="10820129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Kết quả thực nghiệm: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hệ thống chạy ổn định trên môi trường staging. Hướng tiếp theo: hoàn thiện triển khai chính thức, RAG, SSO, Zalo OA và ứng dụng di động.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2026-10-24T14:44:30Z</dcterms:created>
  <dcterms:modified xsi:type="dcterms:W3CDTF">2026-10-24T14:44:30Z</dcterms:modified>
</cp:coreProperties>
</file>