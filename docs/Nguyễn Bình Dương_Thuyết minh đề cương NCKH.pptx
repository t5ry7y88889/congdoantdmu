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67" r:id="rId1"/>
  </p:sldMasterIdLst>
  <p:notesMasterIdLst>
    <p:notesMasterId r:id="rId6"/>
  </p:notesMasterIdLst>
  <p:sldIdLst>
    <p:sldId id="256" r:id="rId2"/>
    <p:sldId id="257" r:id="rId3"/>
    <p:sldId id="258" r:id="rId4"/>
    <p:sldId id="259" r:id="rId5"/>
  </p:sldIdLst>
  <p:sldSz cx="12192000" cy="6858000"/>
  <p:notesSz cx="6858000" cy="12192000"/>
  <p:embeddedFontLst>
    <p:embeddedFont>
      <p:font typeface="Cambria Math" panose="02040503050406030204" pitchFamily="18" charset="0"/>
      <p:regular r:id="rId7"/>
    </p:embeddedFont>
    <p:embeddedFont>
      <p:font typeface="Segoe UI" panose="020B0502040204020203" pitchFamily="34" charset="0"/>
      <p:regular r:id="rId8"/>
      <p:bold r:id="rId9"/>
      <p:italic r:id="rId10"/>
      <p:boldItalic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4155"/>
    <a:srgbClr val="F8FAFC"/>
    <a:srgbClr val="F7F7F7"/>
    <a:srgbClr val="EEEEEE"/>
    <a:srgbClr val="FFFFFF"/>
    <a:srgbClr val="1987FF"/>
    <a:srgbClr val="003064"/>
    <a:srgbClr val="004796"/>
    <a:srgbClr val="002A7E"/>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9247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83C0F8B-9C14-0237-1610-6A01A6859018}"/>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0E416C83-1CEE-99FE-C90A-F660193861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28C57FCE-F40D-3890-E26A-4BAE8D65C476}"/>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3FE30BD7-1AA8-ED37-8505-C95B537A4301}"/>
              </a:ext>
            </a:extLst>
          </p:cNvPr>
          <p:cNvSpPr>
            <a:spLocks noGrp="1"/>
          </p:cNvSpPr>
          <p:nvPr>
            <p:ph type="ftr" sz="quarter" idx="11"/>
          </p:nvPr>
        </p:nvSpPr>
        <p:spPr/>
        <p:txBody>
          <a:bodyPr/>
          <a:lstStyle/>
          <a:p>
            <a:r>
              <a:rPr lang="en-US"/>
              <a:t>Sample Footer Text</a:t>
            </a:r>
          </a:p>
        </p:txBody>
      </p:sp>
      <p:sp>
        <p:nvSpPr>
          <p:cNvPr id="6" name="Chỗ dành sẵn cho Số hiệu Bản chiếu 5">
            <a:extLst>
              <a:ext uri="{FF2B5EF4-FFF2-40B4-BE49-F238E27FC236}">
                <a16:creationId xmlns:a16="http://schemas.microsoft.com/office/drawing/2014/main" id="{C7215170-44AE-1472-8621-9A217DBC89AA}"/>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9804597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37FB7DE-3BC2-331F-EE99-79E7677854A0}"/>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4FD6657-B2BC-2390-B482-FF5BFCF83D63}"/>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D9A5218-D6B4-35FB-CE16-474D646A97C8}"/>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B932A06A-2CA3-CE31-4B91-7E7F9885B742}"/>
              </a:ext>
            </a:extLst>
          </p:cNvPr>
          <p:cNvSpPr>
            <a:spLocks noGrp="1"/>
          </p:cNvSpPr>
          <p:nvPr>
            <p:ph type="ftr" sz="quarter" idx="11"/>
          </p:nvPr>
        </p:nvSpPr>
        <p:spPr/>
        <p:txBody>
          <a:bodyPr/>
          <a:lstStyle/>
          <a:p>
            <a:r>
              <a:rPr lang="en-US"/>
              <a:t>Sample Footer Text</a:t>
            </a:r>
          </a:p>
        </p:txBody>
      </p:sp>
      <p:sp>
        <p:nvSpPr>
          <p:cNvPr id="6" name="Chỗ dành sẵn cho Số hiệu Bản chiếu 5">
            <a:extLst>
              <a:ext uri="{FF2B5EF4-FFF2-40B4-BE49-F238E27FC236}">
                <a16:creationId xmlns:a16="http://schemas.microsoft.com/office/drawing/2014/main" id="{2D9C28ED-33C2-67CF-88C9-12E907E12310}"/>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73899258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0F6BC95-E363-EA89-9031-3425A5EA1477}"/>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8FAA48D7-2D42-B44C-862F-301FC88921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FBBEBEEA-C82F-650A-9C85-6F3DEB9FD432}"/>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1B1B5513-7F73-801E-B57D-951C2945880D}"/>
              </a:ext>
            </a:extLst>
          </p:cNvPr>
          <p:cNvSpPr>
            <a:spLocks noGrp="1"/>
          </p:cNvSpPr>
          <p:nvPr>
            <p:ph type="ftr" sz="quarter" idx="11"/>
          </p:nvPr>
        </p:nvSpPr>
        <p:spPr/>
        <p:txBody>
          <a:bodyPr/>
          <a:lstStyle/>
          <a:p>
            <a:r>
              <a:rPr lang="en-US"/>
              <a:t>Sample Footer Text</a:t>
            </a:r>
          </a:p>
        </p:txBody>
      </p:sp>
      <p:sp>
        <p:nvSpPr>
          <p:cNvPr id="6" name="Chỗ dành sẵn cho Số hiệu Bản chiếu 5">
            <a:extLst>
              <a:ext uri="{FF2B5EF4-FFF2-40B4-BE49-F238E27FC236}">
                <a16:creationId xmlns:a16="http://schemas.microsoft.com/office/drawing/2014/main" id="{5198D840-812F-8A9D-0E14-A5AF04A7F898}"/>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46171860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8C4A307-90FB-B558-AAE5-F21D0C66EC43}"/>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056EA85D-49C3-DB52-E931-78919D8ACC57}"/>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B691DE1D-C05B-F4C8-27BF-82983C0BC7CF}"/>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8AC831BF-868B-C4AB-2D1E-19BEF3257C0C}"/>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6" name="Chỗ dành sẵn cho Chân trang 5">
            <a:extLst>
              <a:ext uri="{FF2B5EF4-FFF2-40B4-BE49-F238E27FC236}">
                <a16:creationId xmlns:a16="http://schemas.microsoft.com/office/drawing/2014/main" id="{3EE8E720-64E8-A660-1E3C-F66A0526D88E}"/>
              </a:ext>
            </a:extLst>
          </p:cNvPr>
          <p:cNvSpPr>
            <a:spLocks noGrp="1"/>
          </p:cNvSpPr>
          <p:nvPr>
            <p:ph type="ftr" sz="quarter" idx="11"/>
          </p:nvPr>
        </p:nvSpPr>
        <p:spPr/>
        <p:txBody>
          <a:bodyPr/>
          <a:lstStyle/>
          <a:p>
            <a:r>
              <a:rPr lang="en-US"/>
              <a:t>Sample Footer Text</a:t>
            </a:r>
          </a:p>
        </p:txBody>
      </p:sp>
      <p:sp>
        <p:nvSpPr>
          <p:cNvPr id="7" name="Chỗ dành sẵn cho Số hiệu Bản chiếu 6">
            <a:extLst>
              <a:ext uri="{FF2B5EF4-FFF2-40B4-BE49-F238E27FC236}">
                <a16:creationId xmlns:a16="http://schemas.microsoft.com/office/drawing/2014/main" id="{9EF09B5B-0B9D-AC11-03B2-F9B4B9F1553C}"/>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205134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ABB99BE-378A-2231-0D62-83942824C555}"/>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16070DF7-6CF1-383D-5B22-82B6DCAAB3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7348FB3B-5A7D-77B0-897B-30140E943BB1}"/>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34B253EF-513A-B01C-E3AD-276E4F2393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43650AB6-D1BB-0622-8D42-F20B0F231D1D}"/>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1C81CBEC-1F35-86D1-1752-7D1F1ACA6966}"/>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8" name="Chỗ dành sẵn cho Chân trang 7">
            <a:extLst>
              <a:ext uri="{FF2B5EF4-FFF2-40B4-BE49-F238E27FC236}">
                <a16:creationId xmlns:a16="http://schemas.microsoft.com/office/drawing/2014/main" id="{AA31A70F-ABE5-C143-A836-BE187A123A1C}"/>
              </a:ext>
            </a:extLst>
          </p:cNvPr>
          <p:cNvSpPr>
            <a:spLocks noGrp="1"/>
          </p:cNvSpPr>
          <p:nvPr>
            <p:ph type="ftr" sz="quarter" idx="11"/>
          </p:nvPr>
        </p:nvSpPr>
        <p:spPr/>
        <p:txBody>
          <a:bodyPr/>
          <a:lstStyle/>
          <a:p>
            <a:r>
              <a:rPr lang="en-US"/>
              <a:t>Sample Footer Text</a:t>
            </a:r>
          </a:p>
        </p:txBody>
      </p:sp>
      <p:sp>
        <p:nvSpPr>
          <p:cNvPr id="9" name="Chỗ dành sẵn cho Số hiệu Bản chiếu 8">
            <a:extLst>
              <a:ext uri="{FF2B5EF4-FFF2-40B4-BE49-F238E27FC236}">
                <a16:creationId xmlns:a16="http://schemas.microsoft.com/office/drawing/2014/main" id="{CFDC684C-0AC6-0AAC-F087-A1163439F3A4}"/>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36894627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E2C2209-0DF2-7FCA-47CC-EA45FA266B65}"/>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19B07663-3417-CA7A-07A6-CCA019F4E8D2}"/>
              </a:ext>
            </a:extLst>
          </p:cNvPr>
          <p:cNvSpPr>
            <a:spLocks noGrp="1"/>
          </p:cNvSpPr>
          <p:nvPr>
            <p:ph type="dt" sz="half" idx="10"/>
          </p:nvPr>
        </p:nvSpPr>
        <p:spPr/>
        <p:txBody>
          <a:bodyPr/>
          <a:lstStyle/>
          <a:p>
            <a:fld id="{49AFCF02-D35E-46A4-B7A1-1A2B81F8D932}" type="datetime1">
              <a:rPr lang="en-US" smtClean="0"/>
              <a:pPr/>
              <a:t>10/17/2026</a:t>
            </a:fld>
            <a:endParaRPr lang="en-US"/>
          </a:p>
        </p:txBody>
      </p:sp>
      <p:sp>
        <p:nvSpPr>
          <p:cNvPr id="4" name="Chỗ dành sẵn cho Chân trang 3">
            <a:extLst>
              <a:ext uri="{FF2B5EF4-FFF2-40B4-BE49-F238E27FC236}">
                <a16:creationId xmlns:a16="http://schemas.microsoft.com/office/drawing/2014/main" id="{F2EEA710-F3A5-F5BF-696A-D977E62E238B}"/>
              </a:ext>
            </a:extLst>
          </p:cNvPr>
          <p:cNvSpPr>
            <a:spLocks noGrp="1"/>
          </p:cNvSpPr>
          <p:nvPr>
            <p:ph type="ftr" sz="quarter" idx="11"/>
          </p:nvPr>
        </p:nvSpPr>
        <p:spPr/>
        <p:txBody>
          <a:bodyPr/>
          <a:lstStyle/>
          <a:p>
            <a:r>
              <a:rPr lang="en-US"/>
              <a:t>Sample Footer Text</a:t>
            </a:r>
          </a:p>
        </p:txBody>
      </p:sp>
      <p:sp>
        <p:nvSpPr>
          <p:cNvPr id="5" name="Chỗ dành sẵn cho Số hiệu Bản chiếu 4">
            <a:extLst>
              <a:ext uri="{FF2B5EF4-FFF2-40B4-BE49-F238E27FC236}">
                <a16:creationId xmlns:a16="http://schemas.microsoft.com/office/drawing/2014/main" id="{0A7C9D98-933D-8AB7-7121-5563610465DF}"/>
              </a:ext>
            </a:extLst>
          </p:cNvPr>
          <p:cNvSpPr>
            <a:spLocks noGrp="1"/>
          </p:cNvSpPr>
          <p:nvPr>
            <p:ph type="sldNum" sz="quarter" idx="12"/>
          </p:nvPr>
        </p:nvSpPr>
        <p:spPr/>
        <p:txBody>
          <a:bodyPr/>
          <a:lstStyle/>
          <a:p>
            <a:fld id="{8E274F5D-21DC-40EF-8DBA-AB9BB119E939}" type="slidenum">
              <a:rPr lang="en-US" smtClean="0"/>
              <a:pPr/>
              <a:t>‹#›</a:t>
            </a:fld>
            <a:endParaRPr lang="en-US"/>
          </a:p>
        </p:txBody>
      </p:sp>
    </p:spTree>
    <p:extLst>
      <p:ext uri="{BB962C8B-B14F-4D97-AF65-F5344CB8AC3E}">
        <p14:creationId xmlns:p14="http://schemas.microsoft.com/office/powerpoint/2010/main" val="35903748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B28D869E-EE6F-90DB-C55D-9BE6C0C54264}"/>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3" name="Chỗ dành sẵn cho Chân trang 2">
            <a:extLst>
              <a:ext uri="{FF2B5EF4-FFF2-40B4-BE49-F238E27FC236}">
                <a16:creationId xmlns:a16="http://schemas.microsoft.com/office/drawing/2014/main" id="{19CE09D0-A015-809A-7442-2B0D2FA5CB6B}"/>
              </a:ext>
            </a:extLst>
          </p:cNvPr>
          <p:cNvSpPr>
            <a:spLocks noGrp="1"/>
          </p:cNvSpPr>
          <p:nvPr>
            <p:ph type="ftr" sz="quarter" idx="11"/>
          </p:nvPr>
        </p:nvSpPr>
        <p:spPr/>
        <p:txBody>
          <a:bodyPr/>
          <a:lstStyle/>
          <a:p>
            <a:r>
              <a:rPr lang="en-US"/>
              <a:t>Sample Footer Text</a:t>
            </a:r>
          </a:p>
        </p:txBody>
      </p:sp>
      <p:sp>
        <p:nvSpPr>
          <p:cNvPr id="4" name="Chỗ dành sẵn cho Số hiệu Bản chiếu 3">
            <a:extLst>
              <a:ext uri="{FF2B5EF4-FFF2-40B4-BE49-F238E27FC236}">
                <a16:creationId xmlns:a16="http://schemas.microsoft.com/office/drawing/2014/main" id="{7919E536-70FB-D591-3A4C-BABFC7213ED2}"/>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40164047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926B16B-839F-E26C-54B0-C7C6C588C4E7}"/>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55CDF66F-9322-F994-B98E-5B9286E7EA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F2630B7E-9BF0-EE9B-21EA-F67B6361D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CC678034-E459-D21B-6A60-A18B48F2882E}"/>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6" name="Chỗ dành sẵn cho Chân trang 5">
            <a:extLst>
              <a:ext uri="{FF2B5EF4-FFF2-40B4-BE49-F238E27FC236}">
                <a16:creationId xmlns:a16="http://schemas.microsoft.com/office/drawing/2014/main" id="{A56FD600-DA13-3D4F-E939-A790808A660E}"/>
              </a:ext>
            </a:extLst>
          </p:cNvPr>
          <p:cNvSpPr>
            <a:spLocks noGrp="1"/>
          </p:cNvSpPr>
          <p:nvPr>
            <p:ph type="ftr" sz="quarter" idx="11"/>
          </p:nvPr>
        </p:nvSpPr>
        <p:spPr/>
        <p:txBody>
          <a:bodyPr/>
          <a:lstStyle/>
          <a:p>
            <a:r>
              <a:rPr lang="en-US"/>
              <a:t>Sample Footer Text</a:t>
            </a:r>
          </a:p>
        </p:txBody>
      </p:sp>
      <p:sp>
        <p:nvSpPr>
          <p:cNvPr id="7" name="Chỗ dành sẵn cho Số hiệu Bản chiếu 6">
            <a:extLst>
              <a:ext uri="{FF2B5EF4-FFF2-40B4-BE49-F238E27FC236}">
                <a16:creationId xmlns:a16="http://schemas.microsoft.com/office/drawing/2014/main" id="{D7037921-7140-10F7-B75B-CF1E6644206C}"/>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3825786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AEBB230-B077-0C9A-07B2-CCF0F4598F92}"/>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18FC6F30-4840-835A-52AF-169498D9484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878121AF-B3A6-928A-4D8F-2B36A8D12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80C4009E-45A8-F45B-5866-25A163E7F9D0}"/>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6" name="Chỗ dành sẵn cho Chân trang 5">
            <a:extLst>
              <a:ext uri="{FF2B5EF4-FFF2-40B4-BE49-F238E27FC236}">
                <a16:creationId xmlns:a16="http://schemas.microsoft.com/office/drawing/2014/main" id="{1B2B262D-01C0-68A3-B472-056CC3C4424E}"/>
              </a:ext>
            </a:extLst>
          </p:cNvPr>
          <p:cNvSpPr>
            <a:spLocks noGrp="1"/>
          </p:cNvSpPr>
          <p:nvPr>
            <p:ph type="ftr" sz="quarter" idx="11"/>
          </p:nvPr>
        </p:nvSpPr>
        <p:spPr/>
        <p:txBody>
          <a:bodyPr/>
          <a:lstStyle/>
          <a:p>
            <a:r>
              <a:rPr lang="en-US"/>
              <a:t>Sample Footer Text</a:t>
            </a:r>
          </a:p>
        </p:txBody>
      </p:sp>
      <p:sp>
        <p:nvSpPr>
          <p:cNvPr id="7" name="Chỗ dành sẵn cho Số hiệu Bản chiếu 6">
            <a:extLst>
              <a:ext uri="{FF2B5EF4-FFF2-40B4-BE49-F238E27FC236}">
                <a16:creationId xmlns:a16="http://schemas.microsoft.com/office/drawing/2014/main" id="{45619313-9C83-07C3-78CA-C2C0C2B9A51C}"/>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9795106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B4E5739-7DF2-B41D-D9A7-80E6588BE951}"/>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C9A4A7B8-EB92-ACB5-4A6E-D3860C879AA8}"/>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FDA5529-CA64-1D98-6847-E2CE2F96B1E4}"/>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31DAF58F-971C-21E7-989B-D3E5794096C1}"/>
              </a:ext>
            </a:extLst>
          </p:cNvPr>
          <p:cNvSpPr>
            <a:spLocks noGrp="1"/>
          </p:cNvSpPr>
          <p:nvPr>
            <p:ph type="ftr" sz="quarter" idx="11"/>
          </p:nvPr>
        </p:nvSpPr>
        <p:spPr/>
        <p:txBody>
          <a:bodyPr/>
          <a:lstStyle/>
          <a:p>
            <a:r>
              <a:rPr lang="en-US"/>
              <a:t>Sample Footer Text</a:t>
            </a:r>
          </a:p>
        </p:txBody>
      </p:sp>
      <p:sp>
        <p:nvSpPr>
          <p:cNvPr id="6" name="Chỗ dành sẵn cho Số hiệu Bản chiếu 5">
            <a:extLst>
              <a:ext uri="{FF2B5EF4-FFF2-40B4-BE49-F238E27FC236}">
                <a16:creationId xmlns:a16="http://schemas.microsoft.com/office/drawing/2014/main" id="{84161E35-2E4E-90DF-4205-D2C59A0CBED8}"/>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4557280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AC76A5BD-1F2B-DE46-FEFC-320235F6B553}"/>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0A186A67-7971-51E8-E64E-989B7F2CB4EB}"/>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02BE37A-B26B-1F95-14D7-A863EF0D3974}"/>
              </a:ext>
            </a:extLst>
          </p:cNvPr>
          <p:cNvSpPr>
            <a:spLocks noGrp="1"/>
          </p:cNvSpPr>
          <p:nvPr>
            <p:ph type="dt" sz="half" idx="10"/>
          </p:nvPr>
        </p:nvSpPr>
        <p:spPr/>
        <p:txBody>
          <a:body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7A3A54EB-E972-0DEF-8E08-EAD4A00A3934}"/>
              </a:ext>
            </a:extLst>
          </p:cNvPr>
          <p:cNvSpPr>
            <a:spLocks noGrp="1"/>
          </p:cNvSpPr>
          <p:nvPr>
            <p:ph type="ftr" sz="quarter" idx="11"/>
          </p:nvPr>
        </p:nvSpPr>
        <p:spPr/>
        <p:txBody>
          <a:bodyPr/>
          <a:lstStyle/>
          <a:p>
            <a:r>
              <a:rPr lang="en-US"/>
              <a:t>Sample Footer Text</a:t>
            </a:r>
          </a:p>
        </p:txBody>
      </p:sp>
      <p:sp>
        <p:nvSpPr>
          <p:cNvPr id="6" name="Chỗ dành sẵn cho Số hiệu Bản chiếu 5">
            <a:extLst>
              <a:ext uri="{FF2B5EF4-FFF2-40B4-BE49-F238E27FC236}">
                <a16:creationId xmlns:a16="http://schemas.microsoft.com/office/drawing/2014/main" id="{5E5D887F-96CD-B7DD-6E12-954E03CF4875}"/>
              </a:ext>
            </a:extLst>
          </p:cNvPr>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2866817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983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2">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931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master 3">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915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9D44E6FB-EC97-BDC7-2A8C-675AD1DC2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B9DC3550-149D-661F-E28B-9EE6E4EAE5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706461E9-100C-8427-380D-026366DEF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88AF9F-2338-4040-A485-373B8EC8151E}" type="datetime1">
              <a:rPr lang="en-US" smtClean="0"/>
              <a:pPr/>
              <a:t>10/17/2026</a:t>
            </a:fld>
            <a:endParaRPr lang="en-US" dirty="0"/>
          </a:p>
        </p:txBody>
      </p:sp>
      <p:sp>
        <p:nvSpPr>
          <p:cNvPr id="5" name="Chỗ dành sẵn cho Chân trang 4">
            <a:extLst>
              <a:ext uri="{FF2B5EF4-FFF2-40B4-BE49-F238E27FC236}">
                <a16:creationId xmlns:a16="http://schemas.microsoft.com/office/drawing/2014/main" id="{51B04328-B034-82BA-8AFB-45DC96971D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Chỗ dành sẵn cho Số hiệu Bản chiếu 5">
            <a:extLst>
              <a:ext uri="{FF2B5EF4-FFF2-40B4-BE49-F238E27FC236}">
                <a16:creationId xmlns:a16="http://schemas.microsoft.com/office/drawing/2014/main" id="{13594057-AAB3-B1FF-5A6B-43CE91B0FF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222158079"/>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2" name="Image 0" descr="/var/folders/t4/q0khv7qd1r3dc2yrbwkzmjf00000gn/T/html2pptx-qAbGrW/html2pptx-bg-1791794639450-c18ae9ae9dd9e8.png">
            <a:extLst>
              <a:ext uri="{FF2B5EF4-FFF2-40B4-BE49-F238E27FC236}">
                <a16:creationId xmlns:a16="http://schemas.microsoft.com/office/drawing/2014/main" id="{7BE501AF-2B6B-244F-458E-0B8A5AC1DA53}"/>
              </a:ext>
            </a:extLst>
          </p:cNvPr>
          <p:cNvPicPr>
            <a:picLocks noChangeAspect="1"/>
          </p:cNvPicPr>
          <p:nvPr/>
        </p:nvPicPr>
        <p:blipFill>
          <a:blip r:embed="rId3"/>
          <a:stretch>
            <a:fillRect/>
          </a:stretch>
        </p:blipFill>
        <p:spPr>
          <a:xfrm>
            <a:off x="0" y="0"/>
            <a:ext cx="12192000" cy="6858000"/>
          </a:xfrm>
          <a:prstGeom prst="rect">
            <a:avLst/>
          </a:prstGeom>
        </p:spPr>
      </p:pic>
      <p:pic>
        <p:nvPicPr>
          <p:cNvPr id="10" name="Image 1" descr="/var/folders/t4/q0khv7qd1r3dc2yrbwkzmjf00000gn/T/html2pptx-qAbGrW/html2pptx-bg-1791794639681-ac6532392c1aa.png">
            <a:extLst>
              <a:ext uri="{FF2B5EF4-FFF2-40B4-BE49-F238E27FC236}">
                <a16:creationId xmlns:a16="http://schemas.microsoft.com/office/drawing/2014/main" id="{540C78CD-781D-D282-048D-1CCB7952675B}"/>
              </a:ext>
            </a:extLst>
          </p:cNvPr>
          <p:cNvPicPr>
            <a:picLocks noChangeAspect="1"/>
          </p:cNvPicPr>
          <p:nvPr/>
        </p:nvPicPr>
        <p:blipFill>
          <a:blip r:embed="rId4"/>
          <a:stretch>
            <a:fillRect/>
          </a:stretch>
        </p:blipFill>
        <p:spPr>
          <a:xfrm>
            <a:off x="0" y="0"/>
            <a:ext cx="12192000" cy="6858000"/>
          </a:xfrm>
          <a:prstGeom prst="rect">
            <a:avLst/>
          </a:prstGeom>
        </p:spPr>
      </p:pic>
      <p:sp>
        <p:nvSpPr>
          <p:cNvPr id="2" name="Text 0"/>
          <p:cNvSpPr/>
          <p:nvPr/>
        </p:nvSpPr>
        <p:spPr>
          <a:xfrm>
            <a:off x="582981" y="901741"/>
            <a:ext cx="11582110" cy="260548"/>
          </a:xfrm>
          <a:prstGeom prst="rect">
            <a:avLst/>
          </a:prstGeom>
          <a:noFill/>
          <a:ln/>
        </p:spPr>
        <p:txBody>
          <a:bodyPr wrap="none" lIns="0" tIns="0" rIns="0" bIns="0" rtlCol="0" anchor="t"/>
          <a:lstStyle/>
          <a:p>
            <a:pPr marL="0" indent="0" algn="l">
              <a:lnSpc>
                <a:spcPct val="125000"/>
              </a:lnSpc>
              <a:buNone/>
            </a:pPr>
            <a:r>
              <a:rPr lang="en-US" sz="1350" b="1" kern="100" spc="82" noProof="1">
                <a:solidFill>
                  <a:srgbClr val="FFC000"/>
                </a:solidFill>
                <a:latin typeface="Segoe UI" panose="020B0502040204020203" pitchFamily="34" charset="0"/>
                <a:ea typeface="Plus Jakarta Sans Bold" pitchFamily="34" charset="-122"/>
                <a:cs typeface="Segoe UI" panose="020B0502040204020203" pitchFamily="34" charset="0"/>
              </a:rPr>
              <a:t>TRƯỜNG ĐẠI HỌC THỦ DẦU MỘT • VIỆN CÔNG NGHỆ SỐ</a:t>
            </a:r>
            <a:endParaRPr lang="en-US" sz="1350" noProof="1">
              <a:solidFill>
                <a:srgbClr val="FFC000"/>
              </a:solidFill>
              <a:latin typeface="Segoe UI" panose="020B0502040204020203" pitchFamily="34" charset="0"/>
              <a:cs typeface="Segoe UI" panose="020B0502040204020203" pitchFamily="34" charset="0"/>
            </a:endParaRPr>
          </a:p>
        </p:txBody>
      </p:sp>
      <p:sp>
        <p:nvSpPr>
          <p:cNvPr id="3" name="Text 1"/>
          <p:cNvSpPr/>
          <p:nvPr/>
        </p:nvSpPr>
        <p:spPr>
          <a:xfrm>
            <a:off x="609585" y="1334495"/>
            <a:ext cx="11582110" cy="302816"/>
          </a:xfrm>
          <a:prstGeom prst="rect">
            <a:avLst/>
          </a:prstGeom>
          <a:noFill/>
          <a:ln/>
        </p:spPr>
        <p:txBody>
          <a:bodyPr wrap="none" lIns="0" tIns="0" rIns="0" bIns="0" rtlCol="0" anchor="t"/>
          <a:lstStyle/>
          <a:p>
            <a:pPr marL="0" indent="0" algn="l">
              <a:lnSpc>
                <a:spcPct val="125000"/>
              </a:lnSpc>
              <a:buNone/>
            </a:pPr>
            <a:r>
              <a:rPr lang="en-US" sz="1600" b="1" noProof="1">
                <a:solidFill>
                  <a:srgbClr val="CBD5E1"/>
                </a:solidFill>
                <a:latin typeface="Segoe UI" panose="020B0502040204020203" pitchFamily="34" charset="0"/>
                <a:ea typeface="Plus Jakarta Sans Bold" pitchFamily="34" charset="-122"/>
                <a:cs typeface="Segoe UI" panose="020B0502040204020203" pitchFamily="34" charset="0"/>
              </a:rPr>
              <a:t>THUYẾT MINH ĐỀ CƯƠNG NGHIÊN CỨU KHOA HỌC SINH VIÊN (Năm học 2026 - 2027)</a:t>
            </a:r>
            <a:endParaRPr lang="en-US" sz="1600" noProof="1">
              <a:latin typeface="Segoe UI" panose="020B0502040204020203" pitchFamily="34" charset="0"/>
              <a:cs typeface="Segoe UI" panose="020B0502040204020203" pitchFamily="34" charset="0"/>
            </a:endParaRPr>
          </a:p>
        </p:txBody>
      </p:sp>
      <p:sp>
        <p:nvSpPr>
          <p:cNvPr id="4" name="Text 2"/>
          <p:cNvSpPr/>
          <p:nvPr/>
        </p:nvSpPr>
        <p:spPr>
          <a:xfrm>
            <a:off x="610636" y="1903595"/>
            <a:ext cx="11203725" cy="1554361"/>
          </a:xfrm>
          <a:prstGeom prst="rect">
            <a:avLst/>
          </a:prstGeom>
          <a:noFill/>
          <a:ln/>
        </p:spPr>
        <p:txBody>
          <a:bodyPr wrap="square" lIns="0" tIns="0" rIns="0" bIns="0" rtlCol="0" anchor="t">
            <a:normAutofit/>
          </a:bodyPr>
          <a:lstStyle/>
          <a:p>
            <a:pPr marL="0" indent="0" algn="l">
              <a:lnSpc>
                <a:spcPct val="100000"/>
              </a:lnSpc>
              <a:buNone/>
            </a:pPr>
            <a:r>
              <a:rPr lang="en-US" sz="3200" b="1" noProof="1">
                <a:solidFill>
                  <a:srgbClr val="FFFFFF"/>
                </a:solidFill>
                <a:latin typeface="Segoe UI" panose="020B0502040204020203" pitchFamily="34" charset="0"/>
                <a:ea typeface="Plus Jakarta Sans Bold" pitchFamily="34" charset="-122"/>
                <a:cs typeface="Segoe UI" panose="020B0502040204020203" pitchFamily="34" charset="0"/>
              </a:rPr>
              <a:t>XÂY DỰNG WEBSITE TRUYỀN THÔNG CÔNG ĐOÀN TDMU TÍCH HỢP AI HỖ TRỢ TẠO VÀ ĐĂNG TẢI NỘI DUNG</a:t>
            </a:r>
            <a:endParaRPr lang="en-US" sz="3200" noProof="1">
              <a:latin typeface="Segoe UI" panose="020B0502040204020203" pitchFamily="34" charset="0"/>
              <a:cs typeface="Segoe UI" panose="020B0502040204020203" pitchFamily="34" charset="0"/>
            </a:endParaRPr>
          </a:p>
        </p:txBody>
      </p:sp>
      <p:sp>
        <p:nvSpPr>
          <p:cNvPr id="5" name="Shape 3"/>
          <p:cNvSpPr/>
          <p:nvPr/>
        </p:nvSpPr>
        <p:spPr>
          <a:xfrm>
            <a:off x="609585" y="3267919"/>
            <a:ext cx="3352815" cy="45719"/>
          </a:xfrm>
          <a:prstGeom prst="roundRect">
            <a:avLst>
              <a:gd name="adj" fmla="val 49999"/>
            </a:avLst>
          </a:prstGeom>
          <a:solidFill>
            <a:srgbClr val="D4A017"/>
          </a:solidFill>
          <a:ln/>
        </p:spPr>
        <p:txBody>
          <a:bodyPr/>
          <a:lstStyle/>
          <a:p>
            <a:endParaRPr lang="en-US" noProof="1">
              <a:solidFill>
                <a:srgbClr val="FFC000"/>
              </a:solidFill>
              <a:latin typeface="Segoe UI" panose="020B0502040204020203" pitchFamily="34" charset="0"/>
              <a:cs typeface="Segoe UI" panose="020B0502040204020203" pitchFamily="34" charset="0"/>
            </a:endParaRPr>
          </a:p>
        </p:txBody>
      </p:sp>
      <p:sp>
        <p:nvSpPr>
          <p:cNvPr id="6" name="Text 4"/>
          <p:cNvSpPr/>
          <p:nvPr/>
        </p:nvSpPr>
        <p:spPr>
          <a:xfrm>
            <a:off x="609585" y="3709670"/>
            <a:ext cx="3657509" cy="302816"/>
          </a:xfrm>
          <a:prstGeom prst="rect">
            <a:avLst/>
          </a:prstGeom>
          <a:noFill/>
          <a:ln/>
        </p:spPr>
        <p:txBody>
          <a:bodyPr wrap="none" lIns="0" tIns="0" rIns="0" bIns="0" rtlCol="0" anchor="t"/>
          <a:lstStyle/>
          <a:p>
            <a:pPr marL="0" indent="0" algn="l">
              <a:lnSpc>
                <a:spcPct val="125000"/>
              </a:lnSpc>
              <a:buNone/>
            </a:pPr>
            <a:r>
              <a:rPr lang="en-US" sz="1600" b="1" noProof="1">
                <a:solidFill>
                  <a:srgbClr val="FFC000"/>
                </a:solidFill>
                <a:latin typeface="Segoe UI" panose="020B0502040204020203" pitchFamily="34" charset="0"/>
                <a:ea typeface="Plus Jakarta Sans Bold" pitchFamily="34" charset="-122"/>
                <a:cs typeface="Segoe UI" panose="020B0502040204020203" pitchFamily="34" charset="0"/>
              </a:rPr>
              <a:t>GIẢNG VIÊN HƯỚNG DẪN</a:t>
            </a:r>
            <a:endParaRPr lang="en-US" sz="1600" noProof="1">
              <a:solidFill>
                <a:srgbClr val="FFC000"/>
              </a:solidFill>
              <a:latin typeface="Segoe UI" panose="020B0502040204020203" pitchFamily="34" charset="0"/>
              <a:cs typeface="Segoe UI" panose="020B0502040204020203" pitchFamily="34" charset="0"/>
            </a:endParaRPr>
          </a:p>
        </p:txBody>
      </p:sp>
      <p:sp>
        <p:nvSpPr>
          <p:cNvPr id="7" name="Text 5"/>
          <p:cNvSpPr/>
          <p:nvPr/>
        </p:nvSpPr>
        <p:spPr>
          <a:xfrm>
            <a:off x="609585" y="4242010"/>
            <a:ext cx="4553542" cy="580270"/>
          </a:xfrm>
          <a:prstGeom prst="rect">
            <a:avLst/>
          </a:prstGeom>
          <a:noFill/>
          <a:ln/>
        </p:spPr>
        <p:txBody>
          <a:bodyPr wrap="none" lIns="0" tIns="0" rIns="0" bIns="0" rtlCol="0" anchor="t"/>
          <a:lstStyle/>
          <a:p>
            <a:pPr marL="0" indent="0" algn="l">
              <a:lnSpc>
                <a:spcPct val="100000"/>
              </a:lnSpc>
              <a:buNone/>
            </a:pPr>
            <a:r>
              <a:rPr lang="en-US" b="1" noProof="1">
                <a:solidFill>
                  <a:schemeClr val="bg1"/>
                </a:solidFill>
                <a:latin typeface="Segoe UI" panose="020B0502040204020203" pitchFamily="34" charset="0"/>
                <a:ea typeface="Plus Jakarta Sans Bold" pitchFamily="34" charset="-122"/>
                <a:cs typeface="Segoe UI" panose="020B0502040204020203" pitchFamily="34" charset="0"/>
              </a:rPr>
              <a:t>ThS. Võ Quốc Lương – Viện Công Nghệ Số</a:t>
            </a:r>
          </a:p>
          <a:p>
            <a:r>
              <a:rPr lang="en-US" noProof="1">
                <a:solidFill>
                  <a:schemeClr val="bg1"/>
                </a:solidFill>
                <a:latin typeface="Calibri" pitchFamily="34" charset="0"/>
                <a:ea typeface="Calibri" pitchFamily="34" charset="-122"/>
                <a:cs typeface="Calibri" pitchFamily="34" charset="-120"/>
              </a:rPr>
              <a:t>Email: luongvq@tdmu.edu.vn</a:t>
            </a:r>
            <a:endParaRPr lang="en-US" noProof="1">
              <a:solidFill>
                <a:schemeClr val="bg1"/>
              </a:solidFill>
            </a:endParaRPr>
          </a:p>
        </p:txBody>
      </p:sp>
      <p:sp>
        <p:nvSpPr>
          <p:cNvPr id="8" name="Text 6"/>
          <p:cNvSpPr/>
          <p:nvPr/>
        </p:nvSpPr>
        <p:spPr>
          <a:xfrm>
            <a:off x="5615708" y="3709670"/>
            <a:ext cx="7850910" cy="1588393"/>
          </a:xfrm>
          <a:prstGeom prst="rect">
            <a:avLst/>
          </a:prstGeom>
          <a:noFill/>
          <a:ln/>
        </p:spPr>
        <p:txBody>
          <a:bodyPr wrap="square" lIns="0" tIns="0" rIns="0" bIns="0" rtlCol="0" anchor="t"/>
          <a:lstStyle/>
          <a:p>
            <a:pPr marL="0" indent="0" algn="l">
              <a:lnSpc>
                <a:spcPct val="125000"/>
              </a:lnSpc>
              <a:spcAft>
                <a:spcPts val="950"/>
              </a:spcAft>
              <a:buNone/>
            </a:pPr>
            <a:r>
              <a:rPr lang="en-US" sz="1600" b="1" noProof="1">
                <a:solidFill>
                  <a:srgbClr val="FFC000"/>
                </a:solidFill>
                <a:latin typeface="Segoe UI" panose="020B0502040204020203" pitchFamily="34" charset="0"/>
                <a:ea typeface="Plus Jakarta Sans Bold" pitchFamily="34" charset="-122"/>
                <a:cs typeface="Segoe UI" panose="020B0502040204020203" pitchFamily="34" charset="0"/>
              </a:rPr>
              <a:t>NHÓM SINH VIÊN THỰC HIỆN</a:t>
            </a:r>
            <a:endParaRPr lang="en-US" sz="1600" noProof="1">
              <a:solidFill>
                <a:srgbClr val="FFC000"/>
              </a:solidFill>
              <a:latin typeface="Segoe UI" panose="020B0502040204020203" pitchFamily="34" charset="0"/>
              <a:cs typeface="Segoe UI" panose="020B0502040204020203" pitchFamily="34" charset="0"/>
            </a:endParaRPr>
          </a:p>
          <a:p>
            <a:pPr marL="0" indent="0" algn="l">
              <a:lnSpc>
                <a:spcPct val="125000"/>
              </a:lnSpc>
              <a:spcAft>
                <a:spcPts val="950"/>
              </a:spcAft>
              <a:buNone/>
            </a:pPr>
            <a:r>
              <a:rPr lang="en-US" sz="1400" b="1" noProof="1">
                <a:solidFill>
                  <a:srgbClr val="FFFFFF"/>
                </a:solidFill>
                <a:latin typeface="Segoe UI" panose="020B0502040204020203" pitchFamily="34" charset="0"/>
                <a:ea typeface="Plus Jakarta Sans Bold" pitchFamily="34" charset="-122"/>
                <a:cs typeface="Segoe UI" panose="020B0502040204020203" pitchFamily="34" charset="0"/>
              </a:rPr>
              <a:t>Nguyễn Bình Dương – MSSV : 2424802010319 – D24CNTT05 (Nhóm trưởng)</a:t>
            </a:r>
            <a:endParaRPr lang="en-US" sz="1400" noProof="1">
              <a:latin typeface="Segoe UI" panose="020B0502040204020203" pitchFamily="34" charset="0"/>
              <a:cs typeface="Segoe UI" panose="020B0502040204020203" pitchFamily="34" charset="0"/>
            </a:endParaRPr>
          </a:p>
          <a:p>
            <a:pPr>
              <a:lnSpc>
                <a:spcPct val="125000"/>
              </a:lnSpc>
              <a:spcAft>
                <a:spcPts val="950"/>
              </a:spcAft>
            </a:pPr>
            <a:r>
              <a:rPr lang="en-US" sz="1400" b="1" noProof="1">
                <a:solidFill>
                  <a:srgbClr val="FFFFFF"/>
                </a:solidFill>
                <a:latin typeface="Segoe UI" panose="020B0502040204020203" pitchFamily="34" charset="0"/>
                <a:ea typeface="Plus Jakarta Sans Bold" pitchFamily="34" charset="-122"/>
                <a:cs typeface="Segoe UI" panose="020B0502040204020203" pitchFamily="34" charset="0"/>
              </a:rPr>
              <a:t>Trần Hồng Thanh – MSSV : 2424802010439 – D24CNTT03 (Thành viên)</a:t>
            </a:r>
            <a:endParaRPr lang="en-US" sz="1400" noProof="1">
              <a:latin typeface="Segoe UI" panose="020B0502040204020203" pitchFamily="34" charset="0"/>
              <a:cs typeface="Segoe UI" panose="020B0502040204020203" pitchFamily="34" charset="0"/>
            </a:endParaRPr>
          </a:p>
          <a:p>
            <a:pPr>
              <a:lnSpc>
                <a:spcPct val="125000"/>
              </a:lnSpc>
            </a:pPr>
            <a:r>
              <a:rPr lang="en-US" sz="1400" b="1" noProof="1">
                <a:solidFill>
                  <a:srgbClr val="FFFFFF"/>
                </a:solidFill>
                <a:latin typeface="Segoe UI" panose="020B0502040204020203" pitchFamily="34" charset="0"/>
                <a:ea typeface="Plus Jakarta Sans Bold" pitchFamily="34" charset="-122"/>
                <a:cs typeface="Segoe UI" panose="020B0502040204020203" pitchFamily="34" charset="0"/>
              </a:rPr>
              <a:t>Phạm Anh Tuấn – MSSV : 2324802010393 – D23CNTT03 (Thành viên)</a:t>
            </a:r>
            <a:endParaRPr lang="en-US" sz="1400" noProof="1">
              <a:latin typeface="Segoe UI" panose="020B0502040204020203" pitchFamily="34" charset="0"/>
              <a:cs typeface="Segoe UI" panose="020B0502040204020203" pitchFamily="34" charset="0"/>
            </a:endParaRPr>
          </a:p>
          <a:p>
            <a:pPr marL="0" indent="0" algn="l">
              <a:lnSpc>
                <a:spcPct val="125000"/>
              </a:lnSpc>
              <a:buNone/>
            </a:pPr>
            <a:endParaRPr lang="en-US" sz="1400" noProof="1">
              <a:latin typeface="Segoe UI" panose="020B0502040204020203" pitchFamily="34" charset="0"/>
              <a:cs typeface="Segoe UI" panose="020B0502040204020203" pitchFamily="34" charset="0"/>
            </a:endParaRPr>
          </a:p>
        </p:txBody>
      </p:sp>
      <p:sp>
        <p:nvSpPr>
          <p:cNvPr id="13" name="Hộp Văn bản 12">
            <a:extLst>
              <a:ext uri="{FF2B5EF4-FFF2-40B4-BE49-F238E27FC236}">
                <a16:creationId xmlns:a16="http://schemas.microsoft.com/office/drawing/2014/main" id="{1429B6D5-1763-0F70-8188-545E44A67A38}"/>
              </a:ext>
            </a:extLst>
          </p:cNvPr>
          <p:cNvSpPr txBox="1"/>
          <p:nvPr/>
        </p:nvSpPr>
        <p:spPr>
          <a:xfrm>
            <a:off x="509196" y="4920887"/>
            <a:ext cx="6160654" cy="369332"/>
          </a:xfrm>
          <a:prstGeom prst="rect">
            <a:avLst/>
          </a:prstGeom>
          <a:noFill/>
        </p:spPr>
        <p:txBody>
          <a:bodyPr wrap="square">
            <a:spAutoFit/>
          </a:bodyPr>
          <a:lstStyle/>
          <a:p>
            <a:r>
              <a:rPr lang="en-US" sz="1800" noProof="1">
                <a:solidFill>
                  <a:schemeClr val="bg1"/>
                </a:solidFill>
                <a:latin typeface="Calibri" pitchFamily="34" charset="0"/>
                <a:ea typeface="Calibri" pitchFamily="34" charset="-122"/>
                <a:cs typeface="Calibri" pitchFamily="34" charset="-120"/>
              </a:rPr>
              <a:t>Thời gian thực hiện: 10/2026 – 05/2027</a:t>
            </a:r>
            <a:endParaRPr lang="en-US" noProof="1">
              <a:solidFill>
                <a:schemeClr val="bg1"/>
              </a:solidFill>
            </a:endParaRPr>
          </a:p>
        </p:txBody>
      </p:sp>
      <p:pic>
        <p:nvPicPr>
          <p:cNvPr id="11" name="Image 0" descr="/home/claude/assets/logo_h.png">
            <a:extLst>
              <a:ext uri="{FF2B5EF4-FFF2-40B4-BE49-F238E27FC236}">
                <a16:creationId xmlns:a16="http://schemas.microsoft.com/office/drawing/2014/main" id="{44C43757-06F0-8C72-FD79-C05B308F12BE}"/>
              </a:ext>
            </a:extLst>
          </p:cNvPr>
          <p:cNvPicPr>
            <a:picLocks noChangeAspect="1"/>
          </p:cNvPicPr>
          <p:nvPr/>
        </p:nvPicPr>
        <p:blipFill>
          <a:blip r:embed="rId5"/>
          <a:stretch>
            <a:fillRect/>
          </a:stretch>
        </p:blipFill>
        <p:spPr>
          <a:xfrm>
            <a:off x="509196" y="229465"/>
            <a:ext cx="1522804" cy="5948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890" y="615887"/>
            <a:ext cx="11582110" cy="260548"/>
          </a:xfrm>
          <a:prstGeom prst="rect">
            <a:avLst/>
          </a:prstGeom>
          <a:noFill/>
          <a:ln/>
        </p:spPr>
        <p:txBody>
          <a:bodyPr wrap="none" lIns="0" tIns="0" rIns="0" bIns="0" rtlCol="0" anchor="t"/>
          <a:lstStyle/>
          <a:p>
            <a:pPr marL="0" indent="0" algn="l">
              <a:lnSpc>
                <a:spcPct val="125000"/>
              </a:lnSpc>
              <a:buNone/>
            </a:pPr>
            <a:r>
              <a:rPr lang="en-US" sz="1350" b="1" kern="100" spc="82" noProof="1">
                <a:solidFill>
                  <a:srgbClr val="000000"/>
                </a:solidFill>
                <a:latin typeface="Segoe UI" panose="020B0502040204020203" pitchFamily="34" charset="0"/>
                <a:ea typeface="Plus Jakarta Sans Bold" pitchFamily="34" charset="-122"/>
                <a:cs typeface="Segoe UI" panose="020B0502040204020203" pitchFamily="34" charset="0"/>
              </a:rPr>
              <a:t>PHẦN 01 • LÝ DO CHỌN ĐỀ TÀI</a:t>
            </a:r>
            <a:endParaRPr lang="en-US" sz="1350" noProof="1">
              <a:latin typeface="Segoe UI" panose="020B0502040204020203" pitchFamily="34" charset="0"/>
              <a:cs typeface="Segoe UI" panose="020B0502040204020203" pitchFamily="34" charset="0"/>
            </a:endParaRPr>
          </a:p>
        </p:txBody>
      </p:sp>
      <p:sp>
        <p:nvSpPr>
          <p:cNvPr id="3" name="Text 1"/>
          <p:cNvSpPr/>
          <p:nvPr/>
        </p:nvSpPr>
        <p:spPr>
          <a:xfrm>
            <a:off x="609584" y="1022469"/>
            <a:ext cx="11225857" cy="1051520"/>
          </a:xfrm>
          <a:prstGeom prst="rect">
            <a:avLst/>
          </a:prstGeom>
          <a:noFill/>
          <a:ln/>
        </p:spPr>
        <p:txBody>
          <a:bodyPr wrap="square" lIns="0" tIns="0" rIns="0" bIns="0" rtlCol="0" anchor="t">
            <a:normAutofit/>
          </a:bodyPr>
          <a:lstStyle/>
          <a:p>
            <a:pPr marL="0" indent="0" algn="l">
              <a:lnSpc>
                <a:spcPct val="100000"/>
              </a:lnSpc>
              <a:buNone/>
            </a:pPr>
            <a:r>
              <a:rPr lang="en-US" sz="3200" b="1" noProof="1">
                <a:solidFill>
                  <a:srgbClr val="002855"/>
                </a:solidFill>
                <a:latin typeface="Segoe UI" panose="020B0502040204020203" pitchFamily="34" charset="0"/>
                <a:ea typeface="Plus Jakarta Sans Bold" pitchFamily="34" charset="-122"/>
                <a:cs typeface="Segoe UI" panose="020B0502040204020203" pitchFamily="34" charset="0"/>
              </a:rPr>
              <a:t>TÍNH CẤP THIẾT &amp; ĐỊNH HƯỚNG GIẢI QUYẾT CỦA ĐỀ TÀI</a:t>
            </a:r>
            <a:endParaRPr lang="en-US" sz="3200" noProof="1">
              <a:latin typeface="Segoe UI" panose="020B0502040204020203" pitchFamily="34" charset="0"/>
              <a:cs typeface="Segoe UI" panose="020B0502040204020203" pitchFamily="34" charset="0"/>
            </a:endParaRPr>
          </a:p>
        </p:txBody>
      </p:sp>
      <p:sp>
        <p:nvSpPr>
          <p:cNvPr id="4" name="Shape 2"/>
          <p:cNvSpPr/>
          <p:nvPr/>
        </p:nvSpPr>
        <p:spPr>
          <a:xfrm>
            <a:off x="609585" y="1663939"/>
            <a:ext cx="11225856" cy="2345019"/>
          </a:xfrm>
          <a:prstGeom prst="rect">
            <a:avLst/>
          </a:prstGeom>
          <a:solidFill>
            <a:srgbClr val="F8FAFC"/>
          </a:solidFill>
          <a:ln/>
        </p:spPr>
        <p:txBody>
          <a:bodyPr/>
          <a:lstStyle/>
          <a:p>
            <a:endParaRPr lang="en-US" noProof="1">
              <a:latin typeface="Segoe UI" panose="020B0502040204020203" pitchFamily="34" charset="0"/>
              <a:cs typeface="Segoe UI" panose="020B0502040204020203" pitchFamily="34" charset="0"/>
            </a:endParaRPr>
          </a:p>
        </p:txBody>
      </p:sp>
      <p:sp>
        <p:nvSpPr>
          <p:cNvPr id="5" name="Text 3"/>
          <p:cNvSpPr/>
          <p:nvPr/>
        </p:nvSpPr>
        <p:spPr>
          <a:xfrm>
            <a:off x="1159128" y="1701932"/>
            <a:ext cx="9130661" cy="221589"/>
          </a:xfrm>
          <a:prstGeom prst="rect">
            <a:avLst/>
          </a:prstGeom>
          <a:noFill/>
          <a:ln/>
        </p:spPr>
        <p:txBody>
          <a:bodyPr wrap="none" lIns="0" tIns="0" rIns="0" bIns="0" rtlCol="0" anchor="t"/>
          <a:lstStyle/>
          <a:p>
            <a:pPr marL="0" indent="0" algn="l">
              <a:lnSpc>
                <a:spcPct val="100000"/>
              </a:lnSpc>
              <a:buNone/>
            </a:pPr>
            <a:r>
              <a:rPr lang="en-US" sz="2800" b="1" noProof="1">
                <a:solidFill>
                  <a:srgbClr val="002855"/>
                </a:solidFill>
                <a:latin typeface="Segoe UI" panose="020B0502040204020203" pitchFamily="34" charset="0"/>
                <a:ea typeface="Plus Jakarta Sans Bold" pitchFamily="34" charset="-122"/>
                <a:cs typeface="Segoe UI" panose="020B0502040204020203" pitchFamily="34" charset="0"/>
              </a:rPr>
              <a:t>Tính cấp thiết</a:t>
            </a:r>
            <a:endParaRPr lang="en-US" sz="2800" noProof="1">
              <a:latin typeface="Segoe UI" panose="020B0502040204020203" pitchFamily="34" charset="0"/>
              <a:cs typeface="Segoe UI" panose="020B0502040204020203" pitchFamily="34" charset="0"/>
            </a:endParaRPr>
          </a:p>
        </p:txBody>
      </p:sp>
      <p:sp>
        <p:nvSpPr>
          <p:cNvPr id="6" name="Text 4"/>
          <p:cNvSpPr/>
          <p:nvPr/>
        </p:nvSpPr>
        <p:spPr>
          <a:xfrm>
            <a:off x="765754" y="2249616"/>
            <a:ext cx="10879906" cy="1759343"/>
          </a:xfrm>
          <a:prstGeom prst="rect">
            <a:avLst/>
          </a:prstGeom>
          <a:noFill/>
          <a:ln/>
        </p:spPr>
        <p:txBody>
          <a:bodyPr wrap="square" lIns="0" tIns="0" rIns="0" bIns="0" rtlCol="0" anchor="t">
            <a:normAutofit lnSpcReduction="10000"/>
          </a:bodyPr>
          <a:lstStyle/>
          <a:p>
            <a:pPr>
              <a:lnSpc>
                <a:spcPct val="125000"/>
              </a:lnSpc>
              <a:buSzPct val="100000"/>
            </a:pPr>
            <a:r>
              <a:rPr lang="en-US" sz="1600" b="1" noProof="1">
                <a:solidFill>
                  <a:srgbClr val="334155"/>
                </a:solidFill>
                <a:latin typeface="Segoe UI" panose="020B0502040204020203" pitchFamily="34" charset="0"/>
                <a:cs typeface="Segoe UI" panose="020B0502040204020203" pitchFamily="34" charset="0"/>
              </a:rPr>
              <a:t>1. Áp lực kiêm nhiệm &amp; Chậm trễ:</a:t>
            </a:r>
            <a:r>
              <a:rPr lang="en-US" sz="1600" noProof="1">
                <a:solidFill>
                  <a:srgbClr val="334155"/>
                </a:solidFill>
                <a:latin typeface="Segoe UI" panose="020B0502040204020203" pitchFamily="34" charset="0"/>
                <a:cs typeface="Segoe UI" panose="020B0502040204020203" pitchFamily="34" charset="0"/>
              </a:rPr>
              <a:t> </a:t>
            </a:r>
            <a:r>
              <a:rPr lang="en-US" sz="1600" noProof="1">
                <a:latin typeface="Segoe UI" panose="020B0502040204020203" pitchFamily="34" charset="0"/>
                <a:cs typeface="Segoe UI" panose="020B0502040204020203" pitchFamily="34" charset="0"/>
              </a:rPr>
              <a:t>Đội ngũ làm truyền thông là cán bộ kiêm nhiệm; khâu tìm ý tưởng, viết bài chuẩn phong cách đoàn thể và chuẩn bị hình ảnh, tốn nhiều thời gian đăng tải tin tức.</a:t>
            </a:r>
          </a:p>
          <a:p>
            <a:pPr>
              <a:lnSpc>
                <a:spcPct val="125000"/>
              </a:lnSpc>
              <a:buSzPct val="100000"/>
            </a:pPr>
            <a:r>
              <a:rPr lang="en-US" sz="1600" b="1" noProof="1">
                <a:solidFill>
                  <a:srgbClr val="334155"/>
                </a:solidFill>
                <a:latin typeface="Segoe UI" panose="020B0502040204020203" pitchFamily="34" charset="0"/>
                <a:ea typeface="Plus Jakarta Sans Bold" pitchFamily="34" charset="-122"/>
                <a:cs typeface="Segoe UI" panose="020B0502040204020203" pitchFamily="34" charset="0"/>
              </a:rPr>
              <a:t>2. Đăng tải thủ công, thao tác lập lại trên Website và Fanpage: </a:t>
            </a:r>
            <a:r>
              <a:rPr lang="en-US" sz="1600" noProof="1">
                <a:latin typeface="Segoe UI" panose="020B0502040204020203" pitchFamily="34" charset="0"/>
                <a:cs typeface="Segoe UI" panose="020B0502040204020203" pitchFamily="34" charset="0"/>
              </a:rPr>
              <a:t>Quy trình xuất bản rời rạc; cán bộ phải sao chép, định dạng lại văn bản và tải ảnh lặp lại thủ công trên từng kênh (Website, Fanpage Facebook, Zalo).</a:t>
            </a:r>
          </a:p>
          <a:p>
            <a:pPr>
              <a:lnSpc>
                <a:spcPct val="125000"/>
              </a:lnSpc>
              <a:buSzPct val="100000"/>
            </a:pPr>
            <a:r>
              <a:rPr lang="en-US" sz="1600" b="1" noProof="1">
                <a:solidFill>
                  <a:srgbClr val="334155"/>
                </a:solidFill>
                <a:latin typeface="Segoe UI" panose="020B0502040204020203" pitchFamily="34" charset="0"/>
                <a:ea typeface="Plus Jakarta Sans Bold" pitchFamily="34" charset="-122"/>
                <a:cs typeface="Segoe UI" panose="020B0502040204020203" pitchFamily="34" charset="0"/>
              </a:rPr>
              <a:t>3. Thiếu thống kê hiệu quả tập trung: </a:t>
            </a:r>
            <a:r>
              <a:rPr lang="en-US" sz="1600" noProof="1">
                <a:latin typeface="Segoe UI" panose="020B0502040204020203" pitchFamily="34" charset="0"/>
                <a:cs typeface="Segoe UI" panose="020B0502040204020203" pitchFamily="34" charset="0"/>
              </a:rPr>
              <a:t>Ban Chấp hành chưa có công cụ số liệu đo lường định lượng lượt xem, mức độ tương tác đa kênh để đánh giá và điều chỉnh hiệu quả tuyên truyền. </a:t>
            </a:r>
            <a:endParaRPr lang="en-US" sz="1600" b="1" noProof="1">
              <a:solidFill>
                <a:srgbClr val="334155"/>
              </a:solidFill>
              <a:latin typeface="Segoe UI" panose="020B0502040204020203" pitchFamily="34" charset="0"/>
              <a:ea typeface="Plus Jakarta Sans Bold" pitchFamily="34" charset="-122"/>
              <a:cs typeface="Segoe UI" panose="020B0502040204020203" pitchFamily="34" charset="0"/>
            </a:endParaRPr>
          </a:p>
          <a:p>
            <a:pPr marL="325120" indent="-325120" algn="l">
              <a:lnSpc>
                <a:spcPct val="125000"/>
              </a:lnSpc>
              <a:buSzPct val="100000"/>
              <a:buChar char="•"/>
            </a:pPr>
            <a:endParaRPr lang="en-US" sz="1600" noProof="1">
              <a:latin typeface="Segoe UI" panose="020B0502040204020203" pitchFamily="34" charset="0"/>
              <a:cs typeface="Segoe UI" panose="020B0502040204020203" pitchFamily="34" charset="0"/>
            </a:endParaRPr>
          </a:p>
        </p:txBody>
      </p:sp>
      <p:sp>
        <p:nvSpPr>
          <p:cNvPr id="7" name="Shape 5"/>
          <p:cNvSpPr/>
          <p:nvPr/>
        </p:nvSpPr>
        <p:spPr>
          <a:xfrm>
            <a:off x="605018" y="4188094"/>
            <a:ext cx="11201378" cy="2181171"/>
          </a:xfrm>
          <a:prstGeom prst="rect">
            <a:avLst/>
          </a:prstGeom>
          <a:solidFill>
            <a:schemeClr val="tx2">
              <a:lumMod val="10000"/>
              <a:lumOff val="90000"/>
            </a:schemeClr>
          </a:solidFill>
          <a:ln/>
        </p:spPr>
        <p:txBody>
          <a:bodyPr/>
          <a:lstStyle/>
          <a:p>
            <a:endParaRPr lang="en-US" noProof="1">
              <a:latin typeface="Segoe UI" panose="020B0502040204020203" pitchFamily="34" charset="0"/>
              <a:cs typeface="Segoe UI" panose="020B0502040204020203" pitchFamily="34" charset="0"/>
            </a:endParaRPr>
          </a:p>
        </p:txBody>
      </p:sp>
      <p:sp>
        <p:nvSpPr>
          <p:cNvPr id="8" name="Text 6"/>
          <p:cNvSpPr/>
          <p:nvPr/>
        </p:nvSpPr>
        <p:spPr>
          <a:xfrm>
            <a:off x="1159128" y="4272714"/>
            <a:ext cx="5187066" cy="434280"/>
          </a:xfrm>
          <a:prstGeom prst="rect">
            <a:avLst/>
          </a:prstGeom>
          <a:noFill/>
          <a:ln/>
        </p:spPr>
        <p:txBody>
          <a:bodyPr wrap="none" lIns="0" tIns="0" rIns="0" bIns="0" rtlCol="0" anchor="t"/>
          <a:lstStyle/>
          <a:p>
            <a:pPr marL="0" indent="0" algn="l">
              <a:lnSpc>
                <a:spcPct val="100000"/>
              </a:lnSpc>
              <a:buNone/>
            </a:pPr>
            <a:r>
              <a:rPr lang="en-US" sz="2800" b="1" noProof="1">
                <a:solidFill>
                  <a:schemeClr val="tx2">
                    <a:lumMod val="75000"/>
                    <a:lumOff val="25000"/>
                  </a:schemeClr>
                </a:solidFill>
                <a:latin typeface="Segoe UI" panose="020B0502040204020203" pitchFamily="34" charset="0"/>
                <a:ea typeface="Plus Jakarta Sans Bold" pitchFamily="34" charset="-122"/>
                <a:cs typeface="Segoe UI" panose="020B0502040204020203" pitchFamily="34" charset="0"/>
              </a:rPr>
              <a:t>Định hướng giải quyết</a:t>
            </a:r>
            <a:endParaRPr lang="en-US" sz="2800" noProof="1">
              <a:solidFill>
                <a:schemeClr val="tx2">
                  <a:lumMod val="75000"/>
                  <a:lumOff val="25000"/>
                </a:schemeClr>
              </a:solidFill>
              <a:latin typeface="Segoe UI" panose="020B0502040204020203" pitchFamily="34" charset="0"/>
              <a:cs typeface="Segoe UI" panose="020B0502040204020203" pitchFamily="34" charset="0"/>
            </a:endParaRPr>
          </a:p>
        </p:txBody>
      </p:sp>
      <p:sp>
        <p:nvSpPr>
          <p:cNvPr id="9" name="Text 7"/>
          <p:cNvSpPr/>
          <p:nvPr/>
        </p:nvSpPr>
        <p:spPr>
          <a:xfrm>
            <a:off x="765754" y="4794044"/>
            <a:ext cx="9130661" cy="1482930"/>
          </a:xfrm>
          <a:prstGeom prst="rect">
            <a:avLst/>
          </a:prstGeom>
          <a:noFill/>
          <a:ln/>
        </p:spPr>
        <p:txBody>
          <a:bodyPr wrap="square" lIns="0" tIns="0" rIns="0" bIns="0" rtlCol="0" anchor="t">
            <a:normAutofit/>
          </a:bodyPr>
          <a:lstStyle/>
          <a:p>
            <a:pPr>
              <a:lnSpc>
                <a:spcPct val="125000"/>
              </a:lnSpc>
            </a:pPr>
            <a:r>
              <a:rPr lang="en-US" sz="1600" b="1" noProof="1">
                <a:solidFill>
                  <a:srgbClr val="334155"/>
                </a:solidFill>
                <a:latin typeface="Segoe UI" panose="020B0502040204020203" pitchFamily="34" charset="0"/>
                <a:ea typeface="Arial" pitchFamily="34" charset="-122"/>
                <a:cs typeface="Segoe UI" panose="020B0502040204020203" pitchFamily="34" charset="0"/>
              </a:rPr>
              <a:t>- Xây dựng một hệ thống quản lý tin tức truyền thông.</a:t>
            </a:r>
            <a:r>
              <a:rPr lang="en-US" sz="1600" b="1" noProof="1">
                <a:solidFill>
                  <a:srgbClr val="334155"/>
                </a:solidFill>
                <a:latin typeface="Segoe UI" panose="020B0502040204020203" pitchFamily="34" charset="0"/>
                <a:cs typeface="Segoe UI" panose="020B0502040204020203" pitchFamily="34" charset="0"/>
              </a:rPr>
              <a:t> </a:t>
            </a:r>
          </a:p>
          <a:p>
            <a:pPr>
              <a:lnSpc>
                <a:spcPct val="125000"/>
              </a:lnSpc>
            </a:pPr>
            <a:r>
              <a:rPr lang="en-US" sz="1600" b="1" noProof="1">
                <a:solidFill>
                  <a:schemeClr val="accent1">
                    <a:lumMod val="50000"/>
                  </a:schemeClr>
                </a:solidFill>
                <a:latin typeface="Segoe UI" panose="020B0502040204020203" pitchFamily="34" charset="0"/>
                <a:ea typeface="Arial" pitchFamily="34" charset="-122"/>
                <a:cs typeface="Segoe UI" panose="020B0502040204020203" pitchFamily="34" charset="0"/>
              </a:rPr>
              <a:t>- Tạo và biên tập bài viết, tích hợp AI hỗ trợ tạo nội dung, hình ảnh.</a:t>
            </a:r>
          </a:p>
          <a:p>
            <a:pPr>
              <a:lnSpc>
                <a:spcPct val="125000"/>
              </a:lnSpc>
            </a:pPr>
            <a:r>
              <a:rPr lang="en-US" sz="1600" b="1" noProof="1">
                <a:solidFill>
                  <a:schemeClr val="accent1">
                    <a:lumMod val="50000"/>
                  </a:schemeClr>
                </a:solidFill>
                <a:latin typeface="Segoe UI" panose="020B0502040204020203" pitchFamily="34" charset="0"/>
                <a:ea typeface="Arial" pitchFamily="34" charset="-122"/>
                <a:cs typeface="Segoe UI" panose="020B0502040204020203" pitchFamily="34" charset="0"/>
              </a:rPr>
              <a:t>- Quản lý lịch đăng, hỗ trợ đăng tải nội dung tự động lên Website, Fanpage Facebook và Zalo.</a:t>
            </a:r>
          </a:p>
          <a:p>
            <a:pPr>
              <a:lnSpc>
                <a:spcPct val="125000"/>
              </a:lnSpc>
            </a:pPr>
            <a:r>
              <a:rPr lang="en-US" sz="1600" b="1" noProof="1">
                <a:solidFill>
                  <a:schemeClr val="accent1">
                    <a:lumMod val="50000"/>
                  </a:schemeClr>
                </a:solidFill>
                <a:latin typeface="Segoe UI" panose="020B0502040204020203" pitchFamily="34" charset="0"/>
                <a:ea typeface="Arial" pitchFamily="34" charset="-122"/>
                <a:cs typeface="Segoe UI" panose="020B0502040204020203" pitchFamily="34" charset="0"/>
              </a:rPr>
              <a:t>- Theo dõi và thống kê hiệu quả truyền thông.</a:t>
            </a:r>
            <a:endParaRPr lang="en-US" sz="1600" b="1" noProof="1">
              <a:solidFill>
                <a:schemeClr val="accent1">
                  <a:lumMod val="50000"/>
                </a:schemeClr>
              </a:solidFill>
              <a:latin typeface="Segoe UI" panose="020B0502040204020203" pitchFamily="34" charset="0"/>
              <a:cs typeface="Segoe UI" panose="020B0502040204020203" pitchFamily="34" charset="0"/>
            </a:endParaRPr>
          </a:p>
        </p:txBody>
      </p:sp>
      <p:sp>
        <p:nvSpPr>
          <p:cNvPr id="17" name="Hộp Văn bản 16">
            <a:extLst>
              <a:ext uri="{FF2B5EF4-FFF2-40B4-BE49-F238E27FC236}">
                <a16:creationId xmlns:a16="http://schemas.microsoft.com/office/drawing/2014/main" id="{10CB392E-D17D-53C4-BC69-782BC404798C}"/>
              </a:ext>
            </a:extLst>
          </p:cNvPr>
          <p:cNvSpPr txBox="1"/>
          <p:nvPr/>
        </p:nvSpPr>
        <p:spPr>
          <a:xfrm>
            <a:off x="609585" y="5153336"/>
            <a:ext cx="10972526" cy="338554"/>
          </a:xfrm>
          <a:prstGeom prst="rect">
            <a:avLst/>
          </a:prstGeom>
          <a:noFill/>
        </p:spPr>
        <p:txBody>
          <a:bodyPr wrap="square">
            <a:spAutoFit/>
          </a:bodyPr>
          <a:lstStyle/>
          <a:p>
            <a:pPr marL="0" indent="0" algn="l">
              <a:buNone/>
            </a:pPr>
            <a:endParaRPr lang="en-US" sz="1600" noProof="1">
              <a:latin typeface="Segoe UI" panose="020B0502040204020203" pitchFamily="34" charset="0"/>
              <a:cs typeface="Segoe UI" panose="020B0502040204020203" pitchFamily="34" charset="0"/>
            </a:endParaRPr>
          </a:p>
        </p:txBody>
      </p:sp>
      <p:pic>
        <p:nvPicPr>
          <p:cNvPr id="21" name="Picture 3">
            <a:extLst>
              <a:ext uri="{FF2B5EF4-FFF2-40B4-BE49-F238E27FC236}">
                <a16:creationId xmlns:a16="http://schemas.microsoft.com/office/drawing/2014/main" id="{A676FA50-BA7D-C71A-1095-7FCB89192E1B}"/>
              </a:ext>
            </a:extLst>
          </p:cNvPr>
          <p:cNvPicPr>
            <a:picLocks noChangeAspect="1"/>
          </p:cNvPicPr>
          <p:nvPr/>
        </p:nvPicPr>
        <p:blipFill>
          <a:blip r:embed="rId3"/>
          <a:stretch>
            <a:fillRect/>
          </a:stretch>
        </p:blipFill>
        <p:spPr>
          <a:xfrm>
            <a:off x="765754" y="1755812"/>
            <a:ext cx="285750" cy="285750"/>
          </a:xfrm>
          <a:prstGeom prst="rect">
            <a:avLst/>
          </a:prstGeom>
        </p:spPr>
      </p:pic>
      <p:pic>
        <p:nvPicPr>
          <p:cNvPr id="22" name="Picture 4">
            <a:extLst>
              <a:ext uri="{FF2B5EF4-FFF2-40B4-BE49-F238E27FC236}">
                <a16:creationId xmlns:a16="http://schemas.microsoft.com/office/drawing/2014/main" id="{D93BC2A7-09D2-BBBC-6ED7-450C7A4ADE5C}"/>
              </a:ext>
            </a:extLst>
          </p:cNvPr>
          <p:cNvPicPr>
            <a:picLocks noChangeAspect="1"/>
          </p:cNvPicPr>
          <p:nvPr/>
        </p:nvPicPr>
        <p:blipFill>
          <a:blip r:embed="rId4"/>
          <a:stretch>
            <a:fillRect/>
          </a:stretch>
        </p:blipFill>
        <p:spPr>
          <a:xfrm>
            <a:off x="788910" y="4365475"/>
            <a:ext cx="285750" cy="285750"/>
          </a:xfrm>
          <a:prstGeom prst="rect">
            <a:avLst/>
          </a:prstGeom>
        </p:spPr>
      </p:pic>
      <p:pic>
        <p:nvPicPr>
          <p:cNvPr id="11" name="Image 0" descr="/home/claude/assets/logo_h.png">
            <a:extLst>
              <a:ext uri="{FF2B5EF4-FFF2-40B4-BE49-F238E27FC236}">
                <a16:creationId xmlns:a16="http://schemas.microsoft.com/office/drawing/2014/main" id="{C39DF2FA-FFD4-D3BB-6FAE-ADD5F7CFC5AE}"/>
              </a:ext>
            </a:extLst>
          </p:cNvPr>
          <p:cNvPicPr>
            <a:picLocks noChangeAspect="1"/>
          </p:cNvPicPr>
          <p:nvPr/>
        </p:nvPicPr>
        <p:blipFill>
          <a:blip r:embed="rId5"/>
          <a:stretch>
            <a:fillRect/>
          </a:stretch>
        </p:blipFill>
        <p:spPr>
          <a:xfrm>
            <a:off x="10079793" y="229465"/>
            <a:ext cx="1755648"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5887"/>
            <a:ext cx="10972526" cy="260548"/>
          </a:xfrm>
          <a:prstGeom prst="rect">
            <a:avLst/>
          </a:prstGeom>
          <a:noFill/>
          <a:ln/>
        </p:spPr>
        <p:txBody>
          <a:bodyPr wrap="none" lIns="0" tIns="0" rIns="0" bIns="0" rtlCol="0" anchor="t"/>
          <a:lstStyle/>
          <a:p>
            <a:pPr marL="0" indent="0" algn="l">
              <a:lnSpc>
                <a:spcPct val="125000"/>
              </a:lnSpc>
              <a:buNone/>
            </a:pPr>
            <a:r>
              <a:rPr lang="en-US" sz="1350" b="1" kern="100" spc="82" noProof="1">
                <a:solidFill>
                  <a:srgbClr val="9A6700"/>
                </a:solidFill>
                <a:latin typeface="Segoe UI" panose="020B0502040204020203" pitchFamily="34" charset="0"/>
                <a:ea typeface="Plus Jakarta Sans Bold" pitchFamily="34" charset="-122"/>
                <a:cs typeface="Segoe UI" panose="020B0502040204020203" pitchFamily="34" charset="0"/>
              </a:rPr>
              <a:t>PHẦN 02 • KIẾN TRÚC KỸ THUẬT</a:t>
            </a:r>
            <a:endParaRPr lang="en-US" sz="1350" noProof="1">
              <a:latin typeface="Segoe UI" panose="020B0502040204020203" pitchFamily="34" charset="0"/>
              <a:cs typeface="Segoe UI" panose="020B0502040204020203" pitchFamily="34" charset="0"/>
            </a:endParaRPr>
          </a:p>
        </p:txBody>
      </p:sp>
      <p:sp>
        <p:nvSpPr>
          <p:cNvPr id="3" name="Text 1"/>
          <p:cNvSpPr/>
          <p:nvPr/>
        </p:nvSpPr>
        <p:spPr>
          <a:xfrm>
            <a:off x="609585" y="1022469"/>
            <a:ext cx="10972526" cy="525760"/>
          </a:xfrm>
          <a:prstGeom prst="rect">
            <a:avLst/>
          </a:prstGeom>
          <a:noFill/>
          <a:ln/>
        </p:spPr>
        <p:txBody>
          <a:bodyPr wrap="none" lIns="0" tIns="0" rIns="0" bIns="0" rtlCol="0" anchor="t"/>
          <a:lstStyle/>
          <a:p>
            <a:pPr marL="0" indent="0" algn="l">
              <a:lnSpc>
                <a:spcPct val="100000"/>
              </a:lnSpc>
              <a:buNone/>
            </a:pPr>
            <a:r>
              <a:rPr lang="en-US" sz="3200" b="1" noProof="1">
                <a:solidFill>
                  <a:srgbClr val="002855"/>
                </a:solidFill>
                <a:latin typeface="Segoe UI" panose="020B0502040204020203" pitchFamily="34" charset="0"/>
                <a:ea typeface="Plus Jakarta Sans Bold" pitchFamily="34" charset="-122"/>
                <a:cs typeface="Segoe UI" panose="020B0502040204020203" pitchFamily="34" charset="0"/>
              </a:rPr>
              <a:t>CÔNG NGHỆ SỬ DỤNG TRONG ĐỀ TÀI</a:t>
            </a:r>
            <a:endParaRPr lang="en-US" sz="3200" noProof="1">
              <a:latin typeface="Segoe UI" panose="020B0502040204020203" pitchFamily="34" charset="0"/>
              <a:cs typeface="Segoe UI" panose="020B0502040204020203" pitchFamily="34" charset="0"/>
            </a:endParaRPr>
          </a:p>
        </p:txBody>
      </p:sp>
      <p:sp>
        <p:nvSpPr>
          <p:cNvPr id="4" name="Shape 2"/>
          <p:cNvSpPr/>
          <p:nvPr/>
        </p:nvSpPr>
        <p:spPr>
          <a:xfrm>
            <a:off x="609585" y="1844666"/>
            <a:ext cx="2901366" cy="4612042"/>
          </a:xfrm>
          <a:prstGeom prst="rect">
            <a:avLst/>
          </a:prstGeom>
          <a:solidFill>
            <a:srgbClr val="F8FAFC"/>
          </a:solidFill>
          <a:ln/>
          <a:effectLst>
            <a:softEdge rad="12700"/>
          </a:effectLst>
        </p:spPr>
        <p:txBody>
          <a:bodyPr/>
          <a:lstStyle/>
          <a:p>
            <a:endParaRPr lang="en-US" noProof="1">
              <a:latin typeface="Segoe UI" panose="020B0502040204020203" pitchFamily="34" charset="0"/>
              <a:cs typeface="Segoe UI" panose="020B0502040204020203" pitchFamily="34" charset="0"/>
            </a:endParaRPr>
          </a:p>
        </p:txBody>
      </p:sp>
      <p:sp>
        <p:nvSpPr>
          <p:cNvPr id="5" name="Text 3"/>
          <p:cNvSpPr/>
          <p:nvPr/>
        </p:nvSpPr>
        <p:spPr>
          <a:xfrm>
            <a:off x="761981" y="2667710"/>
            <a:ext cx="2924995" cy="434280"/>
          </a:xfrm>
          <a:prstGeom prst="rect">
            <a:avLst/>
          </a:prstGeom>
          <a:noFill/>
          <a:ln/>
        </p:spPr>
        <p:txBody>
          <a:bodyPr wrap="none" lIns="0" tIns="0" rIns="0" bIns="0" rtlCol="0" anchor="t"/>
          <a:lstStyle/>
          <a:p>
            <a:pPr marL="0" indent="0" algn="l">
              <a:lnSpc>
                <a:spcPct val="100000"/>
              </a:lnSpc>
              <a:buNone/>
            </a:pPr>
            <a:r>
              <a:rPr lang="en-US" sz="2800" b="1" noProof="1">
                <a:solidFill>
                  <a:srgbClr val="002855"/>
                </a:solidFill>
                <a:latin typeface="Segoe UI" panose="020B0502040204020203" pitchFamily="34" charset="0"/>
                <a:ea typeface="Plus Jakarta Sans Bold" pitchFamily="34" charset="-122"/>
                <a:cs typeface="Segoe UI" panose="020B0502040204020203" pitchFamily="34" charset="0"/>
              </a:rPr>
              <a:t>Frontend</a:t>
            </a:r>
            <a:endParaRPr lang="en-US" sz="2850" noProof="1">
              <a:latin typeface="Segoe UI" panose="020B0502040204020203" pitchFamily="34" charset="0"/>
              <a:cs typeface="Segoe UI" panose="020B0502040204020203" pitchFamily="34" charset="0"/>
            </a:endParaRPr>
          </a:p>
        </p:txBody>
      </p:sp>
      <p:sp>
        <p:nvSpPr>
          <p:cNvPr id="6" name="Text 4"/>
          <p:cNvSpPr/>
          <p:nvPr/>
        </p:nvSpPr>
        <p:spPr>
          <a:xfrm>
            <a:off x="761981" y="3228542"/>
            <a:ext cx="3077391" cy="302816"/>
          </a:xfrm>
          <a:prstGeom prst="rect">
            <a:avLst/>
          </a:prstGeom>
          <a:noFill/>
          <a:ln/>
        </p:spPr>
        <p:txBody>
          <a:bodyPr wrap="none" lIns="0" tIns="0" rIns="0" bIns="0" rtlCol="0" anchor="t"/>
          <a:lstStyle/>
          <a:p>
            <a:pPr algn="l">
              <a:lnSpc>
                <a:spcPct val="125000"/>
              </a:lnSpc>
              <a:buSzPct val="100000"/>
            </a:pPr>
            <a:r>
              <a:rPr lang="en-US" sz="1600" b="1" noProof="1">
                <a:solidFill>
                  <a:srgbClr val="1987FF"/>
                </a:solidFill>
                <a:latin typeface="Segoe UI" panose="020B0502040204020203" pitchFamily="34" charset="0"/>
                <a:ea typeface="Plus Jakarta Sans Bold" pitchFamily="34" charset="-122"/>
                <a:cs typeface="Segoe UI" panose="020B0502040204020203" pitchFamily="34" charset="0"/>
              </a:rPr>
              <a:t>React 18 SPA </a:t>
            </a:r>
          </a:p>
          <a:p>
            <a:pPr algn="l">
              <a:lnSpc>
                <a:spcPct val="100000"/>
              </a:lnSpc>
              <a:buSzPct val="100000"/>
            </a:pPr>
            <a:endParaRPr lang="en-US" sz="1600" noProof="1">
              <a:solidFill>
                <a:srgbClr val="1987FF"/>
              </a:solidFill>
              <a:latin typeface="Segoe UI" panose="020B0502040204020203" pitchFamily="34" charset="0"/>
              <a:cs typeface="Segoe UI" panose="020B0502040204020203" pitchFamily="34" charset="0"/>
            </a:endParaRPr>
          </a:p>
        </p:txBody>
      </p:sp>
      <p:sp>
        <p:nvSpPr>
          <p:cNvPr id="7" name="Shape 5"/>
          <p:cNvSpPr/>
          <p:nvPr/>
        </p:nvSpPr>
        <p:spPr>
          <a:xfrm>
            <a:off x="3578559" y="1844665"/>
            <a:ext cx="3229886" cy="4612043"/>
          </a:xfrm>
          <a:prstGeom prst="rect">
            <a:avLst/>
          </a:prstGeom>
          <a:solidFill>
            <a:srgbClr val="F8FAFC"/>
          </a:solidFill>
          <a:ln/>
        </p:spPr>
        <p:txBody>
          <a:bodyPr/>
          <a:lstStyle/>
          <a:p>
            <a:endParaRPr lang="en-US" noProof="1">
              <a:latin typeface="Segoe UI" panose="020B0502040204020203" pitchFamily="34" charset="0"/>
              <a:cs typeface="Segoe UI" panose="020B0502040204020203" pitchFamily="34" charset="0"/>
            </a:endParaRPr>
          </a:p>
        </p:txBody>
      </p:sp>
      <p:sp>
        <p:nvSpPr>
          <p:cNvPr id="8" name="Text 6"/>
          <p:cNvSpPr/>
          <p:nvPr/>
        </p:nvSpPr>
        <p:spPr>
          <a:xfrm>
            <a:off x="3730955" y="2667709"/>
            <a:ext cx="2925094" cy="434280"/>
          </a:xfrm>
          <a:prstGeom prst="rect">
            <a:avLst/>
          </a:prstGeom>
          <a:noFill/>
          <a:ln/>
        </p:spPr>
        <p:txBody>
          <a:bodyPr wrap="none" lIns="0" tIns="0" rIns="0" bIns="0" rtlCol="0" anchor="t"/>
          <a:lstStyle/>
          <a:p>
            <a:pPr marL="0" indent="0" algn="l">
              <a:lnSpc>
                <a:spcPct val="100000"/>
              </a:lnSpc>
              <a:buNone/>
            </a:pPr>
            <a:r>
              <a:rPr lang="en-US" sz="2800" b="1" noProof="1">
                <a:solidFill>
                  <a:srgbClr val="002855"/>
                </a:solidFill>
                <a:latin typeface="Segoe UI" panose="020B0502040204020203" pitchFamily="34" charset="0"/>
                <a:ea typeface="Plus Jakarta Sans Bold" pitchFamily="34" charset="-122"/>
                <a:cs typeface="Segoe UI" panose="020B0502040204020203" pitchFamily="34" charset="0"/>
              </a:rPr>
              <a:t>Backend</a:t>
            </a:r>
            <a:endParaRPr lang="en-US" sz="3200" noProof="1">
              <a:latin typeface="Segoe UI" panose="020B0502040204020203" pitchFamily="34" charset="0"/>
              <a:cs typeface="Segoe UI" panose="020B0502040204020203" pitchFamily="34" charset="0"/>
            </a:endParaRPr>
          </a:p>
        </p:txBody>
      </p:sp>
      <p:sp>
        <p:nvSpPr>
          <p:cNvPr id="9" name="Text 7"/>
          <p:cNvSpPr/>
          <p:nvPr/>
        </p:nvSpPr>
        <p:spPr>
          <a:xfrm>
            <a:off x="3730955" y="3147520"/>
            <a:ext cx="2925094" cy="674191"/>
          </a:xfrm>
          <a:prstGeom prst="rect">
            <a:avLst/>
          </a:prstGeom>
          <a:noFill/>
          <a:ln/>
        </p:spPr>
        <p:txBody>
          <a:bodyPr wrap="square" lIns="0" tIns="0" rIns="0" bIns="0" rtlCol="0" anchor="t">
            <a:normAutofit/>
          </a:bodyPr>
          <a:lstStyle/>
          <a:p>
            <a:pPr algn="l">
              <a:lnSpc>
                <a:spcPct val="125000"/>
              </a:lnSpc>
              <a:buSzPct val="100000"/>
            </a:pPr>
            <a:r>
              <a:rPr lang="en-US" sz="1600" b="1" noProof="1">
                <a:solidFill>
                  <a:srgbClr val="00B050"/>
                </a:solidFill>
                <a:latin typeface="Segoe UI" panose="020B0502040204020203" pitchFamily="34" charset="0"/>
                <a:ea typeface="Plus Jakarta Sans Bold" pitchFamily="34" charset="-122"/>
                <a:cs typeface="Segoe UI" panose="020B0502040204020203" pitchFamily="34" charset="0"/>
              </a:rPr>
              <a:t>Node.js v18</a:t>
            </a:r>
            <a:endParaRPr lang="en-US" sz="1600" noProof="1">
              <a:solidFill>
                <a:srgbClr val="00B050"/>
              </a:solidFill>
              <a:latin typeface="Segoe UI" panose="020B0502040204020203" pitchFamily="34" charset="0"/>
              <a:cs typeface="Segoe UI" panose="020B0502040204020203" pitchFamily="34" charset="0"/>
            </a:endParaRPr>
          </a:p>
          <a:p>
            <a:pPr algn="l">
              <a:lnSpc>
                <a:spcPct val="125000"/>
              </a:lnSpc>
              <a:buSzPct val="100000"/>
            </a:pPr>
            <a:r>
              <a:rPr lang="en-US" sz="1600" b="1" noProof="1">
                <a:solidFill>
                  <a:srgbClr val="00B050"/>
                </a:solidFill>
                <a:latin typeface="Segoe UI" panose="020B0502040204020203" pitchFamily="34" charset="0"/>
                <a:ea typeface="Plus Jakarta Sans Bold" pitchFamily="34" charset="-122"/>
                <a:cs typeface="Segoe UI" panose="020B0502040204020203" pitchFamily="34" charset="0"/>
              </a:rPr>
              <a:t>Microsoft SQL Server 2022</a:t>
            </a:r>
            <a:endParaRPr lang="en-US" sz="1600" noProof="1">
              <a:solidFill>
                <a:srgbClr val="00B050"/>
              </a:solidFill>
              <a:latin typeface="Segoe UI" panose="020B0502040204020203" pitchFamily="34" charset="0"/>
              <a:cs typeface="Segoe UI" panose="020B0502040204020203" pitchFamily="34" charset="0"/>
            </a:endParaRPr>
          </a:p>
        </p:txBody>
      </p:sp>
      <p:sp>
        <p:nvSpPr>
          <p:cNvPr id="10" name="Shape 8"/>
          <p:cNvSpPr/>
          <p:nvPr/>
        </p:nvSpPr>
        <p:spPr>
          <a:xfrm>
            <a:off x="6945367" y="1844667"/>
            <a:ext cx="4636744" cy="4612043"/>
          </a:xfrm>
          <a:prstGeom prst="rect">
            <a:avLst/>
          </a:prstGeom>
          <a:solidFill>
            <a:srgbClr val="F8FAFC"/>
          </a:solidFill>
          <a:ln/>
        </p:spPr>
        <p:txBody>
          <a:bodyPr/>
          <a:lstStyle/>
          <a:p>
            <a:endParaRPr lang="en-US" noProof="1">
              <a:latin typeface="Segoe UI" panose="020B0502040204020203" pitchFamily="34" charset="0"/>
              <a:cs typeface="Segoe UI" panose="020B0502040204020203" pitchFamily="34" charset="0"/>
            </a:endParaRPr>
          </a:p>
        </p:txBody>
      </p:sp>
      <p:sp>
        <p:nvSpPr>
          <p:cNvPr id="11" name="Text 9"/>
          <p:cNvSpPr/>
          <p:nvPr/>
        </p:nvSpPr>
        <p:spPr>
          <a:xfrm>
            <a:off x="7014378" y="2667710"/>
            <a:ext cx="3441654" cy="434280"/>
          </a:xfrm>
          <a:prstGeom prst="rect">
            <a:avLst/>
          </a:prstGeom>
          <a:noFill/>
          <a:ln/>
        </p:spPr>
        <p:txBody>
          <a:bodyPr wrap="none" lIns="0" tIns="0" rIns="0" bIns="0" rtlCol="0" anchor="t"/>
          <a:lstStyle/>
          <a:p>
            <a:pPr marL="0" indent="0" algn="l">
              <a:lnSpc>
                <a:spcPct val="100000"/>
              </a:lnSpc>
              <a:buNone/>
            </a:pPr>
            <a:r>
              <a:rPr lang="en-US" sz="2800" b="1" noProof="1">
                <a:solidFill>
                  <a:srgbClr val="002855"/>
                </a:solidFill>
                <a:latin typeface="Segoe UI" panose="020B0502040204020203" pitchFamily="34" charset="0"/>
                <a:ea typeface="Plus Jakarta Sans Bold" pitchFamily="34" charset="-122"/>
                <a:cs typeface="Segoe UI" panose="020B0502040204020203" pitchFamily="34" charset="0"/>
              </a:rPr>
              <a:t>Mô hình AI tích hợp</a:t>
            </a:r>
            <a:endParaRPr lang="en-US" sz="2800" noProof="1">
              <a:latin typeface="Segoe UI" panose="020B0502040204020203" pitchFamily="34" charset="0"/>
              <a:cs typeface="Segoe UI" panose="020B0502040204020203" pitchFamily="34" charset="0"/>
            </a:endParaRPr>
          </a:p>
        </p:txBody>
      </p:sp>
      <p:sp>
        <p:nvSpPr>
          <p:cNvPr id="12" name="Text 10"/>
          <p:cNvSpPr/>
          <p:nvPr/>
        </p:nvSpPr>
        <p:spPr>
          <a:xfrm>
            <a:off x="7083390" y="3223303"/>
            <a:ext cx="4398262" cy="2009259"/>
          </a:xfrm>
          <a:prstGeom prst="rect">
            <a:avLst/>
          </a:prstGeom>
          <a:noFill/>
          <a:ln/>
        </p:spPr>
        <p:txBody>
          <a:bodyPr wrap="square" lIns="0" tIns="0" rIns="0" bIns="0" rtlCol="0" anchor="t">
            <a:normAutofit/>
          </a:bodyPr>
          <a:lstStyle/>
          <a:p>
            <a:pPr algn="l">
              <a:lnSpc>
                <a:spcPct val="125000"/>
              </a:lnSpc>
              <a:buSzPct val="100000"/>
            </a:pPr>
            <a:r>
              <a:rPr lang="en-US" sz="1600" b="1" noProof="1">
                <a:solidFill>
                  <a:schemeClr val="accent2">
                    <a:lumMod val="75000"/>
                  </a:schemeClr>
                </a:solidFill>
                <a:latin typeface="Segoe UI" panose="020B0502040204020203" pitchFamily="34" charset="0"/>
                <a:ea typeface="Plus Jakarta Sans Bold" pitchFamily="34" charset="-122"/>
                <a:cs typeface="Segoe UI" panose="020B0502040204020203" pitchFamily="34" charset="0"/>
              </a:rPr>
              <a:t>Google Gemini API / Cloud LLM</a:t>
            </a:r>
            <a:endParaRPr lang="en-US" sz="1600" noProof="1">
              <a:solidFill>
                <a:schemeClr val="accent2">
                  <a:lumMod val="75000"/>
                </a:schemeClr>
              </a:solidFill>
              <a:latin typeface="Segoe UI" panose="020B0502040204020203" pitchFamily="34" charset="0"/>
              <a:cs typeface="Segoe UI" panose="020B0502040204020203" pitchFamily="34" charset="0"/>
            </a:endParaRPr>
          </a:p>
          <a:p>
            <a:pPr algn="l">
              <a:lnSpc>
                <a:spcPct val="125000"/>
              </a:lnSpc>
              <a:buSzPct val="100000"/>
            </a:pPr>
            <a:r>
              <a:rPr lang="en-US" sz="1600" b="1" noProof="1">
                <a:solidFill>
                  <a:schemeClr val="accent2">
                    <a:lumMod val="75000"/>
                  </a:schemeClr>
                </a:solidFill>
                <a:latin typeface="Segoe UI" panose="020B0502040204020203" pitchFamily="34" charset="0"/>
                <a:ea typeface="Plus Jakarta Sans Bold" pitchFamily="34" charset="-122"/>
                <a:cs typeface="Segoe UI" panose="020B0502040204020203" pitchFamily="34" charset="0"/>
              </a:rPr>
              <a:t>Meta Facebook Graph API &amp; Zalo OA</a:t>
            </a:r>
            <a:endParaRPr lang="en-US" sz="1600" noProof="1">
              <a:solidFill>
                <a:schemeClr val="accent2">
                  <a:lumMod val="75000"/>
                </a:schemeClr>
              </a:solidFill>
              <a:latin typeface="Segoe UI" panose="020B0502040204020203" pitchFamily="34" charset="0"/>
              <a:cs typeface="Segoe UI" panose="020B0502040204020203" pitchFamily="34" charset="0"/>
            </a:endParaRPr>
          </a:p>
        </p:txBody>
      </p:sp>
      <p:pic>
        <p:nvPicPr>
          <p:cNvPr id="13" name="Picture 4">
            <a:extLst>
              <a:ext uri="{FF2B5EF4-FFF2-40B4-BE49-F238E27FC236}">
                <a16:creationId xmlns:a16="http://schemas.microsoft.com/office/drawing/2014/main" id="{638B4B3D-C2E2-D202-B5F7-2161F5DD999C}"/>
              </a:ext>
            </a:extLst>
          </p:cNvPr>
          <p:cNvPicPr>
            <a:picLocks noChangeAspect="1"/>
          </p:cNvPicPr>
          <p:nvPr/>
        </p:nvPicPr>
        <p:blipFill>
          <a:blip r:embed="rId3"/>
          <a:stretch>
            <a:fillRect/>
          </a:stretch>
        </p:blipFill>
        <p:spPr>
          <a:xfrm>
            <a:off x="761981" y="1990436"/>
            <a:ext cx="457200" cy="457200"/>
          </a:xfrm>
          <a:prstGeom prst="rect">
            <a:avLst/>
          </a:prstGeom>
        </p:spPr>
      </p:pic>
      <p:pic>
        <p:nvPicPr>
          <p:cNvPr id="14" name="Picture 5">
            <a:extLst>
              <a:ext uri="{FF2B5EF4-FFF2-40B4-BE49-F238E27FC236}">
                <a16:creationId xmlns:a16="http://schemas.microsoft.com/office/drawing/2014/main" id="{E519813B-4C3D-28DA-F01E-716F6F2AEA97}"/>
              </a:ext>
            </a:extLst>
          </p:cNvPr>
          <p:cNvPicPr>
            <a:picLocks noChangeAspect="1"/>
          </p:cNvPicPr>
          <p:nvPr/>
        </p:nvPicPr>
        <p:blipFill>
          <a:blip r:embed="rId4"/>
          <a:stretch>
            <a:fillRect/>
          </a:stretch>
        </p:blipFill>
        <p:spPr>
          <a:xfrm>
            <a:off x="3715481" y="1975312"/>
            <a:ext cx="400050" cy="457200"/>
          </a:xfrm>
          <a:prstGeom prst="rect">
            <a:avLst/>
          </a:prstGeom>
        </p:spPr>
      </p:pic>
      <p:pic>
        <p:nvPicPr>
          <p:cNvPr id="15" name="Picture 6">
            <a:extLst>
              <a:ext uri="{FF2B5EF4-FFF2-40B4-BE49-F238E27FC236}">
                <a16:creationId xmlns:a16="http://schemas.microsoft.com/office/drawing/2014/main" id="{30687587-4108-2ABC-E92C-F51B4A6D7AA3}"/>
              </a:ext>
            </a:extLst>
          </p:cNvPr>
          <p:cNvPicPr>
            <a:picLocks noChangeAspect="1"/>
          </p:cNvPicPr>
          <p:nvPr/>
        </p:nvPicPr>
        <p:blipFill>
          <a:blip r:embed="rId5"/>
          <a:stretch>
            <a:fillRect/>
          </a:stretch>
        </p:blipFill>
        <p:spPr>
          <a:xfrm>
            <a:off x="7014378" y="1990436"/>
            <a:ext cx="514350" cy="457200"/>
          </a:xfrm>
          <a:prstGeom prst="rect">
            <a:avLst/>
          </a:prstGeom>
        </p:spPr>
      </p:pic>
      <p:sp>
        <p:nvSpPr>
          <p:cNvPr id="17" name="Hộp Văn bản 16">
            <a:extLst>
              <a:ext uri="{FF2B5EF4-FFF2-40B4-BE49-F238E27FC236}">
                <a16:creationId xmlns:a16="http://schemas.microsoft.com/office/drawing/2014/main" id="{623EA5B8-DB98-06FA-6E7E-473821229B70}"/>
              </a:ext>
            </a:extLst>
          </p:cNvPr>
          <p:cNvSpPr txBox="1"/>
          <p:nvPr/>
        </p:nvSpPr>
        <p:spPr>
          <a:xfrm>
            <a:off x="677496" y="3874769"/>
            <a:ext cx="2800603" cy="2031325"/>
          </a:xfrm>
          <a:prstGeom prst="rect">
            <a:avLst/>
          </a:prstGeom>
          <a:noFill/>
        </p:spPr>
        <p:txBody>
          <a:bodyPr wrap="square">
            <a:spAutoFit/>
          </a:bodyPr>
          <a:lstStyle/>
          <a:p>
            <a:r>
              <a:rPr lang="en-US" sz="1800" b="0" i="0" noProof="1">
                <a:solidFill>
                  <a:schemeClr val="tx1"/>
                </a:solidFill>
                <a:effectLst/>
                <a:latin typeface="Segoe UI" panose="020B0502040204020203" pitchFamily="34" charset="0"/>
                <a:cs typeface="Segoe UI" panose="020B0502040204020203" pitchFamily="34" charset="0"/>
              </a:rPr>
              <a:t>Xây dựng giao diện Cổng thông tin độc giả và chức năng biên tập Admin CMS với cơ chế tải Zero Reload, mang lại trải nghiệm tương tác mượt mà.</a:t>
            </a:r>
            <a:r>
              <a:rPr lang="en-US" noProof="1">
                <a:latin typeface="Segoe UI" panose="020B0502040204020203" pitchFamily="34" charset="0"/>
                <a:cs typeface="Segoe UI" panose="020B0502040204020203" pitchFamily="34" charset="0"/>
              </a:rPr>
              <a:t> </a:t>
            </a:r>
          </a:p>
        </p:txBody>
      </p:sp>
      <p:sp>
        <p:nvSpPr>
          <p:cNvPr id="19" name="Hộp Văn bản 18">
            <a:extLst>
              <a:ext uri="{FF2B5EF4-FFF2-40B4-BE49-F238E27FC236}">
                <a16:creationId xmlns:a16="http://schemas.microsoft.com/office/drawing/2014/main" id="{5D694D50-59B5-95FE-281D-B8A07B5E3909}"/>
              </a:ext>
            </a:extLst>
          </p:cNvPr>
          <p:cNvSpPr txBox="1"/>
          <p:nvPr/>
        </p:nvSpPr>
        <p:spPr>
          <a:xfrm>
            <a:off x="3686976" y="3877378"/>
            <a:ext cx="3009693" cy="1200329"/>
          </a:xfrm>
          <a:prstGeom prst="rect">
            <a:avLst/>
          </a:prstGeom>
          <a:noFill/>
        </p:spPr>
        <p:txBody>
          <a:bodyPr wrap="square">
            <a:spAutoFit/>
          </a:bodyPr>
          <a:lstStyle/>
          <a:p>
            <a:r>
              <a:rPr lang="en-US" sz="1800" b="0" i="0" noProof="1">
                <a:solidFill>
                  <a:schemeClr val="tx1"/>
                </a:solidFill>
                <a:effectLst/>
                <a:latin typeface="Segoe UI" panose="020B0502040204020203" pitchFamily="34" charset="0"/>
                <a:cs typeface="Segoe UI" panose="020B0502040204020203" pitchFamily="34" charset="0"/>
              </a:rPr>
              <a:t>Xử lý toàn bộ logic nghiệp vụ với hiệu năng cao, kết nối hệ quản trị CSDL, quan hệ lưu trữ dữ liệu an toàn.</a:t>
            </a:r>
            <a:endParaRPr lang="en-US" noProof="1">
              <a:latin typeface="Segoe UI" panose="020B0502040204020203" pitchFamily="34" charset="0"/>
              <a:cs typeface="Segoe UI" panose="020B0502040204020203" pitchFamily="34" charset="0"/>
            </a:endParaRPr>
          </a:p>
        </p:txBody>
      </p:sp>
      <p:sp>
        <p:nvSpPr>
          <p:cNvPr id="22" name="Hộp Văn bản 21">
            <a:extLst>
              <a:ext uri="{FF2B5EF4-FFF2-40B4-BE49-F238E27FC236}">
                <a16:creationId xmlns:a16="http://schemas.microsoft.com/office/drawing/2014/main" id="{C76219AF-4E38-0A6E-39D1-4E7488DC2E23}"/>
              </a:ext>
            </a:extLst>
          </p:cNvPr>
          <p:cNvSpPr txBox="1"/>
          <p:nvPr/>
        </p:nvSpPr>
        <p:spPr>
          <a:xfrm>
            <a:off x="6982930" y="3877378"/>
            <a:ext cx="4498721" cy="2308324"/>
          </a:xfrm>
          <a:prstGeom prst="rect">
            <a:avLst/>
          </a:prstGeom>
          <a:noFill/>
        </p:spPr>
        <p:txBody>
          <a:bodyPr wrap="square">
            <a:spAutoFit/>
          </a:bodyPr>
          <a:lstStyle/>
          <a:p>
            <a:r>
              <a:rPr lang="en-US" sz="1800" i="0" noProof="1">
                <a:effectLst/>
                <a:latin typeface="Segoe UI" panose="020B0502040204020203" pitchFamily="34" charset="0"/>
                <a:cs typeface="Segoe UI" panose="020B0502040204020203" pitchFamily="34" charset="0"/>
              </a:rPr>
              <a:t>Đóng vai trò lõi trí tuệ nhân tạo xử lý ngôn ngữ tự nhiên tiếng Việt. </a:t>
            </a:r>
            <a:r>
              <a:rPr lang="en-US" noProof="1">
                <a:latin typeface="Segoe UI" panose="020B0502040204020203" pitchFamily="34" charset="0"/>
                <a:cs typeface="Segoe UI" panose="020B0502040204020203" pitchFamily="34" charset="0"/>
              </a:rPr>
              <a:t>T</a:t>
            </a:r>
            <a:r>
              <a:rPr lang="en-US" sz="1800" b="0" i="0" noProof="1">
                <a:solidFill>
                  <a:schemeClr val="tx1"/>
                </a:solidFill>
                <a:effectLst/>
                <a:latin typeface="Segoe UI" panose="020B0502040204020203" pitchFamily="34" charset="0"/>
                <a:cs typeface="Segoe UI" panose="020B0502040204020203" pitchFamily="34" charset="0"/>
              </a:rPr>
              <a:t>ự động sinh bài viết từ tư liệu tải lên, gợi ý tiêu đề, tạo bài đa kênh</a:t>
            </a:r>
            <a:r>
              <a:rPr lang="en-US" noProof="1">
                <a:latin typeface="Segoe UI" panose="020B0502040204020203" pitchFamily="34" charset="0"/>
                <a:cs typeface="Segoe UI" panose="020B0502040204020203" pitchFamily="34" charset="0"/>
              </a:rPr>
              <a:t> </a:t>
            </a:r>
            <a:r>
              <a:rPr lang="en-US" sz="1800" b="0" i="0" noProof="1">
                <a:solidFill>
                  <a:schemeClr val="tx1"/>
                </a:solidFill>
                <a:effectLst/>
                <a:latin typeface="Segoe UI" panose="020B0502040204020203" pitchFamily="34" charset="0"/>
                <a:cs typeface="Segoe UI" panose="020B0502040204020203" pitchFamily="34" charset="0"/>
              </a:rPr>
              <a:t>và sinh ảnh.</a:t>
            </a:r>
          </a:p>
          <a:p>
            <a:r>
              <a:rPr lang="en-US" noProof="1">
                <a:latin typeface="Segoe UI" panose="020B0502040204020203" pitchFamily="34" charset="0"/>
                <a:cs typeface="Segoe UI" panose="020B0502040204020203" pitchFamily="34" charset="0"/>
              </a:rPr>
              <a:t>Cung cấp giao thức kết nối an toàn để tự động chuyển đổi định dạng và đồng bộ xuất bản bài viết, hình ảnh từ Website sang Fanpage Facebook và Zalo.</a:t>
            </a:r>
          </a:p>
        </p:txBody>
      </p:sp>
      <p:pic>
        <p:nvPicPr>
          <p:cNvPr id="21" name="Image 0" descr="/home/claude/assets/logo_h.png">
            <a:extLst>
              <a:ext uri="{FF2B5EF4-FFF2-40B4-BE49-F238E27FC236}">
                <a16:creationId xmlns:a16="http://schemas.microsoft.com/office/drawing/2014/main" id="{F7B245CC-E4FF-A3B3-D160-F716810C8A5C}"/>
              </a:ext>
            </a:extLst>
          </p:cNvPr>
          <p:cNvPicPr>
            <a:picLocks noChangeAspect="1"/>
          </p:cNvPicPr>
          <p:nvPr/>
        </p:nvPicPr>
        <p:blipFill>
          <a:blip r:embed="rId6"/>
          <a:stretch>
            <a:fillRect/>
          </a:stretch>
        </p:blipFill>
        <p:spPr>
          <a:xfrm>
            <a:off x="10079793" y="229465"/>
            <a:ext cx="1755648"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5887"/>
            <a:ext cx="11582110" cy="260548"/>
          </a:xfrm>
          <a:prstGeom prst="rect">
            <a:avLst/>
          </a:prstGeom>
          <a:noFill/>
          <a:ln/>
        </p:spPr>
        <p:txBody>
          <a:bodyPr wrap="none" lIns="0" tIns="0" rIns="0" bIns="0" rtlCol="0" anchor="t"/>
          <a:lstStyle/>
          <a:p>
            <a:pPr marL="0" indent="0" algn="l">
              <a:lnSpc>
                <a:spcPct val="125000"/>
              </a:lnSpc>
              <a:buNone/>
            </a:pPr>
            <a:r>
              <a:rPr lang="vi-VN" sz="1350" b="1" kern="100" spc="82" noProof="1">
                <a:solidFill>
                  <a:srgbClr val="000000"/>
                </a:solidFill>
                <a:latin typeface="Segoe UI" panose="020B0502040204020203" pitchFamily="34" charset="0"/>
                <a:ea typeface="Plus Jakarta Sans Bold" pitchFamily="34" charset="-122"/>
                <a:cs typeface="Segoe UI" panose="020B0502040204020203" pitchFamily="34" charset="0"/>
              </a:rPr>
              <a:t>PHẦN 03 • PHẠM VI CHỨC NĂNG</a:t>
            </a:r>
            <a:endParaRPr lang="vi-VN" sz="1350" noProof="1">
              <a:latin typeface="Segoe UI" panose="020B0502040204020203" pitchFamily="34" charset="0"/>
              <a:cs typeface="Segoe UI" panose="020B0502040204020203" pitchFamily="34" charset="0"/>
            </a:endParaRPr>
          </a:p>
        </p:txBody>
      </p:sp>
      <p:sp>
        <p:nvSpPr>
          <p:cNvPr id="3" name="Text 1"/>
          <p:cNvSpPr/>
          <p:nvPr/>
        </p:nvSpPr>
        <p:spPr>
          <a:xfrm>
            <a:off x="609585" y="1022469"/>
            <a:ext cx="10972526" cy="525760"/>
          </a:xfrm>
          <a:prstGeom prst="rect">
            <a:avLst/>
          </a:prstGeom>
          <a:noFill/>
          <a:ln/>
        </p:spPr>
        <p:txBody>
          <a:bodyPr wrap="none" lIns="0" tIns="0" rIns="0" bIns="0" rtlCol="0" anchor="t"/>
          <a:lstStyle/>
          <a:p>
            <a:pPr marL="0" indent="0" algn="l">
              <a:lnSpc>
                <a:spcPct val="100000"/>
              </a:lnSpc>
              <a:buNone/>
            </a:pPr>
            <a:r>
              <a:rPr lang="vi-VN" sz="3200" b="1" noProof="1">
                <a:solidFill>
                  <a:srgbClr val="002855"/>
                </a:solidFill>
                <a:latin typeface="Segoe UI" panose="020B0502040204020203" pitchFamily="34" charset="0"/>
                <a:ea typeface="Plus Jakarta Sans Bold" pitchFamily="34" charset="-122"/>
                <a:cs typeface="Segoe UI" panose="020B0502040204020203" pitchFamily="34" charset="0"/>
              </a:rPr>
              <a:t>CÁC CHỨC NĂNG DỰ KIẾN TRIỂN KHAI</a:t>
            </a:r>
            <a:endParaRPr lang="vi-VN" sz="3200" noProof="1">
              <a:latin typeface="Segoe UI" panose="020B0502040204020203" pitchFamily="34" charset="0"/>
              <a:cs typeface="Segoe UI" panose="020B0502040204020203" pitchFamily="34" charset="0"/>
            </a:endParaRPr>
          </a:p>
        </p:txBody>
      </p:sp>
      <p:sp>
        <p:nvSpPr>
          <p:cNvPr id="4" name="Shape 2"/>
          <p:cNvSpPr/>
          <p:nvPr/>
        </p:nvSpPr>
        <p:spPr>
          <a:xfrm>
            <a:off x="609585" y="1727298"/>
            <a:ext cx="5403026" cy="2823338"/>
          </a:xfrm>
          <a:prstGeom prst="rect">
            <a:avLst/>
          </a:prstGeom>
          <a:solidFill>
            <a:srgbClr val="F8FAFC"/>
          </a:solidFill>
          <a:ln/>
        </p:spPr>
        <p:txBody>
          <a:bodyPr/>
          <a:lstStyle/>
          <a:p>
            <a:endParaRPr lang="vi-VN" noProof="1">
              <a:latin typeface="Segoe UI" panose="020B0502040204020203" pitchFamily="34" charset="0"/>
              <a:cs typeface="Segoe UI" panose="020B0502040204020203" pitchFamily="34" charset="0"/>
            </a:endParaRPr>
          </a:p>
        </p:txBody>
      </p:sp>
      <p:sp>
        <p:nvSpPr>
          <p:cNvPr id="5" name="Text 3"/>
          <p:cNvSpPr/>
          <p:nvPr/>
        </p:nvSpPr>
        <p:spPr>
          <a:xfrm>
            <a:off x="761981" y="1884097"/>
            <a:ext cx="4548928" cy="868561"/>
          </a:xfrm>
          <a:prstGeom prst="rect">
            <a:avLst/>
          </a:prstGeom>
          <a:noFill/>
          <a:ln/>
        </p:spPr>
        <p:txBody>
          <a:bodyPr wrap="square" lIns="0" tIns="0" rIns="0" bIns="0" rtlCol="0" anchor="t">
            <a:normAutofit/>
          </a:bodyPr>
          <a:lstStyle/>
          <a:p>
            <a:pPr marL="0" indent="0" algn="l">
              <a:lnSpc>
                <a:spcPct val="100000"/>
              </a:lnSpc>
              <a:buNone/>
            </a:pPr>
            <a:r>
              <a:rPr lang="vi-VN" sz="2800" b="1" noProof="1">
                <a:solidFill>
                  <a:srgbClr val="002855"/>
                </a:solidFill>
                <a:latin typeface="Segoe UI" panose="020B0502040204020203" pitchFamily="34" charset="0"/>
                <a:ea typeface="Plus Jakarta Sans Bold" pitchFamily="34" charset="-122"/>
                <a:cs typeface="Segoe UI" panose="020B0502040204020203" pitchFamily="34" charset="0"/>
              </a:rPr>
              <a:t>1. Quản lý nội dung &amp; kiểm duyệt</a:t>
            </a:r>
            <a:endParaRPr lang="vi-VN" sz="2800" noProof="1">
              <a:latin typeface="Segoe UI" panose="020B0502040204020203" pitchFamily="34" charset="0"/>
              <a:cs typeface="Segoe UI" panose="020B0502040204020203" pitchFamily="34" charset="0"/>
            </a:endParaRPr>
          </a:p>
        </p:txBody>
      </p:sp>
      <mc:AlternateContent xmlns:mc="http://schemas.openxmlformats.org/markup-compatibility/2006">
        <mc:Choice xmlns:a14="http://schemas.microsoft.com/office/drawing/2010/main" Requires="a14">
          <p:sp>
            <p:nvSpPr>
              <p:cNvPr id="6" name="Text 4"/>
              <p:cNvSpPr/>
              <p:nvPr/>
            </p:nvSpPr>
            <p:spPr>
              <a:xfrm>
                <a:off x="761982" y="2843229"/>
                <a:ext cx="5112607" cy="1352685"/>
              </a:xfrm>
              <a:prstGeom prst="rect">
                <a:avLst/>
              </a:prstGeom>
              <a:noFill/>
              <a:ln/>
            </p:spPr>
            <p:txBody>
              <a:bodyPr wrap="none" lIns="0" tIns="0" rIns="0" bIns="0" rtlCol="0" anchor="t"/>
              <a:lstStyle/>
              <a:p>
                <a:pPr lvl="0">
                  <a:lnSpc>
                    <a:spcPct val="125000"/>
                  </a:lnSpc>
                </a:pPr>
                <a:r>
                  <a:rPr lang="vi-VN" sz="1600" noProof="1">
                    <a:latin typeface="Segoe UI" panose="020B0502040204020203" pitchFamily="34" charset="0"/>
                    <a:cs typeface="Segoe UI" panose="020B0502040204020203" pitchFamily="34" charset="0"/>
                  </a:rPr>
                  <a:t>- Quản lý phân mục tin tức, sự kiện, kho tư liệu ảnh </a:t>
                </a:r>
              </a:p>
              <a:p>
                <a:pPr lvl="0">
                  <a:lnSpc>
                    <a:spcPct val="125000"/>
                  </a:lnSpc>
                </a:pPr>
                <a:r>
                  <a:rPr lang="vi-VN" sz="1600" noProof="1">
                    <a:latin typeface="Segoe UI" panose="020B0502040204020203" pitchFamily="34" charset="0"/>
                    <a:cs typeface="Segoe UI" panose="020B0502040204020203" pitchFamily="34" charset="0"/>
                  </a:rPr>
                  <a:t>và tài liệu biểu mẫu tập trung. </a:t>
                </a:r>
              </a:p>
              <a:p>
                <a:pPr lvl="0">
                  <a:lnSpc>
                    <a:spcPct val="125000"/>
                  </a:lnSpc>
                </a:pPr>
                <a:r>
                  <a:rPr lang="vi-VN" sz="1600" noProof="1">
                    <a:latin typeface="Segoe UI" panose="020B0502040204020203" pitchFamily="34" charset="0"/>
                    <a:cs typeface="Segoe UI" panose="020B0502040204020203" pitchFamily="34" charset="0"/>
                  </a:rPr>
                  <a:t>- Thiết lập quy trình biên tập và kiểm soát chất lượng qua</a:t>
                </a:r>
              </a:p>
              <a:p>
                <a:pPr lvl="0">
                  <a:lnSpc>
                    <a:spcPct val="125000"/>
                  </a:lnSpc>
                </a:pPr>
                <a:r>
                  <a:rPr lang="vi-VN" sz="1600" noProof="1">
                    <a:latin typeface="Segoe UI" panose="020B0502040204020203" pitchFamily="34" charset="0"/>
                    <a:cs typeface="Segoe UI" panose="020B0502040204020203" pitchFamily="34" charset="0"/>
                  </a:rPr>
                  <a:t> 4 bước: Bản nháp </a:t>
                </a:r>
                <a14:m>
                  <m:oMath xmlns:m="http://schemas.openxmlformats.org/officeDocument/2006/math">
                    <m:r>
                      <a:rPr lang="vi-VN" sz="1600" b="0" i="0" noProof="1" dirty="0" smtClean="0">
                        <a:latin typeface="Cambria Math" panose="02040503050406030204" pitchFamily="18" charset="0"/>
                      </a:rPr>
                      <m:t>→ </m:t>
                    </m:r>
                  </m:oMath>
                </a14:m>
                <a:r>
                  <a:rPr lang="vi-VN" sz="1600" noProof="1">
                    <a:latin typeface="Segoe UI" panose="020B0502040204020203" pitchFamily="34" charset="0"/>
                    <a:cs typeface="Segoe UI" panose="020B0502040204020203" pitchFamily="34" charset="0"/>
                  </a:rPr>
                  <a:t>Chờ duyệt </a:t>
                </a:r>
                <a14:m>
                  <m:oMath xmlns:m="http://schemas.openxmlformats.org/officeDocument/2006/math">
                    <m:r>
                      <a:rPr lang="vi-VN" sz="1600" b="0" i="0" noProof="1" dirty="0" smtClean="0">
                        <a:latin typeface="Cambria Math" panose="02040503050406030204" pitchFamily="18" charset="0"/>
                      </a:rPr>
                      <m:t>→ </m:t>
                    </m:r>
                  </m:oMath>
                </a14:m>
                <a:r>
                  <a:rPr lang="vi-VN" sz="1600" noProof="1">
                    <a:latin typeface="Segoe UI" panose="020B0502040204020203" pitchFamily="34" charset="0"/>
                    <a:cs typeface="Segoe UI" panose="020B0502040204020203" pitchFamily="34" charset="0"/>
                  </a:rPr>
                  <a:t>Đã duyệt </a:t>
                </a:r>
                <a14:m>
                  <m:oMath xmlns:m="http://schemas.openxmlformats.org/officeDocument/2006/math">
                    <m:r>
                      <a:rPr lang="vi-VN" sz="1600" b="0" i="0" noProof="1" dirty="0" smtClean="0">
                        <a:latin typeface="Cambria Math" panose="02040503050406030204" pitchFamily="18" charset="0"/>
                      </a:rPr>
                      <m:t>→</m:t>
                    </m:r>
                  </m:oMath>
                </a14:m>
                <a:r>
                  <a:rPr lang="vi-VN" sz="1600" noProof="1">
                    <a:latin typeface="Segoe UI" panose="020B0502040204020203" pitchFamily="34" charset="0"/>
                    <a:cs typeface="Segoe UI" panose="020B0502040204020203" pitchFamily="34" charset="0"/>
                  </a:rPr>
                  <a:t> Xuất bản.</a:t>
                </a:r>
              </a:p>
            </p:txBody>
          </p:sp>
        </mc:Choice>
        <mc:Fallback>
          <p:sp>
            <p:nvSpPr>
              <p:cNvPr id="6" name="Text 4"/>
              <p:cNvSpPr>
                <a:spLocks noRot="1" noChangeAspect="1" noMove="1" noResize="1" noEditPoints="1" noAdjustHandles="1" noChangeArrowheads="1" noChangeShapeType="1" noTextEdit="1"/>
              </p:cNvSpPr>
              <p:nvPr/>
            </p:nvSpPr>
            <p:spPr>
              <a:xfrm>
                <a:off x="761982" y="2843229"/>
                <a:ext cx="5112607" cy="1352685"/>
              </a:xfrm>
              <a:prstGeom prst="rect">
                <a:avLst/>
              </a:prstGeom>
              <a:blipFill>
                <a:blip r:embed="rId3"/>
                <a:stretch>
                  <a:fillRect l="-2503" t="-2252" r="-2741"/>
                </a:stretch>
              </a:blipFill>
              <a:ln/>
            </p:spPr>
            <p:txBody>
              <a:bodyPr/>
              <a:lstStyle/>
              <a:p>
                <a:r>
                  <a:rPr lang="vi-VN">
                    <a:noFill/>
                  </a:rPr>
                  <a:t> </a:t>
                </a:r>
              </a:p>
            </p:txBody>
          </p:sp>
        </mc:Fallback>
      </mc:AlternateContent>
      <p:sp>
        <p:nvSpPr>
          <p:cNvPr id="7" name="Shape 5"/>
          <p:cNvSpPr/>
          <p:nvPr/>
        </p:nvSpPr>
        <p:spPr>
          <a:xfrm>
            <a:off x="6248244" y="1727299"/>
            <a:ext cx="5333867" cy="2823338"/>
          </a:xfrm>
          <a:prstGeom prst="rect">
            <a:avLst/>
          </a:prstGeom>
          <a:solidFill>
            <a:srgbClr val="F8FAFC"/>
          </a:solidFill>
          <a:ln/>
        </p:spPr>
        <p:txBody>
          <a:bodyPr/>
          <a:lstStyle/>
          <a:p>
            <a:endParaRPr lang="vi-VN" noProof="1">
              <a:latin typeface="Segoe UI" panose="020B0502040204020203" pitchFamily="34" charset="0"/>
              <a:cs typeface="Segoe UI" panose="020B0502040204020203" pitchFamily="34" charset="0"/>
            </a:endParaRPr>
          </a:p>
        </p:txBody>
      </p:sp>
      <p:sp>
        <p:nvSpPr>
          <p:cNvPr id="8" name="Text 6"/>
          <p:cNvSpPr/>
          <p:nvPr/>
        </p:nvSpPr>
        <p:spPr>
          <a:xfrm>
            <a:off x="6413566" y="1865503"/>
            <a:ext cx="5029074" cy="868561"/>
          </a:xfrm>
          <a:prstGeom prst="rect">
            <a:avLst/>
          </a:prstGeom>
          <a:noFill/>
          <a:ln/>
        </p:spPr>
        <p:txBody>
          <a:bodyPr wrap="square" lIns="0" tIns="0" rIns="0" bIns="0" rtlCol="0" anchor="t">
            <a:normAutofit/>
          </a:bodyPr>
          <a:lstStyle/>
          <a:p>
            <a:pPr marL="0" indent="0" algn="l">
              <a:lnSpc>
                <a:spcPct val="100000"/>
              </a:lnSpc>
              <a:buNone/>
            </a:pPr>
            <a:r>
              <a:rPr lang="vi-VN" sz="2800" b="1" noProof="1">
                <a:solidFill>
                  <a:srgbClr val="002855"/>
                </a:solidFill>
                <a:latin typeface="Segoe UI" panose="020B0502040204020203" pitchFamily="34" charset="0"/>
                <a:ea typeface="Plus Jakarta Sans Bold" pitchFamily="34" charset="-122"/>
                <a:cs typeface="Segoe UI" panose="020B0502040204020203" pitchFamily="34" charset="0"/>
              </a:rPr>
              <a:t>2. Tạo và biên tập bài viết bằng AI tạo sinh tự động</a:t>
            </a:r>
            <a:endParaRPr lang="vi-VN" sz="2800" noProof="1">
              <a:latin typeface="Segoe UI" panose="020B0502040204020203" pitchFamily="34" charset="0"/>
              <a:cs typeface="Segoe UI" panose="020B0502040204020203" pitchFamily="34" charset="0"/>
            </a:endParaRPr>
          </a:p>
        </p:txBody>
      </p:sp>
      <p:sp>
        <p:nvSpPr>
          <p:cNvPr id="9" name="Text 7"/>
          <p:cNvSpPr/>
          <p:nvPr/>
        </p:nvSpPr>
        <p:spPr>
          <a:xfrm>
            <a:off x="6400639" y="2830073"/>
            <a:ext cx="5029075" cy="1566436"/>
          </a:xfrm>
          <a:prstGeom prst="rect">
            <a:avLst/>
          </a:prstGeom>
          <a:noFill/>
          <a:ln/>
        </p:spPr>
        <p:txBody>
          <a:bodyPr wrap="none" lIns="0" tIns="0" rIns="0" bIns="0" rtlCol="0" anchor="t"/>
          <a:lstStyle/>
          <a:p>
            <a:pPr lvl="0">
              <a:lnSpc>
                <a:spcPct val="125000"/>
              </a:lnSpc>
            </a:pPr>
            <a:r>
              <a:rPr lang="vi-VN" sz="1600" noProof="1">
                <a:latin typeface="Segoe UI" panose="020B0502040204020203" pitchFamily="34" charset="0"/>
                <a:cs typeface="Segoe UI" panose="020B0502040204020203" pitchFamily="34" charset="0"/>
              </a:rPr>
              <a:t>- Cung cấp giao diện soạn thảo báo chí hiện đại</a:t>
            </a:r>
          </a:p>
          <a:p>
            <a:pPr>
              <a:lnSpc>
                <a:spcPct val="125000"/>
              </a:lnSpc>
            </a:pPr>
            <a:r>
              <a:rPr lang="vi-VN" sz="1600" noProof="1">
                <a:latin typeface="Segoe UI" panose="020B0502040204020203" pitchFamily="34" charset="0"/>
                <a:cs typeface="Segoe UI" panose="020B0502040204020203" pitchFamily="34" charset="0"/>
              </a:rPr>
              <a:t>- Hỗ trợ người viết tự động lập dàn ý và tạo </a:t>
            </a:r>
          </a:p>
          <a:p>
            <a:pPr>
              <a:lnSpc>
                <a:spcPct val="125000"/>
              </a:lnSpc>
            </a:pPr>
            <a:r>
              <a:rPr lang="vi-VN" sz="1600" noProof="1">
                <a:latin typeface="Segoe UI" panose="020B0502040204020203" pitchFamily="34" charset="0"/>
                <a:cs typeface="Segoe UI" panose="020B0502040204020203" pitchFamily="34" charset="0"/>
              </a:rPr>
              <a:t>bài viết từ từ khóa hoặc tài liệu tải lên, tóm tắt tin </a:t>
            </a:r>
          </a:p>
          <a:p>
            <a:pPr>
              <a:lnSpc>
                <a:spcPct val="125000"/>
              </a:lnSpc>
            </a:pPr>
            <a:r>
              <a:rPr lang="vi-VN" sz="1600" noProof="1">
                <a:latin typeface="Segoe UI" panose="020B0502040204020203" pitchFamily="34" charset="0"/>
                <a:cs typeface="Segoe UI" panose="020B0502040204020203" pitchFamily="34" charset="0"/>
              </a:rPr>
              <a:t>ngắn gọn, kiểm tra lỗi chính tả và chuẩn hóa văn </a:t>
            </a:r>
          </a:p>
          <a:p>
            <a:pPr>
              <a:lnSpc>
                <a:spcPct val="125000"/>
              </a:lnSpc>
            </a:pPr>
            <a:r>
              <a:rPr lang="vi-VN" sz="1600" noProof="1">
                <a:latin typeface="Segoe UI" panose="020B0502040204020203" pitchFamily="34" charset="0"/>
                <a:cs typeface="Segoe UI" panose="020B0502040204020203" pitchFamily="34" charset="0"/>
              </a:rPr>
              <a:t>phong theo yêu cầu.</a:t>
            </a:r>
          </a:p>
          <a:p>
            <a:pPr lvl="0">
              <a:lnSpc>
                <a:spcPct val="125000"/>
              </a:lnSpc>
            </a:pPr>
            <a:endParaRPr lang="vi-VN" sz="1600" noProof="1">
              <a:latin typeface="Segoe UI" panose="020B0502040204020203" pitchFamily="34" charset="0"/>
              <a:cs typeface="Segoe UI" panose="020B0502040204020203" pitchFamily="34" charset="0"/>
            </a:endParaRPr>
          </a:p>
          <a:p>
            <a:pPr lvl="0">
              <a:lnSpc>
                <a:spcPct val="100000"/>
              </a:lnSpc>
            </a:pPr>
            <a:endParaRPr lang="vi-VN" sz="1600" noProof="1">
              <a:latin typeface="Segoe UI" panose="020B0502040204020203" pitchFamily="34" charset="0"/>
              <a:cs typeface="Segoe UI" panose="020B0502040204020203" pitchFamily="34" charset="0"/>
            </a:endParaRPr>
          </a:p>
        </p:txBody>
      </p:sp>
      <p:sp>
        <p:nvSpPr>
          <p:cNvPr id="10" name="Shape 8"/>
          <p:cNvSpPr/>
          <p:nvPr/>
        </p:nvSpPr>
        <p:spPr>
          <a:xfrm>
            <a:off x="609585" y="4688324"/>
            <a:ext cx="5403026" cy="1553789"/>
          </a:xfrm>
          <a:prstGeom prst="rect">
            <a:avLst/>
          </a:prstGeom>
          <a:solidFill>
            <a:srgbClr val="F8FAFC"/>
          </a:solidFill>
          <a:ln/>
        </p:spPr>
        <p:txBody>
          <a:bodyPr/>
          <a:lstStyle/>
          <a:p>
            <a:endParaRPr lang="vi-VN" noProof="1">
              <a:latin typeface="Segoe UI" panose="020B0502040204020203" pitchFamily="34" charset="0"/>
              <a:cs typeface="Segoe UI" panose="020B0502040204020203" pitchFamily="34" charset="0"/>
            </a:endParaRPr>
          </a:p>
        </p:txBody>
      </p:sp>
      <p:sp>
        <p:nvSpPr>
          <p:cNvPr id="11" name="Text 9"/>
          <p:cNvSpPr/>
          <p:nvPr/>
        </p:nvSpPr>
        <p:spPr>
          <a:xfrm>
            <a:off x="761981" y="4677188"/>
            <a:ext cx="5029074" cy="434280"/>
          </a:xfrm>
          <a:prstGeom prst="rect">
            <a:avLst/>
          </a:prstGeom>
          <a:noFill/>
          <a:ln/>
        </p:spPr>
        <p:txBody>
          <a:bodyPr wrap="none" lIns="0" tIns="0" rIns="0" bIns="0" rtlCol="0" anchor="t"/>
          <a:lstStyle/>
          <a:p>
            <a:pPr marL="0" indent="0" algn="l">
              <a:lnSpc>
                <a:spcPct val="100000"/>
              </a:lnSpc>
              <a:buNone/>
            </a:pPr>
            <a:r>
              <a:rPr lang="vi-VN" sz="2800" b="1" noProof="1">
                <a:solidFill>
                  <a:srgbClr val="002855"/>
                </a:solidFill>
                <a:latin typeface="Segoe UI" panose="020B0502040204020203" pitchFamily="34" charset="0"/>
                <a:ea typeface="Plus Jakarta Sans Bold" pitchFamily="34" charset="-122"/>
                <a:cs typeface="Segoe UI" panose="020B0502040204020203" pitchFamily="34" charset="0"/>
              </a:rPr>
              <a:t>3. Đăng tải đa kênh</a:t>
            </a:r>
            <a:endParaRPr lang="vi-VN" sz="2800" noProof="1">
              <a:latin typeface="Segoe UI" panose="020B0502040204020203" pitchFamily="34" charset="0"/>
              <a:cs typeface="Segoe UI" panose="020B0502040204020203" pitchFamily="34" charset="0"/>
            </a:endParaRPr>
          </a:p>
        </p:txBody>
      </p:sp>
      <p:sp>
        <p:nvSpPr>
          <p:cNvPr id="12" name="Text 10"/>
          <p:cNvSpPr/>
          <p:nvPr/>
        </p:nvSpPr>
        <p:spPr>
          <a:xfrm>
            <a:off x="761981" y="5238019"/>
            <a:ext cx="5181470" cy="597512"/>
          </a:xfrm>
          <a:prstGeom prst="rect">
            <a:avLst/>
          </a:prstGeom>
          <a:noFill/>
          <a:ln/>
        </p:spPr>
        <p:txBody>
          <a:bodyPr wrap="none" lIns="0" tIns="0" rIns="0" bIns="0" rtlCol="0" anchor="t"/>
          <a:lstStyle/>
          <a:p>
            <a:pPr marL="0" indent="0" algn="l">
              <a:lnSpc>
                <a:spcPct val="125000"/>
              </a:lnSpc>
              <a:buNone/>
            </a:pPr>
            <a:r>
              <a:rPr lang="vi-VN" sz="1600" noProof="1">
                <a:solidFill>
                  <a:srgbClr val="000000"/>
                </a:solidFill>
                <a:latin typeface="Segoe UI" panose="020B0502040204020203" pitchFamily="34" charset="0"/>
                <a:ea typeface="Plus Jakarta Sans Bold" pitchFamily="34" charset="-122"/>
                <a:cs typeface="Segoe UI" panose="020B0502040204020203" pitchFamily="34" charset="0"/>
              </a:rPr>
              <a:t>- Đăng tự động lên Website, Fanpage Facebook và Zalo.</a:t>
            </a:r>
          </a:p>
          <a:p>
            <a:pPr marL="0" indent="0" algn="l">
              <a:lnSpc>
                <a:spcPct val="125000"/>
              </a:lnSpc>
              <a:buNone/>
            </a:pPr>
            <a:r>
              <a:rPr lang="vi-VN" sz="1600" noProof="1">
                <a:solidFill>
                  <a:srgbClr val="000000"/>
                </a:solidFill>
                <a:latin typeface="Segoe UI" panose="020B0502040204020203" pitchFamily="34" charset="0"/>
                <a:ea typeface="Plus Jakarta Sans Bold" pitchFamily="34" charset="-122"/>
                <a:cs typeface="Segoe UI" panose="020B0502040204020203" pitchFamily="34" charset="0"/>
              </a:rPr>
              <a:t>- Có cơ chế hẹn giờ đăng.</a:t>
            </a:r>
            <a:endParaRPr lang="vi-VN" sz="1600" noProof="1">
              <a:latin typeface="Segoe UI" panose="020B0502040204020203" pitchFamily="34" charset="0"/>
              <a:cs typeface="Segoe UI" panose="020B0502040204020203" pitchFamily="34" charset="0"/>
            </a:endParaRPr>
          </a:p>
        </p:txBody>
      </p:sp>
      <p:sp>
        <p:nvSpPr>
          <p:cNvPr id="13" name="Shape 11"/>
          <p:cNvSpPr/>
          <p:nvPr/>
        </p:nvSpPr>
        <p:spPr>
          <a:xfrm>
            <a:off x="6248244" y="4688324"/>
            <a:ext cx="5333867" cy="1553789"/>
          </a:xfrm>
          <a:prstGeom prst="rect">
            <a:avLst/>
          </a:prstGeom>
          <a:solidFill>
            <a:srgbClr val="F8FAFC"/>
          </a:solidFill>
          <a:ln/>
        </p:spPr>
        <p:txBody>
          <a:bodyPr/>
          <a:lstStyle/>
          <a:p>
            <a:endParaRPr lang="vi-VN" noProof="1">
              <a:latin typeface="Segoe UI" panose="020B0502040204020203" pitchFamily="34" charset="0"/>
              <a:cs typeface="Segoe UI" panose="020B0502040204020203" pitchFamily="34" charset="0"/>
            </a:endParaRPr>
          </a:p>
        </p:txBody>
      </p:sp>
      <p:sp>
        <p:nvSpPr>
          <p:cNvPr id="14" name="Text 12"/>
          <p:cNvSpPr/>
          <p:nvPr/>
        </p:nvSpPr>
        <p:spPr>
          <a:xfrm>
            <a:off x="6400640" y="4677188"/>
            <a:ext cx="5029074" cy="434280"/>
          </a:xfrm>
          <a:prstGeom prst="rect">
            <a:avLst/>
          </a:prstGeom>
          <a:noFill/>
          <a:ln/>
        </p:spPr>
        <p:txBody>
          <a:bodyPr wrap="none" lIns="0" tIns="0" rIns="0" bIns="0" rtlCol="0" anchor="t"/>
          <a:lstStyle/>
          <a:p>
            <a:pPr marL="0" indent="0" algn="l">
              <a:lnSpc>
                <a:spcPct val="100000"/>
              </a:lnSpc>
              <a:buNone/>
            </a:pPr>
            <a:r>
              <a:rPr lang="vi-VN" sz="2800" b="1" noProof="1">
                <a:solidFill>
                  <a:srgbClr val="002855"/>
                </a:solidFill>
                <a:latin typeface="Segoe UI" panose="020B0502040204020203" pitchFamily="34" charset="0"/>
                <a:ea typeface="Plus Jakarta Sans Bold" pitchFamily="34" charset="-122"/>
                <a:cs typeface="Segoe UI" panose="020B0502040204020203" pitchFamily="34" charset="0"/>
              </a:rPr>
              <a:t>4. Theo dõi &amp; thống kê</a:t>
            </a:r>
            <a:endParaRPr lang="vi-VN" sz="2800" noProof="1">
              <a:latin typeface="Segoe UI" panose="020B0502040204020203" pitchFamily="34" charset="0"/>
              <a:cs typeface="Segoe UI" panose="020B0502040204020203" pitchFamily="34" charset="0"/>
            </a:endParaRPr>
          </a:p>
        </p:txBody>
      </p:sp>
      <p:sp>
        <p:nvSpPr>
          <p:cNvPr id="15" name="Text 13"/>
          <p:cNvSpPr/>
          <p:nvPr/>
        </p:nvSpPr>
        <p:spPr>
          <a:xfrm>
            <a:off x="6400640" y="5238018"/>
            <a:ext cx="5181470" cy="1247041"/>
          </a:xfrm>
          <a:prstGeom prst="rect">
            <a:avLst/>
          </a:prstGeom>
          <a:noFill/>
          <a:ln/>
        </p:spPr>
        <p:txBody>
          <a:bodyPr wrap="none" lIns="0" tIns="0" rIns="0" bIns="0" rtlCol="0" anchor="t"/>
          <a:lstStyle/>
          <a:p>
            <a:pPr>
              <a:lnSpc>
                <a:spcPct val="125000"/>
              </a:lnSpc>
            </a:pPr>
            <a:r>
              <a:rPr lang="vi-VN" sz="1600" noProof="1">
                <a:solidFill>
                  <a:srgbClr val="000000"/>
                </a:solidFill>
                <a:latin typeface="Segoe UI" panose="020B0502040204020203" pitchFamily="34" charset="0"/>
                <a:ea typeface="Plus Jakarta Sans Bold" pitchFamily="34" charset="-122"/>
                <a:cs typeface="Segoe UI" panose="020B0502040204020203" pitchFamily="34" charset="0"/>
              </a:rPr>
              <a:t>- Đo lường hiệu quả truyền thông trên các kênh : </a:t>
            </a:r>
          </a:p>
          <a:p>
            <a:pPr>
              <a:lnSpc>
                <a:spcPct val="125000"/>
              </a:lnSpc>
            </a:pPr>
            <a:r>
              <a:rPr lang="vi-VN" sz="1600" noProof="1">
                <a:latin typeface="Segoe UI" panose="020B0502040204020203" pitchFamily="34" charset="0"/>
                <a:cs typeface="Segoe UI" panose="020B0502040204020203" pitchFamily="34" charset="0"/>
              </a:rPr>
              <a:t>- Thống kê định lượng: tổng số bài viết, lượt xem,</a:t>
            </a:r>
          </a:p>
          <a:p>
            <a:pPr>
              <a:lnSpc>
                <a:spcPct val="125000"/>
              </a:lnSpc>
            </a:pPr>
            <a:r>
              <a:rPr lang="vi-VN" sz="1600" noProof="1">
                <a:latin typeface="Segoe UI" panose="020B0502040204020203" pitchFamily="34" charset="0"/>
                <a:cs typeface="Segoe UI" panose="020B0502040204020203" pitchFamily="34" charset="0"/>
              </a:rPr>
              <a:t> lượt thích, bình luận và chia sẻ đa kênh.</a:t>
            </a:r>
          </a:p>
        </p:txBody>
      </p:sp>
      <p:pic>
        <p:nvPicPr>
          <p:cNvPr id="20" name="Image 0" descr="/home/claude/assets/logo_h.png">
            <a:extLst>
              <a:ext uri="{FF2B5EF4-FFF2-40B4-BE49-F238E27FC236}">
                <a16:creationId xmlns:a16="http://schemas.microsoft.com/office/drawing/2014/main" id="{194F3AA8-6996-1CB5-3214-B74FE5FDB909}"/>
              </a:ext>
            </a:extLst>
          </p:cNvPr>
          <p:cNvPicPr>
            <a:picLocks noChangeAspect="1"/>
          </p:cNvPicPr>
          <p:nvPr/>
        </p:nvPicPr>
        <p:blipFill>
          <a:blip r:embed="rId4"/>
          <a:stretch>
            <a:fillRect/>
          </a:stretch>
        </p:blipFill>
        <p:spPr>
          <a:xfrm>
            <a:off x="10079793" y="229465"/>
            <a:ext cx="1755648" cy="685800"/>
          </a:xfrm>
          <a:prstGeom prst="rect">
            <a:avLst/>
          </a:prstGeom>
        </p:spPr>
      </p:pic>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174</TotalTime>
  <Words>753</Words>
  <Application>Microsoft Office PowerPoint</Application>
  <PresentationFormat>Màn hình rộng</PresentationFormat>
  <Paragraphs>60</Paragraphs>
  <Slides>4</Slides>
  <Notes>4</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4</vt:i4>
      </vt:variant>
    </vt:vector>
  </HeadingPairs>
  <TitlesOfParts>
    <vt:vector size="12" baseType="lpstr">
      <vt:lpstr>Segoe UI</vt:lpstr>
      <vt:lpstr>Aptos</vt:lpstr>
      <vt:lpstr>Aptos Display</vt:lpstr>
      <vt:lpstr>Calibri</vt:lpstr>
      <vt:lpstr>Times New Roman</vt:lpstr>
      <vt:lpstr>Cambria Math</vt:lpstr>
      <vt:lpstr>Arial</vt:lpstr>
      <vt:lpstr>Chủ đề Office</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15</cp:revision>
  <dcterms:created xsi:type="dcterms:W3CDTF">2026-10-16T17:06:28Z</dcterms:created>
  <dcterms:modified xsi:type="dcterms:W3CDTF">2026-10-17T14:50:17Z</dcterms:modified>
</cp:coreProperties>
</file>