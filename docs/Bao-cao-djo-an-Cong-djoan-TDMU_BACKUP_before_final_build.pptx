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9" r:id="rId2"/>
    <p:sldId id="257" r:id="rId3"/>
    <p:sldId id="258" r:id="rId4"/>
    <p:sldId id="270" r:id="rId24"/>
    <p:sldId id="262" r:id="rId5"/>
    <p:sldId id="263" r:id="rId6"/>
    <p:sldId id="264" r:id="rId7"/>
    <p:sldId id="271" r:id="rId25"/>
    <p:sldId id="265" r:id="rId8"/>
    <p:sldId id="266" r:id="rId9"/>
    <p:sldId id="267" r:id="rId10"/>
    <p:sldId id="268" r:id="rId11"/>
  </p:sldIdLst>
  <p:sldSz cx="12192000" cy="6858000"/>
  <p:notesSz cx="6858000" cy="12192000"/>
  <p:embeddedFontLst>
    <p:embeddedFont>
      <p:font typeface="Arimo Bold" panose="020B0604020202020204" charset="0"/>
      <p:regular r:id="rId13"/>
    </p:embeddedFont>
    <p:embeddedFont>
      <p:font typeface="Carlito" panose="020F0502020204030204" pitchFamily="34" charset="0"/>
      <p:regular r:id="rId14"/>
      <p:bold r:id="rId15"/>
      <p:italic r:id="rId16"/>
      <p:boldItalic r:id="rId17"/>
    </p:embeddedFont>
    <p:embeddedFont>
      <p:font typeface="Carlito Bold" panose="020F0502020204030204" pitchFamily="34" charset="0"/>
      <p:bold r:id="rId18"/>
    </p:embeddedFont>
    <p:embeddedFont>
      <p:font typeface="PT Sans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F3A"/>
    <a:srgbClr val="F4F8FC"/>
    <a:srgbClr val="0028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76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 Id="rId2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760-38B1-42FB-B2D2-BA4FD83FF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ADA22-B080-E6A2-1C04-E65B283A2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58D18-A1FE-B437-BB00-D96CFFB4C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4EE5B-A4BC-0FF2-FF8F-B8613CA9097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840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txBody>
          <a:bodyPr/>
          <a:lstStyle/>
          <a:p>
            <a:endParaRPr lang="vi-VN"/>
          </a:p>
        </p:txBody>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8F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6F8FB"/>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F4F8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2743200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27432000"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983F-C224-0CF5-B8C3-359BD09BAA8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3824DA-B2FC-D666-03E8-BBB201882C30}"/>
              </a:ext>
            </a:extLst>
          </p:cNvPr>
          <p:cNvSpPr/>
          <p:nvPr/>
        </p:nvSpPr>
        <p:spPr>
          <a:xfrm>
            <a:off x="27432000" y="0"/>
            <a:ext cx="152396" cy="6858000"/>
          </a:xfrm>
          <a:prstGeom prst="roundRect">
            <a:avLst>
              <a:gd name="adj" fmla="val 22500"/>
            </a:avLst>
          </a:prstGeom>
          <a:solidFill>
            <a:srgbClr val="00A3C4"/>
          </a:solidFill>
          <a:ln/>
        </p:spPr>
        <p:txBody>
          <a:bodyPr/>
          <a:lstStyle/>
          <a:p>
            <a:endParaRPr lang="vi-VN" noProof="1"/>
          </a:p>
        </p:txBody>
      </p:sp>
      <p:sp>
        <p:nvSpPr>
          <p:cNvPr id="5" name="Text 2">
            <a:extLst>
              <a:ext uri="{FF2B5EF4-FFF2-40B4-BE49-F238E27FC236}">
                <a16:creationId xmlns:a16="http://schemas.microsoft.com/office/drawing/2014/main" id="{16418777-A5C6-0882-89C4-97B5344557B4}"/>
              </a:ext>
            </a:extLst>
          </p:cNvPr>
          <p:cNvSpPr/>
          <p:nvPr/>
        </p:nvSpPr>
        <p:spPr>
          <a:xfrm>
            <a:off x="819130" y="947737"/>
            <a:ext cx="8115097" cy="219075"/>
          </a:xfrm>
          <a:prstGeom prst="rect">
            <a:avLst/>
          </a:prstGeom>
          <a:noFill/>
          <a:ln/>
        </p:spPr>
        <p:txBody>
          <a:bodyPr wrap="none" lIns="0" tIns="0" rIns="0" bIns="0" rtlCol="0" anchor="t"/>
          <a:lstStyle/>
          <a:p>
            <a:pPr marL="0" indent="0" algn="l">
              <a:lnSpc>
                <a:spcPct val="125000"/>
              </a:lnSpc>
              <a:buNone/>
            </a:pPr>
            <a:r>
              <a:rPr lang="vi-VN" sz="1600" b="1" kern="100" spc="13" noProof="1">
                <a:solidFill>
                  <a:srgbClr val="002855"/>
                </a:solidFill>
                <a:latin typeface="Arimo Bold" pitchFamily="34" charset="0"/>
                <a:ea typeface="Arimo Bold" pitchFamily="34" charset="-122"/>
                <a:cs typeface="Arimo Bold" pitchFamily="34" charset="0"/>
              </a:rPr>
              <a:t>TRƯỜNG ĐẠI HỌC THỦ DẦU MỘT · VIỆN CÔNG NGHỆ SỐ</a:t>
            </a:r>
            <a:endParaRPr lang="vi-VN" sz="1600" noProof="1"/>
          </a:p>
        </p:txBody>
      </p:sp>
      <p:sp>
        <p:nvSpPr>
          <p:cNvPr id="6" name="Shape 3">
            <a:extLst>
              <a:ext uri="{FF2B5EF4-FFF2-40B4-BE49-F238E27FC236}">
                <a16:creationId xmlns:a16="http://schemas.microsoft.com/office/drawing/2014/main" id="{BF975C4B-92E0-488F-C9D5-D478B080FF2B}"/>
              </a:ext>
            </a:extLst>
          </p:cNvPr>
          <p:cNvSpPr/>
          <p:nvPr/>
        </p:nvSpPr>
        <p:spPr>
          <a:xfrm>
            <a:off x="761981" y="1903679"/>
            <a:ext cx="3428914" cy="355600"/>
          </a:xfrm>
          <a:prstGeom prst="roundRect">
            <a:avLst>
              <a:gd name="adj" fmla="val 49999"/>
            </a:avLst>
          </a:prstGeom>
          <a:solidFill>
            <a:srgbClr val="002855"/>
          </a:solidFill>
          <a:ln/>
        </p:spPr>
        <p:txBody>
          <a:bodyPr/>
          <a:lstStyle/>
          <a:p>
            <a:endParaRPr lang="vi-VN" noProof="1"/>
          </a:p>
        </p:txBody>
      </p:sp>
      <p:sp>
        <p:nvSpPr>
          <p:cNvPr id="7" name="Text 4">
            <a:extLst>
              <a:ext uri="{FF2B5EF4-FFF2-40B4-BE49-F238E27FC236}">
                <a16:creationId xmlns:a16="http://schemas.microsoft.com/office/drawing/2014/main" id="{3CBEE8FD-A6E1-86E3-346A-5713E9215253}"/>
              </a:ext>
            </a:extLst>
          </p:cNvPr>
          <p:cNvSpPr/>
          <p:nvPr/>
        </p:nvSpPr>
        <p:spPr>
          <a:xfrm>
            <a:off x="634984" y="1967179"/>
            <a:ext cx="3682908" cy="228600"/>
          </a:xfrm>
          <a:prstGeom prst="rect">
            <a:avLst/>
          </a:prstGeom>
          <a:noFill/>
          <a:ln/>
        </p:spPr>
        <p:txBody>
          <a:bodyPr wrap="none" lIns="0" tIns="0" rIns="0" bIns="0" rtlCol="0" anchor="t"/>
          <a:lstStyle/>
          <a:p>
            <a:pPr marL="0" indent="0" algn="ctr">
              <a:lnSpc>
                <a:spcPct val="125000"/>
              </a:lnSpc>
              <a:buNone/>
            </a:pPr>
            <a:r>
              <a:rPr lang="vi-VN" sz="1200" b="1" noProof="1">
                <a:solidFill>
                  <a:srgbClr val="FFFFFF"/>
                </a:solidFill>
                <a:latin typeface="Arimo Bold" pitchFamily="34" charset="0"/>
                <a:ea typeface="Arimo Bold" pitchFamily="34" charset="-122"/>
                <a:cs typeface="Arimo Bold" pitchFamily="34" charset="0"/>
              </a:rPr>
              <a:t>BÁO CÁO ĐỒ ÁN CƠ SỞ NGÀNH</a:t>
            </a:r>
            <a:endParaRPr lang="vi-VN" sz="1200" noProof="1">
              <a:solidFill>
                <a:schemeClr val="bg1"/>
              </a:solidFill>
            </a:endParaRPr>
          </a:p>
        </p:txBody>
      </p:sp>
      <p:sp>
        <p:nvSpPr>
          <p:cNvPr id="8" name="Text 5">
            <a:extLst>
              <a:ext uri="{FF2B5EF4-FFF2-40B4-BE49-F238E27FC236}">
                <a16:creationId xmlns:a16="http://schemas.microsoft.com/office/drawing/2014/main" id="{1DEF9A86-2476-BDAA-5219-59593519D3A2}"/>
              </a:ext>
            </a:extLst>
          </p:cNvPr>
          <p:cNvSpPr/>
          <p:nvPr/>
        </p:nvSpPr>
        <p:spPr>
          <a:xfrm>
            <a:off x="819130" y="2377440"/>
            <a:ext cx="11195960" cy="1371600"/>
          </a:xfrm>
          <a:prstGeom prst="rect">
            <a:avLst/>
          </a:prstGeom>
          <a:noFill/>
          <a:ln/>
        </p:spPr>
        <p:txBody>
          <a:bodyPr wrap="square" lIns="0" tIns="0" rIns="0" bIns="0" rtlCol="0" anchor="t">
            <a:noAutofit/>
          </a:bodyPr>
          <a:lstStyle/>
          <a:p>
            <a:pPr marL="0" indent="0" algn="l">
              <a:lnSpc>
                <a:spcPct val="120000"/>
              </a:lnSpc>
              <a:buNone/>
            </a:pPr>
            <a:r>
              <a:rPr lang="vi-VN" sz="3200" b="1" noProof="1">
                <a:solidFill>
                  <a:srgbClr val="002855"/>
                </a:solidFill>
                <a:latin typeface="PT Sans Bold" pitchFamily="34" charset="0"/>
                <a:ea typeface="PT Sans Bold" pitchFamily="34" charset="-122"/>
                <a:cs typeface="PT Sans Bold" pitchFamily="34" charset="0"/>
              </a:rPr>
              <a:t>Xây dựng Website Truyền thông Công đoàn TDMU</a:t>
            </a:r>
            <a:endParaRPr lang="vi-VN" sz="4000" noProof="1"/>
          </a:p>
          <a:p>
            <a:pPr marL="0" indent="0" algn="l">
              <a:lnSpc>
                <a:spcPct val="120000"/>
              </a:lnSpc>
              <a:buNone/>
            </a:pPr>
            <a:r>
              <a:rPr lang="vi-VN" sz="2400" b="1" noProof="1">
                <a:solidFill>
                  <a:srgbClr val="002855"/>
                </a:solidFill>
                <a:latin typeface="PT Sans Bold" pitchFamily="34" charset="0"/>
                <a:ea typeface="PT Sans Bold" pitchFamily="34" charset="-122"/>
                <a:cs typeface="PT Sans Bold" pitchFamily="34" charset="0"/>
              </a:rPr>
              <a:t>tích hợp AI hỗ trợ tạo và đăng tải nội dung</a:t>
            </a:r>
            <a:endParaRPr lang="vi-VN" sz="4000" noProof="1"/>
          </a:p>
        </p:txBody>
      </p:sp>
      <p:sp>
        <p:nvSpPr>
          <p:cNvPr id="9" name="Shape 6">
            <a:extLst>
              <a:ext uri="{FF2B5EF4-FFF2-40B4-BE49-F238E27FC236}">
                <a16:creationId xmlns:a16="http://schemas.microsoft.com/office/drawing/2014/main" id="{7DE94C74-8806-7D10-9EEC-D9A5C36D9BF0}"/>
              </a:ext>
            </a:extLst>
          </p:cNvPr>
          <p:cNvSpPr/>
          <p:nvPr/>
        </p:nvSpPr>
        <p:spPr>
          <a:xfrm>
            <a:off x="819130" y="3977639"/>
            <a:ext cx="1523962" cy="63500"/>
          </a:xfrm>
          <a:prstGeom prst="roundRect">
            <a:avLst>
              <a:gd name="adj" fmla="val 49999"/>
            </a:avLst>
          </a:prstGeom>
          <a:solidFill>
            <a:srgbClr val="F2A93B"/>
          </a:solidFill>
          <a:ln/>
        </p:spPr>
        <p:txBody>
          <a:bodyPr/>
          <a:lstStyle/>
          <a:p>
            <a:endParaRPr lang="vi-VN" noProof="1"/>
          </a:p>
        </p:txBody>
      </p:sp>
      <p:sp>
        <p:nvSpPr>
          <p:cNvPr id="10" name="Text 7">
            <a:extLst>
              <a:ext uri="{FF2B5EF4-FFF2-40B4-BE49-F238E27FC236}">
                <a16:creationId xmlns:a16="http://schemas.microsoft.com/office/drawing/2014/main" id="{95C267C1-36F3-4D49-1383-9E9C3765CDB1}"/>
              </a:ext>
            </a:extLst>
          </p:cNvPr>
          <p:cNvSpPr/>
          <p:nvPr/>
        </p:nvSpPr>
        <p:spPr>
          <a:xfrm>
            <a:off x="819130" y="4160520"/>
            <a:ext cx="10655033" cy="228600"/>
          </a:xfrm>
          <a:prstGeom prst="rect">
            <a:avLst/>
          </a:prstGeom>
          <a:noFill/>
          <a:ln/>
        </p:spPr>
        <p:txBody>
          <a:bodyPr wrap="none" lIns="0" tIns="0" rIns="0" bIns="0" rtlCol="0" anchor="t"/>
          <a:lstStyle/>
          <a:p>
            <a:pPr marL="0" indent="0" algn="l">
              <a:lnSpc>
                <a:spcPct val="125000"/>
              </a:lnSpc>
              <a:buNone/>
            </a:pPr>
            <a:r>
              <a:rPr lang="vi-VN" sz="1600" b="1" noProof="1">
                <a:solidFill>
                  <a:srgbClr val="002855"/>
                </a:solidFill>
                <a:latin typeface="Arimo Bold" pitchFamily="34" charset="0"/>
                <a:ea typeface="Arimo Bold" pitchFamily="34" charset="-122"/>
                <a:cs typeface="Arimo Bold" pitchFamily="34" charset="0"/>
              </a:rPr>
              <a:t>GVHD: ThS. Võ Quốc Lương   |   Nhóm thực hiện: Nhóm 2</a:t>
            </a:r>
            <a:endParaRPr lang="vi-VN" sz="1600" noProof="1"/>
          </a:p>
        </p:txBody>
      </p:sp>
      <p:sp>
        <p:nvSpPr>
          <p:cNvPr id="11" name="Text 8">
            <a:extLst>
              <a:ext uri="{FF2B5EF4-FFF2-40B4-BE49-F238E27FC236}">
                <a16:creationId xmlns:a16="http://schemas.microsoft.com/office/drawing/2014/main" id="{09FB5EE3-3D84-6DC4-86DF-FD87B2102DF9}"/>
              </a:ext>
            </a:extLst>
          </p:cNvPr>
          <p:cNvSpPr/>
          <p:nvPr/>
        </p:nvSpPr>
        <p:spPr>
          <a:xfrm>
            <a:off x="819130" y="4617720"/>
            <a:ext cx="10045449" cy="828445"/>
          </a:xfrm>
          <a:prstGeom prst="rect">
            <a:avLst/>
          </a:prstGeom>
          <a:noFill/>
          <a:ln/>
        </p:spPr>
        <p:txBody>
          <a:bodyPr wrap="square" lIns="0" tIns="0" rIns="0" bIns="0" rtlCol="0" anchor="t">
            <a:noAutofit/>
          </a:bodyPr>
          <a:lstStyle/>
          <a:p>
            <a:pPr algn="l">
              <a:lnSpc>
                <a:spcPct val="125000"/>
              </a:lnSpc>
            </a:pPr>
            <a:r>
              <a:rPr lang="vi-VN" sz="1600" b="1" noProof="1">
                <a:solidFill>
                  <a:srgbClr val="002855"/>
                </a:solidFill>
                <a:latin typeface="Arimo Bold" pitchFamily="34" charset="0"/>
                <a:ea typeface="Arimo Bold" pitchFamily="34" charset="-122"/>
                <a:cs typeface="Arimo Bold" pitchFamily="34" charset="0"/>
              </a:rPr>
              <a:t>Nguyễn Bình Dương (Trưởng nhóm) - MSSV: 2424802010319 - Lớp: D24CNTT05 </a:t>
            </a:r>
          </a:p>
          <a:p>
            <a:pPr algn="l">
              <a:lnSpc>
                <a:spcPct val="125000"/>
              </a:lnSpc>
            </a:pPr>
            <a:r>
              <a:rPr lang="vi-VN" sz="1600" b="1" noProof="1">
                <a:solidFill>
                  <a:srgbClr val="002855"/>
                </a:solidFill>
                <a:latin typeface="Arimo Bold" pitchFamily="34" charset="0"/>
                <a:ea typeface="Arimo Bold" pitchFamily="34" charset="-122"/>
                <a:cs typeface="Arimo Bold" pitchFamily="34" charset="0"/>
              </a:rPr>
              <a:t>Trần Hồng Thanh - MSSV: 2424802010439 - Lớp: D24CNTT03</a:t>
            </a:r>
          </a:p>
          <a:p>
            <a:pPr algn="l">
              <a:lnSpc>
                <a:spcPct val="125000"/>
              </a:lnSpc>
            </a:pPr>
            <a:r>
              <a:rPr lang="vi-VN" sz="1600" b="1" noProof="1">
                <a:solidFill>
                  <a:srgbClr val="002855"/>
                </a:solidFill>
                <a:latin typeface="Arimo Bold" pitchFamily="34" charset="0"/>
                <a:ea typeface="Arimo Bold" pitchFamily="34" charset="-122"/>
                <a:cs typeface="Arimo Bold" pitchFamily="34" charset="0"/>
              </a:rPr>
              <a:t>Phạm Anh Tuấn - MSSV: 2324802010393 - Lớp: D23CNTT03</a:t>
            </a:r>
            <a:endParaRPr lang="vi-VN" sz="1600" noProof="1"/>
          </a:p>
        </p:txBody>
      </p:sp>
      <p:sp>
        <p:nvSpPr>
          <p:cNvPr id="12" name="Text 9">
            <a:extLst>
              <a:ext uri="{FF2B5EF4-FFF2-40B4-BE49-F238E27FC236}">
                <a16:creationId xmlns:a16="http://schemas.microsoft.com/office/drawing/2014/main" id="{EDBA0566-5BE9-0301-1434-EFC3A8015E4C}"/>
              </a:ext>
            </a:extLst>
          </p:cNvPr>
          <p:cNvSpPr/>
          <p:nvPr/>
        </p:nvSpPr>
        <p:spPr>
          <a:xfrm>
            <a:off x="819130" y="5989320"/>
            <a:ext cx="10655033" cy="171450"/>
          </a:xfrm>
          <a:prstGeom prst="rect">
            <a:avLst/>
          </a:prstGeom>
          <a:noFill/>
          <a:ln/>
        </p:spPr>
        <p:txBody>
          <a:bodyPr wrap="none" lIns="0" tIns="0" rIns="0" bIns="0" rtlCol="0" anchor="t"/>
          <a:lstStyle/>
          <a:p>
            <a:pPr marL="0" indent="0" algn="l">
              <a:lnSpc>
                <a:spcPct val="125000"/>
              </a:lnSpc>
              <a:buNone/>
            </a:pPr>
            <a:r>
              <a:rPr lang="vi-VN" sz="900" b="1" noProof="1">
                <a:solidFill>
                  <a:srgbClr val="002855"/>
                </a:solidFill>
                <a:latin typeface="Arimo Bold" pitchFamily="34" charset="0"/>
                <a:ea typeface="Arimo Bold" pitchFamily="34" charset="-122"/>
                <a:cs typeface="Arimo Bold" pitchFamily="34" charset="0"/>
              </a:rPr>
              <a:t>HỌC PHẦN: ĐỒ ÁN CƠ SỞ NGÀNH · NĂM HỌC 2026–2027 · THÁNG 10/2026</a:t>
            </a:r>
            <a:endParaRPr lang="vi-VN" sz="900" noProof="1"/>
          </a:p>
        </p:txBody>
      </p:sp>
      <p:sp>
        <p:nvSpPr>
          <p:cNvPr id="13" name="Text 10">
            <a:extLst>
              <a:ext uri="{FF2B5EF4-FFF2-40B4-BE49-F238E27FC236}">
                <a16:creationId xmlns:a16="http://schemas.microsoft.com/office/drawing/2014/main" id="{A485F52E-195C-C0D9-3D4B-CB6669C255F9}"/>
              </a:ext>
            </a:extLst>
          </p:cNvPr>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1</a:t>
            </a:r>
            <a:endParaRPr lang="vi-VN" sz="700" noProof="1"/>
          </a:p>
        </p:txBody>
      </p:sp>
      <p:sp>
        <p:nvSpPr>
          <p:cNvPr id="4" name="Hình chữ nhật 3">
            <a:extLst>
              <a:ext uri="{FF2B5EF4-FFF2-40B4-BE49-F238E27FC236}">
                <a16:creationId xmlns:a16="http://schemas.microsoft.com/office/drawing/2014/main" id="{248C215A-CC1A-4853-9588-B11FB4F4FDE6}"/>
              </a:ext>
            </a:extLst>
          </p:cNvPr>
          <p:cNvSpPr/>
          <p:nvPr/>
        </p:nvSpPr>
        <p:spPr>
          <a:xfrm>
            <a:off x="27432000" y="6140918"/>
            <a:ext cx="1459527" cy="695498"/>
          </a:xfrm>
          <a:prstGeom prst="rect">
            <a:avLst/>
          </a:prstGeom>
          <a:solidFill>
            <a:srgbClr val="0028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pic>
        <p:nvPicPr>
          <p:cNvPr id="14" name="Picture 13" descr="tdmu_official_logo.png"/>
          <p:cNvPicPr>
            <a:picLocks noChangeAspect="1"/>
          </p:cNvPicPr>
          <p:nvPr/>
        </p:nvPicPr>
        <p:blipFill>
          <a:blip r:embed="rId3"/>
          <a:stretch>
            <a:fillRect/>
          </a:stretch>
        </p:blipFill>
        <p:spPr>
          <a:xfrm>
            <a:off x="9601200" y="365760"/>
            <a:ext cx="1965960" cy="768096"/>
          </a:xfrm>
          <a:prstGeom prst="rect">
            <a:avLst/>
          </a:prstGeom>
        </p:spPr>
      </p:pic>
      <p:pic>
        <p:nvPicPr>
          <p:cNvPr id="15" name="Picture 14" descr="image.png"/>
          <p:cNvPicPr>
            <a:picLocks noChangeAspect="1"/>
          </p:cNvPicPr>
          <p:nvPr/>
        </p:nvPicPr>
        <p:blipFill>
          <a:blip r:embed="rId3"/>
          <a:stretch>
            <a:fillRect/>
          </a:stretch>
        </p:blipFill>
        <p:spPr>
          <a:xfrm>
            <a:off x="9601200" y="365760"/>
            <a:ext cx="1965960" cy="768096"/>
          </a:xfrm>
          <a:prstGeom prst="rect">
            <a:avLst/>
          </a:prstGeom>
        </p:spPr>
      </p:pic>
    </p:spTree>
    <p:extLst>
      <p:ext uri="{BB962C8B-B14F-4D97-AF65-F5344CB8AC3E}">
        <p14:creationId xmlns:p14="http://schemas.microsoft.com/office/powerpoint/2010/main" val="222024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7432000" y="0"/>
            <a:ext cx="4190895" cy="6858000"/>
          </a:xfrm>
          <a:prstGeom prst="roundRect">
            <a:avLst>
              <a:gd name="adj" fmla="val 818"/>
            </a:avLst>
          </a:prstGeom>
          <a:solidFill>
            <a:srgbClr val="002855"/>
          </a:solidFill>
          <a:ln/>
        </p:spPr>
        <p:txBody>
          <a:bodyPr/>
          <a:lstStyle/>
          <a:p>
            <a:endParaRPr lang="vi-VN" noProof="1"/>
          </a:p>
        </p:txBody>
      </p:sp>
      <p:sp>
        <p:nvSpPr>
          <p:cNvPr id="3" name="Shape 1"/>
          <p:cNvSpPr/>
          <p:nvPr/>
        </p:nvSpPr>
        <p:spPr>
          <a:xfrm>
            <a:off x="27432000" y="508000"/>
            <a:ext cx="3428914" cy="203200"/>
          </a:xfrm>
          <a:prstGeom prst="roundRect">
            <a:avLst>
              <a:gd name="adj" fmla="val 16875"/>
            </a:avLst>
          </a:prstGeom>
          <a:solidFill>
            <a:srgbClr val="002855"/>
          </a:solidFill>
          <a:ln/>
        </p:spPr>
        <p:txBody>
          <a:bodyPr/>
          <a:lstStyle/>
          <a:p>
            <a:endParaRPr lang="vi-VN" noProof="1"/>
          </a:p>
        </p:txBody>
      </p:sp>
      <p:sp>
        <p:nvSpPr>
          <p:cNvPr id="4" name="Text 2"/>
          <p:cNvSpPr/>
          <p:nvPr/>
        </p:nvSpPr>
        <p:spPr>
          <a:xfrm>
            <a:off x="565136" y="508000"/>
            <a:ext cx="3924202" cy="190500"/>
          </a:xfrm>
          <a:prstGeom prst="rect">
            <a:avLst/>
          </a:prstGeom>
          <a:noFill/>
          <a:ln/>
        </p:spPr>
        <p:txBody>
          <a:bodyPr wrap="none" lIns="0" tIns="0" rIns="0" bIns="0" rtlCol="0" anchor="t"/>
          <a:lstStyle/>
          <a:p>
            <a:pPr marL="0" indent="0" algn="l">
              <a:lnSpc>
                <a:spcPct val="125000"/>
              </a:lnSpc>
              <a:buNone/>
            </a:pPr>
            <a:r>
              <a:rPr lang="vi-VN" sz="1000" b="1" noProof="1">
                <a:solidFill>
                  <a:srgbClr val="002855"/>
                </a:solidFill>
                <a:latin typeface="Arimo Bold" pitchFamily="34" charset="0"/>
                <a:ea typeface="Arimo Bold" pitchFamily="34" charset="-122"/>
                <a:cs typeface="Arimo Bold" pitchFamily="34" charset="0"/>
              </a:rPr>
              <a:t>1. GIỚI THIỆU ĐỀ TÀI</a:t>
            </a:r>
            <a:endParaRPr lang="vi-VN" sz="1000" noProof="1"/>
          </a:p>
        </p:txBody>
      </p:sp>
      <p:sp>
        <p:nvSpPr>
          <p:cNvPr id="5" name="Shape 3"/>
          <p:cNvSpPr/>
          <p:nvPr/>
        </p:nvSpPr>
        <p:spPr>
          <a:xfrm>
            <a:off x="27432000" y="787400"/>
            <a:ext cx="3428914" cy="1397000"/>
          </a:xfrm>
          <a:prstGeom prst="roundRect">
            <a:avLst>
              <a:gd name="adj" fmla="val 2454"/>
            </a:avLst>
          </a:prstGeom>
          <a:solidFill>
            <a:srgbClr val="002855"/>
          </a:solidFill>
          <a:ln/>
        </p:spPr>
        <p:txBody>
          <a:bodyPr/>
          <a:lstStyle/>
          <a:p>
            <a:endParaRPr lang="vi-VN" noProof="1"/>
          </a:p>
        </p:txBody>
      </p:sp>
      <p:sp>
        <p:nvSpPr>
          <p:cNvPr id="6" name="Text 4"/>
          <p:cNvSpPr/>
          <p:nvPr/>
        </p:nvSpPr>
        <p:spPr>
          <a:xfrm>
            <a:off x="565136" y="787400"/>
            <a:ext cx="3314617" cy="914400"/>
          </a:xfrm>
          <a:prstGeom prst="rect">
            <a:avLst/>
          </a:prstGeom>
          <a:noFill/>
          <a:ln/>
        </p:spPr>
        <p:txBody>
          <a:bodyPr wrap="square" lIns="0" tIns="0" rIns="0" bIns="0" rtlCol="0" anchor="t">
            <a:normAutofit/>
          </a:bodyPr>
          <a:lstStyle/>
          <a:p>
            <a:pPr>
              <a:defRPr sz="2200" b="1">
                <a:solidFill>
                  <a:srgbClr val="002855"/>
                </a:solidFill>
                <a:latin typeface="Arial"/>
              </a:defRPr>
            </a:pPr>
            <a:r>
              <a:t>Bối cảnh &amp; Khó khăn thực tế</a:t>
            </a:r>
          </a:p>
        </p:txBody>
      </p:sp>
      <p:pic>
        <p:nvPicPr>
          <p:cNvPr id="7" name="Image 0" descr="preencoded.png"/>
          <p:cNvPicPr>
            <a:picLocks noChangeAspect="1"/>
          </p:cNvPicPr>
          <p:nvPr/>
        </p:nvPicPr>
        <p:blipFill>
          <a:blip r:embed="rId3"/>
          <a:stretch>
            <a:fillRect/>
          </a:stretch>
        </p:blipFill>
        <p:spPr>
          <a:xfrm>
            <a:off x="507987" y="2362200"/>
            <a:ext cx="1047724" cy="38100"/>
          </a:xfrm>
          <a:prstGeom prst="rect">
            <a:avLst/>
          </a:prstGeom>
        </p:spPr>
      </p:pic>
      <p:sp>
        <p:nvSpPr>
          <p:cNvPr id="10" name="Shape 7"/>
          <p:cNvSpPr/>
          <p:nvPr/>
        </p:nvSpPr>
        <p:spPr>
          <a:xfrm>
            <a:off x="27432000" y="3606800"/>
            <a:ext cx="3428914" cy="457200"/>
          </a:xfrm>
          <a:prstGeom prst="roundRect">
            <a:avLst>
              <a:gd name="adj" fmla="val 7500"/>
            </a:avLst>
          </a:prstGeom>
          <a:solidFill>
            <a:srgbClr val="002855"/>
          </a:solidFill>
          <a:ln/>
        </p:spPr>
        <p:txBody>
          <a:bodyPr/>
          <a:lstStyle/>
          <a:p>
            <a:endParaRPr lang="vi-VN" noProof="1"/>
          </a:p>
        </p:txBody>
      </p:sp>
      <p:sp>
        <p:nvSpPr>
          <p:cNvPr id="11" name="Text 8"/>
          <p:cNvSpPr/>
          <p:nvPr/>
        </p:nvSpPr>
        <p:spPr>
          <a:xfrm>
            <a:off x="565137" y="2565400"/>
            <a:ext cx="2418696" cy="1441450"/>
          </a:xfrm>
          <a:prstGeom prst="rect">
            <a:avLst/>
          </a:prstGeom>
          <a:noFill/>
          <a:ln/>
        </p:spPr>
        <p:txBody>
          <a:bodyPr wrap="square" lIns="0" tIns="0" rIns="0" bIns="0" rtlCol="0" anchor="t">
            <a:normAutofit/>
          </a:bodyPr>
          <a:lstStyle/>
          <a:p>
            <a:pPr marL="0" indent="0" algn="l">
              <a:lnSpc>
                <a:spcPct val="125000"/>
              </a:lnSpc>
              <a:buNone/>
            </a:pPr>
            <a:r>
              <a:rPr lang="vi-VN" sz="1600" b="1" noProof="1">
                <a:solidFill>
                  <a:srgbClr val="002855"/>
                </a:solidFill>
                <a:latin typeface="Arimo Bold" pitchFamily="34" charset="0"/>
                <a:ea typeface="Arimo Bold" pitchFamily="34" charset="-122"/>
                <a:cs typeface="Arimo Bold" pitchFamily="34" charset="0"/>
              </a:rPr>
              <a:t>Quy mô hơn 800 cán bộ, giảng viên và người lao động</a:t>
            </a:r>
            <a:endParaRPr lang="vi-VN" sz="1600" noProof="1"/>
          </a:p>
        </p:txBody>
      </p:sp>
      <p:sp>
        <p:nvSpPr>
          <p:cNvPr id="12" name="Shape 9"/>
          <p:cNvSpPr/>
          <p:nvPr/>
        </p:nvSpPr>
        <p:spPr>
          <a:xfrm>
            <a:off x="27432000" y="4445000"/>
            <a:ext cx="3428914" cy="762000"/>
          </a:xfrm>
          <a:prstGeom prst="roundRect">
            <a:avLst>
              <a:gd name="adj" fmla="val 4500"/>
            </a:avLst>
          </a:prstGeom>
          <a:solidFill>
            <a:srgbClr val="002855"/>
          </a:solidFill>
          <a:ln/>
        </p:spPr>
        <p:txBody>
          <a:bodyPr/>
          <a:lstStyle/>
          <a:p>
            <a:endParaRPr lang="vi-VN" noProof="1"/>
          </a:p>
        </p:txBody>
      </p:sp>
      <p:sp>
        <p:nvSpPr>
          <p:cNvPr id="13" name="Text 10"/>
          <p:cNvSpPr/>
          <p:nvPr/>
        </p:nvSpPr>
        <p:spPr>
          <a:xfrm>
            <a:off x="565136" y="4445000"/>
            <a:ext cx="3314617" cy="685800"/>
          </a:xfrm>
          <a:prstGeom prst="rect">
            <a:avLst/>
          </a:prstGeom>
          <a:noFill/>
          <a:ln/>
        </p:spPr>
        <p:txBody>
          <a:bodyPr wrap="square" lIns="0" tIns="0" rIns="0" bIns="0" rtlCol="0" anchor="t">
            <a:normAutofit/>
          </a:bodyPr>
          <a:lstStyle/>
          <a:p>
            <a:pPr marL="0" indent="0" algn="l">
              <a:lnSpc>
                <a:spcPct val="125000"/>
              </a:lnSpc>
              <a:buNone/>
            </a:pPr>
            <a:r>
              <a:rPr lang="vi-VN" sz="1800" b="1" noProof="1">
                <a:solidFill>
                  <a:srgbClr val="002855"/>
                </a:solidFill>
                <a:latin typeface="Arimo Bold" pitchFamily="34" charset="0"/>
                <a:ea typeface="Arimo Bold" pitchFamily="34" charset="-122"/>
                <a:cs typeface="Arimo Bold" pitchFamily="34" charset="0"/>
              </a:rPr>
              <a:t>Đội ngũ truyền thông hoạt động kiêm nhiệm</a:t>
            </a:r>
            <a:endParaRPr lang="vi-VN" sz="1800" noProof="1"/>
          </a:p>
        </p:txBody>
      </p:sp>
      <p:sp>
        <p:nvSpPr>
          <p:cNvPr id="14" name="Shape 11"/>
          <p:cNvSpPr/>
          <p:nvPr/>
        </p:nvSpPr>
        <p:spPr>
          <a:xfrm>
            <a:off x="27432000" y="6070600"/>
            <a:ext cx="3428914" cy="203200"/>
          </a:xfrm>
          <a:prstGeom prst="roundRect">
            <a:avLst>
              <a:gd name="adj" fmla="val 16875"/>
            </a:avLst>
          </a:prstGeom>
          <a:solidFill>
            <a:srgbClr val="002855"/>
          </a:solidFill>
          <a:ln/>
        </p:spPr>
        <p:txBody>
          <a:bodyPr/>
          <a:lstStyle/>
          <a:p>
            <a:endParaRPr lang="vi-VN" noProof="1"/>
          </a:p>
        </p:txBody>
      </p:sp>
      <p:sp>
        <p:nvSpPr>
          <p:cNvPr id="15" name="Text 12"/>
          <p:cNvSpPr/>
          <p:nvPr/>
        </p:nvSpPr>
        <p:spPr>
          <a:xfrm>
            <a:off x="565136" y="6070600"/>
            <a:ext cx="3924202" cy="171450"/>
          </a:xfrm>
          <a:prstGeom prst="rect">
            <a:avLst/>
          </a:prstGeom>
          <a:noFill/>
          <a:ln/>
        </p:spPr>
        <p:txBody>
          <a:bodyPr wrap="none" lIns="0" tIns="0" rIns="0" bIns="0" rtlCol="0" anchor="t"/>
          <a:lstStyle/>
          <a:p>
            <a:pPr marL="0" indent="0" algn="l">
              <a:lnSpc>
                <a:spcPct val="125000"/>
              </a:lnSpc>
              <a:buNone/>
            </a:pPr>
            <a:r>
              <a:rPr lang="vi-VN" sz="900" b="1" noProof="1">
                <a:solidFill>
                  <a:srgbClr val="002855"/>
                </a:solidFill>
                <a:latin typeface="Arimo Bold" pitchFamily="34" charset="0"/>
                <a:ea typeface="Arimo Bold" pitchFamily="34" charset="-122"/>
                <a:cs typeface="Arimo Bold" pitchFamily="34" charset="0"/>
              </a:rPr>
              <a:t>Công đoàn Trường ĐH Thủ Dầu Một</a:t>
            </a:r>
            <a:endParaRPr lang="vi-VN" sz="900" noProof="1"/>
          </a:p>
        </p:txBody>
      </p:sp>
      <p:sp>
        <p:nvSpPr>
          <p:cNvPr id="16" name="Shape 13"/>
          <p:cNvSpPr/>
          <p:nvPr/>
        </p:nvSpPr>
        <p:spPr>
          <a:xfrm>
            <a:off x="4825879" y="1422400"/>
            <a:ext cx="25399" cy="3810000"/>
          </a:xfrm>
          <a:prstGeom prst="roundRect">
            <a:avLst>
              <a:gd name="adj" fmla="val 50001"/>
            </a:avLst>
          </a:prstGeom>
          <a:solidFill>
            <a:srgbClr val="7FDCEE"/>
          </a:solidFill>
          <a:ln/>
        </p:spPr>
        <p:txBody>
          <a:bodyPr/>
          <a:lstStyle/>
          <a:p>
            <a:endParaRPr lang="vi-VN" noProof="1"/>
          </a:p>
        </p:txBody>
      </p:sp>
      <p:sp>
        <p:nvSpPr>
          <p:cNvPr id="17" name="Text 14"/>
          <p:cNvSpPr/>
          <p:nvPr/>
        </p:nvSpPr>
        <p:spPr>
          <a:xfrm>
            <a:off x="5264019" y="1366517"/>
            <a:ext cx="6845128" cy="304800"/>
          </a:xfrm>
          <a:prstGeom prst="rect">
            <a:avLst/>
          </a:prstGeom>
          <a:noFill/>
          <a:ln/>
        </p:spPr>
        <p:txBody>
          <a:bodyPr wrap="none" lIns="0" tIns="0" rIns="0" bIns="0" rtlCol="0" anchor="t"/>
          <a:lstStyle/>
          <a:p>
            <a:pPr marL="0" indent="0" algn="l">
              <a:lnSpc>
                <a:spcPct val="125000"/>
              </a:lnSpc>
              <a:buNone/>
            </a:pPr>
            <a:r>
              <a:rPr lang="vi-VN" sz="2000" b="1" noProof="1">
                <a:solidFill>
                  <a:srgbClr val="002855"/>
                </a:solidFill>
                <a:latin typeface="Arimo Bold" pitchFamily="34" charset="0"/>
                <a:ea typeface="Arimo Bold" pitchFamily="34" charset="-122"/>
                <a:cs typeface="Arimo Bold" pitchFamily="34" charset="0"/>
              </a:rPr>
              <a:t>01</a:t>
            </a:r>
            <a:endParaRPr lang="vi-VN" sz="2000" noProof="1"/>
          </a:p>
        </p:txBody>
      </p:sp>
      <p:sp>
        <p:nvSpPr>
          <p:cNvPr id="18" name="Text 15"/>
          <p:cNvSpPr/>
          <p:nvPr/>
        </p:nvSpPr>
        <p:spPr>
          <a:xfrm>
            <a:off x="5794408" y="1378422"/>
            <a:ext cx="6641998" cy="266700"/>
          </a:xfrm>
          <a:prstGeom prst="rect">
            <a:avLst/>
          </a:prstGeom>
          <a:noFill/>
          <a:ln/>
        </p:spPr>
        <p:txBody>
          <a:bodyPr wrap="none" lIns="0" tIns="0" rIns="0" bIns="0" rtlCol="0" anchor="t"/>
          <a:lstStyle/>
          <a:p>
            <a:pPr>
              <a:defRPr b="1">
                <a:solidFill>
                  <a:srgbClr val="002855"/>
                </a:solidFill>
              </a:defRPr>
            </a:pPr>
            <a:r>
              <a:rPr>
                <a:latin typeface="Arial"/>
              </a:rPr>
              <a:t>Đội ngũ truyền thông hoạt động kiêm nhiệm</a:t>
            </a:r>
          </a:p>
        </p:txBody>
      </p:sp>
      <p:sp>
        <p:nvSpPr>
          <p:cNvPr id="19" name="Text 16"/>
          <p:cNvSpPr/>
          <p:nvPr/>
        </p:nvSpPr>
        <p:spPr>
          <a:xfrm>
            <a:off x="5264017" y="2082800"/>
            <a:ext cx="6106895" cy="889000"/>
          </a:xfrm>
          <a:prstGeom prst="rect">
            <a:avLst/>
          </a:prstGeom>
          <a:noFill/>
          <a:ln/>
        </p:spPr>
        <p:txBody>
          <a:bodyPr wrap="square" lIns="0" tIns="0" rIns="0" bIns="0" rtlCol="0" anchor="t">
            <a:normAutofit/>
          </a:bodyPr>
          <a:lstStyle/>
          <a:p>
            <a:pPr>
              <a:defRPr>
                <a:solidFill>
                  <a:srgbClr val="334155"/>
                </a:solidFill>
              </a:defRPr>
            </a:pPr>
            <a:r>
              <a:rPr>
                <a:latin typeface="Arial"/>
              </a:rPr>
              <a:t>Cán bộ công đoàn là giảng viên kiêm nhiệm, bận công tác chuyên môn; quy trình thu thập tư liệu và tự biên soạn tin bài mất nhiều thời gian.</a:t>
            </a:r>
          </a:p>
        </p:txBody>
      </p:sp>
      <p:sp>
        <p:nvSpPr>
          <p:cNvPr id="20" name="Text 17"/>
          <p:cNvSpPr/>
          <p:nvPr/>
        </p:nvSpPr>
        <p:spPr>
          <a:xfrm>
            <a:off x="5264018" y="2992117"/>
            <a:ext cx="6845129" cy="304800"/>
          </a:xfrm>
          <a:prstGeom prst="rect">
            <a:avLst/>
          </a:prstGeom>
          <a:noFill/>
          <a:ln/>
        </p:spPr>
        <p:txBody>
          <a:bodyPr wrap="none" lIns="0" tIns="0" rIns="0" bIns="0" rtlCol="0" anchor="t"/>
          <a:lstStyle/>
          <a:p>
            <a:pPr marL="0" indent="0" algn="l">
              <a:lnSpc>
                <a:spcPct val="125000"/>
              </a:lnSpc>
              <a:buNone/>
            </a:pPr>
            <a:r>
              <a:rPr lang="vi-VN" sz="2000" b="1" noProof="1">
                <a:solidFill>
                  <a:srgbClr val="002855"/>
                </a:solidFill>
                <a:latin typeface="Arimo Bold" pitchFamily="34" charset="0"/>
                <a:ea typeface="Arimo Bold" pitchFamily="34" charset="-122"/>
                <a:cs typeface="Arimo Bold" pitchFamily="34" charset="0"/>
              </a:rPr>
              <a:t>02</a:t>
            </a:r>
            <a:endParaRPr lang="vi-VN" sz="2000" noProof="1"/>
          </a:p>
        </p:txBody>
      </p:sp>
      <p:sp>
        <p:nvSpPr>
          <p:cNvPr id="21" name="Text 18"/>
          <p:cNvSpPr/>
          <p:nvPr/>
        </p:nvSpPr>
        <p:spPr>
          <a:xfrm>
            <a:off x="5794408" y="2983226"/>
            <a:ext cx="6641998" cy="266700"/>
          </a:xfrm>
          <a:prstGeom prst="rect">
            <a:avLst/>
          </a:prstGeom>
          <a:noFill/>
          <a:ln/>
        </p:spPr>
        <p:txBody>
          <a:bodyPr wrap="none" lIns="0" tIns="0" rIns="0" bIns="0" rtlCol="0" anchor="t"/>
          <a:lstStyle/>
          <a:p>
            <a:pPr>
              <a:defRPr b="1">
                <a:solidFill>
                  <a:srgbClr val="002855"/>
                </a:solidFill>
              </a:defRPr>
            </a:pPr>
            <a:r>
              <a:rPr>
                <a:latin typeface="Arial"/>
              </a:rPr>
              <a:t>Quy trình xuất bản phân tán và thủ công</a:t>
            </a:r>
          </a:p>
        </p:txBody>
      </p:sp>
      <p:sp>
        <p:nvSpPr>
          <p:cNvPr id="22" name="Text 19"/>
          <p:cNvSpPr/>
          <p:nvPr/>
        </p:nvSpPr>
        <p:spPr>
          <a:xfrm>
            <a:off x="5264018" y="3708400"/>
            <a:ext cx="6106893" cy="736600"/>
          </a:xfrm>
          <a:prstGeom prst="rect">
            <a:avLst/>
          </a:prstGeom>
          <a:noFill/>
          <a:ln/>
        </p:spPr>
        <p:txBody>
          <a:bodyPr wrap="square" lIns="0" tIns="0" rIns="0" bIns="0" rtlCol="0" anchor="t"/>
          <a:lstStyle/>
          <a:p>
            <a:pPr>
              <a:defRPr>
                <a:solidFill>
                  <a:srgbClr val="334155"/>
                </a:solidFill>
              </a:defRPr>
            </a:pPr>
            <a:r>
              <a:rPr>
                <a:latin typeface="Arial"/>
              </a:rPr>
              <a:t>Quy trình rời rạc; cán bộ phải sao chép nội dung và tải ảnh thủ công lặp lại trên từng kênh truyền thông, dễ sai sót dữ liệu và tốn nhân lực.</a:t>
            </a:r>
          </a:p>
        </p:txBody>
      </p:sp>
      <p:sp>
        <p:nvSpPr>
          <p:cNvPr id="23" name="Text 20"/>
          <p:cNvSpPr/>
          <p:nvPr/>
        </p:nvSpPr>
        <p:spPr>
          <a:xfrm>
            <a:off x="5264018" y="4617717"/>
            <a:ext cx="6845129" cy="304800"/>
          </a:xfrm>
          <a:prstGeom prst="rect">
            <a:avLst/>
          </a:prstGeom>
          <a:noFill/>
          <a:ln/>
        </p:spPr>
        <p:txBody>
          <a:bodyPr wrap="none" lIns="0" tIns="0" rIns="0" bIns="0" rtlCol="0" anchor="t"/>
          <a:lstStyle/>
          <a:p>
            <a:pPr marL="0" indent="0" algn="l">
              <a:lnSpc>
                <a:spcPct val="125000"/>
              </a:lnSpc>
              <a:buNone/>
            </a:pPr>
            <a:r>
              <a:rPr lang="vi-VN" sz="2000" b="1" noProof="1">
                <a:solidFill>
                  <a:srgbClr val="002855"/>
                </a:solidFill>
                <a:latin typeface="Arimo Bold" pitchFamily="34" charset="0"/>
                <a:ea typeface="Arimo Bold" pitchFamily="34" charset="-122"/>
                <a:cs typeface="Arimo Bold" pitchFamily="34" charset="0"/>
              </a:rPr>
              <a:t>03</a:t>
            </a:r>
            <a:endParaRPr lang="vi-VN" sz="2000" noProof="1"/>
          </a:p>
        </p:txBody>
      </p:sp>
      <p:sp>
        <p:nvSpPr>
          <p:cNvPr id="24" name="Text 21"/>
          <p:cNvSpPr/>
          <p:nvPr/>
        </p:nvSpPr>
        <p:spPr>
          <a:xfrm>
            <a:off x="5794408" y="4607010"/>
            <a:ext cx="6641998" cy="266700"/>
          </a:xfrm>
          <a:prstGeom prst="rect">
            <a:avLst/>
          </a:prstGeom>
          <a:noFill/>
          <a:ln/>
        </p:spPr>
        <p:txBody>
          <a:bodyPr wrap="none" lIns="0" tIns="0" rIns="0" bIns="0" rtlCol="0" anchor="t"/>
          <a:lstStyle/>
          <a:p>
            <a:pPr>
              <a:defRPr b="1">
                <a:solidFill>
                  <a:srgbClr val="002855"/>
                </a:solidFill>
              </a:defRPr>
            </a:pPr>
            <a:r>
              <a:rPr>
                <a:latin typeface="Arial"/>
              </a:rPr>
              <a:t>Thiếu hệ thống quản trị và đo lường tập trung</a:t>
            </a:r>
          </a:p>
        </p:txBody>
      </p:sp>
      <p:sp>
        <p:nvSpPr>
          <p:cNvPr id="25" name="Text 22"/>
          <p:cNvSpPr/>
          <p:nvPr/>
        </p:nvSpPr>
        <p:spPr>
          <a:xfrm>
            <a:off x="5264018" y="5334000"/>
            <a:ext cx="6106893" cy="908050"/>
          </a:xfrm>
          <a:prstGeom prst="rect">
            <a:avLst/>
          </a:prstGeom>
          <a:noFill/>
          <a:ln/>
        </p:spPr>
        <p:txBody>
          <a:bodyPr wrap="square" lIns="0" tIns="0" rIns="0" bIns="0" rtlCol="0" anchor="t"/>
          <a:lstStyle/>
          <a:p>
            <a:pPr>
              <a:defRPr>
                <a:solidFill>
                  <a:srgbClr val="334155"/>
                </a:solidFill>
              </a:defRPr>
            </a:pPr>
            <a:r>
              <a:rPr>
                <a:latin typeface="Arial"/>
              </a:rPr>
              <a:t>Chưa có công cụ số hóa để quản lý tập trung và thống kê chỉ số tương tác, gây khó khăn cho việc đánh giá hiệu quả truyền thông phong trào.</a:t>
            </a:r>
          </a:p>
        </p:txBody>
      </p:sp>
      <p:sp>
        <p:nvSpPr>
          <p:cNvPr id="26" name="Text 23"/>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2</a:t>
            </a:r>
            <a:endParaRPr lang="vi-VN" sz="700" noProof="1"/>
          </a:p>
        </p:txBody>
      </p:sp>
      <p:sp>
        <p:nvSpPr>
          <p:cNvPr id="35" name="Hình chữ nhật 34">
            <a:extLst>
              <a:ext uri="{FF2B5EF4-FFF2-40B4-BE49-F238E27FC236}">
                <a16:creationId xmlns:a16="http://schemas.microsoft.com/office/drawing/2014/main" id="{D8FE84B7-8464-6367-DDBC-66A39638189D}"/>
              </a:ext>
            </a:extLst>
          </p:cNvPr>
          <p:cNvSpPr/>
          <p:nvPr/>
        </p:nvSpPr>
        <p:spPr>
          <a:xfrm>
            <a:off x="27432000" y="6140918"/>
            <a:ext cx="1459527" cy="695498"/>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pPr marL="0" indent="0" algn="l">
              <a:lnSpc>
                <a:spcPct val="125000"/>
              </a:lnSpc>
              <a:buNone/>
            </a:pPr>
            <a:r>
              <a:rPr lang="vi-VN" sz="1000" b="1" noProof="1">
                <a:solidFill>
                  <a:srgbClr val="D9731F"/>
                </a:solidFill>
                <a:latin typeface="Arimo Bold" pitchFamily="34" charset="0"/>
                <a:ea typeface="Arimo Bold" pitchFamily="34" charset="-122"/>
                <a:cs typeface="Arimo Bold" pitchFamily="34" charset="0"/>
              </a:rPr>
              <a:t>1. GIỚI THIỆU ĐỀ TÀI</a:t>
            </a:r>
            <a:endParaRPr lang="vi-VN" sz="1000" noProof="1"/>
          </a:p>
        </p:txBody>
      </p:sp>
      <p:sp>
        <p:nvSpPr>
          <p:cNvPr id="3" name="Text 1"/>
          <p:cNvSpPr/>
          <p:nvPr/>
        </p:nvSpPr>
        <p:spPr>
          <a:xfrm>
            <a:off x="590535" y="533400"/>
            <a:ext cx="11601160" cy="419100"/>
          </a:xfrm>
          <a:prstGeom prst="rect">
            <a:avLst/>
          </a:prstGeom>
          <a:noFill/>
          <a:ln/>
        </p:spPr>
        <p:txBody>
          <a:bodyPr wrap="none" lIns="0" tIns="0" rIns="0" bIns="0" rtlCol="0" anchor="t"/>
          <a:lstStyle/>
          <a:p>
            <a:pPr marL="0" indent="0" algn="l">
              <a:lnSpc>
                <a:spcPct val="125000"/>
              </a:lnSpc>
              <a:buNone/>
            </a:pPr>
            <a:r>
              <a:rPr lang="vi-VN" sz="2200" b="1" noProof="1">
                <a:solidFill>
                  <a:srgbClr val="002855"/>
                </a:solidFill>
                <a:latin typeface="Arimo Bold" pitchFamily="34" charset="0"/>
                <a:ea typeface="Arimo Bold" pitchFamily="34" charset="-122"/>
                <a:cs typeface="Arimo Bold" pitchFamily="34" charset="0"/>
              </a:rPr>
              <a:t>Mục tiêu nghiên cứu &amp; Định hướng giải quyết</a:t>
            </a:r>
            <a:endParaRPr lang="vi-VN" sz="2200" noProof="1"/>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sp>
        <p:nvSpPr>
          <p:cNvPr id="5" name="Shape 2"/>
          <p:cNvSpPr/>
          <p:nvPr/>
        </p:nvSpPr>
        <p:spPr>
          <a:xfrm>
            <a:off x="533387" y="1473200"/>
            <a:ext cx="11124922" cy="25400"/>
          </a:xfrm>
          <a:prstGeom prst="roundRect">
            <a:avLst>
              <a:gd name="adj" fmla="val 49999"/>
            </a:avLst>
          </a:prstGeom>
          <a:solidFill>
            <a:srgbClr val="00A3C4"/>
          </a:solidFill>
          <a:ln/>
        </p:spPr>
        <p:txBody>
          <a:bodyPr/>
          <a:lstStyle/>
          <a:p>
            <a:endParaRPr lang="vi-VN" noProof="1"/>
          </a:p>
        </p:txBody>
      </p:sp>
      <p:sp>
        <p:nvSpPr>
          <p:cNvPr id="6" name="Text 3"/>
          <p:cNvSpPr/>
          <p:nvPr/>
        </p:nvSpPr>
        <p:spPr>
          <a:xfrm>
            <a:off x="590535" y="1701800"/>
            <a:ext cx="1765256" cy="533400"/>
          </a:xfrm>
          <a:prstGeom prst="rect">
            <a:avLst/>
          </a:prstGeom>
          <a:noFill/>
          <a:ln/>
        </p:spPr>
        <p:txBody>
          <a:bodyPr wrap="none" lIns="0" tIns="0" rIns="0" bIns="0" rtlCol="0" anchor="t"/>
          <a:lstStyle/>
          <a:p>
            <a:pPr marL="0" indent="0" algn="l">
              <a:lnSpc>
                <a:spcPct val="125000"/>
              </a:lnSpc>
              <a:buNone/>
            </a:pPr>
            <a:r>
              <a:rPr lang="vi-VN" sz="2800" b="1" noProof="1">
                <a:solidFill>
                  <a:srgbClr val="0A7A94"/>
                </a:solidFill>
                <a:latin typeface="Arimo Bold" pitchFamily="34" charset="0"/>
                <a:ea typeface="Arimo Bold" pitchFamily="34" charset="-122"/>
                <a:cs typeface="Arimo Bold" pitchFamily="34" charset="0"/>
              </a:rPr>
              <a:t>01</a:t>
            </a:r>
            <a:endParaRPr lang="vi-VN" sz="2800" noProof="1"/>
          </a:p>
        </p:txBody>
      </p:sp>
      <p:sp>
        <p:nvSpPr>
          <p:cNvPr id="7" name="Text 4"/>
          <p:cNvSpPr/>
          <p:nvPr/>
        </p:nvSpPr>
        <p:spPr>
          <a:xfrm>
            <a:off x="590535" y="2260600"/>
            <a:ext cx="3924202" cy="285750"/>
          </a:xfrm>
          <a:prstGeom prst="rect">
            <a:avLst/>
          </a:prstGeom>
          <a:noFill/>
          <a:ln/>
        </p:spPr>
        <p:txBody>
          <a:bodyPr wrap="none" lIns="0" tIns="0" rIns="0" bIns="0" rtlCol="0" anchor="t"/>
          <a:lstStyle/>
          <a:p>
            <a:pPr marL="0" indent="0" algn="l">
              <a:lnSpc>
                <a:spcPct val="125000"/>
              </a:lnSpc>
              <a:buNone/>
            </a:pPr>
            <a:r>
              <a:rPr lang="vi-VN" b="1" noProof="1">
                <a:solidFill>
                  <a:srgbClr val="002855"/>
                </a:solidFill>
                <a:latin typeface="Arimo Bold" pitchFamily="34" charset="0"/>
                <a:ea typeface="Arimo Bold" pitchFamily="34" charset="-122"/>
                <a:cs typeface="Arimo Bold" pitchFamily="34" charset="0"/>
              </a:rPr>
              <a:t>Mục tiêu trọng tâm của đề tài</a:t>
            </a:r>
            <a:endParaRPr lang="vi-VN" noProof="1"/>
          </a:p>
        </p:txBody>
      </p:sp>
      <p:sp>
        <p:nvSpPr>
          <p:cNvPr id="8" name="Text 5"/>
          <p:cNvSpPr/>
          <p:nvPr/>
        </p:nvSpPr>
        <p:spPr>
          <a:xfrm>
            <a:off x="590535" y="2628900"/>
            <a:ext cx="3314617" cy="3848100"/>
          </a:xfrm>
          <a:prstGeom prst="rect">
            <a:avLst/>
          </a:prstGeom>
          <a:noFill/>
          <a:ln/>
        </p:spPr>
        <p:txBody>
          <a:bodyPr wrap="square" lIns="0" tIns="0" rIns="0" bIns="0" rtlCol="0" anchor="t">
            <a:normAutofit/>
          </a:bodyPr>
          <a:lstStyle/>
          <a:p>
            <a:pPr>
              <a:defRPr sz="1300">
                <a:solidFill>
                  <a:srgbClr val="283246"/>
                </a:solidFill>
              </a:defRPr>
            </a:pPr>
            <a:r>
              <a:rPr>
                <a:solidFill>
                  <a:srgbClr val="334155"/>
                </a:solidFill>
              </a:rPr>
              <a:t>• Xây dựng website truyền thông riêng cho Công đoàn Trường ĐH Thủ Dầu Một.</a:t>
            </a:r>
          </a:p>
          <a:p>
            <a:pPr>
              <a:defRPr sz="1300">
                <a:solidFill>
                  <a:srgbClr val="283246"/>
                </a:solidFill>
              </a:defRPr>
            </a:pPr>
            <a:r>
              <a:rPr>
                <a:solidFill>
                  <a:srgbClr val="334155"/>
                </a:solidFill>
              </a:rPr>
              <a:t>• Tích hợp AI hỗ trợ soạn bài từ kế hoạch thô và đăng bài tự động đa kênh.</a:t>
            </a:r>
          </a:p>
          <a:p>
            <a:pPr>
              <a:defRPr sz="1300">
                <a:solidFill>
                  <a:srgbClr val="283246"/>
                </a:solidFill>
              </a:defRPr>
            </a:pPr>
            <a:r>
              <a:rPr>
                <a:solidFill>
                  <a:srgbClr val="334155"/>
                </a:solidFill>
              </a:rPr>
              <a:t>• Giúp cán bộ tiết kiệm thời gian viết bài và quản lý tin tức tập trung.</a:t>
            </a:r>
          </a:p>
        </p:txBody>
      </p:sp>
      <p:sp>
        <p:nvSpPr>
          <p:cNvPr id="9" name="Shape 6"/>
          <p:cNvSpPr/>
          <p:nvPr/>
        </p:nvSpPr>
        <p:spPr>
          <a:xfrm>
            <a:off x="4140096" y="1701800"/>
            <a:ext cx="12700" cy="3810000"/>
          </a:xfrm>
          <a:prstGeom prst="roundRect">
            <a:avLst>
              <a:gd name="adj" fmla="val 49999"/>
            </a:avLst>
          </a:prstGeom>
          <a:solidFill>
            <a:srgbClr val="D5DEEA"/>
          </a:solidFill>
          <a:ln/>
        </p:spPr>
        <p:txBody>
          <a:bodyPr/>
          <a:lstStyle/>
          <a:p>
            <a:endParaRPr lang="vi-VN" noProof="1"/>
          </a:p>
        </p:txBody>
      </p:sp>
      <p:sp>
        <p:nvSpPr>
          <p:cNvPr id="10" name="Text 7"/>
          <p:cNvSpPr/>
          <p:nvPr/>
        </p:nvSpPr>
        <p:spPr>
          <a:xfrm>
            <a:off x="4451239" y="1701800"/>
            <a:ext cx="1511262" cy="533400"/>
          </a:xfrm>
          <a:prstGeom prst="rect">
            <a:avLst/>
          </a:prstGeom>
          <a:noFill/>
          <a:ln/>
        </p:spPr>
        <p:txBody>
          <a:bodyPr wrap="none" lIns="0" tIns="0" rIns="0" bIns="0" rtlCol="0" anchor="t"/>
          <a:lstStyle/>
          <a:p>
            <a:pPr marL="0" indent="0" algn="l">
              <a:lnSpc>
                <a:spcPct val="125000"/>
              </a:lnSpc>
              <a:buNone/>
            </a:pPr>
            <a:r>
              <a:rPr lang="vi-VN" sz="2800" b="1" noProof="1">
                <a:solidFill>
                  <a:srgbClr val="B34F00"/>
                </a:solidFill>
                <a:latin typeface="Arimo Bold" pitchFamily="34" charset="0"/>
                <a:ea typeface="Arimo Bold" pitchFamily="34" charset="-122"/>
                <a:cs typeface="Arimo Bold" pitchFamily="34" charset="0"/>
              </a:rPr>
              <a:t>02</a:t>
            </a:r>
            <a:endParaRPr lang="vi-VN" sz="2800" noProof="1"/>
          </a:p>
        </p:txBody>
      </p:sp>
      <p:sp>
        <p:nvSpPr>
          <p:cNvPr id="11" name="Text 8"/>
          <p:cNvSpPr/>
          <p:nvPr/>
        </p:nvSpPr>
        <p:spPr>
          <a:xfrm>
            <a:off x="4451239" y="2260600"/>
            <a:ext cx="3924202" cy="285750"/>
          </a:xfrm>
          <a:prstGeom prst="rect">
            <a:avLst/>
          </a:prstGeom>
          <a:noFill/>
          <a:ln/>
        </p:spPr>
        <p:txBody>
          <a:bodyPr wrap="none" lIns="0" tIns="0" rIns="0" bIns="0" rtlCol="0" anchor="t"/>
          <a:lstStyle/>
          <a:p>
            <a:pPr marL="0" indent="0" algn="l">
              <a:lnSpc>
                <a:spcPct val="125000"/>
              </a:lnSpc>
              <a:buNone/>
            </a:pPr>
            <a:r>
              <a:rPr lang="vi-VN" b="1" noProof="1">
                <a:solidFill>
                  <a:srgbClr val="002855"/>
                </a:solidFill>
                <a:latin typeface="Arimo Bold" pitchFamily="34" charset="0"/>
                <a:ea typeface="Arimo Bold" pitchFamily="34" charset="-122"/>
                <a:cs typeface="Arimo Bold" pitchFamily="34" charset="0"/>
              </a:rPr>
              <a:t>Hỗ trợ tạo nội dung bằng AI</a:t>
            </a:r>
            <a:endParaRPr lang="vi-VN" noProof="1"/>
          </a:p>
        </p:txBody>
      </p:sp>
      <p:sp>
        <p:nvSpPr>
          <p:cNvPr id="12" name="Text 9"/>
          <p:cNvSpPr/>
          <p:nvPr/>
        </p:nvSpPr>
        <p:spPr>
          <a:xfrm>
            <a:off x="4451239" y="2628900"/>
            <a:ext cx="3314617" cy="2095500"/>
          </a:xfrm>
          <a:prstGeom prst="rect">
            <a:avLst/>
          </a:prstGeom>
          <a:noFill/>
          <a:ln/>
        </p:spPr>
        <p:txBody>
          <a:bodyPr wrap="square" lIns="0" tIns="0" rIns="0" bIns="0" rtlCol="0" anchor="t">
            <a:noAutofit/>
          </a:bodyPr>
          <a:lstStyle/>
          <a:p>
            <a:pPr>
              <a:defRPr sz="1300">
                <a:solidFill>
                  <a:srgbClr val="283246"/>
                </a:solidFill>
              </a:defRPr>
            </a:pPr>
            <a:r>
              <a:rPr>
                <a:solidFill>
                  <a:srgbClr val="334155"/>
                </a:solidFill>
              </a:rPr>
              <a:t>• Tự viết bài tin tức hoàn chỉnh từ file kế hoạch hoặc thông báo sự kiện.</a:t>
            </a:r>
          </a:p>
          <a:p>
            <a:pPr>
              <a:defRPr sz="1300">
                <a:solidFill>
                  <a:srgbClr val="283246"/>
                </a:solidFill>
              </a:defRPr>
            </a:pPr>
            <a:r>
              <a:rPr>
                <a:solidFill>
                  <a:srgbClr val="334155"/>
                </a:solidFill>
              </a:rPr>
              <a:t>• Tự động gợi ý 3 tiêu đề ngắn gọn và viết đoạn tóm tắt mở bài.</a:t>
            </a:r>
          </a:p>
          <a:p>
            <a:pPr>
              <a:defRPr sz="1300">
                <a:solidFill>
                  <a:srgbClr val="283246"/>
                </a:solidFill>
              </a:defRPr>
            </a:pPr>
            <a:r>
              <a:rPr>
                <a:latin typeface="Arial"/>
              </a:rPr>
              <a:t>• Cung cấp tính năng tinh chỉnh văn phong theo vùng chọn (In-line Refinement).</a:t>
            </a:r>
          </a:p>
        </p:txBody>
      </p:sp>
      <p:sp>
        <p:nvSpPr>
          <p:cNvPr id="13" name="Shape 10"/>
          <p:cNvSpPr/>
          <p:nvPr/>
        </p:nvSpPr>
        <p:spPr>
          <a:xfrm>
            <a:off x="8000800" y="1701800"/>
            <a:ext cx="12700" cy="3810000"/>
          </a:xfrm>
          <a:prstGeom prst="roundRect">
            <a:avLst>
              <a:gd name="adj" fmla="val 49999"/>
            </a:avLst>
          </a:prstGeom>
          <a:solidFill>
            <a:srgbClr val="D5DEEA"/>
          </a:solidFill>
          <a:ln/>
        </p:spPr>
        <p:txBody>
          <a:bodyPr/>
          <a:lstStyle/>
          <a:p>
            <a:endParaRPr lang="vi-VN" noProof="1"/>
          </a:p>
        </p:txBody>
      </p:sp>
      <p:sp>
        <p:nvSpPr>
          <p:cNvPr id="14" name="Text 11"/>
          <p:cNvSpPr/>
          <p:nvPr/>
        </p:nvSpPr>
        <p:spPr>
          <a:xfrm>
            <a:off x="8311942" y="1701800"/>
            <a:ext cx="1511262" cy="533400"/>
          </a:xfrm>
          <a:prstGeom prst="rect">
            <a:avLst/>
          </a:prstGeom>
          <a:noFill/>
          <a:ln/>
        </p:spPr>
        <p:txBody>
          <a:bodyPr wrap="none" lIns="0" tIns="0" rIns="0" bIns="0" rtlCol="0" anchor="t"/>
          <a:lstStyle/>
          <a:p>
            <a:pPr marL="0" indent="0" algn="l">
              <a:lnSpc>
                <a:spcPct val="125000"/>
              </a:lnSpc>
              <a:buNone/>
            </a:pPr>
            <a:r>
              <a:rPr lang="vi-VN" sz="2800" b="1" noProof="1">
                <a:solidFill>
                  <a:srgbClr val="B34F00"/>
                </a:solidFill>
                <a:latin typeface="Arimo Bold" pitchFamily="34" charset="0"/>
                <a:ea typeface="Arimo Bold" pitchFamily="34" charset="-122"/>
                <a:cs typeface="Arimo Bold" pitchFamily="34" charset="0"/>
              </a:rPr>
              <a:t>03</a:t>
            </a:r>
            <a:endParaRPr lang="vi-VN" sz="2800" noProof="1"/>
          </a:p>
        </p:txBody>
      </p:sp>
      <p:sp>
        <p:nvSpPr>
          <p:cNvPr id="15" name="Text 12"/>
          <p:cNvSpPr/>
          <p:nvPr/>
        </p:nvSpPr>
        <p:spPr>
          <a:xfrm>
            <a:off x="8311942" y="2260600"/>
            <a:ext cx="3879753" cy="285750"/>
          </a:xfrm>
          <a:prstGeom prst="rect">
            <a:avLst/>
          </a:prstGeom>
          <a:noFill/>
          <a:ln/>
        </p:spPr>
        <p:txBody>
          <a:bodyPr wrap="none" lIns="0" tIns="0" rIns="0" bIns="0" rtlCol="0" anchor="t"/>
          <a:lstStyle/>
          <a:p>
            <a:pPr marL="0" indent="0" algn="l">
              <a:lnSpc>
                <a:spcPct val="125000"/>
              </a:lnSpc>
              <a:buNone/>
            </a:pPr>
            <a:r>
              <a:rPr lang="vi-VN" b="1" noProof="1">
                <a:solidFill>
                  <a:srgbClr val="002855"/>
                </a:solidFill>
                <a:latin typeface="Arimo Bold" pitchFamily="34" charset="0"/>
                <a:ea typeface="Arimo Bold" pitchFamily="34" charset="-122"/>
                <a:cs typeface="Arimo Bold" pitchFamily="34" charset="0"/>
              </a:rPr>
              <a:t>Xuất bản đa kênh &amp; Đo lường</a:t>
            </a:r>
            <a:endParaRPr lang="vi-VN" noProof="1"/>
          </a:p>
        </p:txBody>
      </p:sp>
      <p:sp>
        <p:nvSpPr>
          <p:cNvPr id="16" name="Text 13"/>
          <p:cNvSpPr/>
          <p:nvPr/>
        </p:nvSpPr>
        <p:spPr>
          <a:xfrm>
            <a:off x="8311942" y="2628900"/>
            <a:ext cx="3314617" cy="2438400"/>
          </a:xfrm>
          <a:prstGeom prst="rect">
            <a:avLst/>
          </a:prstGeom>
          <a:noFill/>
          <a:ln/>
        </p:spPr>
        <p:txBody>
          <a:bodyPr wrap="square" lIns="0" tIns="0" rIns="0" bIns="0" rtlCol="0" anchor="t">
            <a:normAutofit fontScale="92500"/>
          </a:bodyPr>
          <a:lstStyle/>
          <a:p>
            <a:pPr>
              <a:defRPr sz="1300">
                <a:solidFill>
                  <a:srgbClr val="283246"/>
                </a:solidFill>
              </a:defRPr>
            </a:pPr>
            <a:r>
              <a:rPr>
                <a:solidFill>
                  <a:srgbClr val="334155"/>
                </a:solidFill>
              </a:rPr>
              <a:t>• Đăng đồng thời lên Website và Fanpage Facebook; có hẹn giờ đăng tự động.</a:t>
            </a:r>
          </a:p>
          <a:p>
            <a:pPr>
              <a:defRPr sz="1300">
                <a:solidFill>
                  <a:srgbClr val="283246"/>
                </a:solidFill>
              </a:defRPr>
            </a:pPr>
            <a:r>
              <a:rPr>
                <a:latin typeface="Arial"/>
              </a:rPr>
              <a:t>• Hệ thống thống kê quản trị theo dõi chỉ số xuất bản và mức độ tương tác bạn đọc.</a:t>
            </a:r>
          </a:p>
        </p:txBody>
      </p:sp>
      <p:sp>
        <p:nvSpPr>
          <p:cNvPr id="17" name="Shape 14"/>
          <p:cNvSpPr/>
          <p:nvPr/>
        </p:nvSpPr>
        <p:spPr>
          <a:xfrm>
            <a:off x="533387" y="6477000"/>
            <a:ext cx="11124922" cy="9525"/>
          </a:xfrm>
          <a:prstGeom prst="roundRect">
            <a:avLst>
              <a:gd name="adj" fmla="val 49999"/>
            </a:avLst>
          </a:prstGeom>
          <a:solidFill>
            <a:srgbClr val="E2E8F0"/>
          </a:solidFill>
          <a:ln/>
        </p:spPr>
        <p:txBody>
          <a:bodyPr/>
          <a:lstStyle/>
          <a:p>
            <a:endParaRPr lang="vi-VN" noProof="1"/>
          </a:p>
        </p:txBody>
      </p:sp>
      <p:sp>
        <p:nvSpPr>
          <p:cNvPr id="18" name="Text 15"/>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3</a:t>
            </a:r>
            <a:endParaRPr lang="vi-VN" sz="700" noProof="1"/>
          </a:p>
        </p:txBody>
      </p:sp>
      <p:sp>
        <p:nvSpPr>
          <p:cNvPr id="20" name="Hình chữ nhật 19">
            <a:extLst>
              <a:ext uri="{FF2B5EF4-FFF2-40B4-BE49-F238E27FC236}">
                <a16:creationId xmlns:a16="http://schemas.microsoft.com/office/drawing/2014/main" id="{CF90B1C4-0DE4-E70C-03DF-B436BDD27DC3}"/>
              </a:ext>
            </a:extLst>
          </p:cNvPr>
          <p:cNvSpPr/>
          <p:nvPr/>
        </p:nvSpPr>
        <p:spPr>
          <a:xfrm>
            <a:off x="27432000" y="6486525"/>
            <a:ext cx="1459527" cy="349890"/>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00" y="347472"/>
            <a:ext cx="10972800" cy="274320"/>
          </a:xfrm>
          <a:prstGeom prst="rect">
            <a:avLst/>
          </a:prstGeom>
          <a:noFill/>
        </p:spPr>
        <p:txBody>
          <a:bodyPr wrap="square" lIns="0" tIns="0">
            <a:spAutoFit/>
          </a:bodyPr>
          <a:lstStyle/>
          <a:p>
            <a:pPr>
              <a:defRPr b="1" sz="1300">
                <a:solidFill>
                  <a:srgbClr val="E67E22"/>
                </a:solidFill>
              </a:defRPr>
            </a:pPr>
            <a:r>
              <a:rPr>
                <a:solidFill>
                  <a:srgbClr val="BE7814"/>
                </a:solidFill>
              </a:rPr>
              <a:t>2. GIẢI PHÁP CÔNG NGHỆ</a:t>
            </a:r>
          </a:p>
        </p:txBody>
      </p:sp>
      <p:sp>
        <p:nvSpPr>
          <p:cNvPr id="3" name="TextBox 2"/>
          <p:cNvSpPr txBox="1"/>
          <p:nvPr/>
        </p:nvSpPr>
        <p:spPr>
          <a:xfrm>
            <a:off x="27432000" y="594360"/>
            <a:ext cx="10972800" cy="411480"/>
          </a:xfrm>
          <a:prstGeom prst="rect">
            <a:avLst/>
          </a:prstGeom>
          <a:noFill/>
        </p:spPr>
        <p:txBody>
          <a:bodyPr wrap="square" lIns="0" tIns="0">
            <a:spAutoFit/>
          </a:bodyPr>
          <a:lstStyle/>
          <a:p>
            <a:pPr>
              <a:defRPr b="1" sz="2400">
                <a:solidFill>
                  <a:srgbClr val="FFFFFF"/>
                </a:solidFill>
              </a:defRPr>
            </a:pPr>
            <a:r>
              <a:rPr>
                <a:solidFill>
                  <a:srgbClr val="002855"/>
                </a:solidFill>
              </a:rPr>
              <a:t>Các công nghệ sử dụng trong đề tài</a:t>
            </a:r>
          </a:p>
        </p:txBody>
      </p:sp>
      <p:sp>
        <p:nvSpPr>
          <p:cNvPr id="4" name="Rectangle 3"/>
          <p:cNvSpPr/>
          <p:nvPr/>
        </p:nvSpPr>
        <p:spPr>
          <a:xfrm>
            <a:off x="27432000" y="1051560"/>
            <a:ext cx="1051560" cy="36576"/>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Giao diện người dùng</a:t>
            </a:r>
          </a:p>
          <a:p>
            <a:pPr>
              <a:defRPr sz="1000" b="1">
                <a:solidFill>
                  <a:srgbClr val="BE7814"/>
                </a:solidFill>
                <a:latin typeface="Arial"/>
              </a:defRPr>
            </a:pPr>
            <a:r>
              <a:t>React 18 · Tailwind CSS</a:t>
            </a:r>
          </a:p>
          <a:p>
            <a:pPr>
              <a:defRPr sz="950">
                <a:solidFill>
                  <a:srgbClr val="334155"/>
                </a:solidFill>
                <a:latin typeface="Arial"/>
              </a:defRPr>
            </a:pPr>
            <a:r>
              <a:t>• Xây dựng Cổng thông tin cho đoàn viên và phân hệ quản trị bài viết.</a:t>
            </a:r>
          </a:p>
          <a:p>
            <a:pPr>
              <a:defRPr sz="950">
                <a:solidFill>
                  <a:srgbClr val="334155"/>
                </a:solidFill>
                <a:latin typeface="Arial"/>
              </a:defRPr>
            </a:pPr>
            <a:r>
              <a:t>• Cơ chế tải trang nhanh, không cần nạp lại toàn bộ trang web.</a:t>
            </a:r>
          </a:p>
          <a:p>
            <a:pPr>
              <a:defRPr sz="950">
                <a:solidFill>
                  <a:srgbClr val="334155"/>
                </a:solidFill>
                <a:latin typeface="Arial"/>
              </a:defRPr>
            </a:pPr>
            <a:r>
              <a:t>• Giao diện tự động co giãn đẹp mắt, chuẩn trên cả máy tính và điện thoại.</a:t>
            </a:r>
          </a:p>
        </p:txBody>
      </p:sp>
      <p:sp>
        <p:nvSpPr>
          <p:cNvPr id="6" name="Rounded Rectangle 5"/>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Máy chủ xử lý</a:t>
            </a:r>
          </a:p>
          <a:p>
            <a:pPr>
              <a:defRPr sz="1000" b="1">
                <a:solidFill>
                  <a:srgbClr val="BE7814"/>
                </a:solidFill>
                <a:latin typeface="Arial"/>
              </a:defRPr>
            </a:pPr>
            <a:r>
              <a:t>Node.js 18+ · Express</a:t>
            </a:r>
          </a:p>
          <a:p>
            <a:pPr>
              <a:defRPr sz="950">
                <a:solidFill>
                  <a:srgbClr val="334155"/>
                </a:solidFill>
                <a:latin typeface="Arial"/>
              </a:defRPr>
            </a:pPr>
            <a:r>
              <a:t>• Cung cấp hệ thống cổng API kết nối an toàn giữa giao diện và cơ sở dữ liệu.</a:t>
            </a:r>
          </a:p>
          <a:p>
            <a:pPr>
              <a:defRPr sz="950">
                <a:solidFill>
                  <a:srgbClr val="334155"/>
                </a:solidFill>
                <a:latin typeface="Arial"/>
              </a:defRPr>
            </a:pPr>
            <a:r>
              <a:t>• Phân quyền 4 nhóm người dùng rõ ràng, bảo mật tài khoản.</a:t>
            </a:r>
          </a:p>
          <a:p>
            <a:pPr>
              <a:defRPr sz="950">
                <a:solidFill>
                  <a:srgbClr val="334155"/>
                </a:solidFill>
                <a:latin typeface="Arial"/>
              </a:defRPr>
            </a:pPr>
            <a:r>
              <a:t>• Điều phối tiến trình ngầm tự động xuất bản bài viết đúng giờ hẹn.</a:t>
            </a:r>
          </a:p>
        </p:txBody>
      </p:sp>
      <p:sp>
        <p:nvSpPr>
          <p:cNvPr id="7" name="Rounded Rectangle 6"/>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Cơ sở dữ liệu</a:t>
            </a:r>
          </a:p>
          <a:p>
            <a:pPr>
              <a:defRPr sz="1000" b="1">
                <a:solidFill>
                  <a:srgbClr val="BE7814"/>
                </a:solidFill>
                <a:latin typeface="Arial"/>
              </a:defRPr>
            </a:pPr>
            <a:r>
              <a:t>SQL Server 2022</a:t>
            </a:r>
          </a:p>
          <a:p>
            <a:pPr>
              <a:defRPr sz="950">
                <a:solidFill>
                  <a:srgbClr val="334155"/>
                </a:solidFill>
                <a:latin typeface="Arial"/>
              </a:defRPr>
            </a:pPr>
            <a:r>
              <a:t>• Quản lý 15 bảng dữ liệu nghiệp vụ: bài viết, tài khoản, chuyên mục, lịch hẹn.</a:t>
            </a:r>
          </a:p>
          <a:p>
            <a:pPr>
              <a:defRPr sz="950">
                <a:solidFill>
                  <a:srgbClr val="334155"/>
                </a:solidFill>
                <a:latin typeface="Arial"/>
              </a:defRPr>
            </a:pPr>
            <a:r>
              <a:t>• Thiết lập khóa chính và khóa ngoại chặt chẽ, bảo đảm dữ liệu nhất quán.</a:t>
            </a:r>
          </a:p>
          <a:p>
            <a:pPr>
              <a:defRPr sz="950">
                <a:solidFill>
                  <a:srgbClr val="334155"/>
                </a:solidFill>
                <a:latin typeface="Arial"/>
              </a:defRPr>
            </a:pPr>
            <a:r>
              <a:t>• Tối ưu tốc độ tìm kiếm và phân loại bài viết theo chuyên mục phong trào.</a:t>
            </a:r>
          </a:p>
        </p:txBody>
      </p:sp>
      <p:sp>
        <p:nvSpPr>
          <p:cNvPr id="8" name="Rounded Rectangle 7"/>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Trí tuệ nhân tạo &amp; Đa kênh</a:t>
            </a:r>
          </a:p>
          <a:p>
            <a:pPr>
              <a:defRPr sz="1000" b="1">
                <a:solidFill>
                  <a:srgbClr val="BE7814"/>
                </a:solidFill>
                <a:latin typeface="Arial"/>
              </a:defRPr>
            </a:pPr>
            <a:r>
              <a:t>Google Gemini &amp; Facebook API</a:t>
            </a:r>
          </a:p>
          <a:p>
            <a:pPr>
              <a:defRPr sz="950">
                <a:solidFill>
                  <a:srgbClr val="334155"/>
                </a:solidFill>
                <a:latin typeface="Arial"/>
              </a:defRPr>
            </a:pPr>
            <a:r>
              <a:t>• Google Gemini API: Lõi AI xử lý tiếng Việt hỗ trợ đọc kế hoạch và viết bài nháp.</a:t>
            </a:r>
          </a:p>
          <a:p>
            <a:pPr>
              <a:defRPr sz="950">
                <a:solidFill>
                  <a:srgbClr val="334155"/>
                </a:solidFill>
                <a:latin typeface="Arial"/>
              </a:defRPr>
            </a:pPr>
            <a:r>
              <a:t>• Giao diện Facebook API: Tự động đăng tải bài viết và hình ảnh lên Trang Facebook Công đoàn.</a:t>
            </a:r>
          </a:p>
          <a:p>
            <a:pPr>
              <a:defRPr sz="950">
                <a:solidFill>
                  <a:srgbClr val="334155"/>
                </a:solidFill>
                <a:latin typeface="Arial"/>
              </a:defRPr>
            </a:pPr>
            <a:r>
              <a:t>• Hỗ trợ chuẩn bị nội dung rút gọn gửi thông báo qua nhóm Zalo cơ sở.</a:t>
            </a:r>
          </a:p>
        </p:txBody>
      </p:sp>
      <p:sp>
        <p:nvSpPr>
          <p:cNvPr id="9" name="TextBox 8"/>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10" name="TextBox 9"/>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Công nghệ cốt lõi sử dụng trong đề tài</a:t>
            </a:r>
          </a:p>
        </p:txBody>
      </p:sp>
      <p:sp>
        <p:nvSpPr>
          <p:cNvPr id="11" name="Rectangle 10"/>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dmu_official_logo.png"/>
          <p:cNvPicPr>
            <a:picLocks noChangeAspect="1"/>
          </p:cNvPicPr>
          <p:nvPr/>
        </p:nvPicPr>
        <p:blipFill>
          <a:blip r:embed="rId2"/>
          <a:stretch>
            <a:fillRect/>
          </a:stretch>
        </p:blipFill>
        <p:spPr>
          <a:xfrm>
            <a:off x="27432000" y="292608"/>
            <a:ext cx="1691640" cy="658368"/>
          </a:xfrm>
          <a:prstGeom prst="rect">
            <a:avLst/>
          </a:prstGeom>
        </p:spPr>
      </p:pic>
      <p:sp>
        <p:nvSpPr>
          <p:cNvPr id="13" name="Rectangle 12"/>
          <p:cNvSpPr/>
          <p:nvPr/>
        </p:nvSpPr>
        <p:spPr>
          <a:xfrm>
            <a:off x="2743200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0" y="1417320"/>
            <a:ext cx="329184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Giao diện người dùng</a:t>
            </a:r>
          </a:p>
          <a:p>
            <a:pPr>
              <a:spcAft>
                <a:spcPts val="1400"/>
              </a:spcAft>
              <a:defRPr sz="1150" b="1">
                <a:solidFill>
                  <a:srgbClr val="0284C7"/>
                </a:solidFill>
                <a:latin typeface="Arial"/>
              </a:defRPr>
            </a:pPr>
            <a:r>
              <a:t>React 18 SPA · Tailwind CSS · Vite</a:t>
            </a:r>
          </a:p>
          <a:p>
            <a:pPr>
              <a:spcAft>
                <a:spcPts val="1400"/>
              </a:spcAft>
              <a:defRPr sz="1100">
                <a:solidFill>
                  <a:srgbClr val="334155"/>
                </a:solidFill>
                <a:latin typeface="Arial"/>
              </a:defRPr>
            </a:pPr>
            <a:r>
              <a:t>Xây dựng phân hệ Cổng thông tin đoàn viên và trang quản trị Admin CMS với cơ chế tải nhanh Zero Reload, mang lại trải nghiệm tương tác mượt mà, co giãn linh hoạt trên mọi kích thước màn hình thiết bị.</a:t>
            </a:r>
          </a:p>
          <a:p>
            <a:pPr>
              <a:spcAft>
                <a:spcPts val="800"/>
              </a:spcAft>
              <a:defRPr sz="1050">
                <a:solidFill>
                  <a:srgbClr val="334155"/>
                </a:solidFill>
                <a:latin typeface="Arial"/>
              </a:defRPr>
            </a:pPr>
            <a:r>
              <a:t>• Kiến trúc Single Page Application (SPA) tối ưu tốc độ.</a:t>
            </a:r>
          </a:p>
          <a:p>
            <a:pPr>
              <a:spcAft>
                <a:spcPts val="800"/>
              </a:spcAft>
              <a:defRPr sz="1050">
                <a:solidFill>
                  <a:srgbClr val="334155"/>
                </a:solidFill>
                <a:latin typeface="Arial"/>
              </a:defRPr>
            </a:pPr>
            <a:r>
              <a:t>• Thư viện Lucide Icons &amp; Tailwind CSS tạo giao diện hiện đại.</a:t>
            </a:r>
          </a:p>
        </p:txBody>
      </p:sp>
      <p:sp>
        <p:nvSpPr>
          <p:cNvPr id="16" name="Rectangle 15"/>
          <p:cNvSpPr/>
          <p:nvPr/>
        </p:nvSpPr>
        <p:spPr>
          <a:xfrm>
            <a:off x="2743200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0" y="1417320"/>
            <a:ext cx="329184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Máy chủ &amp; CSDL</a:t>
            </a:r>
          </a:p>
          <a:p>
            <a:pPr>
              <a:spcAft>
                <a:spcPts val="1400"/>
              </a:spcAft>
              <a:defRPr sz="1150" b="1">
                <a:solidFill>
                  <a:srgbClr val="059669"/>
                </a:solidFill>
                <a:latin typeface="Arial"/>
              </a:defRPr>
            </a:pPr>
            <a:r>
              <a:t>Node.js 18+ · Express · SQL Server 2022</a:t>
            </a:r>
          </a:p>
          <a:p>
            <a:pPr>
              <a:spcAft>
                <a:spcPts val="1400"/>
              </a:spcAft>
              <a:defRPr sz="1100">
                <a:solidFill>
                  <a:srgbClr val="334155"/>
                </a:solidFill>
                <a:latin typeface="Arial"/>
              </a:defRPr>
            </a:pPr>
            <a:r>
              <a:t>Cung cấp hệ thống RESTful API an toàn, xử lý toàn bộ logic nghiệp vụ, phân quyền tài khoản chặt chẽ và quản lý lưu trữ 15 bảng dữ liệu quan hệ bảo đảm toàn vẹn, bảo mật cao.</a:t>
            </a:r>
          </a:p>
          <a:p>
            <a:pPr>
              <a:spcAft>
                <a:spcPts val="800"/>
              </a:spcAft>
              <a:defRPr sz="1050">
                <a:solidFill>
                  <a:srgbClr val="334155"/>
                </a:solidFill>
                <a:latin typeface="Arial"/>
              </a:defRPr>
            </a:pPr>
            <a:r>
              <a:t>• Xác thực an toàn bằng JSON Web Token (JWT) và mã hóa Bcrypt.</a:t>
            </a:r>
          </a:p>
          <a:p>
            <a:pPr>
              <a:spcAft>
                <a:spcPts val="800"/>
              </a:spcAft>
              <a:defRPr sz="1050">
                <a:solidFill>
                  <a:srgbClr val="334155"/>
                </a:solidFill>
                <a:latin typeface="Arial"/>
              </a:defRPr>
            </a:pPr>
            <a:r>
              <a:t>• Quản trị 15 bảng dữ liệu quan hệ chặt chẽ trên Microsoft SQL Server.</a:t>
            </a:r>
          </a:p>
        </p:txBody>
      </p:sp>
      <p:sp>
        <p:nvSpPr>
          <p:cNvPr id="19" name="Rectangle 18"/>
          <p:cNvSpPr/>
          <p:nvPr/>
        </p:nvSpPr>
        <p:spPr>
          <a:xfrm>
            <a:off x="27432000" y="1417320"/>
            <a:ext cx="3977639"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00" y="1417320"/>
            <a:ext cx="3977639"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0" y="1645920"/>
            <a:ext cx="3520439" cy="4434840"/>
          </a:xfrm>
          <a:prstGeom prst="rect">
            <a:avLst/>
          </a:prstGeom>
          <a:noFill/>
        </p:spPr>
        <p:txBody>
          <a:bodyPr wrap="square" lIns="0" rIns="0" tIns="0">
            <a:spAutoFit/>
          </a:bodyPr>
          <a:lstStyle/>
          <a:p>
            <a:pPr>
              <a:spcAft>
                <a:spcPts val="400"/>
              </a:spcAft>
              <a:defRPr sz="1700" b="1">
                <a:solidFill>
                  <a:srgbClr val="002855"/>
                </a:solidFill>
                <a:latin typeface="Arial"/>
              </a:defRPr>
            </a:pPr>
            <a:r>
              <a:t>Trí tuệ nhân tạo &amp; Đa kênh</a:t>
            </a:r>
          </a:p>
          <a:p>
            <a:pPr>
              <a:spcAft>
                <a:spcPts val="1400"/>
              </a:spcAft>
              <a:defRPr sz="1150" b="1">
                <a:solidFill>
                  <a:srgbClr val="D97706"/>
                </a:solidFill>
                <a:latin typeface="Arial"/>
              </a:defRPr>
            </a:pPr>
            <a:r>
              <a:t>Google Gemini API · Meta Graph API v19.0</a:t>
            </a:r>
          </a:p>
          <a:p>
            <a:pPr>
              <a:spcAft>
                <a:spcPts val="1400"/>
              </a:spcAft>
              <a:defRPr sz="1100">
                <a:solidFill>
                  <a:srgbClr val="334155"/>
                </a:solidFill>
                <a:latin typeface="Arial"/>
              </a:defRPr>
            </a:pPr>
            <a:r>
              <a:t>Lõi AI xử lý ngôn ngữ tự nhiên tiếng Việt hỗ trợ đọc kế hoạch thô, gợi ý tiêu đề và sinh bài viết hoàn chỉnh; kết hợp giao thức Graph API để tự động xuất bản bài viết và hình ảnh lên Fanpage Facebook.</a:t>
            </a:r>
          </a:p>
          <a:p>
            <a:pPr>
              <a:spcAft>
                <a:spcPts val="800"/>
              </a:spcAft>
              <a:defRPr sz="1050">
                <a:solidFill>
                  <a:srgbClr val="334155"/>
                </a:solidFill>
                <a:latin typeface="Arial"/>
              </a:defRPr>
            </a:pPr>
            <a:r>
              <a:t>• Google Gemini Generative AI: Đọc văn bản, OCR phông nền, sinh bài.</a:t>
            </a:r>
          </a:p>
          <a:p>
            <a:pPr>
              <a:spcAft>
                <a:spcPts val="800"/>
              </a:spcAft>
              <a:defRPr sz="1050">
                <a:solidFill>
                  <a:srgbClr val="334155"/>
                </a:solidFill>
                <a:latin typeface="Arial"/>
              </a:defRPr>
            </a:pPr>
            <a:r>
              <a:t>• Meta Facebook Graph API: Đồng bộ đăng tải bài viết và ảnh tự động.</a:t>
            </a:r>
          </a:p>
          <a:p>
            <a:pPr>
              <a:spcAft>
                <a:spcPts val="800"/>
              </a:spcAft>
              <a:defRPr sz="1050">
                <a:solidFill>
                  <a:srgbClr val="334155"/>
                </a:solidFill>
                <a:latin typeface="Arial"/>
              </a:defRPr>
            </a:pPr>
            <a:r>
              <a:t>• Điều phối tác vụ ngầm tự động theo lịch hẹn giờ (Node-cron).</a:t>
            </a:r>
          </a:p>
        </p:txBody>
      </p:sp>
      <p:sp>
        <p:nvSpPr>
          <p:cNvPr id="22" name="TextBox 21"/>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23" name="TextBox 22"/>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Công nghệ cốt lõi sử dụng trong đề tài</a:t>
            </a:r>
          </a:p>
        </p:txBody>
      </p:sp>
      <p:sp>
        <p:nvSpPr>
          <p:cNvPr id="24" name="Rectangle 23"/>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2"/>
          <a:stretch>
            <a:fillRect/>
          </a:stretch>
        </p:blipFill>
        <p:spPr>
          <a:xfrm>
            <a:off x="27432000" y="292608"/>
            <a:ext cx="1691640" cy="658368"/>
          </a:xfrm>
          <a:prstGeom prst="rect">
            <a:avLst/>
          </a:prstGeom>
        </p:spPr>
      </p:pic>
      <p:sp>
        <p:nvSpPr>
          <p:cNvPr id="26" name="Rectangle 25"/>
          <p:cNvSpPr/>
          <p:nvPr/>
        </p:nvSpPr>
        <p:spPr>
          <a:xfrm>
            <a:off x="2743200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00" y="1417320"/>
            <a:ext cx="329184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Giao diện người dùng</a:t>
            </a:r>
          </a:p>
          <a:p>
            <a:pPr>
              <a:spcAft>
                <a:spcPts val="1400"/>
              </a:spcAft>
              <a:defRPr sz="1150" b="1">
                <a:solidFill>
                  <a:srgbClr val="0284C7"/>
                </a:solidFill>
                <a:latin typeface="Arial"/>
              </a:defRPr>
            </a:pPr>
            <a:r>
              <a:t>React 18 SPA · Tailwind CSS · Vite</a:t>
            </a:r>
          </a:p>
          <a:p>
            <a:pPr>
              <a:spcAft>
                <a:spcPts val="1400"/>
              </a:spcAft>
              <a:defRPr sz="1100">
                <a:solidFill>
                  <a:srgbClr val="334155"/>
                </a:solidFill>
                <a:latin typeface="Arial"/>
              </a:defRPr>
            </a:pPr>
            <a:r>
              <a:t>Xây dựng phân hệ Cổng thông tin đoàn viên và trang quản trị Admin CMS với cơ chế tải nhanh Zero Reload, mang lại trải nghiệm tương tác mượt mà, co giãn linh hoạt trên mọi kích thước màn hình thiết bị.</a:t>
            </a:r>
          </a:p>
          <a:p>
            <a:pPr>
              <a:spcAft>
                <a:spcPts val="800"/>
              </a:spcAft>
              <a:defRPr sz="1050">
                <a:solidFill>
                  <a:srgbClr val="334155"/>
                </a:solidFill>
                <a:latin typeface="Arial"/>
              </a:defRPr>
            </a:pPr>
            <a:r>
              <a:t>• Kiến trúc Single Page Application (SPA) tối ưu tốc độ.</a:t>
            </a:r>
          </a:p>
          <a:p>
            <a:pPr>
              <a:spcAft>
                <a:spcPts val="800"/>
              </a:spcAft>
              <a:defRPr sz="1050">
                <a:solidFill>
                  <a:srgbClr val="334155"/>
                </a:solidFill>
                <a:latin typeface="Arial"/>
              </a:defRPr>
            </a:pPr>
            <a:r>
              <a:t>• Thư viện Lucide Icons &amp; Tailwind CSS tạo giao diện hiện đại.</a:t>
            </a:r>
          </a:p>
        </p:txBody>
      </p:sp>
      <p:sp>
        <p:nvSpPr>
          <p:cNvPr id="29" name="Rectangle 28"/>
          <p:cNvSpPr/>
          <p:nvPr/>
        </p:nvSpPr>
        <p:spPr>
          <a:xfrm>
            <a:off x="2743200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00" y="1417320"/>
            <a:ext cx="329184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0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Máy chủ &amp; CSDL</a:t>
            </a:r>
          </a:p>
          <a:p>
            <a:pPr>
              <a:spcAft>
                <a:spcPts val="1400"/>
              </a:spcAft>
              <a:defRPr sz="1150" b="1">
                <a:solidFill>
                  <a:srgbClr val="059669"/>
                </a:solidFill>
                <a:latin typeface="Arial"/>
              </a:defRPr>
            </a:pPr>
            <a:r>
              <a:t>Node.js 18+ · Express · SQL Server 2022</a:t>
            </a:r>
          </a:p>
          <a:p>
            <a:pPr>
              <a:spcAft>
                <a:spcPts val="1400"/>
              </a:spcAft>
              <a:defRPr sz="1100">
                <a:solidFill>
                  <a:srgbClr val="334155"/>
                </a:solidFill>
                <a:latin typeface="Arial"/>
              </a:defRPr>
            </a:pPr>
            <a:r>
              <a:t>Cung cấp hệ thống RESTful API an toàn, xử lý toàn bộ logic nghiệp vụ, phân quyền tài khoản chặt chẽ và quản lý lưu trữ 15 bảng dữ liệu quan hệ bảo đảm toàn vẹn, bảo mật cao.</a:t>
            </a:r>
          </a:p>
          <a:p>
            <a:pPr>
              <a:spcAft>
                <a:spcPts val="800"/>
              </a:spcAft>
              <a:defRPr sz="1050">
                <a:solidFill>
                  <a:srgbClr val="334155"/>
                </a:solidFill>
                <a:latin typeface="Arial"/>
              </a:defRPr>
            </a:pPr>
            <a:r>
              <a:t>• Xác thực an toàn bằng JSON Web Token (JWT) và mã hóa Bcrypt.</a:t>
            </a:r>
          </a:p>
          <a:p>
            <a:pPr>
              <a:spcAft>
                <a:spcPts val="800"/>
              </a:spcAft>
              <a:defRPr sz="1050">
                <a:solidFill>
                  <a:srgbClr val="334155"/>
                </a:solidFill>
                <a:latin typeface="Arial"/>
              </a:defRPr>
            </a:pPr>
            <a:r>
              <a:t>• Quản trị 15 bảng dữ liệu quan hệ chặt chẽ trên Microsoft SQL Server.</a:t>
            </a:r>
          </a:p>
        </p:txBody>
      </p:sp>
      <p:sp>
        <p:nvSpPr>
          <p:cNvPr id="32" name="Rectangle 31"/>
          <p:cNvSpPr/>
          <p:nvPr/>
        </p:nvSpPr>
        <p:spPr>
          <a:xfrm>
            <a:off x="27432000" y="1417320"/>
            <a:ext cx="3977639"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0" y="1417320"/>
            <a:ext cx="3977639"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00" y="1645920"/>
            <a:ext cx="3520439" cy="4434840"/>
          </a:xfrm>
          <a:prstGeom prst="rect">
            <a:avLst/>
          </a:prstGeom>
          <a:noFill/>
        </p:spPr>
        <p:txBody>
          <a:bodyPr wrap="square" lIns="0" rIns="0" tIns="0">
            <a:spAutoFit/>
          </a:bodyPr>
          <a:lstStyle/>
          <a:p>
            <a:pPr>
              <a:spcAft>
                <a:spcPts val="400"/>
              </a:spcAft>
              <a:defRPr sz="1700" b="1">
                <a:solidFill>
                  <a:srgbClr val="002855"/>
                </a:solidFill>
                <a:latin typeface="Arial"/>
              </a:defRPr>
            </a:pPr>
            <a:r>
              <a:t>Trí tuệ nhân tạo &amp; Đa kênh</a:t>
            </a:r>
          </a:p>
          <a:p>
            <a:pPr>
              <a:spcAft>
                <a:spcPts val="1400"/>
              </a:spcAft>
              <a:defRPr sz="1150" b="1">
                <a:solidFill>
                  <a:srgbClr val="D97706"/>
                </a:solidFill>
                <a:latin typeface="Arial"/>
              </a:defRPr>
            </a:pPr>
            <a:r>
              <a:t>Google Gemini API · Meta Graph API v19.0</a:t>
            </a:r>
          </a:p>
          <a:p>
            <a:pPr>
              <a:spcAft>
                <a:spcPts val="1400"/>
              </a:spcAft>
              <a:defRPr sz="1100">
                <a:solidFill>
                  <a:srgbClr val="334155"/>
                </a:solidFill>
                <a:latin typeface="Arial"/>
              </a:defRPr>
            </a:pPr>
            <a:r>
              <a:t>Lõi AI xử lý ngôn ngữ tự nhiên tiếng Việt hỗ trợ đọc kế hoạch thô, gợi ý tiêu đề và sinh bài viết hoàn chỉnh; kết hợp giao thức Graph API để tự động xuất bản bài viết và hình ảnh lên Fanpage Facebook.</a:t>
            </a:r>
          </a:p>
          <a:p>
            <a:pPr>
              <a:spcAft>
                <a:spcPts val="800"/>
              </a:spcAft>
              <a:defRPr sz="1050">
                <a:solidFill>
                  <a:srgbClr val="334155"/>
                </a:solidFill>
                <a:latin typeface="Arial"/>
              </a:defRPr>
            </a:pPr>
            <a:r>
              <a:t>• Google Gemini Generative AI: Đọc văn bản, OCR phông nền, sinh bài.</a:t>
            </a:r>
          </a:p>
          <a:p>
            <a:pPr>
              <a:spcAft>
                <a:spcPts val="800"/>
              </a:spcAft>
              <a:defRPr sz="1050">
                <a:solidFill>
                  <a:srgbClr val="334155"/>
                </a:solidFill>
                <a:latin typeface="Arial"/>
              </a:defRPr>
            </a:pPr>
            <a:r>
              <a:t>• Meta Facebook Graph API: Đồng bộ đăng tải bài viết và ảnh tự động.</a:t>
            </a:r>
          </a:p>
          <a:p>
            <a:pPr>
              <a:spcAft>
                <a:spcPts val="800"/>
              </a:spcAft>
              <a:defRPr sz="1050">
                <a:solidFill>
                  <a:srgbClr val="334155"/>
                </a:solidFill>
                <a:latin typeface="Arial"/>
              </a:defRPr>
            </a:pPr>
            <a:r>
              <a:t>• Điều phối tác vụ ngầm tự động theo lịch hẹn giờ (Node-cron).</a:t>
            </a:r>
          </a:p>
        </p:txBody>
      </p:sp>
      <p:sp>
        <p:nvSpPr>
          <p:cNvPr id="35" name="TextBox 34"/>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36" name="TextBox 35"/>
          <p:cNvSpPr txBox="1"/>
          <p:nvPr/>
        </p:nvSpPr>
        <p:spPr>
          <a:xfrm>
            <a:off x="27432000" y="594360"/>
            <a:ext cx="8961120" cy="502920"/>
          </a:xfrm>
          <a:prstGeom prst="rect">
            <a:avLst/>
          </a:prstGeom>
          <a:noFill/>
        </p:spPr>
        <p:txBody>
          <a:bodyPr wrap="square">
            <a:spAutoFit/>
          </a:bodyPr>
          <a:lstStyle/>
          <a:p>
            <a:pPr>
              <a:defRPr sz="2200" b="1">
                <a:solidFill>
                  <a:srgbClr val="002855"/>
                </a:solidFill>
                <a:latin typeface="Arial"/>
              </a:defRPr>
            </a:pPr>
            <a:r>
              <a:t>Công nghệ cốt lõi sử dụng trong đề tài</a:t>
            </a:r>
          </a:p>
        </p:txBody>
      </p:sp>
      <p:sp>
        <p:nvSpPr>
          <p:cNvPr id="37" name="Rectangle 36"/>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2"/>
          <a:stretch>
            <a:fillRect/>
          </a:stretch>
        </p:blipFill>
        <p:spPr>
          <a:xfrm>
            <a:off x="27432000" y="292608"/>
            <a:ext cx="1691640" cy="658368"/>
          </a:xfrm>
          <a:prstGeom prst="rect">
            <a:avLst/>
          </a:prstGeom>
        </p:spPr>
      </p:pic>
      <p:sp>
        <p:nvSpPr>
          <p:cNvPr id="39" name="TextBox 38"/>
          <p:cNvSpPr txBox="1"/>
          <p:nvPr/>
        </p:nvSpPr>
        <p:spPr>
          <a:xfrm>
            <a:off x="27432000" y="1508760"/>
            <a:ext cx="3383280" cy="4846320"/>
          </a:xfrm>
          <a:prstGeom prst="rect">
            <a:avLst/>
          </a:prstGeom>
          <a:noFill/>
        </p:spPr>
        <p:txBody>
          <a:bodyPr wrap="square" lIns="0" rIns="0" tIns="0">
            <a:spAutoFit/>
          </a:bodyPr>
          <a:lstStyle/>
          <a:p>
            <a:pPr>
              <a:spcAft>
                <a:spcPts val="400"/>
              </a:spcAft>
              <a:defRPr sz="1500" b="1">
                <a:solidFill>
                  <a:srgbClr val="002855"/>
                </a:solidFill>
                <a:latin typeface="Arial"/>
              </a:defRPr>
            </a:pPr>
            <a:r>
              <a:t>GIAO DIỆN NGƯỜI DÙNG</a:t>
            </a:r>
          </a:p>
          <a:p>
            <a:pPr>
              <a:spcAft>
                <a:spcPts val="1400"/>
              </a:spcAft>
              <a:defRPr sz="1100" b="1">
                <a:solidFill>
                  <a:srgbClr val="0284C7"/>
                </a:solidFill>
                <a:latin typeface="Arial"/>
              </a:defRPr>
            </a:pPr>
            <a:r>
              <a:t>React 18 SPA · Tailwind CSS · Vite</a:t>
            </a:r>
          </a:p>
          <a:p>
            <a:pPr>
              <a:spcAft>
                <a:spcPts val="1400"/>
              </a:spcAft>
              <a:defRPr sz="1050">
                <a:solidFill>
                  <a:srgbClr val="334155"/>
                </a:solidFill>
                <a:latin typeface="Arial"/>
              </a:defRPr>
            </a:pPr>
            <a:r>
              <a:t>Xây dựng Cổng thông tin đoàn viên và phân hệ quản trị nội dung (CMS) theo kiến trúc Single Page Application (SPA), tối ưu hóa tốc độ tải trang và mang lại trải nghiệm tương tác liền mạch (Zero Reload).</a:t>
            </a:r>
          </a:p>
          <a:p>
            <a:pPr>
              <a:spcAft>
                <a:spcPts val="800"/>
              </a:spcAft>
              <a:defRPr sz="1000">
                <a:solidFill>
                  <a:srgbClr val="334155"/>
                </a:solidFill>
                <a:latin typeface="Arial"/>
              </a:defRPr>
            </a:pPr>
            <a:r>
              <a:t>• Kiến trúc Component tái sử dụng cao, co giãn linh hoạt đa thiết bị.</a:t>
            </a:r>
          </a:p>
          <a:p>
            <a:pPr>
              <a:spcAft>
                <a:spcPts val="800"/>
              </a:spcAft>
              <a:defRPr sz="1000">
                <a:solidFill>
                  <a:srgbClr val="334155"/>
                </a:solidFill>
                <a:latin typeface="Arial"/>
              </a:defRPr>
            </a:pPr>
            <a:r>
              <a:t>• Tích hợp trình soạn thảo bài viết phong phú kèm giao diện trực quan.</a:t>
            </a:r>
          </a:p>
          <a:p>
            <a:pPr>
              <a:spcAft>
                <a:spcPts val="800"/>
              </a:spcAft>
              <a:defRPr sz="1000">
                <a:solidFill>
                  <a:srgbClr val="334155"/>
                </a:solidFill>
                <a:latin typeface="Arial"/>
              </a:defRPr>
            </a:pPr>
            <a:r>
              <a:t>• Tối ưu hóa khả năng kết nối API không đồng bộ qua Axios client.</a:t>
            </a:r>
          </a:p>
        </p:txBody>
      </p:sp>
      <p:sp>
        <p:nvSpPr>
          <p:cNvPr id="40" name="Rectangle 39"/>
          <p:cNvSpPr/>
          <p:nvPr/>
        </p:nvSpPr>
        <p:spPr>
          <a:xfrm>
            <a:off x="274320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00" y="1508760"/>
            <a:ext cx="3383280" cy="4846320"/>
          </a:xfrm>
          <a:prstGeom prst="rect">
            <a:avLst/>
          </a:prstGeom>
          <a:noFill/>
        </p:spPr>
        <p:txBody>
          <a:bodyPr wrap="square" lIns="0" rIns="0" tIns="0">
            <a:spAutoFit/>
          </a:bodyPr>
          <a:lstStyle/>
          <a:p>
            <a:pPr>
              <a:spcAft>
                <a:spcPts val="400"/>
              </a:spcAft>
              <a:defRPr sz="1500" b="1">
                <a:solidFill>
                  <a:srgbClr val="002855"/>
                </a:solidFill>
                <a:latin typeface="Arial"/>
              </a:defRPr>
            </a:pPr>
            <a:r>
              <a:t>MÁY CHỦ XỬ LÝ &amp; CƠ SỞ DỮ LIỆU</a:t>
            </a:r>
          </a:p>
          <a:p>
            <a:pPr>
              <a:spcAft>
                <a:spcPts val="1400"/>
              </a:spcAft>
              <a:defRPr sz="1100" b="1">
                <a:solidFill>
                  <a:srgbClr val="059669"/>
                </a:solidFill>
                <a:latin typeface="Arial"/>
              </a:defRPr>
            </a:pPr>
            <a:r>
              <a:t>Node.js 18+ · Express · SQL Server 2022</a:t>
            </a:r>
          </a:p>
          <a:p>
            <a:pPr>
              <a:spcAft>
                <a:spcPts val="1400"/>
              </a:spcAft>
              <a:defRPr sz="1050">
                <a:solidFill>
                  <a:srgbClr val="334155"/>
                </a:solidFill>
                <a:latin typeface="Arial"/>
              </a:defRPr>
            </a:pPr>
            <a:r>
              <a:t>Xây dựng hệ thống RESTful API an toàn, chịu trách nhiệm xử lý toàn bộ logic nghiệp vụ, xác thực phân quyền tài khoản chặt chẽ và kết nối hệ quản trị CSDL quan hệ bảo đảm tính toàn vẹn dữ liệu.</a:t>
            </a:r>
          </a:p>
          <a:p>
            <a:pPr>
              <a:spcAft>
                <a:spcPts val="800"/>
              </a:spcAft>
              <a:defRPr sz="1000">
                <a:solidFill>
                  <a:srgbClr val="334155"/>
                </a:solidFill>
                <a:latin typeface="Arial"/>
              </a:defRPr>
            </a:pPr>
            <a:r>
              <a:t>• Cơ chế bảo mật xác thực bằng JSON Web Token (JWT) và mã hóa Bcrypt.</a:t>
            </a:r>
          </a:p>
          <a:p>
            <a:pPr>
              <a:spcAft>
                <a:spcPts val="800"/>
              </a:spcAft>
              <a:defRPr sz="1000">
                <a:solidFill>
                  <a:srgbClr val="334155"/>
                </a:solidFill>
                <a:latin typeface="Arial"/>
              </a:defRPr>
            </a:pPr>
            <a:r>
              <a:t>• Quản trị 15 bảng quan hệ chuẩn hóa trên Microsoft SQL Server 2022.</a:t>
            </a:r>
          </a:p>
          <a:p>
            <a:pPr>
              <a:spcAft>
                <a:spcPts val="800"/>
              </a:spcAft>
              <a:defRPr sz="1000">
                <a:solidFill>
                  <a:srgbClr val="334155"/>
                </a:solidFill>
                <a:latin typeface="Arial"/>
              </a:defRPr>
            </a:pPr>
            <a:r>
              <a:t>• Điều phối tiến trình tự động hóa theo lịch định kỳ bằng Node-cron.</a:t>
            </a:r>
          </a:p>
        </p:txBody>
      </p:sp>
      <p:sp>
        <p:nvSpPr>
          <p:cNvPr id="42" name="Rectangle 41"/>
          <p:cNvSpPr/>
          <p:nvPr/>
        </p:nvSpPr>
        <p:spPr>
          <a:xfrm>
            <a:off x="274320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00" y="1508760"/>
            <a:ext cx="3383280" cy="4846320"/>
          </a:xfrm>
          <a:prstGeom prst="rect">
            <a:avLst/>
          </a:prstGeom>
          <a:noFill/>
        </p:spPr>
        <p:txBody>
          <a:bodyPr wrap="square" lIns="0" rIns="0" tIns="0">
            <a:spAutoFit/>
          </a:bodyPr>
          <a:lstStyle/>
          <a:p>
            <a:pPr>
              <a:spcAft>
                <a:spcPts val="400"/>
              </a:spcAft>
              <a:defRPr sz="1500" b="1">
                <a:solidFill>
                  <a:srgbClr val="002855"/>
                </a:solidFill>
                <a:latin typeface="Arial"/>
              </a:defRPr>
            </a:pPr>
            <a:r>
              <a:t>TRÍ TUỆ NHÂN TẠO &amp; ĐA KÊNH</a:t>
            </a:r>
          </a:p>
          <a:p>
            <a:pPr>
              <a:spcAft>
                <a:spcPts val="1400"/>
              </a:spcAft>
              <a:defRPr sz="1100" b="1">
                <a:solidFill>
                  <a:srgbClr val="D97706"/>
                </a:solidFill>
                <a:latin typeface="Arial"/>
              </a:defRPr>
            </a:pPr>
            <a:r>
              <a:t>Google Gemini API · Meta Graph API v19.0</a:t>
            </a:r>
          </a:p>
          <a:p>
            <a:pPr>
              <a:spcAft>
                <a:spcPts val="1400"/>
              </a:spcAft>
              <a:defRPr sz="1050">
                <a:solidFill>
                  <a:srgbClr val="334155"/>
                </a:solidFill>
                <a:latin typeface="Arial"/>
              </a:defRPr>
            </a:pPr>
            <a:r>
              <a:t>Khai thác mô hình ngôn ngữ lớn (LLM) làm lõi trí tuệ nhân tạo xử lý văn bản tiếng Việt và nhận diện hình ảnh; kết hợp giao thức Graph API để tự động hóa quy trình xuất bản đa nền tảng.</a:t>
            </a:r>
          </a:p>
          <a:p>
            <a:pPr>
              <a:spcAft>
                <a:spcPts val="800"/>
              </a:spcAft>
              <a:defRPr sz="1000">
                <a:solidFill>
                  <a:srgbClr val="334155"/>
                </a:solidFill>
                <a:latin typeface="Arial"/>
              </a:defRPr>
            </a:pPr>
            <a:r>
              <a:t>• Google Gemini API: Phân tích kế hoạch sự kiện, OCR phông nền, sinh bài.</a:t>
            </a:r>
          </a:p>
          <a:p>
            <a:pPr>
              <a:spcAft>
                <a:spcPts val="800"/>
              </a:spcAft>
              <a:defRPr sz="1000">
                <a:solidFill>
                  <a:srgbClr val="334155"/>
                </a:solidFill>
                <a:latin typeface="Arial"/>
              </a:defRPr>
            </a:pPr>
            <a:r>
              <a:t>• Meta Facebook Graph API: Tự động hóa đăng tải bài viết và hình ảnh.</a:t>
            </a:r>
          </a:p>
          <a:p>
            <a:pPr>
              <a:spcAft>
                <a:spcPts val="800"/>
              </a:spcAft>
              <a:defRPr sz="1000">
                <a:solidFill>
                  <a:srgbClr val="334155"/>
                </a:solidFill>
                <a:latin typeface="Arial"/>
              </a:defRPr>
            </a:pPr>
            <a:r>
              <a:t>• Tích hợp luồng xuất bản đồng bộ, tối ưu hóa thời gian tuyên truyền số.</a:t>
            </a:r>
          </a:p>
        </p:txBody>
      </p:sp>
      <p:sp>
        <p:nvSpPr>
          <p:cNvPr id="44" name="TextBox 43"/>
          <p:cNvSpPr txBox="1"/>
          <p:nvPr/>
        </p:nvSpPr>
        <p:spPr>
          <a:xfrm>
            <a:off x="59436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45" name="TextBox 44"/>
          <p:cNvSpPr txBox="1"/>
          <p:nvPr/>
        </p:nvSpPr>
        <p:spPr>
          <a:xfrm>
            <a:off x="594360" y="594360"/>
            <a:ext cx="8961120" cy="502920"/>
          </a:xfrm>
          <a:prstGeom prst="rect">
            <a:avLst/>
          </a:prstGeom>
          <a:noFill/>
        </p:spPr>
        <p:txBody>
          <a:bodyPr wrap="square">
            <a:spAutoFit/>
          </a:bodyPr>
          <a:lstStyle/>
          <a:p>
            <a:pPr>
              <a:defRPr sz="2200" b="1">
                <a:solidFill>
                  <a:srgbClr val="002855"/>
                </a:solidFill>
                <a:latin typeface="Arial"/>
              </a:defRPr>
            </a:pPr>
            <a:r>
              <a:t>Công nghệ cốt lõi sử dụng trong đề tài</a:t>
            </a:r>
          </a:p>
        </p:txBody>
      </p:sp>
      <p:sp>
        <p:nvSpPr>
          <p:cNvPr id="46" name="Rectangle 45"/>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2"/>
          <a:stretch>
            <a:fillRect/>
          </a:stretch>
        </p:blipFill>
        <p:spPr>
          <a:xfrm>
            <a:off x="9875520" y="292608"/>
            <a:ext cx="1691640" cy="658368"/>
          </a:xfrm>
          <a:prstGeom prst="rect">
            <a:avLst/>
          </a:prstGeom>
        </p:spPr>
      </p:pic>
      <p:sp>
        <p:nvSpPr>
          <p:cNvPr id="48" name="TextBox 47"/>
          <p:cNvSpPr txBox="1"/>
          <p:nvPr/>
        </p:nvSpPr>
        <p:spPr>
          <a:xfrm>
            <a:off x="594360" y="1508760"/>
            <a:ext cx="3383280" cy="4846320"/>
          </a:xfrm>
          <a:prstGeom prst="rect">
            <a:avLst/>
          </a:prstGeom>
          <a:noFill/>
        </p:spPr>
        <p:txBody>
          <a:bodyPr wrap="square" lIns="0" rIns="0" tIns="0">
            <a:spAutoFit/>
          </a:bodyPr>
          <a:lstStyle/>
          <a:p>
            <a:pPr>
              <a:spcAft>
                <a:spcPts val="400"/>
              </a:spcAft>
              <a:defRPr sz="1500" b="1">
                <a:solidFill>
                  <a:srgbClr val="002855"/>
                </a:solidFill>
                <a:latin typeface="Arial"/>
              </a:defRPr>
            </a:pPr>
            <a:r>
              <a:t>GIAO DIỆN NGƯỜI DÙNG</a:t>
            </a:r>
          </a:p>
          <a:p>
            <a:pPr>
              <a:spcAft>
                <a:spcPts val="1400"/>
              </a:spcAft>
              <a:defRPr sz="1100" b="1">
                <a:solidFill>
                  <a:srgbClr val="0284C7"/>
                </a:solidFill>
                <a:latin typeface="Arial"/>
              </a:defRPr>
            </a:pPr>
            <a:r>
              <a:t>React 18 SPA · Tailwind CSS · Vite</a:t>
            </a:r>
          </a:p>
          <a:p>
            <a:pPr>
              <a:spcAft>
                <a:spcPts val="1400"/>
              </a:spcAft>
              <a:defRPr sz="1050">
                <a:solidFill>
                  <a:srgbClr val="334155"/>
                </a:solidFill>
                <a:latin typeface="Arial"/>
              </a:defRPr>
            </a:pPr>
            <a:r>
              <a:t>Xây dựng Cổng thông tin đoàn viên và phân hệ quản trị nội dung (CMS) theo kiến trúc Single Page Application (SPA), tối ưu hóa tốc độ tải trang và mang lại trải nghiệm tương tác liền mạch (Zero Reload).</a:t>
            </a:r>
          </a:p>
          <a:p>
            <a:pPr>
              <a:spcAft>
                <a:spcPts val="800"/>
              </a:spcAft>
              <a:defRPr sz="1000">
                <a:solidFill>
                  <a:srgbClr val="334155"/>
                </a:solidFill>
                <a:latin typeface="Arial"/>
              </a:defRPr>
            </a:pPr>
            <a:r>
              <a:t>• Kiến trúc Component tái sử dụng cao, co giãn linh hoạt đa thiết bị.</a:t>
            </a:r>
          </a:p>
          <a:p>
            <a:pPr>
              <a:spcAft>
                <a:spcPts val="800"/>
              </a:spcAft>
              <a:defRPr sz="1000">
                <a:solidFill>
                  <a:srgbClr val="334155"/>
                </a:solidFill>
                <a:latin typeface="Arial"/>
              </a:defRPr>
            </a:pPr>
            <a:r>
              <a:t>• Tích hợp trình soạn thảo bài viết phong phú kèm giao diện trực quan.</a:t>
            </a:r>
          </a:p>
          <a:p>
            <a:pPr>
              <a:spcAft>
                <a:spcPts val="800"/>
              </a:spcAft>
              <a:defRPr sz="1000">
                <a:solidFill>
                  <a:srgbClr val="334155"/>
                </a:solidFill>
                <a:latin typeface="Arial"/>
              </a:defRPr>
            </a:pPr>
            <a:r>
              <a:t>• Tối ưu hóa khả năng kết nối API không đồng bộ qua Axios client.</a:t>
            </a:r>
          </a:p>
        </p:txBody>
      </p:sp>
      <p:sp>
        <p:nvSpPr>
          <p:cNvPr id="49" name="Rectangle 48"/>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89120" y="1508760"/>
            <a:ext cx="3383280" cy="4846320"/>
          </a:xfrm>
          <a:prstGeom prst="rect">
            <a:avLst/>
          </a:prstGeom>
          <a:noFill/>
        </p:spPr>
        <p:txBody>
          <a:bodyPr wrap="square" lIns="0" rIns="0" tIns="0">
            <a:spAutoFit/>
          </a:bodyPr>
          <a:lstStyle/>
          <a:p>
            <a:pPr>
              <a:spcAft>
                <a:spcPts val="400"/>
              </a:spcAft>
              <a:defRPr sz="1500" b="1">
                <a:solidFill>
                  <a:srgbClr val="002855"/>
                </a:solidFill>
                <a:latin typeface="Arial"/>
              </a:defRPr>
            </a:pPr>
            <a:r>
              <a:t>MÁY CHỦ XỬ LÝ &amp; CƠ SỞ DỮ LIỆU</a:t>
            </a:r>
          </a:p>
          <a:p>
            <a:pPr>
              <a:spcAft>
                <a:spcPts val="1400"/>
              </a:spcAft>
              <a:defRPr sz="1100" b="1">
                <a:solidFill>
                  <a:srgbClr val="059669"/>
                </a:solidFill>
                <a:latin typeface="Arial"/>
              </a:defRPr>
            </a:pPr>
            <a:r>
              <a:t>Node.js 18+ · Express · SQL Server 2022</a:t>
            </a:r>
          </a:p>
          <a:p>
            <a:pPr>
              <a:spcAft>
                <a:spcPts val="1400"/>
              </a:spcAft>
              <a:defRPr sz="1050">
                <a:solidFill>
                  <a:srgbClr val="334155"/>
                </a:solidFill>
                <a:latin typeface="Arial"/>
              </a:defRPr>
            </a:pPr>
            <a:r>
              <a:t>Xây dựng hệ thống RESTful API an toàn, chịu trách nhiệm xử lý toàn bộ logic nghiệp vụ, xác thực phân quyền tài khoản chặt chẽ và kết nối hệ quản trị CSDL quan hệ bảo đảm tính toàn vẹn dữ liệu.</a:t>
            </a:r>
          </a:p>
          <a:p>
            <a:pPr>
              <a:spcAft>
                <a:spcPts val="800"/>
              </a:spcAft>
              <a:defRPr sz="1000">
                <a:solidFill>
                  <a:srgbClr val="334155"/>
                </a:solidFill>
                <a:latin typeface="Arial"/>
              </a:defRPr>
            </a:pPr>
            <a:r>
              <a:t>• Cơ chế bảo mật xác thực bằng JSON Web Token (JWT) và mã hóa Bcrypt.</a:t>
            </a:r>
          </a:p>
          <a:p>
            <a:pPr>
              <a:spcAft>
                <a:spcPts val="800"/>
              </a:spcAft>
              <a:defRPr sz="1000">
                <a:solidFill>
                  <a:srgbClr val="334155"/>
                </a:solidFill>
                <a:latin typeface="Arial"/>
              </a:defRPr>
            </a:pPr>
            <a:r>
              <a:t>• Quản trị 15 bảng quan hệ chuẩn hóa trên Microsoft SQL Server 2022.</a:t>
            </a:r>
          </a:p>
          <a:p>
            <a:pPr>
              <a:spcAft>
                <a:spcPts val="800"/>
              </a:spcAft>
              <a:defRPr sz="1000">
                <a:solidFill>
                  <a:srgbClr val="334155"/>
                </a:solidFill>
                <a:latin typeface="Arial"/>
              </a:defRPr>
            </a:pPr>
            <a:r>
              <a:t>• Điều phối tiến trình tự động hóa theo lịch định kỳ bằng Node-cron.</a:t>
            </a:r>
          </a:p>
        </p:txBody>
      </p:sp>
      <p:sp>
        <p:nvSpPr>
          <p:cNvPr id="51" name="Rectangle 50"/>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83880" y="1508760"/>
            <a:ext cx="3383280" cy="4846320"/>
          </a:xfrm>
          <a:prstGeom prst="rect">
            <a:avLst/>
          </a:prstGeom>
          <a:noFill/>
        </p:spPr>
        <p:txBody>
          <a:bodyPr wrap="square" lIns="0" rIns="0" tIns="0">
            <a:spAutoFit/>
          </a:bodyPr>
          <a:lstStyle/>
          <a:p>
            <a:pPr>
              <a:spcAft>
                <a:spcPts val="400"/>
              </a:spcAft>
              <a:defRPr sz="1500" b="1">
                <a:solidFill>
                  <a:srgbClr val="002855"/>
                </a:solidFill>
                <a:latin typeface="Arial"/>
              </a:defRPr>
            </a:pPr>
            <a:r>
              <a:t>TRÍ TUỆ NHÂN TẠO &amp; ĐA KÊNH</a:t>
            </a:r>
          </a:p>
          <a:p>
            <a:pPr>
              <a:spcAft>
                <a:spcPts val="1400"/>
              </a:spcAft>
              <a:defRPr sz="1100" b="1">
                <a:solidFill>
                  <a:srgbClr val="D97706"/>
                </a:solidFill>
                <a:latin typeface="Arial"/>
              </a:defRPr>
            </a:pPr>
            <a:r>
              <a:t>Google Gemini API · Meta Graph API v19.0</a:t>
            </a:r>
          </a:p>
          <a:p>
            <a:pPr>
              <a:spcAft>
                <a:spcPts val="1400"/>
              </a:spcAft>
              <a:defRPr sz="1050">
                <a:solidFill>
                  <a:srgbClr val="334155"/>
                </a:solidFill>
                <a:latin typeface="Arial"/>
              </a:defRPr>
            </a:pPr>
            <a:r>
              <a:t>Khai thác mô hình ngôn ngữ lớn (LLM) làm lõi trí tuệ nhân tạo xử lý văn bản tiếng Việt và nhận diện hình ảnh; kết hợp giao thức Graph API để tự động hóa quy trình xuất bản đa nền tảng.</a:t>
            </a:r>
          </a:p>
          <a:p>
            <a:pPr>
              <a:spcAft>
                <a:spcPts val="800"/>
              </a:spcAft>
              <a:defRPr sz="1000">
                <a:solidFill>
                  <a:srgbClr val="334155"/>
                </a:solidFill>
                <a:latin typeface="Arial"/>
              </a:defRPr>
            </a:pPr>
            <a:r>
              <a:t>• Google Gemini API: Phân tích kế hoạch sự kiện, OCR phông nền, sinh bài.</a:t>
            </a:r>
          </a:p>
          <a:p>
            <a:pPr>
              <a:spcAft>
                <a:spcPts val="800"/>
              </a:spcAft>
              <a:defRPr sz="1000">
                <a:solidFill>
                  <a:srgbClr val="334155"/>
                </a:solidFill>
                <a:latin typeface="Arial"/>
              </a:defRPr>
            </a:pPr>
            <a:r>
              <a:t>• Meta Facebook Graph API: Tự động hóa đăng tải bài viết và hình ảnh.</a:t>
            </a:r>
          </a:p>
          <a:p>
            <a:pPr>
              <a:spcAft>
                <a:spcPts val="800"/>
              </a:spcAft>
              <a:defRPr sz="1000">
                <a:solidFill>
                  <a:srgbClr val="334155"/>
                </a:solidFill>
                <a:latin typeface="Arial"/>
              </a:defRPr>
            </a:pPr>
            <a:r>
              <a:t>• Tích hợp luồng xuất bản đồng bộ, tối ưu hóa thời gian tuyên truyền số.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0" y="342900"/>
            <a:ext cx="11658308" cy="190500"/>
          </a:xfrm>
          <a:prstGeom prst="rect">
            <a:avLst/>
          </a:prstGeom>
          <a:noFill/>
          <a:ln/>
        </p:spPr>
        <p:txBody>
          <a:bodyPr wrap="none" lIns="0" tIns="0" rIns="0" bIns="0" rtlCol="0" anchor="t"/>
          <a:lstStyle/>
          <a:p>
            <a:pPr marL="0" indent="0" algn="l">
              <a:lnSpc>
                <a:spcPct val="125000"/>
              </a:lnSpc>
              <a:buNone/>
            </a:pPr>
            <a:r>
              <a:rPr lang="en-US" sz="1000" b="1" noProof="1">
                <a:solidFill>
                  <a:srgbClr val="BE7814"/>
                </a:solidFill>
                <a:latin typeface="Arimo Bold" pitchFamily="34" charset="0"/>
                <a:ea typeface="Arimo Bold" pitchFamily="34" charset="-122"/>
                <a:cs typeface="Arimo Bold" pitchFamily="34" charset="0"/>
              </a:rPr>
              <a:t>2</a:t>
            </a:r>
            <a:r>
              <a:rPr lang="vi-VN" sz="1000" b="1" noProof="1">
                <a:solidFill>
                  <a:srgbClr val="BE7814"/>
                </a:solidFill>
                <a:latin typeface="Arimo Bold" pitchFamily="34" charset="0"/>
                <a:ea typeface="Arimo Bold" pitchFamily="34" charset="-122"/>
                <a:cs typeface="Arimo Bold" pitchFamily="34" charset="0"/>
              </a:rPr>
              <a:t>. GIẢI PHÁP CÔNG NGHỆ</a:t>
            </a:r>
            <a:endParaRPr lang="vi-VN" sz="1000" noProof="1"/>
          </a:p>
        </p:txBody>
      </p:sp>
      <p:sp>
        <p:nvSpPr>
          <p:cNvPr id="3" name="Text 1"/>
          <p:cNvSpPr/>
          <p:nvPr/>
        </p:nvSpPr>
        <p:spPr>
          <a:xfrm>
            <a:off x="27432000" y="528935"/>
            <a:ext cx="11658308" cy="190500"/>
          </a:xfrm>
          <a:prstGeom prst="rect">
            <a:avLst/>
          </a:prstGeom>
          <a:noFill/>
          <a:ln/>
        </p:spPr>
        <p:txBody>
          <a:bodyPr wrap="none" lIns="0" tIns="0" rIns="0" bIns="0" rtlCol="0" anchor="t"/>
          <a:lstStyle/>
          <a:p>
            <a:pPr marL="0" indent="0" algn="l">
              <a:lnSpc>
                <a:spcPct val="125000"/>
              </a:lnSpc>
              <a:buNone/>
            </a:pPr>
            <a:r>
              <a:rPr lang="vi-VN" sz="2200" b="1" noProof="1">
                <a:solidFill>
                  <a:srgbClr val="002855"/>
                </a:solidFill>
                <a:latin typeface="Carlito" pitchFamily="34" charset="0"/>
                <a:ea typeface="Carlito" pitchFamily="34" charset="-122"/>
                <a:cs typeface="Carlito" pitchFamily="34" charset="0"/>
              </a:rPr>
              <a:t>Kiến trúc kỹ thuật — luồng xử lý và các dịch vụ bên ngoài</a:t>
            </a:r>
            <a:endParaRPr lang="vi-VN" sz="2200" b="1" noProof="1"/>
          </a:p>
        </p:txBody>
      </p:sp>
      <p:pic>
        <p:nvPicPr>
          <p:cNvPr id="4" name="Image 0" descr="preencoded.png"/>
          <p:cNvPicPr>
            <a:picLocks noChangeAspect="1"/>
          </p:cNvPicPr>
          <p:nvPr/>
        </p:nvPicPr>
        <p:blipFill>
          <a:blip r:embed="rId3"/>
          <a:stretch>
            <a:fillRect/>
          </a:stretch>
        </p:blipFill>
        <p:spPr>
          <a:xfrm>
            <a:off x="27432000" y="978595"/>
            <a:ext cx="1047724" cy="38100"/>
          </a:xfrm>
          <a:prstGeom prst="rect">
            <a:avLst/>
          </a:prstGeom>
        </p:spPr>
      </p:pic>
      <p:sp>
        <p:nvSpPr>
          <p:cNvPr id="5" name="Shape 2"/>
          <p:cNvSpPr/>
          <p:nvPr/>
        </p:nvSpPr>
        <p:spPr>
          <a:xfrm>
            <a:off x="27432000" y="1651000"/>
            <a:ext cx="2031949"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6" name="Text 3"/>
          <p:cNvSpPr/>
          <p:nvPr/>
        </p:nvSpPr>
        <p:spPr>
          <a:xfrm>
            <a:off x="27432000" y="2006600"/>
            <a:ext cx="2031949" cy="209550"/>
          </a:xfrm>
          <a:prstGeom prst="rect">
            <a:avLst/>
          </a:prstGeom>
          <a:noFill/>
          <a:ln/>
        </p:spPr>
        <p:txBody>
          <a:bodyPr wrap="square" lIns="73152" tIns="0" rIns="73152" bIns="0" rtlCol="0" anchor="ctr"/>
          <a:lstStyle/>
          <a:p>
            <a:pPr marL="0" indent="0" algn="ctr">
              <a:lnSpc>
                <a:spcPct val="125000"/>
              </a:lnSpc>
              <a:buNone/>
            </a:pPr>
            <a:r>
              <a:rPr sz="1500" b="1">
                <a:solidFill>
                  <a:srgbClr val="002855"/>
                </a:solidFill>
                <a:latin typeface="Arial"/>
              </a:rPr>
              <a:t>Người dùng</a:t>
            </a:r>
            <a:endParaRPr lang="vi-VN" sz="1100" noProof="1"/>
          </a:p>
        </p:txBody>
      </p:sp>
      <p:sp>
        <p:nvSpPr>
          <p:cNvPr id="7" name="Text 4"/>
          <p:cNvSpPr/>
          <p:nvPr/>
        </p:nvSpPr>
        <p:spPr>
          <a:xfrm>
            <a:off x="27432000" y="2352675"/>
            <a:ext cx="2031949" cy="161925"/>
          </a:xfrm>
          <a:prstGeom prst="rect">
            <a:avLst/>
          </a:prstGeom>
          <a:noFill/>
          <a:ln/>
        </p:spPr>
        <p:txBody>
          <a:bodyPr wrap="square" lIns="73152" tIns="0" rIns="73152" bIns="0" rtlCol="0" anchor="ctr"/>
          <a:lstStyle/>
          <a:p>
            <a:pPr marL="0" indent="0" algn="ctr">
              <a:lnSpc>
                <a:spcPct val="125000"/>
              </a:lnSpc>
              <a:buNone/>
            </a:pPr>
            <a:r>
              <a:rPr sz="1000" b="0">
                <a:solidFill>
                  <a:srgbClr val="334155"/>
                </a:solidFill>
                <a:latin typeface="Arial"/>
              </a:rPr>
              <a:t>Đoàn viên · Độc giả</a:t>
            </a:r>
            <a:endParaRPr lang="vi-VN" sz="850" noProof="1"/>
          </a:p>
          <a:p>
            <a:pPr algn="ctr"/>
            <a:r>
              <a:rPr sz="1000" b="0">
                <a:solidFill>
                  <a:srgbClr val="334155"/>
                </a:solidFill>
                <a:latin typeface="Arial"/>
              </a:rPr>
              <a:t>Biên tập viên</a:t>
            </a:r>
          </a:p>
        </p:txBody>
      </p:sp>
      <p:sp>
        <p:nvSpPr>
          <p:cNvPr id="8" name="Text 5"/>
          <p:cNvSpPr/>
          <p:nvPr/>
        </p:nvSpPr>
        <p:spPr>
          <a:xfrm>
            <a:off x="27432000" y="2070100"/>
            <a:ext cx="1003275" cy="381000"/>
          </a:xfrm>
          <a:prstGeom prst="rect">
            <a:avLst/>
          </a:prstGeom>
          <a:noFill/>
          <a:ln/>
        </p:spPr>
        <p:txBody>
          <a:bodyPr wrap="none" lIns="0" tIns="0" rIns="0" bIns="0" rtlCol="0" anchor="t"/>
          <a:lstStyle/>
          <a:p>
            <a:pPr marL="0" indent="0" algn="ctr">
              <a:lnSpc>
                <a:spcPct val="125000"/>
              </a:lnSpc>
              <a:buNone/>
            </a:pPr>
            <a:r>
              <a:rPr lang="vi-VN" sz="2000" b="1" noProof="1">
                <a:solidFill>
                  <a:srgbClr val="22D3EE"/>
                </a:solidFill>
                <a:latin typeface="Arimo Bold" pitchFamily="34" charset="0"/>
                <a:ea typeface="Arimo Bold" pitchFamily="34" charset="-122"/>
                <a:cs typeface="Arimo Bold" pitchFamily="34" charset="0"/>
              </a:rPr>
              <a:t>→</a:t>
            </a:r>
            <a:endParaRPr lang="vi-VN" sz="2000" noProof="1"/>
          </a:p>
        </p:txBody>
      </p:sp>
      <p:sp>
        <p:nvSpPr>
          <p:cNvPr id="9" name="Shape 6"/>
          <p:cNvSpPr/>
          <p:nvPr/>
        </p:nvSpPr>
        <p:spPr>
          <a:xfrm>
            <a:off x="27432000" y="1651000"/>
            <a:ext cx="2412940"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10" name="Text 7"/>
          <p:cNvSpPr/>
          <p:nvPr/>
        </p:nvSpPr>
        <p:spPr>
          <a:xfrm>
            <a:off x="27432000" y="2006600"/>
            <a:ext cx="2412940" cy="209550"/>
          </a:xfrm>
          <a:prstGeom prst="rect">
            <a:avLst/>
          </a:prstGeom>
          <a:noFill/>
          <a:ln/>
        </p:spPr>
        <p:txBody>
          <a:bodyPr wrap="square" lIns="73152" tIns="0" rIns="73152" bIns="0" rtlCol="0" anchor="ctr"/>
          <a:lstStyle/>
          <a:p>
            <a:pPr algn="ctr">
              <a:defRPr b="1">
                <a:solidFill>
                  <a:srgbClr val="002855"/>
                </a:solidFill>
              </a:defRPr>
            </a:pPr>
            <a:r>
              <a:rPr sz="1500" b="1">
                <a:solidFill>
                  <a:srgbClr val="002855"/>
                </a:solidFill>
                <a:latin typeface="Arial"/>
              </a:rPr>
              <a:t>Giao diện người dùng</a:t>
            </a:r>
          </a:p>
        </p:txBody>
      </p:sp>
      <p:sp>
        <p:nvSpPr>
          <p:cNvPr id="11" name="Text 8"/>
          <p:cNvSpPr/>
          <p:nvPr/>
        </p:nvSpPr>
        <p:spPr>
          <a:xfrm>
            <a:off x="27432000" y="2352675"/>
            <a:ext cx="2412940" cy="161925"/>
          </a:xfrm>
          <a:prstGeom prst="rect">
            <a:avLst/>
          </a:prstGeom>
          <a:noFill/>
          <a:ln/>
        </p:spPr>
        <p:txBody>
          <a:bodyPr wrap="square" lIns="73152" tIns="0" rIns="73152" bIns="0" rtlCol="0" anchor="ctr"/>
          <a:lstStyle/>
          <a:p>
            <a:pPr marL="0" indent="0" algn="ctr">
              <a:lnSpc>
                <a:spcPct val="125000"/>
              </a:lnSpc>
              <a:buNone/>
              <a:defRPr>
                <a:solidFill>
                  <a:srgbClr val="334155"/>
                </a:solidFill>
              </a:defRPr>
            </a:pPr>
            <a:r>
              <a:rPr sz="1050" b="0">
                <a:solidFill>
                  <a:srgbClr val="334155"/>
                </a:solidFill>
                <a:latin typeface="Arial"/>
              </a:rPr>
              <a:t>React 18 SPA · Tailwind CSS</a:t>
            </a:r>
            <a:endParaRPr lang="vi-VN" sz="850" noProof="1"/>
          </a:p>
        </p:txBody>
      </p:sp>
      <p:sp>
        <p:nvSpPr>
          <p:cNvPr id="12" name="Text 9"/>
          <p:cNvSpPr/>
          <p:nvPr/>
        </p:nvSpPr>
        <p:spPr>
          <a:xfrm>
            <a:off x="27432000" y="2070100"/>
            <a:ext cx="1003275" cy="381000"/>
          </a:xfrm>
          <a:prstGeom prst="rect">
            <a:avLst/>
          </a:prstGeom>
          <a:noFill/>
          <a:ln/>
        </p:spPr>
        <p:txBody>
          <a:bodyPr wrap="none" lIns="0" tIns="0" rIns="0" bIns="0" rtlCol="0" anchor="t"/>
          <a:lstStyle/>
          <a:p>
            <a:pPr marL="0" indent="0" algn="ctr">
              <a:lnSpc>
                <a:spcPct val="125000"/>
              </a:lnSpc>
              <a:buNone/>
            </a:pPr>
            <a:r>
              <a:rPr lang="vi-VN" sz="2000" b="1" noProof="1">
                <a:solidFill>
                  <a:srgbClr val="22D3EE"/>
                </a:solidFill>
                <a:latin typeface="Arimo Bold" pitchFamily="34" charset="0"/>
                <a:ea typeface="Arimo Bold" pitchFamily="34" charset="-122"/>
                <a:cs typeface="Arimo Bold" pitchFamily="34" charset="0"/>
              </a:rPr>
              <a:t>→</a:t>
            </a:r>
            <a:endParaRPr lang="vi-VN" sz="2000" noProof="1"/>
          </a:p>
        </p:txBody>
      </p:sp>
      <p:sp>
        <p:nvSpPr>
          <p:cNvPr id="13" name="Shape 10"/>
          <p:cNvSpPr/>
          <p:nvPr/>
        </p:nvSpPr>
        <p:spPr>
          <a:xfrm>
            <a:off x="27432000" y="1651000"/>
            <a:ext cx="2412940"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14" name="Text 11"/>
          <p:cNvSpPr/>
          <p:nvPr/>
        </p:nvSpPr>
        <p:spPr>
          <a:xfrm>
            <a:off x="27432000" y="2006600"/>
            <a:ext cx="2412940" cy="209550"/>
          </a:xfrm>
          <a:prstGeom prst="rect">
            <a:avLst/>
          </a:prstGeom>
          <a:noFill/>
          <a:ln/>
        </p:spPr>
        <p:txBody>
          <a:bodyPr wrap="square" lIns="73152" tIns="0" rIns="73152" bIns="0" rtlCol="0" anchor="ctr"/>
          <a:lstStyle/>
          <a:p>
            <a:pPr algn="ctr">
              <a:defRPr b="1">
                <a:solidFill>
                  <a:srgbClr val="002855"/>
                </a:solidFill>
              </a:defRPr>
            </a:pPr>
            <a:r>
              <a:rPr sz="1500" b="1">
                <a:solidFill>
                  <a:srgbClr val="002855"/>
                </a:solidFill>
                <a:latin typeface="Arial"/>
              </a:rPr>
              <a:t>Máy chủ &amp; Cổng API</a:t>
            </a:r>
          </a:p>
        </p:txBody>
      </p:sp>
      <p:sp>
        <p:nvSpPr>
          <p:cNvPr id="15" name="Text 12"/>
          <p:cNvSpPr/>
          <p:nvPr/>
        </p:nvSpPr>
        <p:spPr>
          <a:xfrm>
            <a:off x="27432000" y="2352675"/>
            <a:ext cx="2412940" cy="161925"/>
          </a:xfrm>
          <a:prstGeom prst="rect">
            <a:avLst/>
          </a:prstGeom>
          <a:noFill/>
          <a:ln/>
        </p:spPr>
        <p:txBody>
          <a:bodyPr wrap="square" lIns="73152" tIns="0" rIns="73152" bIns="0" rtlCol="0" anchor="ctr"/>
          <a:lstStyle/>
          <a:p>
            <a:pPr marL="0" indent="0" algn="ctr">
              <a:lnSpc>
                <a:spcPct val="125000"/>
              </a:lnSpc>
              <a:buNone/>
              <a:defRPr>
                <a:solidFill>
                  <a:srgbClr val="334155"/>
                </a:solidFill>
              </a:defRPr>
            </a:pPr>
            <a:r>
              <a:rPr sz="1000" b="0">
                <a:solidFill>
                  <a:srgbClr val="334155"/>
                </a:solidFill>
                <a:latin typeface="Arial"/>
              </a:rPr>
              <a:t>Node.js 18+ · Express</a:t>
            </a:r>
            <a:endParaRPr lang="vi-VN" sz="850" noProof="1"/>
          </a:p>
          <a:p>
            <a:pPr algn="ctr"/>
            <a:r>
              <a:rPr sz="1000" b="0">
                <a:solidFill>
                  <a:srgbClr val="334155"/>
                </a:solidFill>
                <a:latin typeface="Arial"/>
              </a:rPr>
              <a:t>Xác thực bảo mật JWT</a:t>
            </a:r>
          </a:p>
        </p:txBody>
      </p:sp>
      <p:sp>
        <p:nvSpPr>
          <p:cNvPr id="16" name="Text 13"/>
          <p:cNvSpPr/>
          <p:nvPr/>
        </p:nvSpPr>
        <p:spPr>
          <a:xfrm>
            <a:off x="27432000" y="2070100"/>
            <a:ext cx="1511262" cy="381000"/>
          </a:xfrm>
          <a:prstGeom prst="rect">
            <a:avLst/>
          </a:prstGeom>
          <a:noFill/>
          <a:ln/>
        </p:spPr>
        <p:txBody>
          <a:bodyPr wrap="none" lIns="0" tIns="0" rIns="0" bIns="0" rtlCol="0" anchor="t"/>
          <a:lstStyle/>
          <a:p>
            <a:pPr marL="0" indent="0" algn="ctr">
              <a:lnSpc>
                <a:spcPct val="125000"/>
              </a:lnSpc>
              <a:buNone/>
            </a:pPr>
            <a:r>
              <a:rPr lang="vi-VN" sz="2000" b="1" noProof="1">
                <a:solidFill>
                  <a:srgbClr val="22D3EE"/>
                </a:solidFill>
                <a:latin typeface="Arimo Bold" pitchFamily="34" charset="0"/>
                <a:ea typeface="Arimo Bold" pitchFamily="34" charset="-122"/>
                <a:cs typeface="Arimo Bold" pitchFamily="34" charset="0"/>
              </a:rPr>
              <a:t>→</a:t>
            </a:r>
            <a:endParaRPr lang="vi-VN" sz="2000" noProof="1"/>
          </a:p>
        </p:txBody>
      </p:sp>
      <p:sp>
        <p:nvSpPr>
          <p:cNvPr id="17" name="Shape 14"/>
          <p:cNvSpPr/>
          <p:nvPr/>
        </p:nvSpPr>
        <p:spPr>
          <a:xfrm>
            <a:off x="27432000" y="1651000"/>
            <a:ext cx="2235144"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18" name="Text 15"/>
          <p:cNvSpPr/>
          <p:nvPr/>
        </p:nvSpPr>
        <p:spPr>
          <a:xfrm>
            <a:off x="27432000" y="1925637"/>
            <a:ext cx="2235144" cy="209550"/>
          </a:xfrm>
          <a:prstGeom prst="rect">
            <a:avLst/>
          </a:prstGeom>
          <a:noFill/>
          <a:ln/>
        </p:spPr>
        <p:txBody>
          <a:bodyPr wrap="square" lIns="73152" tIns="0" rIns="73152" bIns="0" rtlCol="0" anchor="ctr"/>
          <a:lstStyle/>
          <a:p>
            <a:pPr marL="0" indent="0" algn="ctr">
              <a:lnSpc>
                <a:spcPct val="125000"/>
              </a:lnSpc>
              <a:buNone/>
            </a:pPr>
            <a:r>
              <a:rPr sz="1500" b="1">
                <a:solidFill>
                  <a:srgbClr val="002855"/>
                </a:solidFill>
                <a:latin typeface="Arial"/>
              </a:rPr>
              <a:t>Cơ sở dữ liệu</a:t>
            </a:r>
            <a:endParaRPr lang="vi-VN" sz="1100" noProof="1"/>
          </a:p>
        </p:txBody>
      </p:sp>
      <p:sp>
        <p:nvSpPr>
          <p:cNvPr id="19" name="Text 16"/>
          <p:cNvSpPr/>
          <p:nvPr/>
        </p:nvSpPr>
        <p:spPr>
          <a:xfrm>
            <a:off x="27432000" y="2271713"/>
            <a:ext cx="2235144" cy="323850"/>
          </a:xfrm>
          <a:prstGeom prst="rect">
            <a:avLst/>
          </a:prstGeom>
          <a:noFill/>
          <a:ln/>
        </p:spPr>
        <p:txBody>
          <a:bodyPr wrap="square" lIns="73152" tIns="0" rIns="73152" bIns="0" rtlCol="0" anchor="ctr">
            <a:normAutofit/>
          </a:bodyPr>
          <a:lstStyle/>
          <a:p>
            <a:pPr marL="0" indent="0" algn="ctr">
              <a:lnSpc>
                <a:spcPct val="125000"/>
              </a:lnSpc>
              <a:buNone/>
            </a:pPr>
            <a:r>
              <a:rPr sz="1000" b="0">
                <a:solidFill>
                  <a:srgbClr val="334155"/>
                </a:solidFill>
                <a:latin typeface="Arial"/>
              </a:rPr>
              <a:t>Microsoft SQL Server 2022</a:t>
            </a:r>
            <a:endParaRPr lang="vi-VN" sz="850" noProof="1"/>
          </a:p>
          <a:p>
            <a:pPr algn="ctr"/>
            <a:r>
              <a:rPr sz="1000" b="0">
                <a:solidFill>
                  <a:srgbClr val="334155"/>
                </a:solidFill>
                <a:latin typeface="Arial"/>
              </a:rPr>
              <a:t>Lưu trữ 15 bảng dữ liệu</a:t>
            </a:r>
          </a:p>
        </p:txBody>
      </p:sp>
      <p:sp>
        <p:nvSpPr>
          <p:cNvPr id="20" name="Shape 17"/>
          <p:cNvSpPr/>
          <p:nvPr/>
        </p:nvSpPr>
        <p:spPr>
          <a:xfrm>
            <a:off x="27432000" y="2870200"/>
            <a:ext cx="19050" cy="457200"/>
          </a:xfrm>
          <a:prstGeom prst="roundRect">
            <a:avLst>
              <a:gd name="adj" fmla="val 49999"/>
            </a:avLst>
          </a:prstGeom>
          <a:solidFill>
            <a:srgbClr val="22D3EE"/>
          </a:solidFill>
          <a:ln/>
        </p:spPr>
        <p:txBody>
          <a:bodyPr/>
          <a:lstStyle/>
          <a:p>
            <a:endParaRPr lang="vi-VN" noProof="1"/>
          </a:p>
        </p:txBody>
      </p:sp>
      <p:sp>
        <p:nvSpPr>
          <p:cNvPr id="21" name="Shape 18"/>
          <p:cNvSpPr/>
          <p:nvPr/>
        </p:nvSpPr>
        <p:spPr>
          <a:xfrm>
            <a:off x="27432000" y="3327400"/>
            <a:ext cx="3314617" cy="19050"/>
          </a:xfrm>
          <a:prstGeom prst="roundRect">
            <a:avLst>
              <a:gd name="adj" fmla="val 49999"/>
            </a:avLst>
          </a:prstGeom>
          <a:solidFill>
            <a:srgbClr val="22D3EE"/>
          </a:solidFill>
          <a:ln/>
        </p:spPr>
        <p:txBody>
          <a:bodyPr/>
          <a:lstStyle/>
          <a:p>
            <a:endParaRPr lang="vi-VN" noProof="1"/>
          </a:p>
        </p:txBody>
      </p:sp>
      <p:sp>
        <p:nvSpPr>
          <p:cNvPr id="22" name="Shape 19"/>
          <p:cNvSpPr/>
          <p:nvPr/>
        </p:nvSpPr>
        <p:spPr>
          <a:xfrm>
            <a:off x="27432000" y="3346450"/>
            <a:ext cx="19050" cy="844550"/>
          </a:xfrm>
          <a:prstGeom prst="roundRect">
            <a:avLst>
              <a:gd name="adj" fmla="val 49999"/>
            </a:avLst>
          </a:prstGeom>
          <a:solidFill>
            <a:srgbClr val="22D3EE"/>
          </a:solidFill>
          <a:ln/>
        </p:spPr>
        <p:txBody>
          <a:bodyPr/>
          <a:lstStyle/>
          <a:p>
            <a:endParaRPr lang="vi-VN" noProof="1"/>
          </a:p>
        </p:txBody>
      </p:sp>
      <p:sp>
        <p:nvSpPr>
          <p:cNvPr id="23" name="Shape 20"/>
          <p:cNvSpPr/>
          <p:nvPr/>
        </p:nvSpPr>
        <p:spPr>
          <a:xfrm>
            <a:off x="27432000" y="3346450"/>
            <a:ext cx="19050" cy="844550"/>
          </a:xfrm>
          <a:prstGeom prst="roundRect">
            <a:avLst>
              <a:gd name="adj" fmla="val 49999"/>
            </a:avLst>
          </a:prstGeom>
          <a:solidFill>
            <a:srgbClr val="22D3EE"/>
          </a:solidFill>
          <a:ln/>
        </p:spPr>
        <p:txBody>
          <a:bodyPr/>
          <a:lstStyle/>
          <a:p>
            <a:endParaRPr lang="vi-VN" noProof="1"/>
          </a:p>
        </p:txBody>
      </p:sp>
      <p:sp>
        <p:nvSpPr>
          <p:cNvPr id="24" name="Shape 21"/>
          <p:cNvSpPr/>
          <p:nvPr/>
        </p:nvSpPr>
        <p:spPr>
          <a:xfrm>
            <a:off x="27432000" y="4191000"/>
            <a:ext cx="2793930" cy="1016000"/>
          </a:xfrm>
          <a:prstGeom prst="roundRect">
            <a:avLst>
              <a:gd name="adj" fmla="val 12000"/>
            </a:avLst>
          </a:prstGeom>
          <a:solidFill>
            <a:srgbClr val="F0F9FF"/>
          </a:solidFill>
          <a:ln w="19050">
            <a:solidFill>
              <a:srgbClr val="38BDF8"/>
            </a:solidFill>
            <a:prstDash val="solid"/>
          </a:ln>
        </p:spPr>
        <p:txBody>
          <a:bodyPr/>
          <a:lstStyle/>
          <a:p>
            <a:endParaRPr lang="vi-VN" noProof="1"/>
          </a:p>
        </p:txBody>
      </p:sp>
      <p:sp>
        <p:nvSpPr>
          <p:cNvPr id="25" name="Text 22"/>
          <p:cNvSpPr/>
          <p:nvPr/>
        </p:nvSpPr>
        <p:spPr>
          <a:xfrm>
            <a:off x="27432000" y="4445000"/>
            <a:ext cx="2793930" cy="209550"/>
          </a:xfrm>
          <a:prstGeom prst="rect">
            <a:avLst/>
          </a:prstGeom>
          <a:noFill/>
          <a:ln/>
        </p:spPr>
        <p:txBody>
          <a:bodyPr wrap="square" lIns="73152" tIns="0" rIns="73152" bIns="0" rtlCol="0" anchor="ctr"/>
          <a:lstStyle/>
          <a:p>
            <a:pPr marL="0" indent="0" algn="ctr">
              <a:lnSpc>
                <a:spcPct val="125000"/>
              </a:lnSpc>
              <a:buNone/>
            </a:pPr>
            <a:r>
              <a:rPr sz="1500" b="1">
                <a:solidFill>
                  <a:srgbClr val="002855"/>
                </a:solidFill>
                <a:latin typeface="Arial"/>
              </a:rPr>
              <a:t>Trợ lý AI (Gemini)</a:t>
            </a:r>
            <a:endParaRPr lang="vi-VN" sz="1100" noProof="1"/>
          </a:p>
        </p:txBody>
      </p:sp>
      <p:sp>
        <p:nvSpPr>
          <p:cNvPr id="26" name="Text 23"/>
          <p:cNvSpPr/>
          <p:nvPr/>
        </p:nvSpPr>
        <p:spPr>
          <a:xfrm>
            <a:off x="27432000" y="4791075"/>
            <a:ext cx="2793930" cy="161925"/>
          </a:xfrm>
          <a:prstGeom prst="rect">
            <a:avLst/>
          </a:prstGeom>
          <a:noFill/>
          <a:ln/>
        </p:spPr>
        <p:txBody>
          <a:bodyPr wrap="square" lIns="73152" tIns="0" rIns="73152" bIns="0" rtlCol="0" anchor="ctr"/>
          <a:lstStyle/>
          <a:p>
            <a:pPr marL="0" indent="0" algn="ctr">
              <a:lnSpc>
                <a:spcPct val="125000"/>
              </a:lnSpc>
              <a:buNone/>
            </a:pPr>
            <a:r>
              <a:rPr sz="1000" b="0">
                <a:solidFill>
                  <a:srgbClr val="334155"/>
                </a:solidFill>
                <a:latin typeface="Arial"/>
              </a:rPr>
              <a:t>Đọc kế hoạch &amp; tạo tin tức</a:t>
            </a:r>
            <a:endParaRPr lang="vi-VN" sz="850" noProof="1"/>
          </a:p>
          <a:p>
            <a:pPr algn="ctr"/>
            <a:r>
              <a:rPr sz="1000" b="0">
                <a:solidFill>
                  <a:srgbClr val="334155"/>
                </a:solidFill>
                <a:latin typeface="Arial"/>
              </a:rPr>
              <a:t>Trích xuất văn bản từ ảnh</a:t>
            </a:r>
          </a:p>
        </p:txBody>
      </p:sp>
      <p:sp>
        <p:nvSpPr>
          <p:cNvPr id="27" name="Shape 24"/>
          <p:cNvSpPr/>
          <p:nvPr/>
        </p:nvSpPr>
        <p:spPr>
          <a:xfrm>
            <a:off x="27432000" y="4191000"/>
            <a:ext cx="2793930" cy="1016000"/>
          </a:xfrm>
          <a:prstGeom prst="roundRect">
            <a:avLst>
              <a:gd name="adj" fmla="val 12000"/>
            </a:avLst>
          </a:prstGeom>
          <a:solidFill>
            <a:srgbClr val="F0F9FF"/>
          </a:solidFill>
          <a:ln w="19050">
            <a:solidFill>
              <a:srgbClr val="38BDF8"/>
            </a:solidFill>
            <a:prstDash val="solid"/>
          </a:ln>
        </p:spPr>
        <p:txBody>
          <a:bodyPr/>
          <a:lstStyle/>
          <a:p>
            <a:endParaRPr lang="vi-VN" noProof="1"/>
          </a:p>
        </p:txBody>
      </p:sp>
      <p:sp>
        <p:nvSpPr>
          <p:cNvPr id="28" name="Text 25"/>
          <p:cNvSpPr/>
          <p:nvPr/>
        </p:nvSpPr>
        <p:spPr>
          <a:xfrm>
            <a:off x="27432000" y="4445000"/>
            <a:ext cx="2793930" cy="209550"/>
          </a:xfrm>
          <a:prstGeom prst="rect">
            <a:avLst/>
          </a:prstGeom>
          <a:noFill/>
          <a:ln/>
        </p:spPr>
        <p:txBody>
          <a:bodyPr wrap="square" lIns="73152" tIns="0" rIns="73152" bIns="0" rtlCol="0" anchor="ctr"/>
          <a:lstStyle/>
          <a:p>
            <a:pPr algn="ctr">
              <a:defRPr b="1">
                <a:solidFill>
                  <a:srgbClr val="002855"/>
                </a:solidFill>
              </a:defRPr>
            </a:pPr>
            <a:r>
              <a:rPr sz="1500" b="1">
                <a:solidFill>
                  <a:srgbClr val="002855"/>
                </a:solidFill>
                <a:latin typeface="Arial"/>
              </a:rPr>
              <a:t>Kết nối Fanpage</a:t>
            </a:r>
          </a:p>
        </p:txBody>
      </p:sp>
      <p:sp>
        <p:nvSpPr>
          <p:cNvPr id="29" name="Text 26"/>
          <p:cNvSpPr/>
          <p:nvPr/>
        </p:nvSpPr>
        <p:spPr>
          <a:xfrm>
            <a:off x="27432000" y="4791075"/>
            <a:ext cx="2793930" cy="161925"/>
          </a:xfrm>
          <a:prstGeom prst="rect">
            <a:avLst/>
          </a:prstGeom>
          <a:noFill/>
          <a:ln/>
        </p:spPr>
        <p:txBody>
          <a:bodyPr wrap="square" lIns="73152" tIns="0" rIns="73152" bIns="0" rtlCol="0" anchor="ctr"/>
          <a:lstStyle/>
          <a:p>
            <a:pPr algn="ctr">
              <a:defRPr sz="950">
                <a:solidFill>
                  <a:srgbClr val="334155"/>
                </a:solidFill>
                <a:latin typeface="Arial"/>
              </a:defRPr>
            </a:pPr>
            <a:r>
              <a:rPr sz="1000" b="0">
                <a:solidFill>
                  <a:srgbClr val="334155"/>
                </a:solidFill>
                <a:latin typeface="Arial"/>
              </a:rPr>
              <a:t>Tự động xuất bản bài viết</a:t>
            </a:r>
          </a:p>
          <a:p>
            <a:pPr algn="ctr"/>
            <a:r>
              <a:rPr sz="1000" b="0">
                <a:solidFill>
                  <a:srgbClr val="334155"/>
                </a:solidFill>
                <a:latin typeface="Arial"/>
              </a:rPr>
              <a:t>lên Facebook Fanpage</a:t>
            </a:r>
          </a:p>
        </p:txBody>
      </p:sp>
      <p:sp>
        <p:nvSpPr>
          <p:cNvPr id="30" name="Shape 27"/>
          <p:cNvSpPr/>
          <p:nvPr/>
        </p:nvSpPr>
        <p:spPr>
          <a:xfrm>
            <a:off x="27432000" y="6543774"/>
            <a:ext cx="11124922" cy="9525"/>
          </a:xfrm>
          <a:prstGeom prst="rect">
            <a:avLst/>
          </a:prstGeom>
          <a:solidFill>
            <a:srgbClr val="1E3A5F"/>
          </a:solidFill>
          <a:ln/>
        </p:spPr>
        <p:txBody>
          <a:bodyPr/>
          <a:lstStyle/>
          <a:p>
            <a:endParaRPr lang="vi-VN" noProof="1"/>
          </a:p>
        </p:txBody>
      </p:sp>
      <p:sp>
        <p:nvSpPr>
          <p:cNvPr id="31" name="Text 28"/>
          <p:cNvSpPr/>
          <p:nvPr/>
        </p:nvSpPr>
        <p:spPr>
          <a:xfrm>
            <a:off x="2743200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7</a:t>
            </a:r>
            <a:endParaRPr lang="vi-VN" sz="700" noProof="1"/>
          </a:p>
        </p:txBody>
      </p:sp>
      <p:sp>
        <p:nvSpPr>
          <p:cNvPr id="33" name="Hình chữ nhật 32">
            <a:extLst>
              <a:ext uri="{FF2B5EF4-FFF2-40B4-BE49-F238E27FC236}">
                <a16:creationId xmlns:a16="http://schemas.microsoft.com/office/drawing/2014/main" id="{E4EBFE96-F0B4-0B4A-9266-F2EB8E60C392}"/>
              </a:ext>
            </a:extLst>
          </p:cNvPr>
          <p:cNvSpPr/>
          <p:nvPr/>
        </p:nvSpPr>
        <p:spPr>
          <a:xfrm>
            <a:off x="27432000" y="6140918"/>
            <a:ext cx="1459527" cy="695498"/>
          </a:xfrm>
          <a:prstGeom prst="rect">
            <a:avLst/>
          </a:prstGeom>
          <a:solidFill>
            <a:srgbClr val="0B1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
        <p:nvSpPr>
          <p:cNvPr id="34" name="TextBox 33"/>
          <p:cNvSpPr txBox="1"/>
          <p:nvPr/>
        </p:nvSpPr>
        <p:spPr>
          <a:xfrm>
            <a:off x="27432000" y="365760"/>
            <a:ext cx="10972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35" name="TextBox 34"/>
          <p:cNvSpPr txBox="1"/>
          <p:nvPr/>
        </p:nvSpPr>
        <p:spPr>
          <a:xfrm>
            <a:off x="27432000" y="594360"/>
            <a:ext cx="10972800" cy="502920"/>
          </a:xfrm>
          <a:prstGeom prst="rect">
            <a:avLst/>
          </a:prstGeom>
          <a:noFill/>
        </p:spPr>
        <p:txBody>
          <a:bodyPr wrap="square">
            <a:spAutoFit/>
          </a:bodyPr>
          <a:lstStyle/>
          <a:p>
            <a:pPr>
              <a:defRPr sz="2200" b="1">
                <a:solidFill>
                  <a:srgbClr val="002855"/>
                </a:solidFill>
                <a:latin typeface="Arial"/>
              </a:defRPr>
            </a:pPr>
            <a:r>
              <a:t>Quy trình hoạt động &amp; Kỹ thuật tích hợp Trợ lý AI (AI Copilot Pipeline)</a:t>
            </a:r>
          </a:p>
        </p:txBody>
      </p:sp>
      <p:sp>
        <p:nvSpPr>
          <p:cNvPr id="36" name="Rectangle 35"/>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01</a:t>
            </a:r>
          </a:p>
        </p:txBody>
      </p:sp>
      <p:sp>
        <p:nvSpPr>
          <p:cNvPr id="39" name="TextBox 38"/>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Tiếp nhận dữ liệu thô</a:t>
            </a:r>
          </a:p>
          <a:p>
            <a:pPr>
              <a:spcAft>
                <a:spcPts val="1200"/>
              </a:spcAft>
              <a:defRPr sz="1050" b="1">
                <a:solidFill>
                  <a:srgbClr val="D97706"/>
                </a:solidFill>
                <a:latin typeface="Arial"/>
              </a:defRPr>
            </a:pPr>
            <a:r>
              <a:t>Tài liệu kế hoạch &amp; Ảnh</a:t>
            </a:r>
          </a:p>
          <a:p>
            <a:pPr>
              <a:spcAft>
                <a:spcPts val="1000"/>
              </a:spcAft>
              <a:defRPr sz="1100">
                <a:solidFill>
                  <a:srgbClr val="334155"/>
                </a:solidFill>
                <a:latin typeface="Arial"/>
              </a:defRPr>
            </a:pPr>
            <a:r>
              <a:t>• Đọc trực tiếp file Word (.docx), Excel (.xlsx), PDF kế hoạch sự kiện.</a:t>
            </a:r>
          </a:p>
          <a:p>
            <a:pPr>
              <a:spcAft>
                <a:spcPts val="1000"/>
              </a:spcAft>
              <a:defRPr sz="1100">
                <a:solidFill>
                  <a:srgbClr val="334155"/>
                </a:solidFill>
                <a:latin typeface="Arial"/>
              </a:defRPr>
            </a:pPr>
            <a:r>
              <a:t>• Trích xuất tự động văn bản trên ảnh sự kiện (Backdrop OCR).</a:t>
            </a:r>
          </a:p>
        </p:txBody>
      </p:sp>
      <p:sp>
        <p:nvSpPr>
          <p:cNvPr id="40" name="TextBox 39"/>
          <p:cNvSpPr txBox="1"/>
          <p:nvPr/>
        </p:nvSpPr>
        <p:spPr>
          <a:xfrm>
            <a:off x="27432000" y="3520440"/>
            <a:ext cx="228600" cy="365760"/>
          </a:xfrm>
          <a:prstGeom prst="rect">
            <a:avLst/>
          </a:prstGeom>
          <a:noFill/>
        </p:spPr>
        <p:txBody>
          <a:bodyPr wrap="none">
            <a:spAutoFit/>
          </a:bodyPr>
          <a:lstStyle/>
          <a:p>
            <a:pPr algn="ctr">
              <a:defRPr sz="2000" b="1">
                <a:solidFill>
                  <a:srgbClr val="0284C7"/>
                </a:solidFill>
                <a:latin typeface="Arial"/>
              </a:defRPr>
            </a:pPr>
            <a:r>
              <a:t>→</a:t>
            </a:r>
          </a:p>
        </p:txBody>
      </p:sp>
      <p:sp>
        <p:nvSpPr>
          <p:cNvPr id="41" name="Rounded Rectangle 40"/>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02</a:t>
            </a:r>
          </a:p>
        </p:txBody>
      </p:sp>
      <p:sp>
        <p:nvSpPr>
          <p:cNvPr id="43" name="TextBox 42"/>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Xử lý ngữ cảnh</a:t>
            </a:r>
          </a:p>
          <a:p>
            <a:pPr>
              <a:spcAft>
                <a:spcPts val="1200"/>
              </a:spcAft>
              <a:defRPr sz="1050" b="1">
                <a:solidFill>
                  <a:srgbClr val="D97706"/>
                </a:solidFill>
                <a:latin typeface="Arial"/>
              </a:defRPr>
            </a:pPr>
            <a:r>
              <a:t>Context Injection &amp; Prompt</a:t>
            </a:r>
          </a:p>
          <a:p>
            <a:pPr>
              <a:spcAft>
                <a:spcPts val="1000"/>
              </a:spcAft>
              <a:defRPr sz="1100">
                <a:solidFill>
                  <a:srgbClr val="334155"/>
                </a:solidFill>
                <a:latin typeface="Arial"/>
              </a:defRPr>
            </a:pPr>
            <a:r>
              <a:t>• Rút trích thông tin cốt lõi: thời gian, địa điểm, mục đích, thành phần.</a:t>
            </a:r>
          </a:p>
          <a:p>
            <a:pPr>
              <a:spcAft>
                <a:spcPts val="1000"/>
              </a:spcAft>
              <a:defRPr sz="1100">
                <a:solidFill>
                  <a:srgbClr val="334155"/>
                </a:solidFill>
                <a:latin typeface="Arial"/>
              </a:defRPr>
            </a:pPr>
            <a:r>
              <a:t>• Đóng gói Prompt chuẩn phong cách truyền thông Công đoàn TDMU.</a:t>
            </a:r>
          </a:p>
        </p:txBody>
      </p:sp>
      <p:sp>
        <p:nvSpPr>
          <p:cNvPr id="44" name="TextBox 43"/>
          <p:cNvSpPr txBox="1"/>
          <p:nvPr/>
        </p:nvSpPr>
        <p:spPr>
          <a:xfrm>
            <a:off x="27432000" y="3520440"/>
            <a:ext cx="228600" cy="365760"/>
          </a:xfrm>
          <a:prstGeom prst="rect">
            <a:avLst/>
          </a:prstGeom>
          <a:noFill/>
        </p:spPr>
        <p:txBody>
          <a:bodyPr wrap="none">
            <a:spAutoFit/>
          </a:bodyPr>
          <a:lstStyle/>
          <a:p>
            <a:pPr algn="ctr">
              <a:defRPr sz="2000" b="1">
                <a:solidFill>
                  <a:srgbClr val="0284C7"/>
                </a:solidFill>
                <a:latin typeface="Arial"/>
              </a:defRPr>
            </a:pPr>
            <a:r>
              <a:t>→</a:t>
            </a:r>
          </a:p>
        </p:txBody>
      </p:sp>
      <p:sp>
        <p:nvSpPr>
          <p:cNvPr id="45" name="Rounded Rectangle 44"/>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03</a:t>
            </a:r>
          </a:p>
        </p:txBody>
      </p:sp>
      <p:sp>
        <p:nvSpPr>
          <p:cNvPr id="47" name="TextBox 46"/>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Sinh bài tự động</a:t>
            </a:r>
          </a:p>
          <a:p>
            <a:pPr>
              <a:spcAft>
                <a:spcPts val="1200"/>
              </a:spcAft>
              <a:defRPr sz="1050" b="1">
                <a:solidFill>
                  <a:srgbClr val="D97706"/>
                </a:solidFill>
                <a:latin typeface="Arial"/>
              </a:defRPr>
            </a:pPr>
            <a:r>
              <a:t>Google Gemini AI Core</a:t>
            </a:r>
          </a:p>
          <a:p>
            <a:pPr>
              <a:spcAft>
                <a:spcPts val="1000"/>
              </a:spcAft>
              <a:defRPr sz="1100">
                <a:solidFill>
                  <a:srgbClr val="334155"/>
                </a:solidFill>
                <a:latin typeface="Arial"/>
              </a:defRPr>
            </a:pPr>
            <a:r>
              <a:t>• Sinh bài viết tin tức hoàn chỉnh: Tiêu đề gợi ý, đoạn Sapo và thân bài.</a:t>
            </a:r>
          </a:p>
          <a:p>
            <a:pPr>
              <a:spcAft>
                <a:spcPts val="1000"/>
              </a:spcAft>
              <a:defRPr sz="1100">
                <a:solidFill>
                  <a:srgbClr val="334155"/>
                </a:solidFill>
                <a:latin typeface="Arial"/>
              </a:defRPr>
            </a:pPr>
            <a:r>
              <a:t>• Hỗ trợ bôi đen đoạn văn để yêu cầu AI chỉnh sửa nhanh câu từ.</a:t>
            </a:r>
          </a:p>
        </p:txBody>
      </p:sp>
      <p:sp>
        <p:nvSpPr>
          <p:cNvPr id="48" name="TextBox 47"/>
          <p:cNvSpPr txBox="1"/>
          <p:nvPr/>
        </p:nvSpPr>
        <p:spPr>
          <a:xfrm>
            <a:off x="27432000" y="3520440"/>
            <a:ext cx="228600" cy="365760"/>
          </a:xfrm>
          <a:prstGeom prst="rect">
            <a:avLst/>
          </a:prstGeom>
          <a:noFill/>
        </p:spPr>
        <p:txBody>
          <a:bodyPr wrap="none">
            <a:spAutoFit/>
          </a:bodyPr>
          <a:lstStyle/>
          <a:p>
            <a:pPr algn="ctr">
              <a:defRPr sz="2000" b="1">
                <a:solidFill>
                  <a:srgbClr val="0284C7"/>
                </a:solidFill>
                <a:latin typeface="Arial"/>
              </a:defRPr>
            </a:pPr>
            <a:r>
              <a:t>→</a:t>
            </a:r>
          </a:p>
        </p:txBody>
      </p:sp>
      <p:sp>
        <p:nvSpPr>
          <p:cNvPr id="49" name="Rounded Rectangle 48"/>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04</a:t>
            </a:r>
          </a:p>
        </p:txBody>
      </p:sp>
      <p:sp>
        <p:nvSpPr>
          <p:cNvPr id="51" name="TextBox 50"/>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Tối ưu &amp; Đăng tin</a:t>
            </a:r>
          </a:p>
          <a:p>
            <a:pPr>
              <a:spcAft>
                <a:spcPts val="1200"/>
              </a:spcAft>
              <a:defRPr sz="1050" b="1">
                <a:solidFill>
                  <a:srgbClr val="D97706"/>
                </a:solidFill>
                <a:latin typeface="Arial"/>
              </a:defRPr>
            </a:pPr>
            <a:r>
              <a:t>Meta Graph API v19.0</a:t>
            </a:r>
          </a:p>
          <a:p>
            <a:pPr>
              <a:spcAft>
                <a:spcPts val="1000"/>
              </a:spcAft>
              <a:defRPr sz="1100">
                <a:solidFill>
                  <a:srgbClr val="334155"/>
                </a:solidFill>
                <a:latin typeface="Arial"/>
              </a:defRPr>
            </a:pPr>
            <a:r>
              <a:t>• Tự động tóm tắt bài thành bản tin 3–4 câu cô đọng kèm hashtag chủ đề.</a:t>
            </a:r>
          </a:p>
          <a:p>
            <a:pPr>
              <a:spcAft>
                <a:spcPts val="1000"/>
              </a:spcAft>
              <a:defRPr sz="1100">
                <a:solidFill>
                  <a:srgbClr val="334155"/>
                </a:solidFill>
                <a:latin typeface="Arial"/>
              </a:defRPr>
            </a:pPr>
            <a:r>
              <a:t>• Xuất bản tự động bài viết và hình ảnh lên Fanpage Facebook Công đoàn.</a:t>
            </a:r>
          </a:p>
        </p:txBody>
      </p:sp>
      <p:sp>
        <p:nvSpPr>
          <p:cNvPr id="52" name="TextBox 51"/>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53" name="TextBox 52"/>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Quy trình hoạt động &amp; Kỹ thuật tích hợp Trợ lý AI (AI Copilot Pipeline)</a:t>
            </a:r>
          </a:p>
        </p:txBody>
      </p:sp>
      <p:sp>
        <p:nvSpPr>
          <p:cNvPr id="54" name="Rectangle 53"/>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tdmu_official_logo.png"/>
          <p:cNvPicPr>
            <a:picLocks noChangeAspect="1"/>
          </p:cNvPicPr>
          <p:nvPr/>
        </p:nvPicPr>
        <p:blipFill>
          <a:blip r:embed="rId4"/>
          <a:stretch>
            <a:fillRect/>
          </a:stretch>
        </p:blipFill>
        <p:spPr>
          <a:xfrm>
            <a:off x="27432000" y="292608"/>
            <a:ext cx="1691640" cy="658368"/>
          </a:xfrm>
          <a:prstGeom prst="rect">
            <a:avLst/>
          </a:prstGeom>
        </p:spPr>
      </p:pic>
      <p:sp>
        <p:nvSpPr>
          <p:cNvPr id="56" name="Rectangle 55"/>
          <p:cNvSpPr/>
          <p:nvPr/>
        </p:nvSpPr>
        <p:spPr>
          <a:xfrm>
            <a:off x="27432000" y="1417320"/>
            <a:ext cx="11000232"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743200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1. Tiếp nhận dữ liệu thô</a:t>
            </a:r>
          </a:p>
        </p:txBody>
      </p:sp>
      <p:sp>
        <p:nvSpPr>
          <p:cNvPr id="58" name="Rounded Rectangle 57"/>
          <p:cNvSpPr/>
          <p:nvPr/>
        </p:nvSpPr>
        <p:spPr>
          <a:xfrm>
            <a:off x="2743200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2. Xử lý ngữ cảnh (Context)</a:t>
            </a:r>
          </a:p>
        </p:txBody>
      </p:sp>
      <p:sp>
        <p:nvSpPr>
          <p:cNvPr id="59" name="Rounded Rectangle 58"/>
          <p:cNvSpPr/>
          <p:nvPr/>
        </p:nvSpPr>
        <p:spPr>
          <a:xfrm>
            <a:off x="2743200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3. Sinh bài bằng Gemini AI</a:t>
            </a:r>
          </a:p>
        </p:txBody>
      </p:sp>
      <p:sp>
        <p:nvSpPr>
          <p:cNvPr id="60" name="Rounded Rectangle 59"/>
          <p:cNvSpPr/>
          <p:nvPr/>
        </p:nvSpPr>
        <p:spPr>
          <a:xfrm>
            <a:off x="2743200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4. Xuất bản Fanpage &amp; Zalo</a:t>
            </a:r>
          </a:p>
        </p:txBody>
      </p:sp>
      <p:sp>
        <p:nvSpPr>
          <p:cNvPr id="61" name="TextBox 60"/>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Tài liệu kế hoạch &amp; Ảnh</a:t>
            </a:r>
          </a:p>
          <a:p>
            <a:pPr>
              <a:spcAft>
                <a:spcPts val="900"/>
              </a:spcAft>
              <a:defRPr sz="1050">
                <a:solidFill>
                  <a:srgbClr val="334155"/>
                </a:solidFill>
                <a:latin typeface="Arial"/>
              </a:defRPr>
            </a:pPr>
            <a:r>
              <a:t>• Tiếp nhận trực tiếp file Word (.docx), Excel (.xlsx), PDF kế hoạch tổ chức sự kiện.</a:t>
            </a:r>
          </a:p>
          <a:p>
            <a:pPr>
              <a:spcAft>
                <a:spcPts val="900"/>
              </a:spcAft>
              <a:defRPr sz="1050">
                <a:solidFill>
                  <a:srgbClr val="334155"/>
                </a:solidFill>
                <a:latin typeface="Arial"/>
              </a:defRPr>
            </a:pPr>
            <a:r>
              <a:t>• Áp dụng AI Vision nhận diện và trích xuất chữ trên ảnh phông nền (Backdrop OCR).</a:t>
            </a:r>
          </a:p>
          <a:p>
            <a:pPr>
              <a:spcAft>
                <a:spcPts val="900"/>
              </a:spcAft>
              <a:defRPr sz="1050">
                <a:solidFill>
                  <a:srgbClr val="334155"/>
                </a:solidFill>
                <a:latin typeface="Arial"/>
              </a:defRPr>
            </a:pPr>
            <a:r>
              <a:t>• Giúp cán bộ không phải sao chép hay gõ lại thông tin ban đầu.</a:t>
            </a:r>
          </a:p>
        </p:txBody>
      </p:sp>
      <p:sp>
        <p:nvSpPr>
          <p:cNvPr id="62" name="Rectangle 61"/>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Context Injection &amp; Prompt</a:t>
            </a:r>
          </a:p>
          <a:p>
            <a:pPr>
              <a:spcAft>
                <a:spcPts val="900"/>
              </a:spcAft>
              <a:defRPr sz="1050">
                <a:solidFill>
                  <a:srgbClr val="334155"/>
                </a:solidFill>
                <a:latin typeface="Arial"/>
              </a:defRPr>
            </a:pPr>
            <a:r>
              <a:t>• Bóc tách tự động thông tin then chốt: thời gian, địa điểm, thành phần, mục tiêu.</a:t>
            </a:r>
          </a:p>
          <a:p>
            <a:pPr>
              <a:spcAft>
                <a:spcPts val="900"/>
              </a:spcAft>
              <a:defRPr sz="1050">
                <a:solidFill>
                  <a:srgbClr val="334155"/>
                </a:solidFill>
                <a:latin typeface="Arial"/>
              </a:defRPr>
            </a:pPr>
            <a:r>
              <a:t>• Đóng gói dữ liệu vào khung Prompt chuẩn văn phong truyền thông Công đoàn.</a:t>
            </a:r>
          </a:p>
          <a:p>
            <a:pPr>
              <a:spcAft>
                <a:spcPts val="900"/>
              </a:spcAft>
              <a:defRPr sz="1050">
                <a:solidFill>
                  <a:srgbClr val="334155"/>
                </a:solidFill>
                <a:latin typeface="Arial"/>
              </a:defRPr>
            </a:pPr>
            <a:r>
              <a:t>• Loại bỏ thông tin thừa, tối ưu độ dài trước khi gửi lên API.</a:t>
            </a:r>
          </a:p>
        </p:txBody>
      </p:sp>
      <p:sp>
        <p:nvSpPr>
          <p:cNvPr id="64" name="Rectangle 63"/>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Google Gemini AI Core</a:t>
            </a:r>
          </a:p>
          <a:p>
            <a:pPr>
              <a:spcAft>
                <a:spcPts val="900"/>
              </a:spcAft>
              <a:defRPr sz="1050">
                <a:solidFill>
                  <a:srgbClr val="334155"/>
                </a:solidFill>
                <a:latin typeface="Arial"/>
              </a:defRPr>
            </a:pPr>
            <a:r>
              <a:t>• Lõi Gemini AI xử lý ngôn ngữ tiếng Việt sinh bài viết hoàn chỉnh chỉ sau vài giây.</a:t>
            </a:r>
          </a:p>
          <a:p>
            <a:pPr>
              <a:spcAft>
                <a:spcPts val="900"/>
              </a:spcAft>
              <a:defRPr sz="1050">
                <a:solidFill>
                  <a:srgbClr val="334155"/>
                </a:solidFill>
                <a:latin typeface="Arial"/>
              </a:defRPr>
            </a:pPr>
            <a:r>
              <a:t>• Tự động gợi ý 3 tiêu đề ngắn gọn, đoạn mở đầu (Sapo) và thân bài rõ ràng.</a:t>
            </a:r>
          </a:p>
          <a:p>
            <a:pPr>
              <a:spcAft>
                <a:spcPts val="900"/>
              </a:spcAft>
              <a:defRPr sz="1050">
                <a:solidFill>
                  <a:srgbClr val="334155"/>
                </a:solidFill>
                <a:latin typeface="Arial"/>
              </a:defRPr>
            </a:pPr>
            <a:r>
              <a:t>• Cho phép bôi đen đoạn văn để yêu cầu AI tinh chỉnh câu chữ trực tiếp.</a:t>
            </a:r>
          </a:p>
        </p:txBody>
      </p:sp>
      <p:sp>
        <p:nvSpPr>
          <p:cNvPr id="66" name="Rectangle 65"/>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Meta Facebook Graph API</a:t>
            </a:r>
          </a:p>
          <a:p>
            <a:pPr>
              <a:spcAft>
                <a:spcPts val="900"/>
              </a:spcAft>
              <a:defRPr sz="1050">
                <a:solidFill>
                  <a:srgbClr val="334155"/>
                </a:solidFill>
                <a:latin typeface="Arial"/>
              </a:defRPr>
            </a:pPr>
            <a:r>
              <a:t>• Tự động trích xuất bản tin rút gọn 3–4 câu cô đọng kèm hashtag (#CongDoanTDMU).</a:t>
            </a:r>
          </a:p>
          <a:p>
            <a:pPr>
              <a:spcAft>
                <a:spcPts val="900"/>
              </a:spcAft>
              <a:defRPr sz="1050">
                <a:solidFill>
                  <a:srgbClr val="334155"/>
                </a:solidFill>
                <a:latin typeface="Arial"/>
              </a:defRPr>
            </a:pPr>
            <a:r>
              <a:t>• Kết nối trực tiếp Meta Graph API v19.0 để xuất bản bài viết và hình ảnh lên Fanpage.</a:t>
            </a:r>
          </a:p>
          <a:p>
            <a:pPr>
              <a:spcAft>
                <a:spcPts val="900"/>
              </a:spcAft>
              <a:defRPr sz="1050">
                <a:solidFill>
                  <a:srgbClr val="334155"/>
                </a:solidFill>
                <a:latin typeface="Arial"/>
              </a:defRPr>
            </a:pPr>
            <a:r>
              <a:t>• Có chế độ xem trước trực quan và hẹn giờ đăng tự động.</a:t>
            </a:r>
          </a:p>
        </p:txBody>
      </p:sp>
      <p:sp>
        <p:nvSpPr>
          <p:cNvPr id="68" name="TextBox 67"/>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69" name="TextBox 68"/>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Quy trình xử lý của Trợ lý AI &amp; Tích hợp Đa kênh</a:t>
            </a:r>
          </a:p>
        </p:txBody>
      </p:sp>
      <p:sp>
        <p:nvSpPr>
          <p:cNvPr id="70" name="Rectangle 69"/>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4"/>
          <a:stretch>
            <a:fillRect/>
          </a:stretch>
        </p:blipFill>
        <p:spPr>
          <a:xfrm>
            <a:off x="27432000" y="292608"/>
            <a:ext cx="1691640" cy="658368"/>
          </a:xfrm>
          <a:prstGeom prst="rect">
            <a:avLst/>
          </a:prstGeom>
        </p:spPr>
      </p:pic>
      <p:sp>
        <p:nvSpPr>
          <p:cNvPr id="72" name="Rectangle 71"/>
          <p:cNvSpPr/>
          <p:nvPr/>
        </p:nvSpPr>
        <p:spPr>
          <a:xfrm>
            <a:off x="27432000" y="1417320"/>
            <a:ext cx="11000232"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2743200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1. Tiếp nhận dữ liệu thô</a:t>
            </a:r>
          </a:p>
        </p:txBody>
      </p:sp>
      <p:sp>
        <p:nvSpPr>
          <p:cNvPr id="74" name="Rounded Rectangle 73"/>
          <p:cNvSpPr/>
          <p:nvPr/>
        </p:nvSpPr>
        <p:spPr>
          <a:xfrm>
            <a:off x="2743200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2. Xử lý ngữ cảnh (Context)</a:t>
            </a:r>
          </a:p>
        </p:txBody>
      </p:sp>
      <p:sp>
        <p:nvSpPr>
          <p:cNvPr id="75" name="Rounded Rectangle 74"/>
          <p:cNvSpPr/>
          <p:nvPr/>
        </p:nvSpPr>
        <p:spPr>
          <a:xfrm>
            <a:off x="2743200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3. Sinh bài bằng Gemini AI</a:t>
            </a:r>
          </a:p>
        </p:txBody>
      </p:sp>
      <p:sp>
        <p:nvSpPr>
          <p:cNvPr id="76" name="Rounded Rectangle 75"/>
          <p:cNvSpPr/>
          <p:nvPr/>
        </p:nvSpPr>
        <p:spPr>
          <a:xfrm>
            <a:off x="2743200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4. Xuất bản Fanpage &amp; Zalo</a:t>
            </a:r>
          </a:p>
        </p:txBody>
      </p:sp>
      <p:sp>
        <p:nvSpPr>
          <p:cNvPr id="77" name="TextBox 76"/>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Tài liệu kế hoạch &amp; Ảnh</a:t>
            </a:r>
          </a:p>
          <a:p>
            <a:pPr>
              <a:spcAft>
                <a:spcPts val="900"/>
              </a:spcAft>
              <a:defRPr sz="1050">
                <a:solidFill>
                  <a:srgbClr val="334155"/>
                </a:solidFill>
                <a:latin typeface="Arial"/>
              </a:defRPr>
            </a:pPr>
            <a:r>
              <a:t>• Tiếp nhận trực tiếp file Word (.docx), Excel (.xlsx), PDF kế hoạch tổ chức sự kiện.</a:t>
            </a:r>
          </a:p>
          <a:p>
            <a:pPr>
              <a:spcAft>
                <a:spcPts val="900"/>
              </a:spcAft>
              <a:defRPr sz="1050">
                <a:solidFill>
                  <a:srgbClr val="334155"/>
                </a:solidFill>
                <a:latin typeface="Arial"/>
              </a:defRPr>
            </a:pPr>
            <a:r>
              <a:t>• Áp dụng AI Vision nhận diện và trích xuất chữ trên ảnh phông nền (Backdrop OCR).</a:t>
            </a:r>
          </a:p>
          <a:p>
            <a:pPr>
              <a:spcAft>
                <a:spcPts val="900"/>
              </a:spcAft>
              <a:defRPr sz="1050">
                <a:solidFill>
                  <a:srgbClr val="334155"/>
                </a:solidFill>
                <a:latin typeface="Arial"/>
              </a:defRPr>
            </a:pPr>
            <a:r>
              <a:t>• Giúp cán bộ không phải sao chép hay gõ lại thông tin ban đầu.</a:t>
            </a:r>
          </a:p>
        </p:txBody>
      </p:sp>
      <p:sp>
        <p:nvSpPr>
          <p:cNvPr id="78" name="Rectangle 77"/>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Context Injection &amp; Prompt</a:t>
            </a:r>
          </a:p>
          <a:p>
            <a:pPr>
              <a:spcAft>
                <a:spcPts val="900"/>
              </a:spcAft>
              <a:defRPr sz="1050">
                <a:solidFill>
                  <a:srgbClr val="334155"/>
                </a:solidFill>
                <a:latin typeface="Arial"/>
              </a:defRPr>
            </a:pPr>
            <a:r>
              <a:t>• Bóc tách tự động thông tin then chốt: thời gian, địa điểm, thành phần, mục tiêu.</a:t>
            </a:r>
          </a:p>
          <a:p>
            <a:pPr>
              <a:spcAft>
                <a:spcPts val="900"/>
              </a:spcAft>
              <a:defRPr sz="1050">
                <a:solidFill>
                  <a:srgbClr val="334155"/>
                </a:solidFill>
                <a:latin typeface="Arial"/>
              </a:defRPr>
            </a:pPr>
            <a:r>
              <a:t>• Đóng gói dữ liệu vào khung Prompt chuẩn văn phong truyền thông Công đoàn.</a:t>
            </a:r>
          </a:p>
          <a:p>
            <a:pPr>
              <a:spcAft>
                <a:spcPts val="900"/>
              </a:spcAft>
              <a:defRPr sz="1050">
                <a:solidFill>
                  <a:srgbClr val="334155"/>
                </a:solidFill>
                <a:latin typeface="Arial"/>
              </a:defRPr>
            </a:pPr>
            <a:r>
              <a:t>• Loại bỏ thông tin thừa, tối ưu độ dài trước khi gửi lên API.</a:t>
            </a:r>
          </a:p>
        </p:txBody>
      </p:sp>
      <p:sp>
        <p:nvSpPr>
          <p:cNvPr id="80" name="Rectangle 79"/>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Google Gemini AI Core</a:t>
            </a:r>
          </a:p>
          <a:p>
            <a:pPr>
              <a:spcAft>
                <a:spcPts val="900"/>
              </a:spcAft>
              <a:defRPr sz="1050">
                <a:solidFill>
                  <a:srgbClr val="334155"/>
                </a:solidFill>
                <a:latin typeface="Arial"/>
              </a:defRPr>
            </a:pPr>
            <a:r>
              <a:t>• Lõi Gemini AI xử lý ngôn ngữ tiếng Việt sinh bài viết hoàn chỉnh chỉ sau vài giây.</a:t>
            </a:r>
          </a:p>
          <a:p>
            <a:pPr>
              <a:spcAft>
                <a:spcPts val="900"/>
              </a:spcAft>
              <a:defRPr sz="1050">
                <a:solidFill>
                  <a:srgbClr val="334155"/>
                </a:solidFill>
                <a:latin typeface="Arial"/>
              </a:defRPr>
            </a:pPr>
            <a:r>
              <a:t>• Tự động gợi ý 3 tiêu đề ngắn gọn, đoạn mở đầu (Sapo) và thân bài rõ ràng.</a:t>
            </a:r>
          </a:p>
          <a:p>
            <a:pPr>
              <a:spcAft>
                <a:spcPts val="900"/>
              </a:spcAft>
              <a:defRPr sz="1050">
                <a:solidFill>
                  <a:srgbClr val="334155"/>
                </a:solidFill>
                <a:latin typeface="Arial"/>
              </a:defRPr>
            </a:pPr>
            <a:r>
              <a:t>• Cho phép bôi đen đoạn văn để yêu cầu AI tinh chỉnh câu chữ trực tiếp.</a:t>
            </a:r>
          </a:p>
        </p:txBody>
      </p:sp>
      <p:sp>
        <p:nvSpPr>
          <p:cNvPr id="82" name="Rectangle 81"/>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Meta Facebook Graph API</a:t>
            </a:r>
          </a:p>
          <a:p>
            <a:pPr>
              <a:spcAft>
                <a:spcPts val="900"/>
              </a:spcAft>
              <a:defRPr sz="1050">
                <a:solidFill>
                  <a:srgbClr val="334155"/>
                </a:solidFill>
                <a:latin typeface="Arial"/>
              </a:defRPr>
            </a:pPr>
            <a:r>
              <a:t>• Tự động trích xuất bản tin rút gọn 3–4 câu cô đọng kèm hashtag (#CongDoanTDMU).</a:t>
            </a:r>
          </a:p>
          <a:p>
            <a:pPr>
              <a:spcAft>
                <a:spcPts val="900"/>
              </a:spcAft>
              <a:defRPr sz="1050">
                <a:solidFill>
                  <a:srgbClr val="334155"/>
                </a:solidFill>
                <a:latin typeface="Arial"/>
              </a:defRPr>
            </a:pPr>
            <a:r>
              <a:t>• Kết nối trực tiếp Meta Graph API v19.0 để xuất bản bài viết và hình ảnh lên Fanpage.</a:t>
            </a:r>
          </a:p>
          <a:p>
            <a:pPr>
              <a:spcAft>
                <a:spcPts val="900"/>
              </a:spcAft>
              <a:defRPr sz="1050">
                <a:solidFill>
                  <a:srgbClr val="334155"/>
                </a:solidFill>
                <a:latin typeface="Arial"/>
              </a:defRPr>
            </a:pPr>
            <a:r>
              <a:t>• Có chế độ xem trước trực quan và hẹn giờ đăng tự động.</a:t>
            </a:r>
          </a:p>
        </p:txBody>
      </p:sp>
      <p:sp>
        <p:nvSpPr>
          <p:cNvPr id="84" name="TextBox 83"/>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85" name="TextBox 84"/>
          <p:cNvSpPr txBox="1"/>
          <p:nvPr/>
        </p:nvSpPr>
        <p:spPr>
          <a:xfrm>
            <a:off x="27432000" y="594360"/>
            <a:ext cx="8961120" cy="502920"/>
          </a:xfrm>
          <a:prstGeom prst="rect">
            <a:avLst/>
          </a:prstGeom>
          <a:noFill/>
        </p:spPr>
        <p:txBody>
          <a:bodyPr wrap="square">
            <a:spAutoFit/>
          </a:bodyPr>
          <a:lstStyle/>
          <a:p>
            <a:pPr>
              <a:defRPr sz="2200" b="1">
                <a:solidFill>
                  <a:srgbClr val="002855"/>
                </a:solidFill>
                <a:latin typeface="Arial"/>
              </a:defRPr>
            </a:pPr>
            <a:r>
              <a:t>Quy trình xử lý của Trợ lý AI &amp; Tích hợp Đa kênh</a:t>
            </a:r>
          </a:p>
        </p:txBody>
      </p:sp>
      <p:sp>
        <p:nvSpPr>
          <p:cNvPr id="86" name="Rectangle 85"/>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mage.png"/>
          <p:cNvPicPr>
            <a:picLocks noChangeAspect="1"/>
          </p:cNvPicPr>
          <p:nvPr/>
        </p:nvPicPr>
        <p:blipFill>
          <a:blip r:embed="rId4"/>
          <a:stretch>
            <a:fillRect/>
          </a:stretch>
        </p:blipFill>
        <p:spPr>
          <a:xfrm>
            <a:off x="27432000" y="292608"/>
            <a:ext cx="1691640" cy="658368"/>
          </a:xfrm>
          <a:prstGeom prst="rect">
            <a:avLst/>
          </a:prstGeom>
        </p:spPr>
      </p:pic>
      <p:sp>
        <p:nvSpPr>
          <p:cNvPr id="88" name="TextBox 87"/>
          <p:cNvSpPr txBox="1"/>
          <p:nvPr/>
        </p:nvSpPr>
        <p:spPr>
          <a:xfrm>
            <a:off x="27432000" y="1508760"/>
            <a:ext cx="2514600" cy="4846320"/>
          </a:xfrm>
          <a:prstGeom prst="rect">
            <a:avLst/>
          </a:prstGeom>
          <a:noFill/>
        </p:spPr>
        <p:txBody>
          <a:bodyPr wrap="square" lIns="0" rIns="0" tIns="0">
            <a:spAutoFit/>
          </a:bodyPr>
          <a:lstStyle/>
          <a:p>
            <a:pPr>
              <a:spcAft>
                <a:spcPts val="200"/>
              </a:spcAft>
              <a:defRPr sz="1100" b="1">
                <a:solidFill>
                  <a:srgbClr val="002855"/>
                </a:solidFill>
                <a:latin typeface="Arial"/>
              </a:defRPr>
            </a:pPr>
            <a:r>
              <a:t>GIAI ĐOẠN 01</a:t>
            </a:r>
          </a:p>
          <a:p>
            <a:pPr>
              <a:spcAft>
                <a:spcPts val="200"/>
              </a:spcAft>
              <a:defRPr sz="1400" b="1">
                <a:solidFill>
                  <a:srgbClr val="002855"/>
                </a:solidFill>
                <a:latin typeface="Arial"/>
              </a:defRPr>
            </a:pPr>
            <a:r>
              <a:t>Tiếp nhận dữ liệu thô</a:t>
            </a:r>
          </a:p>
          <a:p>
            <a:pPr>
              <a:spcAft>
                <a:spcPts val="1200"/>
              </a:spcAft>
              <a:defRPr sz="1050" b="1">
                <a:solidFill>
                  <a:srgbClr val="D97706"/>
                </a:solidFill>
                <a:latin typeface="Arial"/>
              </a:defRPr>
            </a:pPr>
            <a:r>
              <a:t>Văn bản kế hoạch &amp; Hình ảnh</a:t>
            </a:r>
          </a:p>
          <a:p>
            <a:pPr>
              <a:spcAft>
                <a:spcPts val="800"/>
              </a:spcAft>
              <a:defRPr sz="1000">
                <a:solidFill>
                  <a:srgbClr val="334155"/>
                </a:solidFill>
                <a:latin typeface="Arial"/>
              </a:defRPr>
            </a:pPr>
            <a:r>
              <a:t>• Hệ thống tiếp nhận trực tiếp tệp kế hoạch sự kiện (.docx, .xlsx, .pdf).</a:t>
            </a:r>
          </a:p>
          <a:p>
            <a:pPr>
              <a:spcAft>
                <a:spcPts val="800"/>
              </a:spcAft>
              <a:defRPr sz="1000">
                <a:solidFill>
                  <a:srgbClr val="334155"/>
                </a:solidFill>
                <a:latin typeface="Arial"/>
              </a:defRPr>
            </a:pPr>
            <a:r>
              <a:t>• Ứng dụng AI Vision nhận diện ký tự quang học (OCR) trên phông nền sự kiện.</a:t>
            </a:r>
          </a:p>
          <a:p>
            <a:pPr>
              <a:spcAft>
                <a:spcPts val="800"/>
              </a:spcAft>
              <a:defRPr sz="1000">
                <a:solidFill>
                  <a:srgbClr val="334155"/>
                </a:solidFill>
                <a:latin typeface="Arial"/>
              </a:defRPr>
            </a:pPr>
            <a:r>
              <a:t>• Loại bỏ hoàn toàn công đoạn sao chép và nhập liệu thủ công lặp lại.</a:t>
            </a:r>
          </a:p>
        </p:txBody>
      </p:sp>
      <p:sp>
        <p:nvSpPr>
          <p:cNvPr id="89" name="TextBox 88"/>
          <p:cNvSpPr txBox="1"/>
          <p:nvPr/>
        </p:nvSpPr>
        <p:spPr>
          <a:xfrm>
            <a:off x="27432000" y="1691640"/>
            <a:ext cx="182880" cy="365760"/>
          </a:xfrm>
          <a:prstGeom prst="rect">
            <a:avLst/>
          </a:prstGeom>
          <a:noFill/>
        </p:spPr>
        <p:txBody>
          <a:bodyPr wrap="none">
            <a:spAutoFit/>
          </a:bodyPr>
          <a:lstStyle/>
          <a:p>
            <a:pPr>
              <a:defRPr sz="1800" b="1">
                <a:solidFill>
                  <a:srgbClr val="0284C7"/>
                </a:solidFill>
                <a:latin typeface="Arial"/>
              </a:defRPr>
            </a:pPr>
            <a:r>
              <a:t>→</a:t>
            </a:r>
          </a:p>
        </p:txBody>
      </p:sp>
      <p:sp>
        <p:nvSpPr>
          <p:cNvPr id="90" name="TextBox 89"/>
          <p:cNvSpPr txBox="1"/>
          <p:nvPr/>
        </p:nvSpPr>
        <p:spPr>
          <a:xfrm>
            <a:off x="27432000" y="1508760"/>
            <a:ext cx="2514600" cy="4846320"/>
          </a:xfrm>
          <a:prstGeom prst="rect">
            <a:avLst/>
          </a:prstGeom>
          <a:noFill/>
        </p:spPr>
        <p:txBody>
          <a:bodyPr wrap="square" lIns="0" rIns="0" tIns="0">
            <a:spAutoFit/>
          </a:bodyPr>
          <a:lstStyle/>
          <a:p>
            <a:pPr>
              <a:spcAft>
                <a:spcPts val="200"/>
              </a:spcAft>
              <a:defRPr sz="1100" b="1">
                <a:solidFill>
                  <a:srgbClr val="0284C7"/>
                </a:solidFill>
                <a:latin typeface="Arial"/>
              </a:defRPr>
            </a:pPr>
            <a:r>
              <a:t>GIAI ĐOẠN 02</a:t>
            </a:r>
          </a:p>
          <a:p>
            <a:pPr>
              <a:spcAft>
                <a:spcPts val="200"/>
              </a:spcAft>
              <a:defRPr sz="1400" b="1">
                <a:solidFill>
                  <a:srgbClr val="002855"/>
                </a:solidFill>
                <a:latin typeface="Arial"/>
              </a:defRPr>
            </a:pPr>
            <a:r>
              <a:t>Xử lý ngữ cảnh</a:t>
            </a:r>
          </a:p>
          <a:p>
            <a:pPr>
              <a:spcAft>
                <a:spcPts val="1200"/>
              </a:spcAft>
              <a:defRPr sz="1050" b="1">
                <a:solidFill>
                  <a:srgbClr val="D97706"/>
                </a:solidFill>
                <a:latin typeface="Arial"/>
              </a:defRPr>
            </a:pPr>
            <a:r>
              <a:t>Context Injection &amp; Prompt</a:t>
            </a:r>
          </a:p>
          <a:p>
            <a:pPr>
              <a:spcAft>
                <a:spcPts val="800"/>
              </a:spcAft>
              <a:defRPr sz="1000">
                <a:solidFill>
                  <a:srgbClr val="334155"/>
                </a:solidFill>
                <a:latin typeface="Arial"/>
              </a:defRPr>
            </a:pPr>
            <a:r>
              <a:t>• Tự động trích xuất các thực thể: thời gian, địa điểm, thành phần, mục tiêu.</a:t>
            </a:r>
          </a:p>
          <a:p>
            <a:pPr>
              <a:spcAft>
                <a:spcPts val="800"/>
              </a:spcAft>
              <a:defRPr sz="1000">
                <a:solidFill>
                  <a:srgbClr val="334155"/>
                </a:solidFill>
                <a:latin typeface="Arial"/>
              </a:defRPr>
            </a:pPr>
            <a:r>
              <a:t>• Cấu trúc dữ liệu vào Prompt chuẩn phong cách báo chí truyền thông Công đoàn.</a:t>
            </a:r>
          </a:p>
          <a:p>
            <a:pPr>
              <a:spcAft>
                <a:spcPts val="800"/>
              </a:spcAft>
              <a:defRPr sz="1000">
                <a:solidFill>
                  <a:srgbClr val="334155"/>
                </a:solidFill>
                <a:latin typeface="Arial"/>
              </a:defRPr>
            </a:pPr>
            <a:r>
              <a:t>• Lọc nhiễu dữ liệu và tối ưu hóa số lượng Token truyền tải đến mô hình.</a:t>
            </a:r>
          </a:p>
        </p:txBody>
      </p:sp>
      <p:sp>
        <p:nvSpPr>
          <p:cNvPr id="91" name="TextBox 90"/>
          <p:cNvSpPr txBox="1"/>
          <p:nvPr/>
        </p:nvSpPr>
        <p:spPr>
          <a:xfrm>
            <a:off x="27432000" y="1691640"/>
            <a:ext cx="182880" cy="365760"/>
          </a:xfrm>
          <a:prstGeom prst="rect">
            <a:avLst/>
          </a:prstGeom>
          <a:noFill/>
        </p:spPr>
        <p:txBody>
          <a:bodyPr wrap="none">
            <a:spAutoFit/>
          </a:bodyPr>
          <a:lstStyle/>
          <a:p>
            <a:pPr>
              <a:defRPr sz="1800" b="1">
                <a:solidFill>
                  <a:srgbClr val="0284C7"/>
                </a:solidFill>
                <a:latin typeface="Arial"/>
              </a:defRPr>
            </a:pPr>
            <a:r>
              <a:t>→</a:t>
            </a:r>
          </a:p>
        </p:txBody>
      </p:sp>
      <p:sp>
        <p:nvSpPr>
          <p:cNvPr id="92" name="TextBox 91"/>
          <p:cNvSpPr txBox="1"/>
          <p:nvPr/>
        </p:nvSpPr>
        <p:spPr>
          <a:xfrm>
            <a:off x="27432000" y="1508760"/>
            <a:ext cx="2514600" cy="4846320"/>
          </a:xfrm>
          <a:prstGeom prst="rect">
            <a:avLst/>
          </a:prstGeom>
          <a:noFill/>
        </p:spPr>
        <p:txBody>
          <a:bodyPr wrap="square" lIns="0" rIns="0" tIns="0">
            <a:spAutoFit/>
          </a:bodyPr>
          <a:lstStyle/>
          <a:p>
            <a:pPr>
              <a:spcAft>
                <a:spcPts val="200"/>
              </a:spcAft>
              <a:defRPr sz="1100" b="1">
                <a:solidFill>
                  <a:srgbClr val="002855"/>
                </a:solidFill>
                <a:latin typeface="Arial"/>
              </a:defRPr>
            </a:pPr>
            <a:r>
              <a:t>GIAI ĐOẠN 03</a:t>
            </a:r>
          </a:p>
          <a:p>
            <a:pPr>
              <a:spcAft>
                <a:spcPts val="200"/>
              </a:spcAft>
              <a:defRPr sz="1400" b="1">
                <a:solidFill>
                  <a:srgbClr val="002855"/>
                </a:solidFill>
                <a:latin typeface="Arial"/>
              </a:defRPr>
            </a:pPr>
            <a:r>
              <a:t>Sinh bài tự động</a:t>
            </a:r>
          </a:p>
          <a:p>
            <a:pPr>
              <a:spcAft>
                <a:spcPts val="1200"/>
              </a:spcAft>
              <a:defRPr sz="1050" b="1">
                <a:solidFill>
                  <a:srgbClr val="D97706"/>
                </a:solidFill>
                <a:latin typeface="Arial"/>
              </a:defRPr>
            </a:pPr>
            <a:r>
              <a:t>Google Gemini AI Core</a:t>
            </a:r>
          </a:p>
          <a:p>
            <a:pPr>
              <a:spcAft>
                <a:spcPts val="800"/>
              </a:spcAft>
              <a:defRPr sz="1000">
                <a:solidFill>
                  <a:srgbClr val="334155"/>
                </a:solidFill>
                <a:latin typeface="Arial"/>
              </a:defRPr>
            </a:pPr>
            <a:r>
              <a:t>• Mô hình Gemini xử lý ngôn ngữ tự nhiên, tự động sinh bài viết với độ trễ thấp.</a:t>
            </a:r>
          </a:p>
          <a:p>
            <a:pPr>
              <a:spcAft>
                <a:spcPts val="800"/>
              </a:spcAft>
              <a:defRPr sz="1000">
                <a:solidFill>
                  <a:srgbClr val="334155"/>
                </a:solidFill>
                <a:latin typeface="Arial"/>
              </a:defRPr>
            </a:pPr>
            <a:r>
              <a:t>• Đề xuất tiêu đề đa phương án, đoạn mở đầu (Sapo) và thân bài phân đoạn rõ ràng.</a:t>
            </a:r>
          </a:p>
          <a:p>
            <a:pPr>
              <a:spcAft>
                <a:spcPts val="800"/>
              </a:spcAft>
              <a:defRPr sz="1000">
                <a:solidFill>
                  <a:srgbClr val="334155"/>
                </a:solidFill>
                <a:latin typeface="Arial"/>
              </a:defRPr>
            </a:pPr>
            <a:r>
              <a:t>• Cung cấp tính năng tương tác trực tiếp để tinh chỉnh văn phong theo vùng chọn.</a:t>
            </a:r>
          </a:p>
        </p:txBody>
      </p:sp>
      <p:sp>
        <p:nvSpPr>
          <p:cNvPr id="93" name="TextBox 92"/>
          <p:cNvSpPr txBox="1"/>
          <p:nvPr/>
        </p:nvSpPr>
        <p:spPr>
          <a:xfrm>
            <a:off x="27432000" y="1691640"/>
            <a:ext cx="182880" cy="365760"/>
          </a:xfrm>
          <a:prstGeom prst="rect">
            <a:avLst/>
          </a:prstGeom>
          <a:noFill/>
        </p:spPr>
        <p:txBody>
          <a:bodyPr wrap="none">
            <a:spAutoFit/>
          </a:bodyPr>
          <a:lstStyle/>
          <a:p>
            <a:pPr>
              <a:defRPr sz="1800" b="1">
                <a:solidFill>
                  <a:srgbClr val="0284C7"/>
                </a:solidFill>
                <a:latin typeface="Arial"/>
              </a:defRPr>
            </a:pPr>
            <a:r>
              <a:t>→</a:t>
            </a:r>
          </a:p>
        </p:txBody>
      </p:sp>
      <p:sp>
        <p:nvSpPr>
          <p:cNvPr id="94" name="TextBox 93"/>
          <p:cNvSpPr txBox="1"/>
          <p:nvPr/>
        </p:nvSpPr>
        <p:spPr>
          <a:xfrm>
            <a:off x="27432000" y="1508760"/>
            <a:ext cx="2514600" cy="4846320"/>
          </a:xfrm>
          <a:prstGeom prst="rect">
            <a:avLst/>
          </a:prstGeom>
          <a:noFill/>
        </p:spPr>
        <p:txBody>
          <a:bodyPr wrap="square" lIns="0" rIns="0" tIns="0">
            <a:spAutoFit/>
          </a:bodyPr>
          <a:lstStyle/>
          <a:p>
            <a:pPr>
              <a:spcAft>
                <a:spcPts val="200"/>
              </a:spcAft>
              <a:defRPr sz="1100" b="1">
                <a:solidFill>
                  <a:srgbClr val="0284C7"/>
                </a:solidFill>
                <a:latin typeface="Arial"/>
              </a:defRPr>
            </a:pPr>
            <a:r>
              <a:t>GIAI ĐOẠN 04</a:t>
            </a:r>
          </a:p>
          <a:p>
            <a:pPr>
              <a:spcAft>
                <a:spcPts val="200"/>
              </a:spcAft>
              <a:defRPr sz="1400" b="1">
                <a:solidFill>
                  <a:srgbClr val="002855"/>
                </a:solidFill>
                <a:latin typeface="Arial"/>
              </a:defRPr>
            </a:pPr>
            <a:r>
              <a:t>Đồng bộ đa kênh</a:t>
            </a:r>
          </a:p>
          <a:p>
            <a:pPr>
              <a:spcAft>
                <a:spcPts val="1200"/>
              </a:spcAft>
              <a:defRPr sz="1050" b="1">
                <a:solidFill>
                  <a:srgbClr val="D97706"/>
                </a:solidFill>
                <a:latin typeface="Arial"/>
              </a:defRPr>
            </a:pPr>
            <a:r>
              <a:t>Meta Facebook Graph API</a:t>
            </a:r>
          </a:p>
          <a:p>
            <a:pPr>
              <a:spcAft>
                <a:spcPts val="800"/>
              </a:spcAft>
              <a:defRPr sz="1000">
                <a:solidFill>
                  <a:srgbClr val="334155"/>
                </a:solidFill>
                <a:latin typeface="Arial"/>
              </a:defRPr>
            </a:pPr>
            <a:r>
              <a:t>• Tự động tóm tắt bài viết thành bản tin ngắn gọn kèm hashtag định danh chuyên đề.</a:t>
            </a:r>
          </a:p>
          <a:p>
            <a:pPr>
              <a:spcAft>
                <a:spcPts val="800"/>
              </a:spcAft>
              <a:defRPr sz="1000">
                <a:solidFill>
                  <a:srgbClr val="334155"/>
                </a:solidFill>
                <a:latin typeface="Arial"/>
              </a:defRPr>
            </a:pPr>
            <a:r>
              <a:t>• Kết nối Meta Graph API v19.0 đồng bộ xuất bản bài viết và hình ảnh lên Fanpage.</a:t>
            </a:r>
          </a:p>
          <a:p>
            <a:pPr>
              <a:spcAft>
                <a:spcPts val="800"/>
              </a:spcAft>
              <a:defRPr sz="1000">
                <a:solidFill>
                  <a:srgbClr val="334155"/>
                </a:solidFill>
                <a:latin typeface="Arial"/>
              </a:defRPr>
            </a:pPr>
            <a:r>
              <a:t>• Hỗ trợ chế độ xem trước trực quan (Live Preview) và lập lịch xuất bản tự động.</a:t>
            </a:r>
          </a:p>
        </p:txBody>
      </p:sp>
      <p:sp>
        <p:nvSpPr>
          <p:cNvPr id="95" name="TextBox 94"/>
          <p:cNvSpPr txBox="1"/>
          <p:nvPr/>
        </p:nvSpPr>
        <p:spPr>
          <a:xfrm>
            <a:off x="59436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96" name="TextBox 95"/>
          <p:cNvSpPr txBox="1"/>
          <p:nvPr/>
        </p:nvSpPr>
        <p:spPr>
          <a:xfrm>
            <a:off x="594360" y="594360"/>
            <a:ext cx="8961120" cy="502920"/>
          </a:xfrm>
          <a:prstGeom prst="rect">
            <a:avLst/>
          </a:prstGeom>
          <a:noFill/>
        </p:spPr>
        <p:txBody>
          <a:bodyPr wrap="square">
            <a:spAutoFit/>
          </a:bodyPr>
          <a:lstStyle/>
          <a:p>
            <a:pPr>
              <a:defRPr sz="2200" b="1">
                <a:solidFill>
                  <a:srgbClr val="002855"/>
                </a:solidFill>
                <a:latin typeface="Arial"/>
              </a:defRPr>
            </a:pPr>
            <a:r>
              <a:t>Quy trình xử lý của Trợ lý AI &amp; Tích hợp Đa kênh</a:t>
            </a:r>
          </a:p>
        </p:txBody>
      </p:sp>
      <p:sp>
        <p:nvSpPr>
          <p:cNvPr id="97" name="Rectangle 96"/>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image.png"/>
          <p:cNvPicPr>
            <a:picLocks noChangeAspect="1"/>
          </p:cNvPicPr>
          <p:nvPr/>
        </p:nvPicPr>
        <p:blipFill>
          <a:blip r:embed="rId4"/>
          <a:stretch>
            <a:fillRect/>
          </a:stretch>
        </p:blipFill>
        <p:spPr>
          <a:xfrm>
            <a:off x="9875520" y="292608"/>
            <a:ext cx="1691640" cy="658368"/>
          </a:xfrm>
          <a:prstGeom prst="rect">
            <a:avLst/>
          </a:prstGeom>
        </p:spPr>
      </p:pic>
      <p:sp>
        <p:nvSpPr>
          <p:cNvPr id="99" name="TextBox 98"/>
          <p:cNvSpPr txBox="1"/>
          <p:nvPr/>
        </p:nvSpPr>
        <p:spPr>
          <a:xfrm>
            <a:off x="594360" y="1508760"/>
            <a:ext cx="2514600" cy="4846320"/>
          </a:xfrm>
          <a:prstGeom prst="rect">
            <a:avLst/>
          </a:prstGeom>
          <a:noFill/>
        </p:spPr>
        <p:txBody>
          <a:bodyPr wrap="square" lIns="0" rIns="0" tIns="0">
            <a:spAutoFit/>
          </a:bodyPr>
          <a:lstStyle/>
          <a:p>
            <a:pPr>
              <a:spcAft>
                <a:spcPts val="400"/>
              </a:spcAft>
              <a:defRPr sz="1100" b="1">
                <a:solidFill>
                  <a:srgbClr val="0284C7"/>
                </a:solidFill>
                <a:latin typeface="Arial"/>
              </a:defRPr>
            </a:pPr>
            <a:r>
              <a:t>GIAI ĐOẠN 01 ──►</a:t>
            </a:r>
          </a:p>
          <a:p>
            <a:pPr>
              <a:spcAft>
                <a:spcPts val="200"/>
              </a:spcAft>
              <a:defRPr sz="1400" b="1">
                <a:solidFill>
                  <a:srgbClr val="002855"/>
                </a:solidFill>
                <a:latin typeface="Arial"/>
              </a:defRPr>
            </a:pPr>
            <a:r>
              <a:t>Tiếp nhận dữ liệu thô</a:t>
            </a:r>
          </a:p>
          <a:p>
            <a:pPr>
              <a:spcAft>
                <a:spcPts val="1200"/>
              </a:spcAft>
              <a:defRPr sz="1050" b="1">
                <a:solidFill>
                  <a:srgbClr val="D97706"/>
                </a:solidFill>
                <a:latin typeface="Arial"/>
              </a:defRPr>
            </a:pPr>
            <a:r>
              <a:t>Văn bản kế hoạch &amp; Hình ảnh</a:t>
            </a:r>
          </a:p>
          <a:p>
            <a:pPr>
              <a:spcAft>
                <a:spcPts val="800"/>
              </a:spcAft>
              <a:defRPr sz="1000">
                <a:solidFill>
                  <a:srgbClr val="334155"/>
                </a:solidFill>
                <a:latin typeface="Arial"/>
              </a:defRPr>
            </a:pPr>
            <a:r>
              <a:t>• Hệ thống tiếp nhận trực tiếp tệp kế hoạch sự kiện (.docx, .xlsx, .pdf).</a:t>
            </a:r>
          </a:p>
          <a:p>
            <a:pPr>
              <a:spcAft>
                <a:spcPts val="800"/>
              </a:spcAft>
              <a:defRPr sz="1000">
                <a:solidFill>
                  <a:srgbClr val="334155"/>
                </a:solidFill>
                <a:latin typeface="Arial"/>
              </a:defRPr>
            </a:pPr>
            <a:r>
              <a:t>• Ứng dụng AI Vision nhận diện ký tự quang học (OCR) trên phông nền sự kiện.</a:t>
            </a:r>
          </a:p>
          <a:p>
            <a:pPr>
              <a:spcAft>
                <a:spcPts val="800"/>
              </a:spcAft>
              <a:defRPr sz="1000">
                <a:solidFill>
                  <a:srgbClr val="334155"/>
                </a:solidFill>
                <a:latin typeface="Arial"/>
              </a:defRPr>
            </a:pPr>
            <a:r>
              <a:t>• Loại bỏ hoàn toàn công đoạn sao chép và nhập liệu thủ công lặp lại.</a:t>
            </a:r>
          </a:p>
        </p:txBody>
      </p:sp>
      <p:sp>
        <p:nvSpPr>
          <p:cNvPr id="100" name="Rectangle 99"/>
          <p:cNvSpPr/>
          <p:nvPr/>
        </p:nvSpPr>
        <p:spPr>
          <a:xfrm>
            <a:off x="32644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419856" y="1508760"/>
            <a:ext cx="2514600" cy="4846320"/>
          </a:xfrm>
          <a:prstGeom prst="rect">
            <a:avLst/>
          </a:prstGeom>
          <a:noFill/>
        </p:spPr>
        <p:txBody>
          <a:bodyPr wrap="square" lIns="0" rIns="0" tIns="0">
            <a:spAutoFit/>
          </a:bodyPr>
          <a:lstStyle/>
          <a:p>
            <a:pPr>
              <a:spcAft>
                <a:spcPts val="400"/>
              </a:spcAft>
              <a:defRPr sz="1100" b="1">
                <a:solidFill>
                  <a:srgbClr val="0284C7"/>
                </a:solidFill>
                <a:latin typeface="Arial"/>
              </a:defRPr>
            </a:pPr>
            <a:r>
              <a:t>GIAI ĐOẠN 02 ──►</a:t>
            </a:r>
          </a:p>
          <a:p>
            <a:pPr>
              <a:spcAft>
                <a:spcPts val="200"/>
              </a:spcAft>
              <a:defRPr sz="1400" b="1">
                <a:solidFill>
                  <a:srgbClr val="002855"/>
                </a:solidFill>
                <a:latin typeface="Arial"/>
              </a:defRPr>
            </a:pPr>
            <a:r>
              <a:t>Xử lý ngữ cảnh</a:t>
            </a:r>
          </a:p>
          <a:p>
            <a:pPr>
              <a:spcAft>
                <a:spcPts val="1200"/>
              </a:spcAft>
              <a:defRPr sz="1050" b="1">
                <a:solidFill>
                  <a:srgbClr val="D97706"/>
                </a:solidFill>
                <a:latin typeface="Arial"/>
              </a:defRPr>
            </a:pPr>
            <a:r>
              <a:t>Context Injection &amp; Prompt</a:t>
            </a:r>
          </a:p>
          <a:p>
            <a:pPr>
              <a:spcAft>
                <a:spcPts val="800"/>
              </a:spcAft>
              <a:defRPr sz="1000">
                <a:solidFill>
                  <a:srgbClr val="334155"/>
                </a:solidFill>
                <a:latin typeface="Arial"/>
              </a:defRPr>
            </a:pPr>
            <a:r>
              <a:t>• Tự động trích xuất các thực thể: thời gian, địa điểm, thành phần, mục tiêu.</a:t>
            </a:r>
          </a:p>
          <a:p>
            <a:pPr>
              <a:spcAft>
                <a:spcPts val="800"/>
              </a:spcAft>
              <a:defRPr sz="1000">
                <a:solidFill>
                  <a:srgbClr val="334155"/>
                </a:solidFill>
                <a:latin typeface="Arial"/>
              </a:defRPr>
            </a:pPr>
            <a:r>
              <a:t>• Cấu trúc dữ liệu vào Prompt chuẩn phong cách báo chí truyền thông Công đoàn.</a:t>
            </a:r>
          </a:p>
          <a:p>
            <a:pPr>
              <a:spcAft>
                <a:spcPts val="800"/>
              </a:spcAft>
              <a:defRPr sz="1000">
                <a:solidFill>
                  <a:srgbClr val="334155"/>
                </a:solidFill>
                <a:latin typeface="Arial"/>
              </a:defRPr>
            </a:pPr>
            <a:r>
              <a:t>• Lọc nhiễu dữ liệu và tối ưu hóa số lượng Token truyền tải đến mô hình.</a:t>
            </a:r>
          </a:p>
        </p:txBody>
      </p:sp>
      <p:sp>
        <p:nvSpPr>
          <p:cNvPr id="102" name="Rectangle 101"/>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5352" y="1508760"/>
            <a:ext cx="2514600" cy="4846320"/>
          </a:xfrm>
          <a:prstGeom prst="rect">
            <a:avLst/>
          </a:prstGeom>
          <a:noFill/>
        </p:spPr>
        <p:txBody>
          <a:bodyPr wrap="square" lIns="0" rIns="0" tIns="0">
            <a:spAutoFit/>
          </a:bodyPr>
          <a:lstStyle/>
          <a:p>
            <a:pPr>
              <a:spcAft>
                <a:spcPts val="400"/>
              </a:spcAft>
              <a:defRPr sz="1100" b="1">
                <a:solidFill>
                  <a:srgbClr val="0284C7"/>
                </a:solidFill>
                <a:latin typeface="Arial"/>
              </a:defRPr>
            </a:pPr>
            <a:r>
              <a:t>GIAI ĐOẠN 03 ──►</a:t>
            </a:r>
          </a:p>
          <a:p>
            <a:pPr>
              <a:spcAft>
                <a:spcPts val="200"/>
              </a:spcAft>
              <a:defRPr sz="1400" b="1">
                <a:solidFill>
                  <a:srgbClr val="002855"/>
                </a:solidFill>
                <a:latin typeface="Arial"/>
              </a:defRPr>
            </a:pPr>
            <a:r>
              <a:t>Sinh bài tự động</a:t>
            </a:r>
          </a:p>
          <a:p>
            <a:pPr>
              <a:spcAft>
                <a:spcPts val="1200"/>
              </a:spcAft>
              <a:defRPr sz="1050" b="1">
                <a:solidFill>
                  <a:srgbClr val="D97706"/>
                </a:solidFill>
                <a:latin typeface="Arial"/>
              </a:defRPr>
            </a:pPr>
            <a:r>
              <a:t>Google Gemini AI Core</a:t>
            </a:r>
          </a:p>
          <a:p>
            <a:pPr>
              <a:spcAft>
                <a:spcPts val="800"/>
              </a:spcAft>
              <a:defRPr sz="1000">
                <a:solidFill>
                  <a:srgbClr val="334155"/>
                </a:solidFill>
                <a:latin typeface="Arial"/>
              </a:defRPr>
            </a:pPr>
            <a:r>
              <a:t>• Mô hình Gemini xử lý ngôn ngữ tự nhiên, tự động sinh bài viết với độ trễ thấp.</a:t>
            </a:r>
          </a:p>
          <a:p>
            <a:pPr>
              <a:spcAft>
                <a:spcPts val="800"/>
              </a:spcAft>
              <a:defRPr sz="1000">
                <a:solidFill>
                  <a:srgbClr val="334155"/>
                </a:solidFill>
                <a:latin typeface="Arial"/>
              </a:defRPr>
            </a:pPr>
            <a:r>
              <a:t>• Đề xuất tiêu đề đa phương án, đoạn mở đầu (Sapo) và thân bài phân đoạn rõ ràng.</a:t>
            </a:r>
          </a:p>
          <a:p>
            <a:pPr>
              <a:spcAft>
                <a:spcPts val="800"/>
              </a:spcAft>
              <a:defRPr sz="1000">
                <a:solidFill>
                  <a:srgbClr val="334155"/>
                </a:solidFill>
                <a:latin typeface="Arial"/>
              </a:defRPr>
            </a:pPr>
            <a:r>
              <a:t>• Cung cấp tính năng tương tác trực tiếp để tinh chỉnh văn phong theo vùng chọn.</a:t>
            </a:r>
          </a:p>
        </p:txBody>
      </p:sp>
      <p:sp>
        <p:nvSpPr>
          <p:cNvPr id="104" name="Rectangle 103"/>
          <p:cNvSpPr/>
          <p:nvPr/>
        </p:nvSpPr>
        <p:spPr>
          <a:xfrm>
            <a:off x="89154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070848" y="1508760"/>
            <a:ext cx="2514600" cy="4846320"/>
          </a:xfrm>
          <a:prstGeom prst="rect">
            <a:avLst/>
          </a:prstGeom>
          <a:noFill/>
        </p:spPr>
        <p:txBody>
          <a:bodyPr wrap="square" lIns="0" rIns="0" tIns="0">
            <a:spAutoFit/>
          </a:bodyPr>
          <a:lstStyle/>
          <a:p>
            <a:pPr>
              <a:spcAft>
                <a:spcPts val="400"/>
              </a:spcAft>
              <a:defRPr sz="1100" b="1">
                <a:solidFill>
                  <a:srgbClr val="002855"/>
                </a:solidFill>
                <a:latin typeface="Arial"/>
              </a:defRPr>
            </a:pPr>
            <a:r>
              <a:t>GIAI ĐOẠN 04</a:t>
            </a:r>
          </a:p>
          <a:p>
            <a:pPr>
              <a:spcAft>
                <a:spcPts val="200"/>
              </a:spcAft>
              <a:defRPr sz="1400" b="1">
                <a:solidFill>
                  <a:srgbClr val="002855"/>
                </a:solidFill>
                <a:latin typeface="Arial"/>
              </a:defRPr>
            </a:pPr>
            <a:r>
              <a:t>Đồng bộ đa kênh</a:t>
            </a:r>
          </a:p>
          <a:p>
            <a:pPr>
              <a:spcAft>
                <a:spcPts val="1200"/>
              </a:spcAft>
              <a:defRPr sz="1050" b="1">
                <a:solidFill>
                  <a:srgbClr val="D97706"/>
                </a:solidFill>
                <a:latin typeface="Arial"/>
              </a:defRPr>
            </a:pPr>
            <a:r>
              <a:t>Meta Facebook Graph API</a:t>
            </a:r>
          </a:p>
          <a:p>
            <a:pPr>
              <a:spcAft>
                <a:spcPts val="800"/>
              </a:spcAft>
              <a:defRPr sz="1000">
                <a:solidFill>
                  <a:srgbClr val="334155"/>
                </a:solidFill>
                <a:latin typeface="Arial"/>
              </a:defRPr>
            </a:pPr>
            <a:r>
              <a:t>• Tự động tóm tắt bài viết thành bản tin ngắn gọn kèm hashtag định danh chuyên đề.</a:t>
            </a:r>
          </a:p>
          <a:p>
            <a:pPr>
              <a:spcAft>
                <a:spcPts val="800"/>
              </a:spcAft>
              <a:defRPr sz="1000">
                <a:solidFill>
                  <a:srgbClr val="334155"/>
                </a:solidFill>
                <a:latin typeface="Arial"/>
              </a:defRPr>
            </a:pPr>
            <a:r>
              <a:t>• Kết nối Meta Graph API v19.0 đồng bộ xuất bản bài viết và hình ảnh lên Fanpage.</a:t>
            </a:r>
          </a:p>
          <a:p>
            <a:pPr>
              <a:spcAft>
                <a:spcPts val="800"/>
              </a:spcAft>
              <a:defRPr sz="1000">
                <a:solidFill>
                  <a:srgbClr val="334155"/>
                </a:solidFill>
                <a:latin typeface="Arial"/>
              </a:defRPr>
            </a:pPr>
            <a:r>
              <a:t>• Hỗ trợ chế độ xem trước trực quan (Live Preview) và lập lịch xuất bản tự động.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7432000" y="304800"/>
            <a:ext cx="11124922" cy="203200"/>
          </a:xfrm>
          <a:prstGeom prst="roundRect">
            <a:avLst>
              <a:gd name="adj" fmla="val 16875"/>
            </a:avLst>
          </a:prstGeom>
          <a:solidFill>
            <a:srgbClr val="0B1F3A"/>
          </a:solidFill>
          <a:ln/>
        </p:spPr>
        <p:txBody>
          <a:bodyPr/>
          <a:lstStyle/>
          <a:p>
            <a:endParaRPr lang="vi-VN" noProof="1"/>
          </a:p>
        </p:txBody>
      </p:sp>
      <p:sp>
        <p:nvSpPr>
          <p:cNvPr id="3" name="Text 1"/>
          <p:cNvSpPr/>
          <p:nvPr/>
        </p:nvSpPr>
        <p:spPr>
          <a:xfrm>
            <a:off x="27432000" y="304800"/>
            <a:ext cx="11601160" cy="190500"/>
          </a:xfrm>
          <a:prstGeom prst="rect">
            <a:avLst/>
          </a:prstGeom>
          <a:noFill/>
          <a:ln/>
        </p:spPr>
        <p:txBody>
          <a:bodyPr wrap="none" lIns="0" tIns="0" rIns="0" bIns="0" rtlCol="0" anchor="t"/>
          <a:lstStyle/>
          <a:p>
            <a:pPr marL="0" indent="0" algn="l">
              <a:lnSpc>
                <a:spcPct val="125000"/>
              </a:lnSpc>
              <a:buNone/>
              <a:defRPr>
                <a:solidFill>
                  <a:srgbClr val="BE7814"/>
                </a:solidFill>
              </a:defRPr>
            </a:pPr>
            <a:r>
              <a:rPr lang="en-US" sz="1000" b="1" noProof="1">
                <a:solidFill>
                  <a:srgbClr val="BE7814"/>
                </a:solidFill>
                <a:latin typeface="Arimo Bold" pitchFamily="34" charset="0"/>
                <a:ea typeface="Arimo Bold" pitchFamily="34" charset="-122"/>
                <a:cs typeface="Arimo Bold" pitchFamily="34" charset="0"/>
              </a:rPr>
              <a:t>3</a:t>
            </a:r>
            <a:r>
              <a:rPr lang="vi-VN" sz="1000" b="1" noProof="1">
                <a:solidFill>
                  <a:srgbClr val="BE7814"/>
                </a:solidFill>
                <a:latin typeface="Arimo Bold" pitchFamily="34" charset="0"/>
                <a:ea typeface="Arimo Bold" pitchFamily="34" charset="-122"/>
                <a:cs typeface="Arimo Bold" pitchFamily="34" charset="0"/>
              </a:rPr>
              <a:t>. PHÂN TÍCH &amp; THIẾT KẾ HỆ THỐNG</a:t>
            </a:r>
            <a:endParaRPr lang="vi-VN" sz="1000" noProof="1"/>
          </a:p>
        </p:txBody>
      </p:sp>
      <p:sp>
        <p:nvSpPr>
          <p:cNvPr id="4" name="Shape 2"/>
          <p:cNvSpPr/>
          <p:nvPr/>
        </p:nvSpPr>
        <p:spPr>
          <a:xfrm>
            <a:off x="27432000" y="533400"/>
            <a:ext cx="11124922" cy="431800"/>
          </a:xfrm>
          <a:prstGeom prst="roundRect">
            <a:avLst>
              <a:gd name="adj" fmla="val 7941"/>
            </a:avLst>
          </a:prstGeom>
          <a:solidFill>
            <a:srgbClr val="002855"/>
          </a:solidFill>
          <a:ln/>
        </p:spPr>
        <p:txBody>
          <a:bodyPr/>
          <a:lstStyle/>
          <a:p>
            <a:endParaRPr lang="vi-VN" noProof="1"/>
          </a:p>
        </p:txBody>
      </p:sp>
      <p:sp>
        <p:nvSpPr>
          <p:cNvPr id="5" name="Text 3"/>
          <p:cNvSpPr/>
          <p:nvPr/>
        </p:nvSpPr>
        <p:spPr>
          <a:xfrm>
            <a:off x="27432000" y="533400"/>
            <a:ext cx="11601160" cy="419100"/>
          </a:xfrm>
          <a:prstGeom prst="rect">
            <a:avLst/>
          </a:prstGeom>
          <a:noFill/>
          <a:ln/>
        </p:spPr>
        <p:txBody>
          <a:bodyPr wrap="none" lIns="0" tIns="0" rIns="0" bIns="0" rtlCol="0" anchor="t"/>
          <a:lstStyle/>
          <a:p>
            <a:pPr marL="0" indent="0" algn="l">
              <a:lnSpc>
                <a:spcPct val="125000"/>
              </a:lnSpc>
              <a:buNone/>
              <a:defRPr>
                <a:solidFill>
                  <a:srgbClr val="002855"/>
                </a:solidFill>
              </a:defRPr>
            </a:pPr>
            <a:r>
              <a:rPr sz="2200" b="1">
                <a:solidFill>
                  <a:srgbClr val="002855"/>
                </a:solidFill>
                <a:latin typeface="Arial"/>
              </a:rPr>
              <a:t>Biểu đồ Use Case tổng quát &amp; phân quyền 4 vai trò người dùng</a:t>
            </a:r>
            <a:endParaRPr lang="vi-VN" sz="2200" noProof="1"/>
          </a:p>
        </p:txBody>
      </p:sp>
      <p:pic>
        <p:nvPicPr>
          <p:cNvPr id="6" name="Image 0" descr="preencoded.png"/>
          <p:cNvPicPr>
            <a:picLocks noChangeAspect="1"/>
          </p:cNvPicPr>
          <p:nvPr/>
        </p:nvPicPr>
        <p:blipFill>
          <a:blip r:embed="rId3"/>
          <a:stretch>
            <a:fillRect/>
          </a:stretch>
        </p:blipFill>
        <p:spPr>
          <a:xfrm>
            <a:off x="27432000" y="1041400"/>
            <a:ext cx="1047724" cy="38100"/>
          </a:xfrm>
          <a:prstGeom prst="rect">
            <a:avLst/>
          </a:prstGeom>
        </p:spPr>
      </p:pic>
      <p:sp>
        <p:nvSpPr>
          <p:cNvPr id="7" name="Shape 4"/>
          <p:cNvSpPr/>
          <p:nvPr/>
        </p:nvSpPr>
        <p:spPr>
          <a:xfrm>
            <a:off x="27432000" y="1905000"/>
            <a:ext cx="1904952" cy="558800"/>
          </a:xfrm>
          <a:prstGeom prst="roundRect">
            <a:avLst>
              <a:gd name="adj" fmla="val 6136"/>
            </a:avLst>
          </a:prstGeom>
          <a:solidFill>
            <a:srgbClr val="002855"/>
          </a:solidFill>
          <a:ln/>
        </p:spPr>
        <p:txBody>
          <a:bodyPr/>
          <a:lstStyle/>
          <a:p>
            <a:endParaRPr lang="vi-VN" noProof="1"/>
          </a:p>
        </p:txBody>
      </p:sp>
      <p:sp>
        <p:nvSpPr>
          <p:cNvPr id="8" name="Text 5"/>
          <p:cNvSpPr/>
          <p:nvPr/>
        </p:nvSpPr>
        <p:spPr>
          <a:xfrm>
            <a:off x="27432000" y="1905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Quản trị viên (Admin)</a:t>
            </a:r>
            <a:endParaRPr lang="vi-VN" sz="1050" noProof="1"/>
          </a:p>
        </p:txBody>
      </p:sp>
      <p:sp>
        <p:nvSpPr>
          <p:cNvPr id="9" name="Shape 6"/>
          <p:cNvSpPr/>
          <p:nvPr/>
        </p:nvSpPr>
        <p:spPr>
          <a:xfrm>
            <a:off x="27432000" y="2921000"/>
            <a:ext cx="1904952" cy="558800"/>
          </a:xfrm>
          <a:prstGeom prst="roundRect">
            <a:avLst>
              <a:gd name="adj" fmla="val 6136"/>
            </a:avLst>
          </a:prstGeom>
          <a:solidFill>
            <a:srgbClr val="002855"/>
          </a:solidFill>
          <a:ln/>
        </p:spPr>
        <p:txBody>
          <a:bodyPr/>
          <a:lstStyle/>
          <a:p>
            <a:endParaRPr lang="vi-VN" noProof="1"/>
          </a:p>
        </p:txBody>
      </p:sp>
      <p:sp>
        <p:nvSpPr>
          <p:cNvPr id="10" name="Text 7"/>
          <p:cNvSpPr/>
          <p:nvPr/>
        </p:nvSpPr>
        <p:spPr>
          <a:xfrm>
            <a:off x="27432000" y="2921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Biên tập viên (Editor)</a:t>
            </a:r>
            <a:endParaRPr lang="vi-VN" sz="1050" noProof="1"/>
          </a:p>
        </p:txBody>
      </p:sp>
      <p:sp>
        <p:nvSpPr>
          <p:cNvPr id="11" name="Shape 8"/>
          <p:cNvSpPr/>
          <p:nvPr/>
        </p:nvSpPr>
        <p:spPr>
          <a:xfrm>
            <a:off x="27432000" y="3937000"/>
            <a:ext cx="1904952" cy="558800"/>
          </a:xfrm>
          <a:prstGeom prst="roundRect">
            <a:avLst>
              <a:gd name="adj" fmla="val 6136"/>
            </a:avLst>
          </a:prstGeom>
          <a:solidFill>
            <a:srgbClr val="002855"/>
          </a:solidFill>
          <a:ln/>
        </p:spPr>
        <p:txBody>
          <a:bodyPr/>
          <a:lstStyle/>
          <a:p>
            <a:endParaRPr lang="vi-VN" noProof="1"/>
          </a:p>
        </p:txBody>
      </p:sp>
      <p:sp>
        <p:nvSpPr>
          <p:cNvPr id="12" name="Text 9"/>
          <p:cNvSpPr/>
          <p:nvPr/>
        </p:nvSpPr>
        <p:spPr>
          <a:xfrm>
            <a:off x="27432000" y="3937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Cộng tác viên (Contributor)</a:t>
            </a:r>
            <a:endParaRPr lang="vi-VN" sz="1050" noProof="1"/>
          </a:p>
        </p:txBody>
      </p:sp>
      <p:sp>
        <p:nvSpPr>
          <p:cNvPr id="13" name="Shape 10"/>
          <p:cNvSpPr/>
          <p:nvPr/>
        </p:nvSpPr>
        <p:spPr>
          <a:xfrm>
            <a:off x="27432000" y="4953000"/>
            <a:ext cx="1904952" cy="558800"/>
          </a:xfrm>
          <a:prstGeom prst="roundRect">
            <a:avLst>
              <a:gd name="adj" fmla="val 6136"/>
            </a:avLst>
          </a:prstGeom>
          <a:solidFill>
            <a:srgbClr val="002855"/>
          </a:solidFill>
          <a:ln/>
        </p:spPr>
        <p:txBody>
          <a:bodyPr/>
          <a:lstStyle/>
          <a:p>
            <a:endParaRPr lang="vi-VN" noProof="1"/>
          </a:p>
        </p:txBody>
      </p:sp>
      <p:sp>
        <p:nvSpPr>
          <p:cNvPr id="14" name="Text 11"/>
          <p:cNvSpPr/>
          <p:nvPr/>
        </p:nvSpPr>
        <p:spPr>
          <a:xfrm>
            <a:off x="27432000" y="4953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Đoàn viên / Độc giả</a:t>
            </a:r>
            <a:endParaRPr lang="vi-VN" sz="1050" noProof="1"/>
          </a:p>
        </p:txBody>
      </p:sp>
      <p:sp>
        <p:nvSpPr>
          <p:cNvPr id="15" name="Shape 12"/>
          <p:cNvSpPr/>
          <p:nvPr/>
        </p:nvSpPr>
        <p:spPr>
          <a:xfrm>
            <a:off x="27432000" y="2178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6" name="Shape 13"/>
          <p:cNvSpPr/>
          <p:nvPr/>
        </p:nvSpPr>
        <p:spPr>
          <a:xfrm>
            <a:off x="27432000" y="3194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7" name="Shape 14"/>
          <p:cNvSpPr/>
          <p:nvPr/>
        </p:nvSpPr>
        <p:spPr>
          <a:xfrm>
            <a:off x="27432000" y="4210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8" name="Shape 15"/>
          <p:cNvSpPr/>
          <p:nvPr/>
        </p:nvSpPr>
        <p:spPr>
          <a:xfrm>
            <a:off x="27432000" y="5226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9" name="Shape 16"/>
          <p:cNvSpPr/>
          <p:nvPr/>
        </p:nvSpPr>
        <p:spPr>
          <a:xfrm>
            <a:off x="27432000" y="1397000"/>
            <a:ext cx="5968851" cy="4318000"/>
          </a:xfrm>
          <a:prstGeom prst="roundRect">
            <a:avLst>
              <a:gd name="adj" fmla="val 2823"/>
            </a:avLst>
          </a:prstGeom>
          <a:solidFill>
            <a:srgbClr val="FFFFFF"/>
          </a:solidFill>
          <a:ln w="12700">
            <a:solidFill>
              <a:srgbClr val="CBD5E1"/>
            </a:solidFill>
            <a:prstDash val="solid"/>
          </a:ln>
        </p:spPr>
        <p:txBody>
          <a:bodyPr/>
          <a:lstStyle/>
          <a:p>
            <a:endParaRPr lang="vi-VN" noProof="1"/>
          </a:p>
        </p:txBody>
      </p:sp>
      <p:sp>
        <p:nvSpPr>
          <p:cNvPr id="20" name="Shape 17"/>
          <p:cNvSpPr/>
          <p:nvPr/>
        </p:nvSpPr>
        <p:spPr>
          <a:xfrm>
            <a:off x="27432000" y="1524000"/>
            <a:ext cx="5587860" cy="177800"/>
          </a:xfrm>
          <a:prstGeom prst="roundRect">
            <a:avLst>
              <a:gd name="adj" fmla="val 19285"/>
            </a:avLst>
          </a:prstGeom>
          <a:solidFill>
            <a:srgbClr val="E0F2FE"/>
          </a:solidFill>
          <a:ln>
            <a:solidFill>
              <a:srgbClr val="BAE6FD"/>
            </a:solidFill>
          </a:ln>
        </p:spPr>
        <p:txBody>
          <a:bodyPr/>
          <a:lstStyle/>
          <a:p>
            <a:endParaRPr lang="vi-VN" noProof="1"/>
          </a:p>
        </p:txBody>
      </p:sp>
      <p:sp>
        <p:nvSpPr>
          <p:cNvPr id="21" name="Text 18"/>
          <p:cNvSpPr/>
          <p:nvPr/>
        </p:nvSpPr>
        <p:spPr>
          <a:xfrm>
            <a:off x="27432000" y="1524000"/>
            <a:ext cx="6083148" cy="171450"/>
          </a:xfrm>
          <a:prstGeom prst="rect">
            <a:avLst/>
          </a:prstGeom>
          <a:noFill/>
          <a:ln/>
        </p:spPr>
        <p:txBody>
          <a:bodyPr wrap="none" lIns="0" tIns="0" rIns="0" bIns="0" rtlCol="0" anchor="t"/>
          <a:lstStyle/>
          <a:p>
            <a:pPr marL="0" indent="0" algn="ctr">
              <a:lnSpc>
                <a:spcPct val="125000"/>
              </a:lnSpc>
              <a:buNone/>
              <a:defRPr b="1">
                <a:solidFill>
                  <a:srgbClr val="BE7814"/>
                </a:solidFill>
              </a:defRPr>
            </a:pPr>
            <a:r>
              <a:rPr sz="1100" b="1">
                <a:solidFill>
                  <a:srgbClr val="0369A1"/>
                </a:solidFill>
                <a:latin typeface="Arial"/>
              </a:rPr>
              <a:t>HỆ THỐNG CỔNG THÔNG TIN VÀ QUẢN TRỊ CÔNG ĐOÀN TDMU</a:t>
            </a:r>
            <a:endParaRPr lang="vi-VN" sz="900" noProof="1"/>
          </a:p>
        </p:txBody>
      </p:sp>
      <p:sp>
        <p:nvSpPr>
          <p:cNvPr id="22" name="Shape 19"/>
          <p:cNvSpPr/>
          <p:nvPr/>
        </p:nvSpPr>
        <p:spPr>
          <a:xfrm>
            <a:off x="27432000" y="19050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3" name="Text 20"/>
          <p:cNvSpPr/>
          <p:nvPr/>
        </p:nvSpPr>
        <p:spPr>
          <a:xfrm>
            <a:off x="27432000" y="20589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1. Quản lý nội dung &amp; bài viết</a:t>
            </a:r>
            <a:endParaRPr lang="vi-VN" sz="1050" noProof="1"/>
          </a:p>
        </p:txBody>
      </p:sp>
      <p:sp>
        <p:nvSpPr>
          <p:cNvPr id="24" name="Shape 21"/>
          <p:cNvSpPr/>
          <p:nvPr/>
        </p:nvSpPr>
        <p:spPr>
          <a:xfrm>
            <a:off x="27432000" y="27178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5" name="Text 22"/>
          <p:cNvSpPr/>
          <p:nvPr/>
        </p:nvSpPr>
        <p:spPr>
          <a:xfrm>
            <a:off x="27432000" y="28717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2. Trợ lý AI sáng tạo nội dung</a:t>
            </a:r>
            <a:endParaRPr lang="vi-VN" sz="1050" noProof="1"/>
          </a:p>
        </p:txBody>
      </p:sp>
      <p:sp>
        <p:nvSpPr>
          <p:cNvPr id="26" name="Shape 23"/>
          <p:cNvSpPr/>
          <p:nvPr/>
        </p:nvSpPr>
        <p:spPr>
          <a:xfrm>
            <a:off x="27432000" y="35306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7" name="Text 24"/>
          <p:cNvSpPr/>
          <p:nvPr/>
        </p:nvSpPr>
        <p:spPr>
          <a:xfrm>
            <a:off x="27432000" y="36845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3. Xuất bản đa kênh &amp; lập lịch</a:t>
            </a:r>
            <a:endParaRPr lang="vi-VN" sz="1050" noProof="1"/>
          </a:p>
        </p:txBody>
      </p:sp>
      <p:sp>
        <p:nvSpPr>
          <p:cNvPr id="28" name="Shape 25"/>
          <p:cNvSpPr/>
          <p:nvPr/>
        </p:nvSpPr>
        <p:spPr>
          <a:xfrm>
            <a:off x="27432000" y="43434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9" name="Text 26"/>
          <p:cNvSpPr/>
          <p:nvPr/>
        </p:nvSpPr>
        <p:spPr>
          <a:xfrm>
            <a:off x="27432000" y="44973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4. Cổng thông tin độc giả</a:t>
            </a:r>
            <a:endParaRPr lang="vi-VN" sz="1050" noProof="1"/>
          </a:p>
        </p:txBody>
      </p:sp>
      <p:sp>
        <p:nvSpPr>
          <p:cNvPr id="30" name="Shape 27"/>
          <p:cNvSpPr/>
          <p:nvPr/>
        </p:nvSpPr>
        <p:spPr>
          <a:xfrm>
            <a:off x="27432000" y="51562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31" name="Text 28"/>
          <p:cNvSpPr/>
          <p:nvPr/>
        </p:nvSpPr>
        <p:spPr>
          <a:xfrm>
            <a:off x="27432000" y="53101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5. Quản trị hệ thống &amp; người dùng</a:t>
            </a:r>
            <a:endParaRPr lang="vi-VN" sz="1050" noProof="1"/>
          </a:p>
        </p:txBody>
      </p:sp>
      <p:sp>
        <p:nvSpPr>
          <p:cNvPr id="32" name="Shape 29"/>
          <p:cNvSpPr/>
          <p:nvPr/>
        </p:nvSpPr>
        <p:spPr>
          <a:xfrm>
            <a:off x="27432000" y="6019800"/>
            <a:ext cx="11124922" cy="203200"/>
          </a:xfrm>
          <a:prstGeom prst="roundRect">
            <a:avLst>
              <a:gd name="adj" fmla="val 16875"/>
            </a:avLst>
          </a:prstGeom>
          <a:solidFill>
            <a:srgbClr val="002855"/>
          </a:solidFill>
          <a:ln/>
        </p:spPr>
        <p:txBody>
          <a:bodyPr/>
          <a:lstStyle/>
          <a:p>
            <a:endParaRPr lang="vi-VN" noProof="1"/>
          </a:p>
        </p:txBody>
      </p:sp>
      <p:sp>
        <p:nvSpPr>
          <p:cNvPr id="33" name="Text 30"/>
          <p:cNvSpPr/>
          <p:nvPr/>
        </p:nvSpPr>
        <p:spPr>
          <a:xfrm>
            <a:off x="27432000" y="6019800"/>
            <a:ext cx="11620209" cy="190500"/>
          </a:xfrm>
          <a:prstGeom prst="rect">
            <a:avLst/>
          </a:prstGeom>
          <a:noFill/>
          <a:ln/>
        </p:spPr>
        <p:txBody>
          <a:bodyPr wrap="none" lIns="0" tIns="0" rIns="0" bIns="0" rtlCol="0" anchor="t"/>
          <a:lstStyle/>
          <a:p>
            <a:pPr marL="0" indent="0" algn="ctr">
              <a:lnSpc>
                <a:spcPct val="125000"/>
              </a:lnSpc>
              <a:buNone/>
            </a:pPr>
            <a:endParaRPr lang="vi-VN" sz="1000" noProof="1"/>
          </a:p>
        </p:txBody>
      </p:sp>
      <p:sp>
        <p:nvSpPr>
          <p:cNvPr id="34" name="Shape 31"/>
          <p:cNvSpPr/>
          <p:nvPr/>
        </p:nvSpPr>
        <p:spPr>
          <a:xfrm>
            <a:off x="27432000" y="6543774"/>
            <a:ext cx="11124922" cy="9525"/>
          </a:xfrm>
          <a:prstGeom prst="roundRect">
            <a:avLst>
              <a:gd name="adj" fmla="val 49999"/>
            </a:avLst>
          </a:prstGeom>
          <a:solidFill>
            <a:srgbClr val="002855"/>
          </a:solidFill>
          <a:ln/>
        </p:spPr>
        <p:txBody>
          <a:bodyPr/>
          <a:lstStyle/>
          <a:p>
            <a:endParaRPr lang="vi-VN" noProof="1"/>
          </a:p>
        </p:txBody>
      </p:sp>
      <p:sp>
        <p:nvSpPr>
          <p:cNvPr id="35" name="Text 32"/>
          <p:cNvSpPr/>
          <p:nvPr/>
        </p:nvSpPr>
        <p:spPr>
          <a:xfrm>
            <a:off x="2743200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8</a:t>
            </a:r>
            <a:endParaRPr lang="vi-VN" sz="700" noProof="1"/>
          </a:p>
        </p:txBody>
      </p:sp>
      <p:sp>
        <p:nvSpPr>
          <p:cNvPr id="37" name="Hình chữ nhật 36">
            <a:extLst>
              <a:ext uri="{FF2B5EF4-FFF2-40B4-BE49-F238E27FC236}">
                <a16:creationId xmlns:a16="http://schemas.microsoft.com/office/drawing/2014/main" id="{58564C42-EE4A-B343-62DF-7EADD3FE07C8}"/>
              </a:ext>
            </a:extLst>
          </p:cNvPr>
          <p:cNvSpPr/>
          <p:nvPr/>
        </p:nvSpPr>
        <p:spPr>
          <a:xfrm>
            <a:off x="27432000" y="6140918"/>
            <a:ext cx="1459527" cy="695498"/>
          </a:xfrm>
          <a:prstGeom prst="rect">
            <a:avLst/>
          </a:prstGeom>
          <a:solidFill>
            <a:srgbClr val="0B1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
        <p:nvSpPr>
          <p:cNvPr id="38" name="TextBox 37"/>
          <p:cNvSpPr txBox="1"/>
          <p:nvPr/>
        </p:nvSpPr>
        <p:spPr>
          <a:xfrm>
            <a:off x="594360" y="365760"/>
            <a:ext cx="10972800" cy="274320"/>
          </a:xfrm>
          <a:prstGeom prst="rect">
            <a:avLst/>
          </a:prstGeom>
          <a:noFill/>
        </p:spPr>
        <p:txBody>
          <a:bodyPr wrap="square">
            <a:spAutoFit/>
          </a:bodyPr>
          <a:lstStyle/>
          <a:p>
            <a:pPr>
              <a:defRPr sz="1100" b="1">
                <a:solidFill>
                  <a:srgbClr val="D97706"/>
                </a:solidFill>
                <a:latin typeface="Arial"/>
              </a:defRPr>
            </a:pPr>
            <a:r>
              <a:t>3. PHÂN TÍCH &amp; THIẾT KẾ HỆ THỐNG</a:t>
            </a:r>
          </a:p>
        </p:txBody>
      </p:sp>
      <p:sp>
        <p:nvSpPr>
          <p:cNvPr id="39" name="TextBox 38"/>
          <p:cNvSpPr txBox="1"/>
          <p:nvPr/>
        </p:nvSpPr>
        <p:spPr>
          <a:xfrm>
            <a:off x="594360" y="594360"/>
            <a:ext cx="10972800" cy="502920"/>
          </a:xfrm>
          <a:prstGeom prst="rect">
            <a:avLst/>
          </a:prstGeom>
          <a:noFill/>
        </p:spPr>
        <p:txBody>
          <a:bodyPr wrap="square">
            <a:spAutoFit/>
          </a:bodyPr>
          <a:lstStyle/>
          <a:p>
            <a:pPr>
              <a:defRPr sz="2200" b="1">
                <a:solidFill>
                  <a:srgbClr val="002855"/>
                </a:solidFill>
                <a:latin typeface="Arial"/>
              </a:defRPr>
            </a:pPr>
            <a:r>
              <a:t>Phân tích chức năng &amp; Ma trận phân quyền 4 vai trò người dùng (RBAC)</a:t>
            </a:r>
          </a:p>
        </p:txBody>
      </p:sp>
      <p:sp>
        <p:nvSpPr>
          <p:cNvPr id="40" name="Rectangle 39"/>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594360" y="1417320"/>
          <a:ext cx="11000232" cy="4754880"/>
        </p:xfrm>
        <a:graphic>
          <a:graphicData uri="http://schemas.openxmlformats.org/drawingml/2006/table">
            <a:tbl>
              <a:tblPr firstRow="1" bandRow="1">
                <a:tableStyleId>{5C22544A-7EE6-4342-B048-85BDC9FD1C3A}</a:tableStyleId>
              </a:tblPr>
              <a:tblGrid>
                <a:gridCol w="3319272"/>
                <a:gridCol w="1920240"/>
                <a:gridCol w="1920240"/>
                <a:gridCol w="1920240"/>
                <a:gridCol w="1920240"/>
              </a:tblGrid>
              <a:tr h="792480">
                <a:tc>
                  <a:txBody>
                    <a:bodyPr wrap="square"/>
                    <a:lstStyle/>
                    <a:p>
                      <a:pPr algn="l"/>
                      <a:r>
                        <a:rPr sz="1200" b="1">
                          <a:solidFill>
                            <a:srgbClr val="FFFFFF"/>
                          </a:solidFill>
                          <a:latin typeface="Arial"/>
                        </a:rPr>
                        <a:t>Phân hệ &amp; Chức năng nghiệp vụ</a:t>
                      </a:r>
                    </a:p>
                  </a:txBody>
                  <a:tcPr anchor="ctr">
                    <a:solidFill>
                      <a:srgbClr val="002855"/>
                    </a:solidFill>
                  </a:tcPr>
                </a:tc>
                <a:tc>
                  <a:txBody>
                    <a:bodyPr wrap="square"/>
                    <a:lstStyle/>
                    <a:p>
                      <a:pPr algn="ctr"/>
                      <a:r>
                        <a:rPr sz="1100" b="1">
                          <a:solidFill>
                            <a:srgbClr val="FFFFFF"/>
                          </a:solidFill>
                          <a:latin typeface="Arial"/>
                        </a:rPr>
                        <a:t>Quản trị viên (Admin)</a:t>
                      </a:r>
                    </a:p>
                    <a:p>
                      <a:pPr algn="ctr"/>
                      <a:r>
                        <a:rPr sz="1100" b="1">
                          <a:solidFill>
                            <a:srgbClr val="FFFFFF"/>
                          </a:solidFill>
                          <a:latin typeface="Arial"/>
                        </a:rPr>
                        <a:t>Ban Chấp hành</a:t>
                      </a:r>
                    </a:p>
                  </a:txBody>
                  <a:tcPr anchor="ctr">
                    <a:solidFill>
                      <a:srgbClr val="002855"/>
                    </a:solidFill>
                  </a:tcPr>
                </a:tc>
                <a:tc>
                  <a:txBody>
                    <a:bodyPr wrap="square"/>
                    <a:lstStyle/>
                    <a:p>
                      <a:pPr algn="ctr"/>
                      <a:r>
                        <a:rPr sz="1100" b="1">
                          <a:solidFill>
                            <a:srgbClr val="FFFFFF"/>
                          </a:solidFill>
                          <a:latin typeface="Arial"/>
                        </a:rPr>
                        <a:t>Biên tập viên (Editor)</a:t>
                      </a:r>
                    </a:p>
                    <a:p>
                      <a:pPr algn="ctr"/>
                      <a:r>
                        <a:rPr sz="1100" b="1">
                          <a:solidFill>
                            <a:srgbClr val="FFFFFF"/>
                          </a:solidFill>
                          <a:latin typeface="Arial"/>
                        </a:rPr>
                        <a:t>Ban Tuyên giáo</a:t>
                      </a:r>
                    </a:p>
                  </a:txBody>
                  <a:tcPr anchor="ctr">
                    <a:solidFill>
                      <a:srgbClr val="002855"/>
                    </a:solidFill>
                  </a:tcPr>
                </a:tc>
                <a:tc>
                  <a:txBody>
                    <a:bodyPr wrap="square"/>
                    <a:lstStyle/>
                    <a:p>
                      <a:pPr algn="ctr"/>
                      <a:r>
                        <a:rPr sz="1100" b="1">
                          <a:solidFill>
                            <a:srgbClr val="FFFFFF"/>
                          </a:solidFill>
                          <a:latin typeface="Arial"/>
                        </a:rPr>
                        <a:t>Cộng tác viên (Contributor)</a:t>
                      </a:r>
                    </a:p>
                    <a:p>
                      <a:pPr algn="ctr"/>
                      <a:r>
                        <a:rPr sz="1100" b="1">
                          <a:solidFill>
                            <a:srgbClr val="FFFFFF"/>
                          </a:solidFill>
                          <a:latin typeface="Arial"/>
                        </a:rPr>
                        <a:t>16 Tổ Công đoàn</a:t>
                      </a:r>
                    </a:p>
                  </a:txBody>
                  <a:tcPr anchor="ctr">
                    <a:solidFill>
                      <a:srgbClr val="002855"/>
                    </a:solidFill>
                  </a:tcPr>
                </a:tc>
                <a:tc>
                  <a:txBody>
                    <a:bodyPr wrap="square"/>
                    <a:lstStyle/>
                    <a:p>
                      <a:pPr algn="ctr"/>
                      <a:r>
                        <a:rPr sz="1100" b="1">
                          <a:solidFill>
                            <a:srgbClr val="FFFFFF"/>
                          </a:solidFill>
                          <a:latin typeface="Arial"/>
                        </a:rPr>
                        <a:t>Đoàn viên / Độc giả</a:t>
                      </a:r>
                    </a:p>
                    <a:p>
                      <a:pPr algn="ctr"/>
                      <a:r>
                        <a:rPr sz="1100" b="1">
                          <a:solidFill>
                            <a:srgbClr val="FFFFFF"/>
                          </a:solidFill>
                          <a:latin typeface="Arial"/>
                        </a:rPr>
                        <a:t>Cán bộ, Giảng viên</a:t>
                      </a:r>
                    </a:p>
                  </a:txBody>
                  <a:tcPr anchor="ctr">
                    <a:solidFill>
                      <a:srgbClr val="002855"/>
                    </a:solidFill>
                  </a:tcPr>
                </a:tc>
              </a:tr>
              <a:tr h="792480">
                <a:tc>
                  <a:txBody>
                    <a:bodyPr wrap="square"/>
                    <a:lstStyle/>
                    <a:p>
                      <a:pPr algn="l"/>
                      <a:r>
                        <a:rPr sz="1050" b="1">
                          <a:solidFill>
                            <a:srgbClr val="334155"/>
                          </a:solidFill>
                          <a:latin typeface="Arial"/>
                        </a:rPr>
                        <a:t>1. Cổng thông tin &amp; Tương tác</a:t>
                      </a:r>
                    </a:p>
                    <a:p>
                      <a:pPr algn="l"/>
                      <a:r>
                        <a:rPr sz="1050" b="0">
                          <a:solidFill>
                            <a:srgbClr val="334155"/>
                          </a:solidFill>
                          <a:latin typeface="Arial"/>
                        </a:rPr>
                        <a:t>Xem tin tức, tìm kiếm, tải văn bản biểu mẫu, bình luận tương tác, gửi góp ý.</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kiểm duyệt</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kiểm duyệt</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tham gia</a:t>
                      </a:r>
                    </a:p>
                  </a:txBody>
                  <a:tcPr anchor="ctr">
                    <a:solidFill>
                      <a:srgbClr val="FFFFFF"/>
                    </a:solidFill>
                  </a:tcPr>
                </a:tc>
                <a:tc>
                  <a:txBody>
                    <a:bodyPr wrap="square"/>
                    <a:lstStyle/>
                    <a:p>
                      <a:pPr algn="ctr"/>
                      <a:r>
                        <a:rPr sz="1100" b="1">
                          <a:solidFill>
                            <a:srgbClr val="0284C7"/>
                          </a:solidFill>
                          <a:latin typeface="Arial"/>
                        </a:rPr>
                        <a:t>✔ Tiếp cận</a:t>
                      </a:r>
                    </a:p>
                    <a:p>
                      <a:pPr algn="ctr"/>
                      <a:r>
                        <a:rPr sz="1100" b="0">
                          <a:solidFill>
                            <a:srgbClr val="0284C7"/>
                          </a:solidFill>
                          <a:latin typeface="Arial"/>
                        </a:rPr>
                        <a:t>Xem &amp; bình luận</a:t>
                      </a:r>
                    </a:p>
                  </a:txBody>
                  <a:tcPr anchor="ctr">
                    <a:solidFill>
                      <a:srgbClr val="FFFFFF"/>
                    </a:solidFill>
                  </a:tcPr>
                </a:tc>
              </a:tr>
              <a:tr h="792480">
                <a:tc>
                  <a:txBody>
                    <a:bodyPr wrap="square"/>
                    <a:lstStyle/>
                    <a:p>
                      <a:pPr algn="l"/>
                      <a:r>
                        <a:rPr sz="1050" b="1">
                          <a:solidFill>
                            <a:srgbClr val="334155"/>
                          </a:solidFill>
                          <a:latin typeface="Arial"/>
                        </a:rPr>
                        <a:t>2. Soạn thảo &amp; Trợ lý AI Copilot</a:t>
                      </a:r>
                    </a:p>
                    <a:p>
                      <a:pPr algn="l"/>
                      <a:r>
                        <a:rPr sz="1050" b="0">
                          <a:solidFill>
                            <a:srgbClr val="334155"/>
                          </a:solidFill>
                          <a:latin typeface="Arial"/>
                        </a:rPr>
                        <a:t>Đọc file kế hoạch/ảnh sự kiện, gọi Gemini AI sinh bài viết, gợi ý tiêu đề.</a:t>
                      </a:r>
                    </a:p>
                  </a:txBody>
                  <a:tcPr anchor="ctr">
                    <a:solidFill>
                      <a:srgbClr val="F1F5F9"/>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Sử dụng AI &amp; duyệt</a:t>
                      </a:r>
                    </a:p>
                  </a:txBody>
                  <a:tcPr anchor="ctr">
                    <a:solidFill>
                      <a:srgbClr val="F1F5F9"/>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Sử dụng AI &amp; sửa</a:t>
                      </a:r>
                    </a:p>
                  </a:txBody>
                  <a:tcPr anchor="ctr">
                    <a:solidFill>
                      <a:srgbClr val="F1F5F9"/>
                    </a:solidFill>
                  </a:tcPr>
                </a:tc>
                <a:tc>
                  <a:txBody>
                    <a:bodyPr wrap="square"/>
                    <a:lstStyle/>
                    <a:p>
                      <a:pPr algn="ctr"/>
                      <a:r>
                        <a:rPr sz="1100" b="1">
                          <a:solidFill>
                            <a:srgbClr val="059669"/>
                          </a:solidFill>
                          <a:latin typeface="Arial"/>
                        </a:rPr>
                        <a:t>✔ Tạo bản nháp</a:t>
                      </a:r>
                    </a:p>
                    <a:p>
                      <a:pPr algn="ctr"/>
                      <a:r>
                        <a:rPr sz="1100" b="0">
                          <a:solidFill>
                            <a:srgbClr val="059669"/>
                          </a:solidFill>
                          <a:latin typeface="Arial"/>
                        </a:rPr>
                        <a:t>Dùng AI hỗ trợ viết</a:t>
                      </a:r>
                    </a:p>
                  </a:txBody>
                  <a:tcPr anchor="ctr">
                    <a:solidFill>
                      <a:srgbClr val="F1F5F9"/>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1F5F9"/>
                    </a:solidFill>
                  </a:tcPr>
                </a:tc>
              </a:tr>
              <a:tr h="792480">
                <a:tc>
                  <a:txBody>
                    <a:bodyPr wrap="square"/>
                    <a:lstStyle/>
                    <a:p>
                      <a:pPr algn="l"/>
                      <a:r>
                        <a:rPr sz="1050" b="1">
                          <a:solidFill>
                            <a:srgbClr val="334155"/>
                          </a:solidFill>
                          <a:latin typeface="Arial"/>
                        </a:rPr>
                        <a:t>3. Thẩm định &amp; Phê duyệt bài viết</a:t>
                      </a:r>
                    </a:p>
                    <a:p>
                      <a:pPr algn="l"/>
                      <a:r>
                        <a:rPr sz="1050" b="0">
                          <a:solidFill>
                            <a:srgbClr val="334155"/>
                          </a:solidFill>
                          <a:latin typeface="Arial"/>
                        </a:rPr>
                        <a:t>Kiểm duyệt hàng đợi bài nháp, biên tập sửa lỗi, yêu cầu viết lại, cấp phép xuất bản.</a:t>
                      </a:r>
                    </a:p>
                  </a:txBody>
                  <a:tcPr anchor="ctr">
                    <a:solidFill>
                      <a:srgbClr val="FFFFFF"/>
                    </a:solidFill>
                  </a:tcPr>
                </a:tc>
                <a:tc>
                  <a:txBody>
                    <a:bodyPr wrap="square"/>
                    <a:lstStyle/>
                    <a:p>
                      <a:pPr algn="ctr"/>
                      <a:r>
                        <a:rPr sz="1100" b="1">
                          <a:solidFill>
                            <a:srgbClr val="059669"/>
                          </a:solidFill>
                          <a:latin typeface="Arial"/>
                        </a:rPr>
                        <a:t>✔ Phê duyệt</a:t>
                      </a:r>
                    </a:p>
                    <a:p>
                      <a:pPr algn="ctr"/>
                      <a:r>
                        <a:rPr sz="1100" b="0">
                          <a:solidFill>
                            <a:srgbClr val="059669"/>
                          </a:solidFill>
                          <a:latin typeface="Arial"/>
                        </a:rPr>
                        <a:t>Cấp cao nhất</a:t>
                      </a:r>
                    </a:p>
                  </a:txBody>
                  <a:tcPr anchor="ctr">
                    <a:solidFill>
                      <a:srgbClr val="FFFFFF"/>
                    </a:solidFill>
                  </a:tcPr>
                </a:tc>
                <a:tc>
                  <a:txBody>
                    <a:bodyPr wrap="square"/>
                    <a:lstStyle/>
                    <a:p>
                      <a:pPr algn="ctr"/>
                      <a:r>
                        <a:rPr sz="1100" b="1">
                          <a:solidFill>
                            <a:srgbClr val="059669"/>
                          </a:solidFill>
                          <a:latin typeface="Arial"/>
                        </a:rPr>
                        <a:t>✔ Thẩm định</a:t>
                      </a:r>
                    </a:p>
                    <a:p>
                      <a:pPr algn="ctr"/>
                      <a:r>
                        <a:rPr sz="1100" b="0">
                          <a:solidFill>
                            <a:srgbClr val="059669"/>
                          </a:solidFill>
                          <a:latin typeface="Arial"/>
                        </a:rPr>
                        <a:t>Kiểm duyệt bài viết</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Chỉ nộp bài chờ duyệt</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r>
              <a:tr h="792480">
                <a:tc>
                  <a:txBody>
                    <a:bodyPr wrap="square"/>
                    <a:lstStyle/>
                    <a:p>
                      <a:pPr algn="l"/>
                      <a:r>
                        <a:rPr sz="1050" b="1">
                          <a:solidFill>
                            <a:srgbClr val="334155"/>
                          </a:solidFill>
                          <a:latin typeface="Arial"/>
                        </a:rPr>
                        <a:t>4. Lập lịch &amp; Đăng bài đa kênh</a:t>
                      </a:r>
                    </a:p>
                    <a:p>
                      <a:pPr algn="l"/>
                      <a:r>
                        <a:rPr sz="1050" b="0">
                          <a:solidFill>
                            <a:srgbClr val="334155"/>
                          </a:solidFill>
                          <a:latin typeface="Arial"/>
                        </a:rPr>
                        <a:t>Thiết lập lịch hẹn giờ đăng tự động; đồng bộ xuất bản lên Fanpage Facebook qua Graph API.</a:t>
                      </a:r>
                    </a:p>
                  </a:txBody>
                  <a:tcPr anchor="ctr">
                    <a:solidFill>
                      <a:srgbClr val="F1F5F9"/>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Cấu hình &amp; xuất bản</a:t>
                      </a:r>
                    </a:p>
                  </a:txBody>
                  <a:tcPr anchor="ctr">
                    <a:solidFill>
                      <a:srgbClr val="F1F5F9"/>
                    </a:solidFill>
                  </a:tcPr>
                </a:tc>
                <a:tc>
                  <a:txBody>
                    <a:bodyPr wrap="square"/>
                    <a:lstStyle/>
                    <a:p>
                      <a:pPr algn="ctr"/>
                      <a:r>
                        <a:rPr sz="1100" b="1">
                          <a:solidFill>
                            <a:srgbClr val="059669"/>
                          </a:solidFill>
                          <a:latin typeface="Arial"/>
                        </a:rPr>
                        <a:t>✔ Trực tiếp</a:t>
                      </a:r>
                    </a:p>
                    <a:p>
                      <a:pPr algn="ctr"/>
                      <a:r>
                        <a:rPr sz="1100" b="0">
                          <a:solidFill>
                            <a:srgbClr val="059669"/>
                          </a:solidFill>
                          <a:latin typeface="Arial"/>
                        </a:rPr>
                        <a:t>Lập lịch &amp; Đăng tin</a:t>
                      </a:r>
                    </a:p>
                  </a:txBody>
                  <a:tcPr anchor="ctr">
                    <a:solidFill>
                      <a:srgbClr val="F1F5F9"/>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1F5F9"/>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1F5F9"/>
                    </a:solidFill>
                  </a:tcPr>
                </a:tc>
              </a:tr>
              <a:tr h="792480">
                <a:tc>
                  <a:txBody>
                    <a:bodyPr wrap="square"/>
                    <a:lstStyle/>
                    <a:p>
                      <a:pPr algn="l"/>
                      <a:r>
                        <a:rPr sz="1050" b="1">
                          <a:solidFill>
                            <a:srgbClr val="334155"/>
                          </a:solidFill>
                          <a:latin typeface="Arial"/>
                        </a:rPr>
                        <a:t>5. Quản trị hệ thống &amp; CSDL</a:t>
                      </a:r>
                    </a:p>
                    <a:p>
                      <a:pPr algn="l"/>
                      <a:r>
                        <a:rPr sz="1050" b="0">
                          <a:solidFill>
                            <a:srgbClr val="334155"/>
                          </a:solidFill>
                          <a:latin typeface="Arial"/>
                        </a:rPr>
                        <a:t>Phân quyền RBAC, cơ cấu 16 Tổ CĐ, cấu hình Token AI, quản lý danh mục, nhật ký.</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Quản trị hệ thống</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pPr marL="0" indent="0" algn="l">
              <a:lnSpc>
                <a:spcPct val="125000"/>
              </a:lnSpc>
              <a:buNone/>
            </a:pPr>
            <a:r>
              <a:rPr lang="en-US" sz="1000" b="1" noProof="1">
                <a:solidFill>
                  <a:srgbClr val="BE7814"/>
                </a:solidFill>
                <a:latin typeface="Arimo Bold" pitchFamily="34" charset="0"/>
                <a:ea typeface="Arimo Bold" pitchFamily="34" charset="-122"/>
                <a:cs typeface="Arimo Bold" pitchFamily="34" charset="0"/>
              </a:rPr>
              <a:t>3</a:t>
            </a:r>
            <a:r>
              <a:rPr lang="vi-VN" sz="1000" b="1" noProof="1">
                <a:solidFill>
                  <a:srgbClr val="BE7814"/>
                </a:solidFill>
                <a:latin typeface="Arimo Bold" pitchFamily="34" charset="0"/>
                <a:ea typeface="Arimo Bold" pitchFamily="34" charset="-122"/>
                <a:cs typeface="Arimo Bold" pitchFamily="34" charset="0"/>
              </a:rPr>
              <a:t>. PHÂN TÍCH &amp; THIẾT KẾ HỆ THỐNG</a:t>
            </a:r>
            <a:endParaRPr lang="vi-VN" sz="1000" noProof="1"/>
          </a:p>
        </p:txBody>
      </p:sp>
      <p:sp>
        <p:nvSpPr>
          <p:cNvPr id="3" name="Text 1"/>
          <p:cNvSpPr/>
          <p:nvPr/>
        </p:nvSpPr>
        <p:spPr>
          <a:xfrm>
            <a:off x="590535" y="533400"/>
            <a:ext cx="11601160" cy="419100"/>
          </a:xfrm>
          <a:prstGeom prst="rect">
            <a:avLst/>
          </a:prstGeom>
          <a:noFill/>
          <a:ln/>
        </p:spPr>
        <p:txBody>
          <a:bodyPr wrap="none" lIns="0" tIns="0" rIns="0" bIns="0" rtlCol="0" anchor="t"/>
          <a:lstStyle/>
          <a:p>
            <a:pPr>
              <a:defRPr b="1">
                <a:solidFill>
                  <a:srgbClr val="002855"/>
                </a:solidFill>
              </a:defRPr>
            </a:pPr>
            <a:r>
              <a:t>Thiết kế cơ sở dữ liệu quan hệ gồm 15 bảng</a:t>
            </a:r>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sp>
        <p:nvSpPr>
          <p:cNvPr id="5" name="Text 2"/>
          <p:cNvSpPr/>
          <p:nvPr/>
        </p:nvSpPr>
        <p:spPr>
          <a:xfrm>
            <a:off x="590535" y="1193800"/>
            <a:ext cx="11601160" cy="190500"/>
          </a:xfrm>
          <a:prstGeom prst="rect">
            <a:avLst/>
          </a:prstGeom>
          <a:noFill/>
          <a:ln/>
        </p:spPr>
        <p:txBody>
          <a:bodyPr wrap="none" lIns="0" tIns="0" rIns="0" bIns="0" rtlCol="0" anchor="t"/>
          <a:lstStyle/>
          <a:p>
            <a:pPr>
              <a:defRPr sz="1200">
                <a:solidFill>
                  <a:srgbClr val="DCE6F5"/>
                </a:solidFill>
              </a:defRPr>
            </a:pPr>
            <a:r>
              <a:rPr>
                <a:solidFill>
                  <a:srgbClr val="334155"/>
                </a:solidFill>
              </a:rPr>
              <a:t>Microsoft SQL Server 2022 · 15 bảng nghiệp vụ · thiết lập khóa chính/khóa ngoại ràng buộc chặt chẽ</a:t>
            </a:r>
          </a:p>
        </p:txBody>
      </p:sp>
      <p:sp>
        <p:nvSpPr>
          <p:cNvPr id="6" name="Shape 3"/>
          <p:cNvSpPr/>
          <p:nvPr/>
        </p:nvSpPr>
        <p:spPr>
          <a:xfrm>
            <a:off x="533387" y="1651000"/>
            <a:ext cx="11124922" cy="9525"/>
          </a:xfrm>
          <a:prstGeom prst="roundRect">
            <a:avLst>
              <a:gd name="adj" fmla="val 49999"/>
            </a:avLst>
          </a:prstGeom>
          <a:solidFill>
            <a:srgbClr val="1E3A5F"/>
          </a:solidFill>
          <a:ln/>
        </p:spPr>
        <p:txBody>
          <a:bodyPr/>
          <a:lstStyle/>
          <a:p>
            <a:endParaRPr lang="vi-VN" noProof="1"/>
          </a:p>
        </p:txBody>
      </p:sp>
      <p:sp>
        <p:nvSpPr>
          <p:cNvPr id="7" name="Text 4"/>
          <p:cNvSpPr/>
          <p:nvPr/>
        </p:nvSpPr>
        <p:spPr>
          <a:xfrm>
            <a:off x="590535" y="1803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Tổ chức &amp; người dùng</a:t>
            </a:r>
            <a:endParaRPr lang="vi-VN" sz="1100" noProof="1"/>
          </a:p>
        </p:txBody>
      </p:sp>
      <p:sp>
        <p:nvSpPr>
          <p:cNvPr id="8" name="Text 5"/>
          <p:cNvSpPr/>
          <p:nvPr/>
        </p:nvSpPr>
        <p:spPr>
          <a:xfrm>
            <a:off x="3867053" y="1803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ORGANIZATIONS · UNION_BRANCHES · MEMBERS · USERS</a:t>
            </a:r>
            <a:endParaRPr lang="vi-VN" sz="1200" noProof="1"/>
          </a:p>
        </p:txBody>
      </p:sp>
      <p:sp>
        <p:nvSpPr>
          <p:cNvPr id="9" name="Shape 6"/>
          <p:cNvSpPr/>
          <p:nvPr/>
        </p:nvSpPr>
        <p:spPr>
          <a:xfrm>
            <a:off x="533387" y="2794000"/>
            <a:ext cx="11124922" cy="9525"/>
          </a:xfrm>
          <a:prstGeom prst="roundRect">
            <a:avLst>
              <a:gd name="adj" fmla="val 49999"/>
            </a:avLst>
          </a:prstGeom>
          <a:solidFill>
            <a:srgbClr val="1E3A5F"/>
          </a:solidFill>
          <a:ln/>
        </p:spPr>
        <p:txBody>
          <a:bodyPr/>
          <a:lstStyle/>
          <a:p>
            <a:endParaRPr lang="vi-VN" noProof="1"/>
          </a:p>
        </p:txBody>
      </p:sp>
      <p:sp>
        <p:nvSpPr>
          <p:cNvPr id="10" name="Text 7"/>
          <p:cNvSpPr/>
          <p:nvPr/>
        </p:nvSpPr>
        <p:spPr>
          <a:xfrm>
            <a:off x="590535" y="2946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Nội dung &amp; tương tác</a:t>
            </a:r>
            <a:endParaRPr lang="vi-VN" sz="1100" noProof="1"/>
          </a:p>
        </p:txBody>
      </p:sp>
      <p:sp>
        <p:nvSpPr>
          <p:cNvPr id="11" name="Text 8"/>
          <p:cNvSpPr/>
          <p:nvPr/>
        </p:nvSpPr>
        <p:spPr>
          <a:xfrm>
            <a:off x="3867053" y="2946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ARTICLES · ARTICLE_AUDITS · CATEGORIES · COMMENTS · BOOKMARKS · DOCUMENTS</a:t>
            </a:r>
            <a:endParaRPr lang="vi-VN" sz="1200" noProof="1"/>
          </a:p>
        </p:txBody>
      </p:sp>
      <p:sp>
        <p:nvSpPr>
          <p:cNvPr id="12" name="Shape 9"/>
          <p:cNvSpPr/>
          <p:nvPr/>
        </p:nvSpPr>
        <p:spPr>
          <a:xfrm>
            <a:off x="533387" y="3937000"/>
            <a:ext cx="11124922" cy="9525"/>
          </a:xfrm>
          <a:prstGeom prst="roundRect">
            <a:avLst>
              <a:gd name="adj" fmla="val 49999"/>
            </a:avLst>
          </a:prstGeom>
          <a:solidFill>
            <a:srgbClr val="1E3A5F"/>
          </a:solidFill>
          <a:ln/>
        </p:spPr>
        <p:txBody>
          <a:bodyPr/>
          <a:lstStyle/>
          <a:p>
            <a:endParaRPr lang="vi-VN" noProof="1"/>
          </a:p>
        </p:txBody>
      </p:sp>
      <p:sp>
        <p:nvSpPr>
          <p:cNvPr id="13" name="Text 10"/>
          <p:cNvSpPr/>
          <p:nvPr/>
        </p:nvSpPr>
        <p:spPr>
          <a:xfrm>
            <a:off x="590535" y="4089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Chương trình &amp; hỗ trợ</a:t>
            </a:r>
            <a:endParaRPr lang="vi-VN" sz="1100" noProof="1"/>
          </a:p>
        </p:txBody>
      </p:sp>
      <p:sp>
        <p:nvSpPr>
          <p:cNvPr id="14" name="Text 11"/>
          <p:cNvSpPr/>
          <p:nvPr/>
        </p:nvSpPr>
        <p:spPr>
          <a:xfrm>
            <a:off x="3867053" y="4089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WELFARE_PROGRAMS · WELFARE_CATEGORIES · SCHEDULES · INBOX_FEEDBACK</a:t>
            </a:r>
            <a:endParaRPr lang="vi-VN" sz="1200" noProof="1"/>
          </a:p>
        </p:txBody>
      </p:sp>
      <p:sp>
        <p:nvSpPr>
          <p:cNvPr id="15" name="Shape 12"/>
          <p:cNvSpPr/>
          <p:nvPr/>
        </p:nvSpPr>
        <p:spPr>
          <a:xfrm>
            <a:off x="533387" y="5080000"/>
            <a:ext cx="11124922" cy="9525"/>
          </a:xfrm>
          <a:prstGeom prst="roundRect">
            <a:avLst>
              <a:gd name="adj" fmla="val 49999"/>
            </a:avLst>
          </a:prstGeom>
          <a:solidFill>
            <a:srgbClr val="1E3A5F"/>
          </a:solidFill>
          <a:ln/>
        </p:spPr>
        <p:txBody>
          <a:bodyPr/>
          <a:lstStyle/>
          <a:p>
            <a:endParaRPr lang="vi-VN" noProof="1"/>
          </a:p>
        </p:txBody>
      </p:sp>
      <p:sp>
        <p:nvSpPr>
          <p:cNvPr id="16" name="Text 13"/>
          <p:cNvSpPr/>
          <p:nvPr/>
        </p:nvSpPr>
        <p:spPr>
          <a:xfrm>
            <a:off x="590535" y="5232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Biểu mẫu</a:t>
            </a:r>
            <a:endParaRPr lang="vi-VN" sz="1100" noProof="1"/>
          </a:p>
        </p:txBody>
      </p:sp>
      <p:sp>
        <p:nvSpPr>
          <p:cNvPr id="17" name="Text 14"/>
          <p:cNvSpPr/>
          <p:nvPr/>
        </p:nvSpPr>
        <p:spPr>
          <a:xfrm>
            <a:off x="3867053" y="5232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TEMPLATES</a:t>
            </a:r>
            <a:endParaRPr lang="vi-VN" sz="1200" noProof="1"/>
          </a:p>
        </p:txBody>
      </p:sp>
      <p:sp>
        <p:nvSpPr>
          <p:cNvPr id="18" name="Shape 15"/>
          <p:cNvSpPr/>
          <p:nvPr/>
        </p:nvSpPr>
        <p:spPr>
          <a:xfrm>
            <a:off x="533387" y="6223000"/>
            <a:ext cx="11124922" cy="9525"/>
          </a:xfrm>
          <a:prstGeom prst="roundRect">
            <a:avLst>
              <a:gd name="adj" fmla="val 49999"/>
            </a:avLst>
          </a:prstGeom>
          <a:solidFill>
            <a:srgbClr val="1E3A5F"/>
          </a:solidFill>
          <a:ln/>
        </p:spPr>
        <p:txBody>
          <a:bodyPr/>
          <a:lstStyle/>
          <a:p>
            <a:endParaRPr lang="vi-VN" noProof="1"/>
          </a:p>
        </p:txBody>
      </p:sp>
      <p:sp>
        <p:nvSpPr>
          <p:cNvPr id="19" name="Text 16"/>
          <p:cNvSpPr/>
          <p:nvPr/>
        </p:nvSpPr>
        <p:spPr>
          <a:xfrm>
            <a:off x="590535" y="6324600"/>
            <a:ext cx="11601160" cy="171450"/>
          </a:xfrm>
          <a:prstGeom prst="rect">
            <a:avLst/>
          </a:prstGeom>
          <a:noFill/>
          <a:ln/>
        </p:spPr>
        <p:txBody>
          <a:bodyPr wrap="none" lIns="0" tIns="0" rIns="0" bIns="0" rtlCol="0" anchor="t"/>
          <a:lstStyle/>
          <a:p>
            <a:pPr marL="0" indent="0" algn="l">
              <a:lnSpc>
                <a:spcPct val="125000"/>
              </a:lnSpc>
              <a:buNone/>
            </a:pPr>
            <a:r>
              <a:rPr lang="vi-VN" sz="900" b="1" noProof="1">
                <a:solidFill>
                  <a:srgbClr val="8FB3D9"/>
                </a:solidFill>
                <a:latin typeface="Arimo Bold" pitchFamily="34" charset="0"/>
                <a:ea typeface="Arimo Bold" pitchFamily="34" charset="-122"/>
                <a:cs typeface="Arimo Bold" pitchFamily="34" charset="0"/>
              </a:rPr>
              <a:t>Các bảng trích từ sơ đồ quan hệ CSDL</a:t>
            </a:r>
            <a:endParaRPr lang="vi-VN" sz="900" noProof="1"/>
          </a:p>
        </p:txBody>
      </p:sp>
      <p:sp>
        <p:nvSpPr>
          <p:cNvPr id="20" name="Text 17"/>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9</a:t>
            </a:r>
            <a:endParaRPr lang="vi-VN" sz="700" noProof="1"/>
          </a:p>
        </p:txBody>
      </p:sp>
      <p:sp>
        <p:nvSpPr>
          <p:cNvPr id="22" name="Hình chữ nhật 21">
            <a:extLst>
              <a:ext uri="{FF2B5EF4-FFF2-40B4-BE49-F238E27FC236}">
                <a16:creationId xmlns:a16="http://schemas.microsoft.com/office/drawing/2014/main" id="{FB5085CB-ADF0-DDCF-2A52-BC6F06A7727F}"/>
              </a:ext>
            </a:extLst>
          </p:cNvPr>
          <p:cNvSpPr/>
          <p:nvPr/>
        </p:nvSpPr>
        <p:spPr>
          <a:xfrm>
            <a:off x="27432000" y="6140918"/>
            <a:ext cx="1459527" cy="695498"/>
          </a:xfrm>
          <a:prstGeom prst="rect">
            <a:avLst/>
          </a:prstGeom>
          <a:solidFill>
            <a:srgbClr val="0B1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00" y="347472"/>
            <a:ext cx="10972800" cy="274320"/>
          </a:xfrm>
          <a:prstGeom prst="rect">
            <a:avLst/>
          </a:prstGeom>
          <a:noFill/>
        </p:spPr>
        <p:txBody>
          <a:bodyPr wrap="square" lIns="0" tIns="0">
            <a:spAutoFit/>
          </a:bodyPr>
          <a:lstStyle/>
          <a:p>
            <a:pPr>
              <a:defRPr b="1" sz="1300">
                <a:solidFill>
                  <a:srgbClr val="E67E22"/>
                </a:solidFill>
              </a:defRPr>
            </a:pPr>
            <a:r>
              <a:rPr>
                <a:solidFill>
                  <a:srgbClr val="BE7814"/>
                </a:solidFill>
              </a:rPr>
              <a:t>4. CHỨC NĂNG TRỢ LÝ AI</a:t>
            </a:r>
          </a:p>
        </p:txBody>
      </p:sp>
      <p:sp>
        <p:nvSpPr>
          <p:cNvPr id="3" name="TextBox 2"/>
          <p:cNvSpPr txBox="1"/>
          <p:nvPr/>
        </p:nvSpPr>
        <p:spPr>
          <a:xfrm>
            <a:off x="27432000" y="594360"/>
            <a:ext cx="10972800" cy="411480"/>
          </a:xfrm>
          <a:prstGeom prst="rect">
            <a:avLst/>
          </a:prstGeom>
          <a:noFill/>
        </p:spPr>
        <p:txBody>
          <a:bodyPr wrap="square" lIns="0" tIns="0">
            <a:spAutoFit/>
          </a:bodyPr>
          <a:lstStyle/>
          <a:p>
            <a:pPr>
              <a:defRPr b="1" sz="2400">
                <a:solidFill>
                  <a:srgbClr val="FFFFFF"/>
                </a:solidFill>
              </a:defRPr>
            </a:pPr>
            <a:r>
              <a:rPr>
                <a:solidFill>
                  <a:srgbClr val="002855"/>
                </a:solidFill>
              </a:rPr>
              <a:t>Các chức năng AI hỗ trợ cán bộ viết bài và đăng tin</a:t>
            </a:r>
          </a:p>
        </p:txBody>
      </p:sp>
      <p:sp>
        <p:nvSpPr>
          <p:cNvPr id="4" name="Rectangle 3"/>
          <p:cNvSpPr/>
          <p:nvPr/>
        </p:nvSpPr>
        <p:spPr>
          <a:xfrm>
            <a:off x="27432000" y="1051560"/>
            <a:ext cx="1051560" cy="36576"/>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0" y="1463040"/>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1. Đọc và phân tích tài liệu sự kiện thô</a:t>
            </a:r>
          </a:p>
          <a:p>
            <a:pPr>
              <a:defRPr sz="1000" b="1">
                <a:solidFill>
                  <a:srgbClr val="BE7814"/>
                </a:solidFill>
                <a:latin typeface="Arial"/>
              </a:defRPr>
            </a:pPr>
            <a:r>
              <a:t>Tiếp nhận file Word (.docx), Excel (.xlsx), PDF hoặc ảnh chụp</a:t>
            </a:r>
          </a:p>
          <a:p>
            <a:pPr>
              <a:defRPr sz="950">
                <a:solidFill>
                  <a:srgbClr val="334155"/>
                </a:solidFill>
                <a:latin typeface="Arial"/>
              </a:defRPr>
            </a:pPr>
            <a:r>
              <a:t>• Cán bộ chỉ cần tải file kế hoạch sự kiện lên hệ thống.</a:t>
            </a:r>
          </a:p>
          <a:p>
            <a:pPr>
              <a:defRPr sz="950">
                <a:solidFill>
                  <a:srgbClr val="334155"/>
                </a:solidFill>
                <a:latin typeface="Arial"/>
              </a:defRPr>
            </a:pPr>
            <a:r>
              <a:t>• AI tự động trích xuất các thông tin chính: thời gian, địa điểm, mục đích, thành phần tham dự.</a:t>
            </a:r>
          </a:p>
          <a:p>
            <a:pPr>
              <a:defRPr sz="950">
                <a:solidFill>
                  <a:srgbClr val="334155"/>
                </a:solidFill>
                <a:latin typeface="Arial"/>
              </a:defRPr>
            </a:pPr>
            <a:r>
              <a:t>• Giúp tiết kiệm công sức đọc dò và tóm tắt tư liệu ban đầu.</a:t>
            </a:r>
          </a:p>
        </p:txBody>
      </p:sp>
      <p:sp>
        <p:nvSpPr>
          <p:cNvPr id="6" name="Rounded Rectangle 5"/>
          <p:cNvSpPr/>
          <p:nvPr/>
        </p:nvSpPr>
        <p:spPr>
          <a:xfrm>
            <a:off x="27432000" y="1463040"/>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2. Tự động viết bài tin tức hoàn chỉnh</a:t>
            </a:r>
          </a:p>
          <a:p>
            <a:pPr>
              <a:defRPr sz="1000" b="1">
                <a:solidFill>
                  <a:srgbClr val="BE7814"/>
                </a:solidFill>
                <a:latin typeface="Arial"/>
              </a:defRPr>
            </a:pPr>
            <a:r>
              <a:t>Tạo bài viết đầy đủ bố cục chỉ với một thao tác</a:t>
            </a:r>
          </a:p>
          <a:p>
            <a:pPr>
              <a:defRPr sz="950">
                <a:solidFill>
                  <a:srgbClr val="334155"/>
                </a:solidFill>
                <a:latin typeface="Arial"/>
              </a:defRPr>
            </a:pPr>
            <a:r>
              <a:t>• Dựa trên kế hoạch sự kiện, AI tự viết thành bài tin tức có tiêu đề, đoạn mở đầu (Sapo) và thân bài rõ ràng.</a:t>
            </a:r>
          </a:p>
          <a:p>
            <a:pPr>
              <a:defRPr sz="950">
                <a:solidFill>
                  <a:srgbClr val="334155"/>
                </a:solidFill>
                <a:latin typeface="Arial"/>
              </a:defRPr>
            </a:pPr>
            <a:r>
              <a:t>• Đề xuất sẵn 3 tiêu đề ngắn gọn, phù hợp để người viết lựa chọn.</a:t>
            </a:r>
          </a:p>
          <a:p>
            <a:pPr>
              <a:defRPr sz="950">
                <a:solidFill>
                  <a:srgbClr val="334155"/>
                </a:solidFill>
                <a:latin typeface="Arial"/>
              </a:defRPr>
            </a:pPr>
            <a:r>
              <a:t>• Cho phép bôi đen đoạn văn để yêu cầu AI chỉnh sửa hoặc viết lại theo ý muốn.</a:t>
            </a:r>
          </a:p>
        </p:txBody>
      </p:sp>
      <p:sp>
        <p:nvSpPr>
          <p:cNvPr id="7" name="Rounded Rectangle 6"/>
          <p:cNvSpPr/>
          <p:nvPr/>
        </p:nvSpPr>
        <p:spPr>
          <a:xfrm>
            <a:off x="27432000" y="3977639"/>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3. Tự động rút gọn đăng Facebook &amp; Zalo</a:t>
            </a:r>
          </a:p>
          <a:p>
            <a:pPr>
              <a:defRPr sz="1000" b="1">
                <a:solidFill>
                  <a:srgbClr val="BE7814"/>
                </a:solidFill>
                <a:latin typeface="Arial"/>
              </a:defRPr>
            </a:pPr>
            <a:r>
              <a:t>Xuất bản đa kênh tiện lợi, nhanh chóng</a:t>
            </a:r>
          </a:p>
          <a:p>
            <a:pPr>
              <a:defRPr sz="950">
                <a:solidFill>
                  <a:srgbClr val="334155"/>
                </a:solidFill>
                <a:latin typeface="Arial"/>
              </a:defRPr>
            </a:pPr>
            <a:r>
              <a:t>• Tự động rút gọn bài viết dài thành bản tin vắn 3–4 câu cô đọng.</a:t>
            </a:r>
          </a:p>
          <a:p>
            <a:pPr>
              <a:defRPr sz="950">
                <a:solidFill>
                  <a:srgbClr val="334155"/>
                </a:solidFill>
                <a:latin typeface="Arial"/>
              </a:defRPr>
            </a:pPr>
            <a:r>
              <a:t>• Đính kèm liên kết đọc bài viết gốc và các thẻ chủ đề (#CongDoanTDMU).</a:t>
            </a:r>
          </a:p>
          <a:p>
            <a:pPr>
              <a:defRPr sz="950">
                <a:solidFill>
                  <a:srgbClr val="334155"/>
                </a:solidFill>
                <a:latin typeface="Arial"/>
              </a:defRPr>
            </a:pPr>
            <a:r>
              <a:t>• Cán bộ có thể xem trước chính xác giao diện hiển thị trên Facebook trước khi duyệt đăng.</a:t>
            </a:r>
          </a:p>
        </p:txBody>
      </p:sp>
      <p:sp>
        <p:nvSpPr>
          <p:cNvPr id="8" name="Rounded Rectangle 7"/>
          <p:cNvSpPr/>
          <p:nvPr/>
        </p:nvSpPr>
        <p:spPr>
          <a:xfrm>
            <a:off x="27432000" y="3977639"/>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4. Trích xuất thông tin trên ảnh sự kiện</a:t>
            </a:r>
          </a:p>
          <a:p>
            <a:pPr>
              <a:defRPr sz="1000" b="1">
                <a:solidFill>
                  <a:srgbClr val="BE7814"/>
                </a:solidFill>
                <a:latin typeface="Arial"/>
              </a:defRPr>
            </a:pPr>
            <a:r>
              <a:t>Nhận diện chữ trên phông nền sự kiện</a:t>
            </a:r>
          </a:p>
          <a:p>
            <a:pPr>
              <a:defRPr sz="950">
                <a:solidFill>
                  <a:srgbClr val="334155"/>
                </a:solidFill>
                <a:latin typeface="Arial"/>
              </a:defRPr>
            </a:pPr>
            <a:r>
              <a:t>• AI phân tích ảnh sự kiện tải lên, đọc chữ trên băng rôn hoặc biểu ngữ.</a:t>
            </a:r>
          </a:p>
          <a:p>
            <a:pPr>
              <a:defRPr sz="950">
                <a:solidFill>
                  <a:srgbClr val="334155"/>
                </a:solidFill>
                <a:latin typeface="Arial"/>
              </a:defRPr>
            </a:pPr>
            <a:r>
              <a:t>• Tự động tạo câu chú thích ảnh phù hợp với nội dung hoạt động.</a:t>
            </a:r>
          </a:p>
          <a:p>
            <a:pPr>
              <a:defRPr sz="950">
                <a:solidFill>
                  <a:srgbClr val="334155"/>
                </a:solidFill>
                <a:latin typeface="Arial"/>
              </a:defRPr>
            </a:pPr>
            <a:r>
              <a:t>• Giúp bài viết thêm sinh động và hoàn thiện nhanh chóng hơn.</a:t>
            </a:r>
          </a:p>
        </p:txBody>
      </p:sp>
      <p:sp>
        <p:nvSpPr>
          <p:cNvPr id="9" name="TextBox 8"/>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4. CHỨC NĂNG TRỢ LÝ AI</a:t>
            </a:r>
          </a:p>
        </p:txBody>
      </p:sp>
      <p:sp>
        <p:nvSpPr>
          <p:cNvPr id="10" name="TextBox 9"/>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Các chức năng Trợ lý AI hỗ trợ cán bộ viết bài và đăng tin</a:t>
            </a:r>
          </a:p>
        </p:txBody>
      </p:sp>
      <p:sp>
        <p:nvSpPr>
          <p:cNvPr id="11" name="Rectangle 10"/>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dmu_official_logo.png"/>
          <p:cNvPicPr>
            <a:picLocks noChangeAspect="1"/>
          </p:cNvPicPr>
          <p:nvPr/>
        </p:nvPicPr>
        <p:blipFill>
          <a:blip r:embed="rId2"/>
          <a:stretch>
            <a:fillRect/>
          </a:stretch>
        </p:blipFill>
        <p:spPr>
          <a:xfrm>
            <a:off x="27432000" y="292608"/>
            <a:ext cx="1691640" cy="658368"/>
          </a:xfrm>
          <a:prstGeom prst="rect">
            <a:avLst/>
          </a:prstGeom>
        </p:spPr>
      </p:pic>
      <p:sp>
        <p:nvSpPr>
          <p:cNvPr id="13" name="Rectangle 12"/>
          <p:cNvSpPr/>
          <p:nvPr/>
        </p:nvSpPr>
        <p:spPr>
          <a:xfrm>
            <a:off x="2743200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0" y="14173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1. Đọc và phân tích tài liệu sự kiện thô</a:t>
            </a:r>
          </a:p>
          <a:p>
            <a:pPr>
              <a:spcAft>
                <a:spcPts val="800"/>
              </a:spcAft>
              <a:defRPr sz="1050" b="1">
                <a:solidFill>
                  <a:srgbClr val="D97706"/>
                </a:solidFill>
                <a:latin typeface="Arial"/>
              </a:defRPr>
            </a:pPr>
            <a:r>
              <a:t>Tiếp nhận file Word (.docx), Excel (.xlsx), PDF hoặc ảnh chụp</a:t>
            </a:r>
          </a:p>
          <a:p>
            <a:pPr>
              <a:spcAft>
                <a:spcPts val="400"/>
              </a:spcAft>
              <a:defRPr sz="1000">
                <a:solidFill>
                  <a:srgbClr val="334155"/>
                </a:solidFill>
                <a:latin typeface="Arial"/>
              </a:defRPr>
            </a:pPr>
            <a:r>
              <a:t>• Cán bộ chỉ cần tải file kế hoạch sự kiện hoặc ảnh chụp lên hệ thống.</a:t>
            </a:r>
          </a:p>
          <a:p>
            <a:pPr>
              <a:spcAft>
                <a:spcPts val="400"/>
              </a:spcAft>
              <a:defRPr sz="1000">
                <a:solidFill>
                  <a:srgbClr val="334155"/>
                </a:solidFill>
                <a:latin typeface="Arial"/>
              </a:defRPr>
            </a:pPr>
            <a:r>
              <a:t>• AI tự động trích xuất các thông tin chính: thời gian, địa điểm, mục đích, thành phần tham dự.</a:t>
            </a:r>
          </a:p>
          <a:p>
            <a:pPr>
              <a:spcAft>
                <a:spcPts val="400"/>
              </a:spcAft>
              <a:defRPr sz="1000">
                <a:solidFill>
                  <a:srgbClr val="334155"/>
                </a:solidFill>
                <a:latin typeface="Arial"/>
              </a:defRPr>
            </a:pPr>
            <a:r>
              <a:t>• Tiết kiệm công sức đọc dò và tóm tắt tư liệu ban đầu của cán bộ.</a:t>
            </a:r>
          </a:p>
        </p:txBody>
      </p:sp>
      <p:sp>
        <p:nvSpPr>
          <p:cNvPr id="16" name="Rectangle 15"/>
          <p:cNvSpPr/>
          <p:nvPr/>
        </p:nvSpPr>
        <p:spPr>
          <a:xfrm>
            <a:off x="2743200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0" y="14173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2. Tự động viết bài tin tức hoàn chỉnh</a:t>
            </a:r>
          </a:p>
          <a:p>
            <a:pPr>
              <a:spcAft>
                <a:spcPts val="800"/>
              </a:spcAft>
              <a:defRPr sz="1050" b="1">
                <a:solidFill>
                  <a:srgbClr val="D97706"/>
                </a:solidFill>
                <a:latin typeface="Arial"/>
              </a:defRPr>
            </a:pPr>
            <a:r>
              <a:t>Tạo bài viết đầy đủ bố cục chỉ với một thao tác</a:t>
            </a:r>
          </a:p>
          <a:p>
            <a:pPr>
              <a:spcAft>
                <a:spcPts val="400"/>
              </a:spcAft>
              <a:defRPr sz="1000">
                <a:solidFill>
                  <a:srgbClr val="334155"/>
                </a:solidFill>
                <a:latin typeface="Arial"/>
              </a:defRPr>
            </a:pPr>
            <a:r>
              <a:t>• Dựa trên kế hoạch sự kiện, AI tự viết bài tin tức có tiêu đề, đoạn mở đầu (Sapo) và thân bài rõ ràng.</a:t>
            </a:r>
          </a:p>
          <a:p>
            <a:pPr>
              <a:spcAft>
                <a:spcPts val="400"/>
              </a:spcAft>
              <a:defRPr sz="1000">
                <a:solidFill>
                  <a:srgbClr val="334155"/>
                </a:solidFill>
                <a:latin typeface="Arial"/>
              </a:defRPr>
            </a:pPr>
            <a:r>
              <a:t>• Đề xuất sẵn 3 tiêu đề ngắn gọn, phù hợp để người viết lựa chọn.</a:t>
            </a:r>
          </a:p>
          <a:p>
            <a:pPr>
              <a:spcAft>
                <a:spcPts val="400"/>
              </a:spcAft>
              <a:defRPr sz="1000">
                <a:solidFill>
                  <a:srgbClr val="334155"/>
                </a:solidFill>
                <a:latin typeface="Arial"/>
              </a:defRPr>
            </a:pPr>
            <a:r>
              <a:t>• Cho phép bôi đen đoạn văn để yêu cầu AI chỉnh sửa hoặc viết lại theo ý muốn.</a:t>
            </a:r>
          </a:p>
        </p:txBody>
      </p:sp>
      <p:sp>
        <p:nvSpPr>
          <p:cNvPr id="19" name="Rectangle 18"/>
          <p:cNvSpPr/>
          <p:nvPr/>
        </p:nvSpPr>
        <p:spPr>
          <a:xfrm>
            <a:off x="2743200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00" y="39319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3. Tự động rút gọn đăng Facebook &amp; Zalo</a:t>
            </a:r>
          </a:p>
          <a:p>
            <a:pPr>
              <a:spcAft>
                <a:spcPts val="800"/>
              </a:spcAft>
              <a:defRPr sz="1050" b="1">
                <a:solidFill>
                  <a:srgbClr val="D97706"/>
                </a:solidFill>
                <a:latin typeface="Arial"/>
              </a:defRPr>
            </a:pPr>
            <a:r>
              <a:t>Xuất bản đa kênh tiện lợi, nhanh chóng</a:t>
            </a:r>
          </a:p>
          <a:p>
            <a:pPr>
              <a:spcAft>
                <a:spcPts val="400"/>
              </a:spcAft>
              <a:defRPr sz="1000">
                <a:solidFill>
                  <a:srgbClr val="334155"/>
                </a:solidFill>
                <a:latin typeface="Arial"/>
              </a:defRPr>
            </a:pPr>
            <a:r>
              <a:t>• Tự động rút gọn bài viết dài thành bản tin vắn 3–4 câu cô động.</a:t>
            </a:r>
          </a:p>
          <a:p>
            <a:pPr>
              <a:spcAft>
                <a:spcPts val="400"/>
              </a:spcAft>
              <a:defRPr sz="1000">
                <a:solidFill>
                  <a:srgbClr val="334155"/>
                </a:solidFill>
                <a:latin typeface="Arial"/>
              </a:defRPr>
            </a:pPr>
            <a:r>
              <a:t>• Đính kèm liên kết đọc bài viết gốc và các thẻ chủ đề (#CongDoanTDMU).</a:t>
            </a:r>
          </a:p>
          <a:p>
            <a:pPr>
              <a:spcAft>
                <a:spcPts val="400"/>
              </a:spcAft>
              <a:defRPr sz="1000">
                <a:solidFill>
                  <a:srgbClr val="334155"/>
                </a:solidFill>
                <a:latin typeface="Arial"/>
              </a:defRPr>
            </a:pPr>
            <a:r>
              <a:t>• Cán bộ có thể xem trước chính xác giao diện hiển thị trên Facebook trước khi duyệt đăng.</a:t>
            </a:r>
          </a:p>
        </p:txBody>
      </p:sp>
      <p:sp>
        <p:nvSpPr>
          <p:cNvPr id="22" name="Rectangle 21"/>
          <p:cNvSpPr/>
          <p:nvPr/>
        </p:nvSpPr>
        <p:spPr>
          <a:xfrm>
            <a:off x="2743200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00" y="39319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4. Trích xuất thông tin trên ảnh sự kiện</a:t>
            </a:r>
          </a:p>
          <a:p>
            <a:pPr>
              <a:spcAft>
                <a:spcPts val="800"/>
              </a:spcAft>
              <a:defRPr sz="1050" b="1">
                <a:solidFill>
                  <a:srgbClr val="D97706"/>
                </a:solidFill>
                <a:latin typeface="Arial"/>
              </a:defRPr>
            </a:pPr>
            <a:r>
              <a:t>Nhận diện chữ trên phông nền sự kiện (Backdrop OCR)</a:t>
            </a:r>
          </a:p>
          <a:p>
            <a:pPr>
              <a:spcAft>
                <a:spcPts val="400"/>
              </a:spcAft>
              <a:defRPr sz="1000">
                <a:solidFill>
                  <a:srgbClr val="334155"/>
                </a:solidFill>
                <a:latin typeface="Arial"/>
              </a:defRPr>
            </a:pPr>
            <a:r>
              <a:t>• AI phân tích ảnh sự kiện tải lên, đọc chữ trên băng rôn hoặc phông nền biểu ngữ.</a:t>
            </a:r>
          </a:p>
          <a:p>
            <a:pPr>
              <a:spcAft>
                <a:spcPts val="400"/>
              </a:spcAft>
              <a:defRPr sz="1000">
                <a:solidFill>
                  <a:srgbClr val="334155"/>
                </a:solidFill>
                <a:latin typeface="Arial"/>
              </a:defRPr>
            </a:pPr>
            <a:r>
              <a:t>• Tự động tạo câu chú thích ảnh phù hợp với nội dung hoạt động.</a:t>
            </a:r>
          </a:p>
          <a:p>
            <a:pPr>
              <a:spcAft>
                <a:spcPts val="400"/>
              </a:spcAft>
              <a:defRPr sz="1000">
                <a:solidFill>
                  <a:srgbClr val="334155"/>
                </a:solidFill>
                <a:latin typeface="Arial"/>
              </a:defRPr>
            </a:pPr>
            <a:r>
              <a:t>• Giúp bài viết thêm sinh động và hoàn thiện nhanh chóng.</a:t>
            </a:r>
          </a:p>
        </p:txBody>
      </p:sp>
      <p:sp>
        <p:nvSpPr>
          <p:cNvPr id="25" name="TextBox 24"/>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4. CHỨC NĂNG TRỢ LÝ AI</a:t>
            </a:r>
          </a:p>
        </p:txBody>
      </p:sp>
      <p:sp>
        <p:nvSpPr>
          <p:cNvPr id="26" name="TextBox 25"/>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Các chức năng Trợ lý AI hỗ trợ cán bộ viết bài và đăng tin</a:t>
            </a:r>
          </a:p>
        </p:txBody>
      </p:sp>
      <p:sp>
        <p:nvSpPr>
          <p:cNvPr id="27" name="Rectangle 26"/>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2"/>
          <a:stretch>
            <a:fillRect/>
          </a:stretch>
        </p:blipFill>
        <p:spPr>
          <a:xfrm>
            <a:off x="27432000" y="292608"/>
            <a:ext cx="1691640" cy="658368"/>
          </a:xfrm>
          <a:prstGeom prst="rect">
            <a:avLst/>
          </a:prstGeom>
        </p:spPr>
      </p:pic>
      <p:sp>
        <p:nvSpPr>
          <p:cNvPr id="29" name="Rectangle 28"/>
          <p:cNvSpPr/>
          <p:nvPr/>
        </p:nvSpPr>
        <p:spPr>
          <a:xfrm>
            <a:off x="2743200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00" y="14173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0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1. Đọc và phân tích tài liệu sự kiện thô</a:t>
            </a:r>
          </a:p>
          <a:p>
            <a:pPr>
              <a:spcAft>
                <a:spcPts val="800"/>
              </a:spcAft>
              <a:defRPr sz="1050" b="1">
                <a:solidFill>
                  <a:srgbClr val="D97706"/>
                </a:solidFill>
                <a:latin typeface="Arial"/>
              </a:defRPr>
            </a:pPr>
            <a:r>
              <a:t>Tiếp nhận file Word (.docx), Excel (.xlsx), PDF hoặc ảnh chụp</a:t>
            </a:r>
          </a:p>
          <a:p>
            <a:pPr>
              <a:spcAft>
                <a:spcPts val="400"/>
              </a:spcAft>
              <a:defRPr sz="1000">
                <a:solidFill>
                  <a:srgbClr val="334155"/>
                </a:solidFill>
                <a:latin typeface="Arial"/>
              </a:defRPr>
            </a:pPr>
            <a:r>
              <a:t>• Cán bộ chỉ cần tải file kế hoạch sự kiện hoặc ảnh chụp lên hệ thống.</a:t>
            </a:r>
          </a:p>
          <a:p>
            <a:pPr>
              <a:spcAft>
                <a:spcPts val="400"/>
              </a:spcAft>
              <a:defRPr sz="1000">
                <a:solidFill>
                  <a:srgbClr val="334155"/>
                </a:solidFill>
                <a:latin typeface="Arial"/>
              </a:defRPr>
            </a:pPr>
            <a:r>
              <a:t>• AI tự động trích xuất các thông tin chính: thời gian, địa điểm, mục đích, thành phần tham dự.</a:t>
            </a:r>
          </a:p>
          <a:p>
            <a:pPr>
              <a:spcAft>
                <a:spcPts val="400"/>
              </a:spcAft>
              <a:defRPr sz="1000">
                <a:solidFill>
                  <a:srgbClr val="334155"/>
                </a:solidFill>
                <a:latin typeface="Arial"/>
              </a:defRPr>
            </a:pPr>
            <a:r>
              <a:t>• Tiết kiệm công sức đọc dò và tóm tắt tư liệu ban đầu của cán bộ.</a:t>
            </a:r>
          </a:p>
        </p:txBody>
      </p:sp>
      <p:sp>
        <p:nvSpPr>
          <p:cNvPr id="32" name="Rectangle 31"/>
          <p:cNvSpPr/>
          <p:nvPr/>
        </p:nvSpPr>
        <p:spPr>
          <a:xfrm>
            <a:off x="2743200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0" y="14173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0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2. Tự động viết bài tin tức hoàn chỉnh</a:t>
            </a:r>
          </a:p>
          <a:p>
            <a:pPr>
              <a:spcAft>
                <a:spcPts val="800"/>
              </a:spcAft>
              <a:defRPr sz="1050" b="1">
                <a:solidFill>
                  <a:srgbClr val="D97706"/>
                </a:solidFill>
                <a:latin typeface="Arial"/>
              </a:defRPr>
            </a:pPr>
            <a:r>
              <a:t>Tạo bài viết đầy đủ bố cục chỉ với một thao tác</a:t>
            </a:r>
          </a:p>
          <a:p>
            <a:pPr>
              <a:spcAft>
                <a:spcPts val="400"/>
              </a:spcAft>
              <a:defRPr sz="1000">
                <a:solidFill>
                  <a:srgbClr val="334155"/>
                </a:solidFill>
                <a:latin typeface="Arial"/>
              </a:defRPr>
            </a:pPr>
            <a:r>
              <a:t>• Dựa trên kế hoạch sự kiện, AI tự viết bài tin tức có tiêu đề, đoạn mở đầu (Sapo) và thân bài rõ ràng.</a:t>
            </a:r>
          </a:p>
          <a:p>
            <a:pPr>
              <a:spcAft>
                <a:spcPts val="400"/>
              </a:spcAft>
              <a:defRPr sz="1000">
                <a:solidFill>
                  <a:srgbClr val="334155"/>
                </a:solidFill>
                <a:latin typeface="Arial"/>
              </a:defRPr>
            </a:pPr>
            <a:r>
              <a:t>• Đề xuất sẵn 3 tiêu đề ngắn gọn, phù hợp để người viết lựa chọn.</a:t>
            </a:r>
          </a:p>
          <a:p>
            <a:pPr>
              <a:spcAft>
                <a:spcPts val="400"/>
              </a:spcAft>
              <a:defRPr sz="1000">
                <a:solidFill>
                  <a:srgbClr val="334155"/>
                </a:solidFill>
                <a:latin typeface="Arial"/>
              </a:defRPr>
            </a:pPr>
            <a:r>
              <a:t>• Cho phép bôi đen đoạn văn để yêu cầu AI chỉnh sửa hoặc viết lại theo ý muốn.</a:t>
            </a:r>
          </a:p>
        </p:txBody>
      </p:sp>
      <p:sp>
        <p:nvSpPr>
          <p:cNvPr id="35" name="Rectangle 34"/>
          <p:cNvSpPr/>
          <p:nvPr/>
        </p:nvSpPr>
        <p:spPr>
          <a:xfrm>
            <a:off x="2743200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0" y="39319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0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3. Tự động rút gọn đăng Facebook &amp; Zalo</a:t>
            </a:r>
          </a:p>
          <a:p>
            <a:pPr>
              <a:spcAft>
                <a:spcPts val="800"/>
              </a:spcAft>
              <a:defRPr sz="1050" b="1">
                <a:solidFill>
                  <a:srgbClr val="D97706"/>
                </a:solidFill>
                <a:latin typeface="Arial"/>
              </a:defRPr>
            </a:pPr>
            <a:r>
              <a:t>Xuất bản đa kênh tiện lợi, nhanh chóng</a:t>
            </a:r>
          </a:p>
          <a:p>
            <a:pPr>
              <a:spcAft>
                <a:spcPts val="400"/>
              </a:spcAft>
              <a:defRPr sz="1000">
                <a:solidFill>
                  <a:srgbClr val="334155"/>
                </a:solidFill>
                <a:latin typeface="Arial"/>
              </a:defRPr>
            </a:pPr>
            <a:r>
              <a:t>• Tự động rút gọn bài viết dài thành bản tin vắn 3–4 câu cô động.</a:t>
            </a:r>
          </a:p>
          <a:p>
            <a:pPr>
              <a:spcAft>
                <a:spcPts val="400"/>
              </a:spcAft>
              <a:defRPr sz="1000">
                <a:solidFill>
                  <a:srgbClr val="334155"/>
                </a:solidFill>
                <a:latin typeface="Arial"/>
              </a:defRPr>
            </a:pPr>
            <a:r>
              <a:t>• Đính kèm liên kết đọc bài viết gốc và các thẻ chủ đề (#CongDoanTDMU).</a:t>
            </a:r>
          </a:p>
          <a:p>
            <a:pPr>
              <a:spcAft>
                <a:spcPts val="400"/>
              </a:spcAft>
              <a:defRPr sz="1000">
                <a:solidFill>
                  <a:srgbClr val="334155"/>
                </a:solidFill>
                <a:latin typeface="Arial"/>
              </a:defRPr>
            </a:pPr>
            <a:r>
              <a:t>• Cán bộ có thể xem trước chính xác giao diện hiển thị trên Facebook trước khi duyệt đăng.</a:t>
            </a:r>
          </a:p>
        </p:txBody>
      </p:sp>
      <p:sp>
        <p:nvSpPr>
          <p:cNvPr id="38" name="Rectangle 37"/>
          <p:cNvSpPr/>
          <p:nvPr/>
        </p:nvSpPr>
        <p:spPr>
          <a:xfrm>
            <a:off x="2743200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00" y="39319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0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4. Trích xuất thông tin trên ảnh sự kiện</a:t>
            </a:r>
          </a:p>
          <a:p>
            <a:pPr>
              <a:spcAft>
                <a:spcPts val="800"/>
              </a:spcAft>
              <a:defRPr sz="1050" b="1">
                <a:solidFill>
                  <a:srgbClr val="D97706"/>
                </a:solidFill>
                <a:latin typeface="Arial"/>
              </a:defRPr>
            </a:pPr>
            <a:r>
              <a:t>Nhận diện chữ trên phông nền sự kiện (Backdrop OCR)</a:t>
            </a:r>
          </a:p>
          <a:p>
            <a:pPr>
              <a:spcAft>
                <a:spcPts val="400"/>
              </a:spcAft>
              <a:defRPr sz="1000">
                <a:solidFill>
                  <a:srgbClr val="334155"/>
                </a:solidFill>
                <a:latin typeface="Arial"/>
              </a:defRPr>
            </a:pPr>
            <a:r>
              <a:t>• AI phân tích ảnh sự kiện tải lên, đọc chữ trên băng rôn hoặc phông nền biểu ngữ.</a:t>
            </a:r>
          </a:p>
          <a:p>
            <a:pPr>
              <a:spcAft>
                <a:spcPts val="400"/>
              </a:spcAft>
              <a:defRPr sz="1000">
                <a:solidFill>
                  <a:srgbClr val="334155"/>
                </a:solidFill>
                <a:latin typeface="Arial"/>
              </a:defRPr>
            </a:pPr>
            <a:r>
              <a:t>• Tự động tạo câu chú thích ảnh phù hợp với nội dung hoạt động.</a:t>
            </a:r>
          </a:p>
          <a:p>
            <a:pPr>
              <a:spcAft>
                <a:spcPts val="400"/>
              </a:spcAft>
              <a:defRPr sz="1000">
                <a:solidFill>
                  <a:srgbClr val="334155"/>
                </a:solidFill>
                <a:latin typeface="Arial"/>
              </a:defRPr>
            </a:pPr>
            <a:r>
              <a:t>• Giúp bài viết thêm sinh động và hoàn thiện nhanh chóng.</a:t>
            </a:r>
          </a:p>
        </p:txBody>
      </p:sp>
      <p:sp>
        <p:nvSpPr>
          <p:cNvPr id="41" name="TextBox 40"/>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4. CHỨC NĂNG TRỢ LÝ AI</a:t>
            </a:r>
          </a:p>
        </p:txBody>
      </p:sp>
      <p:sp>
        <p:nvSpPr>
          <p:cNvPr id="42" name="TextBox 41"/>
          <p:cNvSpPr txBox="1"/>
          <p:nvPr/>
        </p:nvSpPr>
        <p:spPr>
          <a:xfrm>
            <a:off x="27432000" y="594360"/>
            <a:ext cx="8961120" cy="502920"/>
          </a:xfrm>
          <a:prstGeom prst="rect">
            <a:avLst/>
          </a:prstGeom>
          <a:noFill/>
        </p:spPr>
        <p:txBody>
          <a:bodyPr wrap="square">
            <a:spAutoFit/>
          </a:bodyPr>
          <a:lstStyle/>
          <a:p>
            <a:pPr>
              <a:defRPr sz="2200" b="1">
                <a:solidFill>
                  <a:srgbClr val="002855"/>
                </a:solidFill>
                <a:latin typeface="Arial"/>
              </a:defRPr>
            </a:pPr>
            <a:r>
              <a:t>Các chức năng Trợ lý AI hỗ trợ tác nghiệp truyền thông</a:t>
            </a:r>
          </a:p>
        </p:txBody>
      </p:sp>
      <p:sp>
        <p:nvSpPr>
          <p:cNvPr id="43" name="Rectangle 42"/>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2"/>
          <a:stretch>
            <a:fillRect/>
          </a:stretch>
        </p:blipFill>
        <p:spPr>
          <a:xfrm>
            <a:off x="27432000" y="292608"/>
            <a:ext cx="1691640" cy="658368"/>
          </a:xfrm>
          <a:prstGeom prst="rect">
            <a:avLst/>
          </a:prstGeom>
        </p:spPr>
      </p:pic>
      <p:sp>
        <p:nvSpPr>
          <p:cNvPr id="45" name="TextBox 44"/>
          <p:cNvSpPr txBox="1"/>
          <p:nvPr/>
        </p:nvSpPr>
        <p:spPr>
          <a:xfrm>
            <a:off x="27432000" y="15087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01. Tiếp nhận và phân tích đa dạng tư liệu sự kiện</a:t>
            </a:r>
          </a:p>
          <a:p>
            <a:pPr>
              <a:spcAft>
                <a:spcPts val="800"/>
              </a:spcAft>
              <a:defRPr sz="1000" b="1">
                <a:solidFill>
                  <a:srgbClr val="D97706"/>
                </a:solidFill>
                <a:latin typeface="Arial"/>
              </a:defRPr>
            </a:pPr>
            <a:r>
              <a:t>Tối ưu hóa nguồn dữ liệu đầu vào: Văn bản kế hoạch (.docx, .xlsx, .pdf) và hình ảnh</a:t>
            </a:r>
          </a:p>
          <a:p>
            <a:pPr>
              <a:spcAft>
                <a:spcPts val="400"/>
              </a:spcAft>
              <a:defRPr sz="1000">
                <a:solidFill>
                  <a:srgbClr val="334155"/>
                </a:solidFill>
                <a:latin typeface="Arial"/>
              </a:defRPr>
            </a:pPr>
            <a:r>
              <a:t>• Hệ thống tiếp nhận trực tiếp các tệp kế hoạch tổ chức sự kiện phong trào lên hệ thống.</a:t>
            </a:r>
          </a:p>
          <a:p>
            <a:pPr>
              <a:spcAft>
                <a:spcPts val="400"/>
              </a:spcAft>
              <a:defRPr sz="1000">
                <a:solidFill>
                  <a:srgbClr val="334155"/>
                </a:solidFill>
                <a:latin typeface="Arial"/>
              </a:defRPr>
            </a:pPr>
            <a:r>
              <a:t>• Tự động phân tích ngữ nghĩa và trích xuất các thông tin cốt lõi phục vụ viết bài.</a:t>
            </a:r>
          </a:p>
          <a:p>
            <a:pPr>
              <a:spcAft>
                <a:spcPts val="400"/>
              </a:spcAft>
              <a:defRPr sz="1000">
                <a:solidFill>
                  <a:srgbClr val="334155"/>
                </a:solidFill>
                <a:latin typeface="Arial"/>
              </a:defRPr>
            </a:pPr>
            <a:r>
              <a:t>• Giảm thiểu tối đa thời gian rà soát, đọc tài liệu và biên tập thủ công của cán bộ kiêm nhiệm.</a:t>
            </a:r>
          </a:p>
        </p:txBody>
      </p:sp>
      <p:sp>
        <p:nvSpPr>
          <p:cNvPr id="46" name="TextBox 45"/>
          <p:cNvSpPr txBox="1"/>
          <p:nvPr/>
        </p:nvSpPr>
        <p:spPr>
          <a:xfrm>
            <a:off x="27432000" y="15087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02. Tự động khởi tạo tin bài hoàn chỉnh</a:t>
            </a:r>
          </a:p>
          <a:p>
            <a:pPr>
              <a:spcAft>
                <a:spcPts val="800"/>
              </a:spcAft>
              <a:defRPr sz="1000" b="1">
                <a:solidFill>
                  <a:srgbClr val="D97706"/>
                </a:solidFill>
                <a:latin typeface="Arial"/>
              </a:defRPr>
            </a:pPr>
            <a:r>
              <a:t>Xây dựng bài viết đầy đủ kết cấu báo chí chỉ với một thao tác kích hoạt</a:t>
            </a:r>
          </a:p>
          <a:p>
            <a:pPr>
              <a:spcAft>
                <a:spcPts val="400"/>
              </a:spcAft>
              <a:defRPr sz="1000">
                <a:solidFill>
                  <a:srgbClr val="334155"/>
                </a:solidFill>
                <a:latin typeface="Arial"/>
              </a:defRPr>
            </a:pPr>
            <a:r>
              <a:t>• Tự động xây dựng bố cục tin tức gồm: Tiêu đề gợi ý, đoạn mở bài (Sapo) và các phân đoạn thân bài.</a:t>
            </a:r>
          </a:p>
          <a:p>
            <a:pPr>
              <a:spcAft>
                <a:spcPts val="400"/>
              </a:spcAft>
              <a:defRPr sz="1000">
                <a:solidFill>
                  <a:srgbClr val="334155"/>
                </a:solidFill>
                <a:latin typeface="Arial"/>
              </a:defRPr>
            </a:pPr>
            <a:r>
              <a:t>• Cung cấp đa dạng phương án tiêu đề giúp tối ưu hóa khả năng tiếp cận bạn đọc.</a:t>
            </a:r>
          </a:p>
          <a:p>
            <a:pPr>
              <a:spcAft>
                <a:spcPts val="400"/>
              </a:spcAft>
              <a:defRPr sz="1000">
                <a:solidFill>
                  <a:srgbClr val="334155"/>
                </a:solidFill>
                <a:latin typeface="Arial"/>
              </a:defRPr>
            </a:pPr>
            <a:r>
              <a:t>• Cho phép tương tác trực tiếp với mô hình AI để hiệu chỉnh văn phong theo từng đoạn nội dung.</a:t>
            </a:r>
          </a:p>
        </p:txBody>
      </p:sp>
      <p:sp>
        <p:nvSpPr>
          <p:cNvPr id="47" name="TextBox 46"/>
          <p:cNvSpPr txBox="1"/>
          <p:nvPr/>
        </p:nvSpPr>
        <p:spPr>
          <a:xfrm>
            <a:off x="27432000" y="40233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03. Tối ưu hóa và xuất bản tin bài đa nền tảng</a:t>
            </a:r>
          </a:p>
          <a:p>
            <a:pPr>
              <a:spcAft>
                <a:spcPts val="800"/>
              </a:spcAft>
              <a:defRPr sz="1000" b="1">
                <a:solidFill>
                  <a:srgbClr val="D97706"/>
                </a:solidFill>
                <a:latin typeface="Arial"/>
              </a:defRPr>
            </a:pPr>
            <a:r>
              <a:t>Đồng bộ dữ liệu đa kênh tiện lợi và kiểm soát chất lượng xuất bản</a:t>
            </a:r>
          </a:p>
          <a:p>
            <a:pPr>
              <a:spcAft>
                <a:spcPts val="400"/>
              </a:spcAft>
              <a:defRPr sz="1000">
                <a:solidFill>
                  <a:srgbClr val="334155"/>
                </a:solidFill>
                <a:latin typeface="Arial"/>
              </a:defRPr>
            </a:pPr>
            <a:r>
              <a:t>• Tự động tóm lược nội dung bài viết thành bản tin ngắn gọn phù hợp với mạng xã hội.</a:t>
            </a:r>
          </a:p>
          <a:p>
            <a:pPr>
              <a:spcAft>
                <a:spcPts val="400"/>
              </a:spcAft>
              <a:defRPr sz="1000">
                <a:solidFill>
                  <a:srgbClr val="334155"/>
                </a:solidFill>
                <a:latin typeface="Arial"/>
              </a:defRPr>
            </a:pPr>
            <a:r>
              <a:t>• Tự động liên kết bài viết chi tiết trên Cổng thông tin và gắn thẻ định danh chuyên đề (#CongDoanTDMU).</a:t>
            </a:r>
          </a:p>
          <a:p>
            <a:pPr>
              <a:spcAft>
                <a:spcPts val="400"/>
              </a:spcAft>
              <a:defRPr sz="1000">
                <a:solidFill>
                  <a:srgbClr val="334155"/>
                </a:solidFill>
                <a:latin typeface="Arial"/>
              </a:defRPr>
            </a:pPr>
            <a:r>
              <a:t>• Cung cấp tính năng mô phỏng trực quan giao diện (Live Preview) trước khi Ban biên tập duyệt đăng.</a:t>
            </a:r>
          </a:p>
        </p:txBody>
      </p:sp>
      <p:sp>
        <p:nvSpPr>
          <p:cNvPr id="48" name="TextBox 47"/>
          <p:cNvSpPr txBox="1"/>
          <p:nvPr/>
        </p:nvSpPr>
        <p:spPr>
          <a:xfrm>
            <a:off x="27432000" y="40233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04. Nhận diện và xử lý thông tin từ hình ảnh (Vision AI)</a:t>
            </a:r>
          </a:p>
          <a:p>
            <a:pPr>
              <a:spcAft>
                <a:spcPts val="800"/>
              </a:spcAft>
              <a:defRPr sz="1000" b="1">
                <a:solidFill>
                  <a:srgbClr val="D97706"/>
                </a:solidFill>
                <a:latin typeface="Arial"/>
              </a:defRPr>
            </a:pPr>
            <a:r>
              <a:t>Khai phá dữ liệu văn bản từ phông nền sự kiện (Backdrop OCR)</a:t>
            </a:r>
          </a:p>
          <a:p>
            <a:pPr>
              <a:spcAft>
                <a:spcPts val="400"/>
              </a:spcAft>
              <a:defRPr sz="1000">
                <a:solidFill>
                  <a:srgbClr val="334155"/>
                </a:solidFill>
                <a:latin typeface="Arial"/>
              </a:defRPr>
            </a:pPr>
            <a:r>
              <a:t>• Ứng dụng mô hình AI Vision để nhận diện ký tự quang học trên phông nền, băng rôn sự kiện.</a:t>
            </a:r>
          </a:p>
          <a:p>
            <a:pPr>
              <a:spcAft>
                <a:spcPts val="400"/>
              </a:spcAft>
              <a:defRPr sz="1000">
                <a:solidFill>
                  <a:srgbClr val="334155"/>
                </a:solidFill>
                <a:latin typeface="Arial"/>
              </a:defRPr>
            </a:pPr>
            <a:r>
              <a:t>• Tự động tạo sinh câu chú thích ảnh (Caption) phù hợp với ngữ cảnh hoạt động của bài viết.</a:t>
            </a:r>
          </a:p>
          <a:p>
            <a:pPr>
              <a:spcAft>
                <a:spcPts val="400"/>
              </a:spcAft>
              <a:defRPr sz="1000">
                <a:solidFill>
                  <a:srgbClr val="334155"/>
                </a:solidFill>
                <a:latin typeface="Arial"/>
              </a:defRPr>
            </a:pPr>
            <a:r>
              <a:t>• Tối ưu hóa thời gian biên tập và nâng cao chất lượng trực quan của ấn phẩm truyền thông số.</a:t>
            </a:r>
          </a:p>
        </p:txBody>
      </p:sp>
      <p:sp>
        <p:nvSpPr>
          <p:cNvPr id="49" name="Rectangle 48"/>
          <p:cNvSpPr/>
          <p:nvPr/>
        </p:nvSpPr>
        <p:spPr>
          <a:xfrm>
            <a:off x="27432000" y="3794760"/>
            <a:ext cx="1100023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7432000" y="1508760"/>
            <a:ext cx="9144" cy="4663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365760"/>
            <a:ext cx="8686800" cy="274320"/>
          </a:xfrm>
          <a:prstGeom prst="rect">
            <a:avLst/>
          </a:prstGeom>
          <a:noFill/>
        </p:spPr>
        <p:txBody>
          <a:bodyPr wrap="square">
            <a:spAutoFit/>
          </a:bodyPr>
          <a:lstStyle/>
          <a:p>
            <a:pPr>
              <a:defRPr sz="1100" b="1">
                <a:solidFill>
                  <a:srgbClr val="D97706"/>
                </a:solidFill>
                <a:latin typeface="Arial"/>
              </a:defRPr>
            </a:pPr>
            <a:r>
              <a:t>4. CHỨC NĂNG TRỢ LÝ AI</a:t>
            </a:r>
          </a:p>
        </p:txBody>
      </p:sp>
      <p:sp>
        <p:nvSpPr>
          <p:cNvPr id="52" name="TextBox 51"/>
          <p:cNvSpPr txBox="1"/>
          <p:nvPr/>
        </p:nvSpPr>
        <p:spPr>
          <a:xfrm>
            <a:off x="594360" y="594360"/>
            <a:ext cx="8961120" cy="502920"/>
          </a:xfrm>
          <a:prstGeom prst="rect">
            <a:avLst/>
          </a:prstGeom>
          <a:noFill/>
        </p:spPr>
        <p:txBody>
          <a:bodyPr wrap="square">
            <a:spAutoFit/>
          </a:bodyPr>
          <a:lstStyle/>
          <a:p>
            <a:pPr>
              <a:defRPr sz="2200" b="1">
                <a:solidFill>
                  <a:srgbClr val="002855"/>
                </a:solidFill>
                <a:latin typeface="Arial"/>
              </a:defRPr>
            </a:pPr>
            <a:r>
              <a:t>Các chức năng Trợ lý AI hỗ trợ tác nghiệp truyền thông</a:t>
            </a:r>
          </a:p>
        </p:txBody>
      </p:sp>
      <p:sp>
        <p:nvSpPr>
          <p:cNvPr id="53" name="Rectangle 52"/>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mage.png"/>
          <p:cNvPicPr>
            <a:picLocks noChangeAspect="1"/>
          </p:cNvPicPr>
          <p:nvPr/>
        </p:nvPicPr>
        <p:blipFill>
          <a:blip r:embed="rId2"/>
          <a:stretch>
            <a:fillRect/>
          </a:stretch>
        </p:blipFill>
        <p:spPr>
          <a:xfrm>
            <a:off x="9875520" y="292608"/>
            <a:ext cx="1691640" cy="658368"/>
          </a:xfrm>
          <a:prstGeom prst="rect">
            <a:avLst/>
          </a:prstGeom>
        </p:spPr>
      </p:pic>
      <p:sp>
        <p:nvSpPr>
          <p:cNvPr id="55" name="TextBox 54"/>
          <p:cNvSpPr txBox="1"/>
          <p:nvPr/>
        </p:nvSpPr>
        <p:spPr>
          <a:xfrm>
            <a:off x="594360" y="15087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01. Tiếp nhận và phân tích đa dạng tư liệu sự kiện</a:t>
            </a:r>
          </a:p>
          <a:p>
            <a:pPr>
              <a:spcAft>
                <a:spcPts val="800"/>
              </a:spcAft>
              <a:defRPr sz="1000" b="1">
                <a:solidFill>
                  <a:srgbClr val="D97706"/>
                </a:solidFill>
                <a:latin typeface="Arial"/>
              </a:defRPr>
            </a:pPr>
            <a:r>
              <a:t>Tối ưu hóa nguồn dữ liệu đầu vào: Văn bản kế hoạch (.docx, .xlsx, .pdf) và hình ảnh</a:t>
            </a:r>
          </a:p>
          <a:p>
            <a:pPr>
              <a:spcAft>
                <a:spcPts val="400"/>
              </a:spcAft>
              <a:defRPr sz="1000">
                <a:solidFill>
                  <a:srgbClr val="334155"/>
                </a:solidFill>
                <a:latin typeface="Arial"/>
              </a:defRPr>
            </a:pPr>
            <a:r>
              <a:t>• Hệ thống tiếp nhận trực tiếp các tệp kế hoạch tổ chức sự kiện phong trào lên hệ thống.</a:t>
            </a:r>
          </a:p>
          <a:p>
            <a:pPr>
              <a:spcAft>
                <a:spcPts val="400"/>
              </a:spcAft>
              <a:defRPr sz="1000">
                <a:solidFill>
                  <a:srgbClr val="334155"/>
                </a:solidFill>
                <a:latin typeface="Arial"/>
              </a:defRPr>
            </a:pPr>
            <a:r>
              <a:t>• Tự động phân tích ngữ nghĩa và trích xuất các thông tin cốt lõi phục vụ viết bài.</a:t>
            </a:r>
          </a:p>
          <a:p>
            <a:pPr>
              <a:spcAft>
                <a:spcPts val="400"/>
              </a:spcAft>
              <a:defRPr sz="1000">
                <a:solidFill>
                  <a:srgbClr val="334155"/>
                </a:solidFill>
                <a:latin typeface="Arial"/>
              </a:defRPr>
            </a:pPr>
            <a:r>
              <a:t>• Giảm thiểu tối đa thời gian rà soát, đọc tài liệu và biên tập thủ công của cán bộ kiêm nhiệm.</a:t>
            </a:r>
          </a:p>
        </p:txBody>
      </p:sp>
      <p:sp>
        <p:nvSpPr>
          <p:cNvPr id="56" name="TextBox 55"/>
          <p:cNvSpPr txBox="1"/>
          <p:nvPr/>
        </p:nvSpPr>
        <p:spPr>
          <a:xfrm>
            <a:off x="6291072" y="15087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02. Tự động khởi tạo tin bài hoàn chỉnh</a:t>
            </a:r>
          </a:p>
          <a:p>
            <a:pPr>
              <a:spcAft>
                <a:spcPts val="800"/>
              </a:spcAft>
              <a:defRPr sz="1000" b="1">
                <a:solidFill>
                  <a:srgbClr val="D97706"/>
                </a:solidFill>
                <a:latin typeface="Arial"/>
              </a:defRPr>
            </a:pPr>
            <a:r>
              <a:t>Xây dựng bài viết đầy đủ kết cấu báo chí chỉ với một thao tác kích hoạt</a:t>
            </a:r>
          </a:p>
          <a:p>
            <a:pPr>
              <a:spcAft>
                <a:spcPts val="400"/>
              </a:spcAft>
              <a:defRPr sz="1000">
                <a:solidFill>
                  <a:srgbClr val="334155"/>
                </a:solidFill>
                <a:latin typeface="Arial"/>
              </a:defRPr>
            </a:pPr>
            <a:r>
              <a:t>• Tự động xây dựng bố cục tin tức gồm: Tiêu đề gợi ý, đoạn mở bài (Sapo) và các phân đoạn thân bài.</a:t>
            </a:r>
          </a:p>
          <a:p>
            <a:pPr>
              <a:spcAft>
                <a:spcPts val="400"/>
              </a:spcAft>
              <a:defRPr sz="1000">
                <a:solidFill>
                  <a:srgbClr val="334155"/>
                </a:solidFill>
                <a:latin typeface="Arial"/>
              </a:defRPr>
            </a:pPr>
            <a:r>
              <a:t>• Cung cấp đa dạng phương án tiêu đề giúp tối ưu hóa khả năng tiếp cận bạn đọc.</a:t>
            </a:r>
          </a:p>
          <a:p>
            <a:pPr>
              <a:spcAft>
                <a:spcPts val="400"/>
              </a:spcAft>
              <a:defRPr sz="1000">
                <a:solidFill>
                  <a:srgbClr val="334155"/>
                </a:solidFill>
                <a:latin typeface="Arial"/>
              </a:defRPr>
            </a:pPr>
            <a:r>
              <a:t>• Cho phép tương tác trực tiếp với mô hình AI để hiệu chỉnh văn phong theo từng đoạn nội dung.</a:t>
            </a:r>
          </a:p>
        </p:txBody>
      </p:sp>
      <p:sp>
        <p:nvSpPr>
          <p:cNvPr id="57" name="TextBox 56"/>
          <p:cNvSpPr txBox="1"/>
          <p:nvPr/>
        </p:nvSpPr>
        <p:spPr>
          <a:xfrm>
            <a:off x="594360" y="40233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03. Tối ưu hóa và xuất bản tin bài đa nền tảng</a:t>
            </a:r>
          </a:p>
          <a:p>
            <a:pPr>
              <a:spcAft>
                <a:spcPts val="800"/>
              </a:spcAft>
              <a:defRPr sz="1000" b="1">
                <a:solidFill>
                  <a:srgbClr val="D97706"/>
                </a:solidFill>
                <a:latin typeface="Arial"/>
              </a:defRPr>
            </a:pPr>
            <a:r>
              <a:t>Đồng bộ dữ liệu đa kênh tiện lợi và kiểm soát chất lượng xuất bản</a:t>
            </a:r>
          </a:p>
          <a:p>
            <a:pPr>
              <a:spcAft>
                <a:spcPts val="400"/>
              </a:spcAft>
              <a:defRPr sz="1000">
                <a:solidFill>
                  <a:srgbClr val="334155"/>
                </a:solidFill>
                <a:latin typeface="Arial"/>
              </a:defRPr>
            </a:pPr>
            <a:r>
              <a:t>• Tự động tóm lược nội dung bài viết thành bản tin ngắn gọn phù hợp với mạng xã hội.</a:t>
            </a:r>
          </a:p>
          <a:p>
            <a:pPr>
              <a:spcAft>
                <a:spcPts val="400"/>
              </a:spcAft>
              <a:defRPr sz="1000">
                <a:solidFill>
                  <a:srgbClr val="334155"/>
                </a:solidFill>
                <a:latin typeface="Arial"/>
              </a:defRPr>
            </a:pPr>
            <a:r>
              <a:t>• Tự động liên kết bài viết chi tiết trên Cổng thông tin và gắn thẻ định danh chuyên đề (#CongDoanTDMU).</a:t>
            </a:r>
          </a:p>
          <a:p>
            <a:pPr>
              <a:spcAft>
                <a:spcPts val="400"/>
              </a:spcAft>
              <a:defRPr sz="1000">
                <a:solidFill>
                  <a:srgbClr val="334155"/>
                </a:solidFill>
                <a:latin typeface="Arial"/>
              </a:defRPr>
            </a:pPr>
            <a:r>
              <a:t>• Cung cấp tính năng mô phỏng trực quan giao diện (Live Preview) trước khi Ban biên tập duyệt đăng.</a:t>
            </a:r>
          </a:p>
        </p:txBody>
      </p:sp>
      <p:sp>
        <p:nvSpPr>
          <p:cNvPr id="58" name="TextBox 57"/>
          <p:cNvSpPr txBox="1"/>
          <p:nvPr/>
        </p:nvSpPr>
        <p:spPr>
          <a:xfrm>
            <a:off x="6291072" y="4023360"/>
            <a:ext cx="5303520" cy="2331720"/>
          </a:xfrm>
          <a:prstGeom prst="rect">
            <a:avLst/>
          </a:prstGeom>
          <a:noFill/>
        </p:spPr>
        <p:txBody>
          <a:bodyPr wrap="square" lIns="0" rIns="0" tIns="0">
            <a:spAutoFit/>
          </a:bodyPr>
          <a:lstStyle/>
          <a:p>
            <a:pPr>
              <a:spcAft>
                <a:spcPts val="200"/>
              </a:spcAft>
              <a:defRPr sz="1400" b="1">
                <a:solidFill>
                  <a:srgbClr val="002855"/>
                </a:solidFill>
                <a:latin typeface="Arial"/>
              </a:defRPr>
            </a:pPr>
            <a:r>
              <a:t>04. Nhận diện và xử lý thông tin từ hình ảnh (Vision AI)</a:t>
            </a:r>
          </a:p>
          <a:p>
            <a:pPr>
              <a:spcAft>
                <a:spcPts val="800"/>
              </a:spcAft>
              <a:defRPr sz="1000" b="1">
                <a:solidFill>
                  <a:srgbClr val="D97706"/>
                </a:solidFill>
                <a:latin typeface="Arial"/>
              </a:defRPr>
            </a:pPr>
            <a:r>
              <a:t>Khai phá dữ liệu văn bản từ phông nền sự kiện (Backdrop OCR)</a:t>
            </a:r>
          </a:p>
          <a:p>
            <a:pPr>
              <a:spcAft>
                <a:spcPts val="400"/>
              </a:spcAft>
              <a:defRPr sz="1000">
                <a:solidFill>
                  <a:srgbClr val="334155"/>
                </a:solidFill>
                <a:latin typeface="Arial"/>
              </a:defRPr>
            </a:pPr>
            <a:r>
              <a:t>• Ứng dụng mô hình AI Vision để nhận diện ký tự quang học trên phông nền, băng rôn sự kiện.</a:t>
            </a:r>
          </a:p>
          <a:p>
            <a:pPr>
              <a:spcAft>
                <a:spcPts val="400"/>
              </a:spcAft>
              <a:defRPr sz="1000">
                <a:solidFill>
                  <a:srgbClr val="334155"/>
                </a:solidFill>
                <a:latin typeface="Arial"/>
              </a:defRPr>
            </a:pPr>
            <a:r>
              <a:t>• Tự động tạo sinh câu chú thích ảnh (Caption) phù hợp với ngữ cảnh hoạt động của bài viết.</a:t>
            </a:r>
          </a:p>
          <a:p>
            <a:pPr>
              <a:spcAft>
                <a:spcPts val="400"/>
              </a:spcAft>
              <a:defRPr sz="1000">
                <a:solidFill>
                  <a:srgbClr val="334155"/>
                </a:solidFill>
                <a:latin typeface="Arial"/>
              </a:defRPr>
            </a:pPr>
            <a:r>
              <a:t>• Tối ưu hóa thời gian biên tập và nâng cao chất lượng trực quan của ấn phẩm truyền thông số.</a:t>
            </a:r>
          </a:p>
        </p:txBody>
      </p:sp>
      <p:sp>
        <p:nvSpPr>
          <p:cNvPr id="59" name="Rectangle 58"/>
          <p:cNvSpPr/>
          <p:nvPr/>
        </p:nvSpPr>
        <p:spPr>
          <a:xfrm>
            <a:off x="594360" y="3794760"/>
            <a:ext cx="1100023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080760" y="1508760"/>
            <a:ext cx="9144" cy="4663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r>
              <a:rPr>
                <a:solidFill>
                  <a:srgbClr val="BE7814"/>
                </a:solidFill>
              </a:rPr>
              <a:t>5. DEMO KẾT QUẢ</a:t>
            </a:r>
          </a:p>
        </p:txBody>
      </p:sp>
      <p:sp>
        <p:nvSpPr>
          <p:cNvPr id="3" name="Text 1"/>
          <p:cNvSpPr/>
          <p:nvPr/>
        </p:nvSpPr>
        <p:spPr>
          <a:xfrm>
            <a:off x="590535" y="533400"/>
            <a:ext cx="11601160" cy="419100"/>
          </a:xfrm>
          <a:prstGeom prst="rect">
            <a:avLst/>
          </a:prstGeom>
          <a:noFill/>
          <a:ln/>
        </p:spPr>
        <p:txBody>
          <a:bodyPr wrap="none" lIns="0" tIns="0" rIns="0" bIns="0" rtlCol="0" anchor="t"/>
          <a:lstStyle/>
          <a:p>
            <a:pPr marL="0" indent="0" algn="l">
              <a:lnSpc>
                <a:spcPct val="125000"/>
              </a:lnSpc>
              <a:buNone/>
            </a:pPr>
            <a:r>
              <a:rPr lang="vi-VN" sz="2200" b="1" noProof="1">
                <a:solidFill>
                  <a:srgbClr val="002855"/>
                </a:solidFill>
                <a:latin typeface="Arimo Bold" pitchFamily="34" charset="0"/>
                <a:ea typeface="Arimo Bold" pitchFamily="34" charset="-122"/>
                <a:cs typeface="Arimo Bold" pitchFamily="34" charset="0"/>
              </a:rPr>
              <a:t>Giao diện Cổng thông tin đoàn viên</a:t>
            </a:r>
            <a:endParaRPr lang="vi-VN" sz="2200" noProof="1"/>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pic>
        <p:nvPicPr>
          <p:cNvPr id="5" name="Image 1" descr="preencoded.png"/>
          <p:cNvPicPr>
            <a:picLocks noChangeAspect="1"/>
          </p:cNvPicPr>
          <p:nvPr/>
        </p:nvPicPr>
        <p:blipFill>
          <a:blip r:embed="rId4"/>
          <a:stretch>
            <a:fillRect/>
          </a:stretch>
        </p:blipFill>
        <p:spPr>
          <a:xfrm>
            <a:off x="533387" y="1270000"/>
            <a:ext cx="6857828" cy="4191000"/>
          </a:xfrm>
          <a:prstGeom prst="rect">
            <a:avLst/>
          </a:prstGeom>
        </p:spPr>
      </p:pic>
      <p:sp>
        <p:nvSpPr>
          <p:cNvPr id="6" name="Text 2"/>
          <p:cNvSpPr/>
          <p:nvPr/>
        </p:nvSpPr>
        <p:spPr>
          <a:xfrm>
            <a:off x="590535" y="5588000"/>
            <a:ext cx="7353116" cy="190500"/>
          </a:xfrm>
          <a:prstGeom prst="rect">
            <a:avLst/>
          </a:prstGeom>
          <a:noFill/>
          <a:ln/>
        </p:spPr>
        <p:txBody>
          <a:bodyPr wrap="none" lIns="0" tIns="0" rIns="0" bIns="0" rtlCol="0" anchor="t"/>
          <a:lstStyle/>
          <a:p>
            <a:pPr marL="0" indent="0" algn="l">
              <a:lnSpc>
                <a:spcPct val="125000"/>
              </a:lnSpc>
              <a:buNone/>
            </a:pPr>
            <a:r>
              <a:rPr lang="vi-VN" sz="1000" b="1" i="1" noProof="1">
                <a:solidFill>
                  <a:srgbClr val="334155"/>
                </a:solidFill>
                <a:latin typeface="Arimo Bold" pitchFamily="34" charset="0"/>
                <a:ea typeface="Arimo Bold" pitchFamily="34" charset="-122"/>
                <a:cs typeface="Arimo Bold" pitchFamily="34" charset="0"/>
              </a:rPr>
              <a:t>Trang chủ: banner sự kiện và luồng tin phong trào</a:t>
            </a:r>
            <a:endParaRPr lang="vi-VN" sz="1000" noProof="1"/>
          </a:p>
        </p:txBody>
      </p:sp>
      <p:pic>
        <p:nvPicPr>
          <p:cNvPr id="7" name="Image 2" descr="preencoded.png"/>
          <p:cNvPicPr>
            <a:picLocks noChangeAspect="1"/>
          </p:cNvPicPr>
          <p:nvPr/>
        </p:nvPicPr>
        <p:blipFill>
          <a:blip r:embed="rId5"/>
          <a:stretch>
            <a:fillRect/>
          </a:stretch>
        </p:blipFill>
        <p:spPr>
          <a:xfrm>
            <a:off x="7696007" y="1270000"/>
            <a:ext cx="3962301" cy="2540000"/>
          </a:xfrm>
          <a:prstGeom prst="rect">
            <a:avLst/>
          </a:prstGeom>
        </p:spPr>
      </p:pic>
      <p:sp>
        <p:nvSpPr>
          <p:cNvPr id="8" name="Text 3"/>
          <p:cNvSpPr/>
          <p:nvPr/>
        </p:nvSpPr>
        <p:spPr>
          <a:xfrm>
            <a:off x="7753156" y="3962400"/>
            <a:ext cx="4438539" cy="190500"/>
          </a:xfrm>
          <a:prstGeom prst="rect">
            <a:avLst/>
          </a:prstGeom>
          <a:noFill/>
          <a:ln/>
        </p:spPr>
        <p:txBody>
          <a:bodyPr wrap="none" lIns="0" tIns="0" rIns="0" bIns="0" rtlCol="0" anchor="t"/>
          <a:lstStyle/>
          <a:p>
            <a:pPr marL="0" indent="0" algn="l">
              <a:lnSpc>
                <a:spcPct val="125000"/>
              </a:lnSpc>
              <a:buNone/>
            </a:pPr>
            <a:r>
              <a:rPr lang="vi-VN" sz="1000" b="1" i="1" noProof="1">
                <a:solidFill>
                  <a:srgbClr val="334155"/>
                </a:solidFill>
                <a:latin typeface="Arimo Bold" pitchFamily="34" charset="0"/>
                <a:ea typeface="Arimo Bold" pitchFamily="34" charset="-122"/>
                <a:cs typeface="Arimo Bold" pitchFamily="34" charset="0"/>
              </a:rPr>
              <a:t>Chi tiết bài viết và tương tác độc giả</a:t>
            </a:r>
            <a:endParaRPr lang="vi-VN" sz="1000" noProof="1"/>
          </a:p>
        </p:txBody>
      </p:sp>
      <p:sp>
        <p:nvSpPr>
          <p:cNvPr id="9" name="Shape 4"/>
          <p:cNvSpPr/>
          <p:nvPr/>
        </p:nvSpPr>
        <p:spPr>
          <a:xfrm>
            <a:off x="533387" y="6543774"/>
            <a:ext cx="11124922" cy="9525"/>
          </a:xfrm>
          <a:prstGeom prst="roundRect">
            <a:avLst>
              <a:gd name="adj" fmla="val 49999"/>
            </a:avLst>
          </a:prstGeom>
          <a:solidFill>
            <a:srgbClr val="E2E8F0"/>
          </a:solidFill>
          <a:ln/>
        </p:spPr>
        <p:txBody>
          <a:bodyPr/>
          <a:lstStyle/>
          <a:p>
            <a:endParaRPr lang="vi-VN" noProof="1"/>
          </a:p>
        </p:txBody>
      </p:sp>
      <p:sp>
        <p:nvSpPr>
          <p:cNvPr id="10" name="Text 5"/>
          <p:cNvSpPr/>
          <p:nvPr/>
        </p:nvSpPr>
        <p:spPr>
          <a:xfrm>
            <a:off x="11965680" y="6486525"/>
            <a:ext cx="226015" cy="133350"/>
          </a:xfrm>
          <a:prstGeom prst="rect">
            <a:avLst/>
          </a:prstGeom>
          <a:noFill/>
          <a:ln/>
        </p:spPr>
        <p:txBody>
          <a:bodyPr wrap="none" lIns="0" tIns="0" rIns="0" bIns="0" rtlCol="0" anchor="ctr"/>
          <a:lstStyle/>
          <a:p>
            <a:pPr marL="0" indent="0" algn="l">
              <a:lnSpc>
                <a:spcPct val="125000"/>
              </a:lnSpc>
              <a:buNone/>
            </a:pPr>
            <a:r>
              <a:rPr lang="vi-VN" sz="700" b="1" noProof="1">
                <a:solidFill>
                  <a:srgbClr val="334155"/>
                </a:solidFill>
                <a:latin typeface="Arimo Bold" pitchFamily="34" charset="0"/>
                <a:ea typeface="Arimo Bold" pitchFamily="34" charset="-122"/>
                <a:cs typeface="Arimo Bold" pitchFamily="34" charset="0"/>
              </a:rPr>
              <a:t>10</a:t>
            </a:r>
            <a:endParaRPr lang="vi-VN" sz="700" noProof="1"/>
          </a:p>
        </p:txBody>
      </p:sp>
      <p:sp>
        <p:nvSpPr>
          <p:cNvPr id="12" name="Hình chữ nhật 11">
            <a:extLst>
              <a:ext uri="{FF2B5EF4-FFF2-40B4-BE49-F238E27FC236}">
                <a16:creationId xmlns:a16="http://schemas.microsoft.com/office/drawing/2014/main" id="{2F99D344-D217-2B93-DB4B-3657C11AC1D7}"/>
              </a:ext>
            </a:extLst>
          </p:cNvPr>
          <p:cNvSpPr/>
          <p:nvPr/>
        </p:nvSpPr>
        <p:spPr>
          <a:xfrm>
            <a:off x="27432000" y="6486525"/>
            <a:ext cx="1459527" cy="349890"/>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pPr marL="0" indent="0" algn="l">
              <a:lnSpc>
                <a:spcPct val="125000"/>
              </a:lnSpc>
              <a:buNone/>
            </a:pPr>
            <a:r>
              <a:rPr lang="vi-VN" sz="1000" b="1" noProof="1">
                <a:solidFill>
                  <a:srgbClr val="BE7814"/>
                </a:solidFill>
                <a:latin typeface="Arimo Bold" pitchFamily="34" charset="0"/>
                <a:ea typeface="Arimo Bold" pitchFamily="34" charset="-122"/>
                <a:cs typeface="Arimo Bold" pitchFamily="34" charset="0"/>
              </a:rPr>
              <a:t>5. DEMO KẾT QUẢ</a:t>
            </a:r>
            <a:endParaRPr lang="vi-VN" sz="1000" noProof="1"/>
          </a:p>
        </p:txBody>
      </p:sp>
      <p:sp>
        <p:nvSpPr>
          <p:cNvPr id="3" name="Text 1"/>
          <p:cNvSpPr/>
          <p:nvPr/>
        </p:nvSpPr>
        <p:spPr>
          <a:xfrm>
            <a:off x="590535" y="533400"/>
            <a:ext cx="11601160" cy="419100"/>
          </a:xfrm>
          <a:prstGeom prst="rect">
            <a:avLst/>
          </a:prstGeom>
          <a:noFill/>
          <a:ln/>
        </p:spPr>
        <p:txBody>
          <a:bodyPr wrap="none" lIns="0" tIns="0" rIns="0" bIns="0" rtlCol="0" anchor="t"/>
          <a:lstStyle/>
          <a:p>
            <a:pPr>
              <a:defRPr b="1">
                <a:solidFill>
                  <a:srgbClr val="002855"/>
                </a:solidFill>
              </a:defRPr>
            </a:pPr>
            <a:r>
              <a:t>Phân hệ Quản trị bài viết &amp; Trợ lý AI</a:t>
            </a:r>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pic>
        <p:nvPicPr>
          <p:cNvPr id="5" name="Image 1" descr="preencoded.png"/>
          <p:cNvPicPr>
            <a:picLocks noChangeAspect="1"/>
          </p:cNvPicPr>
          <p:nvPr/>
        </p:nvPicPr>
        <p:blipFill>
          <a:blip r:embed="rId4"/>
          <a:stretch>
            <a:fillRect/>
          </a:stretch>
        </p:blipFill>
        <p:spPr>
          <a:xfrm>
            <a:off x="533387" y="1270000"/>
            <a:ext cx="5486263" cy="3810000"/>
          </a:xfrm>
          <a:prstGeom prst="rect">
            <a:avLst/>
          </a:prstGeom>
        </p:spPr>
      </p:pic>
      <p:pic>
        <p:nvPicPr>
          <p:cNvPr id="6" name="Image 2" descr="preencoded.png"/>
          <p:cNvPicPr>
            <a:picLocks noChangeAspect="1"/>
          </p:cNvPicPr>
          <p:nvPr/>
        </p:nvPicPr>
        <p:blipFill>
          <a:blip r:embed="rId5"/>
          <a:stretch>
            <a:fillRect/>
          </a:stretch>
        </p:blipFill>
        <p:spPr>
          <a:xfrm>
            <a:off x="6172046" y="1270000"/>
            <a:ext cx="5486263" cy="3810000"/>
          </a:xfrm>
          <a:prstGeom prst="rect">
            <a:avLst/>
          </a:prstGeom>
        </p:spPr>
      </p:pic>
      <p:sp>
        <p:nvSpPr>
          <p:cNvPr id="7" name="Shape 2"/>
          <p:cNvSpPr/>
          <p:nvPr/>
        </p:nvSpPr>
        <p:spPr>
          <a:xfrm>
            <a:off x="533387" y="5283200"/>
            <a:ext cx="457189" cy="38100"/>
          </a:xfrm>
          <a:prstGeom prst="roundRect">
            <a:avLst>
              <a:gd name="adj" fmla="val 49999"/>
            </a:avLst>
          </a:prstGeom>
          <a:solidFill>
            <a:srgbClr val="E8891D"/>
          </a:solidFill>
          <a:ln/>
        </p:spPr>
        <p:txBody>
          <a:bodyPr/>
          <a:lstStyle/>
          <a:p>
            <a:endParaRPr lang="vi-VN" noProof="1"/>
          </a:p>
        </p:txBody>
      </p:sp>
      <p:sp>
        <p:nvSpPr>
          <p:cNvPr id="8" name="Text 3"/>
          <p:cNvSpPr/>
          <p:nvPr/>
        </p:nvSpPr>
        <p:spPr>
          <a:xfrm>
            <a:off x="590535" y="5410200"/>
            <a:ext cx="5981550" cy="209550"/>
          </a:xfrm>
          <a:prstGeom prst="rect">
            <a:avLst/>
          </a:prstGeom>
          <a:noFill/>
          <a:ln/>
        </p:spPr>
        <p:txBody>
          <a:bodyPr wrap="none" lIns="0" tIns="0" rIns="0" bIns="0" rtlCol="0" anchor="t"/>
          <a:lstStyle/>
          <a:p>
            <a:pPr marL="0" indent="0" algn="l">
              <a:lnSpc>
                <a:spcPct val="125000"/>
              </a:lnSpc>
              <a:buNone/>
            </a:pPr>
            <a:r>
              <a:rPr lang="vi-VN" sz="1100" b="1" noProof="1">
                <a:solidFill>
                  <a:srgbClr val="334155"/>
                </a:solidFill>
                <a:latin typeface="Arimo Bold" pitchFamily="34" charset="0"/>
                <a:ea typeface="Arimo Bold" pitchFamily="34" charset="-122"/>
                <a:cs typeface="Arimo Bold" pitchFamily="34" charset="0"/>
              </a:rPr>
              <a:t>Soạn bài trực quan; Trợ lý AI gợi ý tiêu đề và xem trước bài Fanpage.</a:t>
            </a:r>
            <a:endParaRPr lang="vi-VN" sz="1100" noProof="1"/>
          </a:p>
        </p:txBody>
      </p:sp>
      <p:sp>
        <p:nvSpPr>
          <p:cNvPr id="9" name="Shape 4"/>
          <p:cNvSpPr/>
          <p:nvPr/>
        </p:nvSpPr>
        <p:spPr>
          <a:xfrm>
            <a:off x="6172046" y="5283200"/>
            <a:ext cx="457189" cy="38100"/>
          </a:xfrm>
          <a:prstGeom prst="roundRect">
            <a:avLst>
              <a:gd name="adj" fmla="val 49999"/>
            </a:avLst>
          </a:prstGeom>
          <a:solidFill>
            <a:srgbClr val="22B8CF"/>
          </a:solidFill>
          <a:ln/>
        </p:spPr>
        <p:txBody>
          <a:bodyPr/>
          <a:lstStyle/>
          <a:p>
            <a:endParaRPr lang="vi-VN" noProof="1"/>
          </a:p>
        </p:txBody>
      </p:sp>
      <p:sp>
        <p:nvSpPr>
          <p:cNvPr id="10" name="Text 5"/>
          <p:cNvSpPr/>
          <p:nvPr/>
        </p:nvSpPr>
        <p:spPr>
          <a:xfrm>
            <a:off x="6229194" y="5410200"/>
            <a:ext cx="5371966" cy="419100"/>
          </a:xfrm>
          <a:prstGeom prst="rect">
            <a:avLst/>
          </a:prstGeom>
          <a:noFill/>
          <a:ln/>
        </p:spPr>
        <p:txBody>
          <a:bodyPr wrap="square" lIns="0" tIns="0" rIns="0" bIns="0" rtlCol="0" anchor="t">
            <a:normAutofit/>
          </a:bodyPr>
          <a:lstStyle/>
          <a:p>
            <a:pPr>
              <a:defRPr>
                <a:solidFill>
                  <a:srgbClr val="334155"/>
                </a:solidFill>
              </a:defRPr>
            </a:pPr>
            <a:r>
              <a:t>Biên tập viên duyệt và xuất bản; Bảng thống kê theo dõi bài viết và số liệu tương tác.</a:t>
            </a:r>
          </a:p>
        </p:txBody>
      </p:sp>
      <p:sp>
        <p:nvSpPr>
          <p:cNvPr id="11" name="Shape 6"/>
          <p:cNvSpPr/>
          <p:nvPr/>
        </p:nvSpPr>
        <p:spPr>
          <a:xfrm>
            <a:off x="533387" y="6543774"/>
            <a:ext cx="11124922" cy="9525"/>
          </a:xfrm>
          <a:prstGeom prst="roundRect">
            <a:avLst>
              <a:gd name="adj" fmla="val 49999"/>
            </a:avLst>
          </a:prstGeom>
          <a:solidFill>
            <a:srgbClr val="E2E8F0"/>
          </a:solidFill>
          <a:ln/>
        </p:spPr>
        <p:txBody>
          <a:bodyPr/>
          <a:lstStyle/>
          <a:p>
            <a:endParaRPr lang="vi-VN" noProof="1"/>
          </a:p>
        </p:txBody>
      </p:sp>
      <p:sp>
        <p:nvSpPr>
          <p:cNvPr id="12" name="Text 7"/>
          <p:cNvSpPr/>
          <p:nvPr/>
        </p:nvSpPr>
        <p:spPr>
          <a:xfrm>
            <a:off x="11970542" y="6486525"/>
            <a:ext cx="221153"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11</a:t>
            </a:r>
            <a:endParaRPr lang="vi-VN" sz="700" noProof="1"/>
          </a:p>
        </p:txBody>
      </p:sp>
      <p:sp>
        <p:nvSpPr>
          <p:cNvPr id="14" name="Hình chữ nhật 13">
            <a:extLst>
              <a:ext uri="{FF2B5EF4-FFF2-40B4-BE49-F238E27FC236}">
                <a16:creationId xmlns:a16="http://schemas.microsoft.com/office/drawing/2014/main" id="{449209F7-3E9B-4AB3-5AA3-BF6D322A85B6}"/>
              </a:ext>
            </a:extLst>
          </p:cNvPr>
          <p:cNvSpPr/>
          <p:nvPr/>
        </p:nvSpPr>
        <p:spPr>
          <a:xfrm>
            <a:off x="27432000" y="6486525"/>
            <a:ext cx="1459527" cy="349890"/>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r>
              <a:rPr>
                <a:solidFill>
                  <a:srgbClr val="002855"/>
                </a:solidFill>
                <a:latin typeface="Arial"/>
              </a:rPr>
              <a:t>6. Kết luận &amp; Định hướng phát triển</a:t>
            </a:r>
          </a:p>
        </p:txBody>
      </p:sp>
      <p:sp>
        <p:nvSpPr>
          <p:cNvPr id="4" name="Shape 2"/>
          <p:cNvSpPr/>
          <p:nvPr/>
        </p:nvSpPr>
        <p:spPr>
          <a:xfrm>
            <a:off x="530352" y="1051560"/>
            <a:ext cx="1051560" cy="36576"/>
          </a:xfrm>
          <a:prstGeom prst="roundRect">
            <a:avLst>
              <a:gd name="adj" fmla="val 49999"/>
            </a:avLst>
          </a:prstGeom>
          <a:solidFill>
            <a:srgbClr val="DA8E11"/>
          </a:solidFill>
          <a:ln/>
        </p:spPr>
        <p:txBody>
          <a:bodyPr/>
          <a:lstStyle/>
          <a:p>
            <a:endParaRPr lang="vi-VN" noProof="1"/>
          </a:p>
        </p:txBody>
      </p:sp>
      <p:sp>
        <p:nvSpPr>
          <p:cNvPr id="5" name="Shape 3"/>
          <p:cNvSpPr/>
          <p:nvPr/>
        </p:nvSpPr>
        <p:spPr>
          <a:xfrm>
            <a:off x="533387" y="4216400"/>
            <a:ext cx="11124922" cy="9525"/>
          </a:xfrm>
          <a:prstGeom prst="roundRect">
            <a:avLst>
              <a:gd name="adj" fmla="val 49999"/>
            </a:avLst>
          </a:prstGeom>
          <a:solidFill>
            <a:srgbClr val="1E3A5F"/>
          </a:solidFill>
          <a:ln/>
        </p:spPr>
        <p:txBody>
          <a:bodyPr/>
          <a:lstStyle/>
          <a:p>
            <a:endParaRPr lang="vi-VN" noProof="1"/>
          </a:p>
        </p:txBody>
      </p:sp>
      <p:sp>
        <p:nvSpPr>
          <p:cNvPr id="6" name="Text 4"/>
          <p:cNvSpPr/>
          <p:nvPr/>
        </p:nvSpPr>
        <p:spPr>
          <a:xfrm>
            <a:off x="590535" y="4419600"/>
            <a:ext cx="1003275" cy="209550"/>
          </a:xfrm>
          <a:prstGeom prst="rect">
            <a:avLst/>
          </a:prstGeom>
          <a:noFill/>
          <a:ln/>
        </p:spPr>
        <p:txBody>
          <a:bodyPr wrap="none" lIns="0" tIns="0" rIns="0" bIns="0" rtlCol="0" anchor="t"/>
          <a:lstStyle/>
          <a:p>
            <a:pPr marL="0" indent="0" algn="l">
              <a:lnSpc>
                <a:spcPct val="125000"/>
              </a:lnSpc>
              <a:buNone/>
            </a:pPr>
            <a:r>
              <a:rPr lang="vi-VN" sz="1100" b="1" noProof="1">
                <a:solidFill>
                  <a:srgbClr val="5FD3E6"/>
                </a:solidFill>
                <a:latin typeface="Arial" pitchFamily="34" charset="0"/>
                <a:ea typeface="Arimo Bold" pitchFamily="34" charset="-122"/>
                <a:cs typeface="Arimo Bold" pitchFamily="34" charset="0"/>
              </a:rPr>
              <a:t>01</a:t>
            </a:r>
            <a:endParaRPr lang="vi-VN" sz="1100" noProof="1"/>
          </a:p>
        </p:txBody>
      </p:sp>
      <p:sp>
        <p:nvSpPr>
          <p:cNvPr id="9" name="Shape 7"/>
          <p:cNvSpPr/>
          <p:nvPr/>
        </p:nvSpPr>
        <p:spPr>
          <a:xfrm>
            <a:off x="533387" y="4927600"/>
            <a:ext cx="11124922" cy="9525"/>
          </a:xfrm>
          <a:prstGeom prst="roundRect">
            <a:avLst>
              <a:gd name="adj" fmla="val 49999"/>
            </a:avLst>
          </a:prstGeom>
          <a:solidFill>
            <a:srgbClr val="1E3A5F"/>
          </a:solidFill>
          <a:ln/>
        </p:spPr>
        <p:txBody>
          <a:bodyPr/>
          <a:lstStyle/>
          <a:p>
            <a:endParaRPr lang="vi-VN" noProof="1"/>
          </a:p>
        </p:txBody>
      </p:sp>
      <p:sp>
        <p:nvSpPr>
          <p:cNvPr id="10" name="Text 8"/>
          <p:cNvSpPr/>
          <p:nvPr/>
        </p:nvSpPr>
        <p:spPr>
          <a:xfrm>
            <a:off x="590535" y="5130800"/>
            <a:ext cx="1003275" cy="209550"/>
          </a:xfrm>
          <a:prstGeom prst="rect">
            <a:avLst/>
          </a:prstGeom>
          <a:noFill/>
          <a:ln/>
        </p:spPr>
        <p:txBody>
          <a:bodyPr wrap="none" lIns="0" tIns="0" rIns="0" bIns="0" rtlCol="0" anchor="t"/>
          <a:lstStyle/>
          <a:p>
            <a:pPr marL="0" indent="0" algn="l">
              <a:lnSpc>
                <a:spcPct val="125000"/>
              </a:lnSpc>
              <a:buNone/>
            </a:pPr>
            <a:r>
              <a:rPr lang="vi-VN" sz="1100" b="1" noProof="1">
                <a:solidFill>
                  <a:srgbClr val="5FD3E6"/>
                </a:solidFill>
                <a:latin typeface="Arial" pitchFamily="34" charset="0"/>
                <a:ea typeface="Arimo Bold" pitchFamily="34" charset="-122"/>
                <a:cs typeface="Arimo Bold" pitchFamily="34" charset="0"/>
              </a:rPr>
              <a:t>02</a:t>
            </a:r>
            <a:endParaRPr lang="vi-VN" sz="1100" noProof="1"/>
          </a:p>
        </p:txBody>
      </p:sp>
      <p:sp>
        <p:nvSpPr>
          <p:cNvPr id="13" name="Shape 11"/>
          <p:cNvSpPr/>
          <p:nvPr/>
        </p:nvSpPr>
        <p:spPr>
          <a:xfrm>
            <a:off x="533387" y="5638800"/>
            <a:ext cx="11124922" cy="9525"/>
          </a:xfrm>
          <a:prstGeom prst="roundRect">
            <a:avLst>
              <a:gd name="adj" fmla="val 49999"/>
            </a:avLst>
          </a:prstGeom>
          <a:solidFill>
            <a:srgbClr val="1E3A5F"/>
          </a:solidFill>
          <a:ln/>
        </p:spPr>
        <p:txBody>
          <a:bodyPr/>
          <a:lstStyle/>
          <a:p>
            <a:endParaRPr lang="vi-VN" noProof="1"/>
          </a:p>
        </p:txBody>
      </p:sp>
      <p:sp>
        <p:nvSpPr>
          <p:cNvPr id="14" name="Text 12"/>
          <p:cNvSpPr/>
          <p:nvPr/>
        </p:nvSpPr>
        <p:spPr>
          <a:xfrm>
            <a:off x="590535" y="5842000"/>
            <a:ext cx="1003275" cy="209550"/>
          </a:xfrm>
          <a:prstGeom prst="rect">
            <a:avLst/>
          </a:prstGeom>
          <a:noFill/>
          <a:ln/>
        </p:spPr>
        <p:txBody>
          <a:bodyPr wrap="none" lIns="0" tIns="0" rIns="0" bIns="0" rtlCol="0" anchor="t"/>
          <a:lstStyle/>
          <a:p>
            <a:pPr marL="0" indent="0" algn="l">
              <a:lnSpc>
                <a:spcPct val="125000"/>
              </a:lnSpc>
              <a:buNone/>
            </a:pPr>
            <a:r>
              <a:rPr lang="vi-VN" sz="1100" b="1" noProof="1">
                <a:solidFill>
                  <a:srgbClr val="5FD3E6"/>
                </a:solidFill>
                <a:latin typeface="Arial" pitchFamily="34" charset="0"/>
                <a:ea typeface="Arimo Bold" pitchFamily="34" charset="-122"/>
                <a:cs typeface="Arimo Bold" pitchFamily="34" charset="0"/>
              </a:rPr>
              <a:t>03</a:t>
            </a:r>
            <a:endParaRPr lang="vi-VN" sz="1100" noProof="1"/>
          </a:p>
        </p:txBody>
      </p:sp>
      <p:sp>
        <p:nvSpPr>
          <p:cNvPr id="17" name="Shape 15"/>
          <p:cNvSpPr/>
          <p:nvPr/>
        </p:nvSpPr>
        <p:spPr>
          <a:xfrm>
            <a:off x="533387" y="6350000"/>
            <a:ext cx="11124922" cy="9525"/>
          </a:xfrm>
          <a:prstGeom prst="roundRect">
            <a:avLst>
              <a:gd name="adj" fmla="val 49999"/>
            </a:avLst>
          </a:prstGeom>
          <a:solidFill>
            <a:srgbClr val="1E3A5F"/>
          </a:solidFill>
          <a:ln/>
        </p:spPr>
        <p:txBody>
          <a:bodyPr/>
          <a:lstStyle/>
          <a:p>
            <a:endParaRPr lang="vi-VN" noProof="1"/>
          </a:p>
        </p:txBody>
      </p:sp>
      <p:sp>
        <p:nvSpPr>
          <p:cNvPr id="18" name="Text 16"/>
          <p:cNvSpPr/>
          <p:nvPr/>
        </p:nvSpPr>
        <p:spPr>
          <a:xfrm>
            <a:off x="11965680" y="6486525"/>
            <a:ext cx="22601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al" pitchFamily="34" charset="0"/>
                <a:ea typeface="Arimo Bold" pitchFamily="34" charset="-122"/>
                <a:cs typeface="Arimo Bold" pitchFamily="34" charset="0"/>
              </a:rPr>
              <a:t>12</a:t>
            </a:r>
            <a:endParaRPr lang="vi-VN" sz="700" noProof="1"/>
          </a:p>
        </p:txBody>
      </p:sp>
      <p:sp>
        <p:nvSpPr>
          <p:cNvPr id="19" name="Rounded Rectangle 18"/>
          <p:cNvSpPr/>
          <p:nvPr/>
        </p:nvSpPr>
        <p:spPr>
          <a:xfrm>
            <a:off x="530352" y="1371600"/>
            <a:ext cx="11128248" cy="2011680"/>
          </a:xfrm>
          <a:prstGeom prst="round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600">
                <a:solidFill>
                  <a:srgbClr val="E67E22"/>
                </a:solidFill>
              </a:defRPr>
            </a:pPr>
            <a:r>
              <a:rPr sz="1600" b="1">
                <a:solidFill>
                  <a:srgbClr val="002855"/>
                </a:solidFill>
                <a:latin typeface="Arial"/>
              </a:rPr>
              <a:t>ĐÁNH GIÁ KẾT QUẢ THỰC HIỆN ĐỀ TÀI</a:t>
            </a:r>
          </a:p>
          <a:p>
            <a:pPr>
              <a:defRPr sz="1300">
                <a:solidFill>
                  <a:srgbClr val="FFFFFF"/>
                </a:solidFill>
              </a:defRPr>
            </a:pPr>
            <a:r>
              <a:rPr sz="1150">
                <a:solidFill>
                  <a:srgbClr val="334155"/>
                </a:solidFill>
                <a:latin typeface="Arial"/>
              </a:rPr>
              <a:t>• Hệ thống Cổng thông tin và phân hệ quản trị nội dung (CMS) đã được hoàn thiện, vận hành ổn định trên môi trường thử nghiệm.</a:t>
            </a:r>
          </a:p>
          <a:p>
            <a:pPr>
              <a:defRPr sz="1300">
                <a:solidFill>
                  <a:srgbClr val="FFFFFF"/>
                </a:solidFill>
              </a:defRPr>
            </a:pPr>
            <a:r>
              <a:rPr sz="1150">
                <a:solidFill>
                  <a:srgbClr val="334155"/>
                </a:solidFill>
                <a:latin typeface="Arial"/>
              </a:rPr>
              <a:t>• Ứng dụng Trí tuệ nhân tạo (AI Copilot) giải quyết hiệu quả bài toán thực tiễn: tự động hóa quy trình phân tích tài liệu, khởi tạo tin bài và hỗ trợ xuất bản đa kênh đồng bộ.</a:t>
            </a:r>
          </a:p>
          <a:p>
            <a:pPr>
              <a:defRPr sz="1300">
                <a:solidFill>
                  <a:srgbClr val="FFFFFF"/>
                </a:solidFill>
              </a:defRPr>
            </a:pPr>
            <a:r>
              <a:rPr sz="1150">
                <a:solidFill>
                  <a:srgbClr val="334155"/>
                </a:solidFill>
                <a:latin typeface="Arial"/>
              </a:rPr>
              <a:t>• Thiết lập cơ chế phân quyền RBAC chặt chẽ giữa 4 vai trò, bảo đảm tính an toàn dữ liệu và tuân thủ quy trình kiểm duyệt báo chí.</a:t>
            </a:r>
          </a:p>
        </p:txBody>
      </p:sp>
      <p:sp>
        <p:nvSpPr>
          <p:cNvPr id="20" name="TextBox 19"/>
          <p:cNvSpPr txBox="1"/>
          <p:nvPr/>
        </p:nvSpPr>
        <p:spPr>
          <a:xfrm>
            <a:off x="1645920" y="4297680"/>
            <a:ext cx="9875520" cy="594360"/>
          </a:xfrm>
          <a:prstGeom prst="rect">
            <a:avLst/>
          </a:prstGeom>
          <a:noFill/>
        </p:spPr>
        <p:txBody>
          <a:bodyPr wrap="square" lIns="0" tIns="0">
            <a:spAutoFit/>
          </a:bodyPr>
          <a:lstStyle/>
          <a:p>
            <a:pPr>
              <a:defRPr b="1" sz="1300">
                <a:solidFill>
                  <a:srgbClr val="002855"/>
                </a:solidFill>
              </a:defRPr>
            </a:pPr>
            <a:r>
              <a:rPr>
                <a:latin typeface="Arial"/>
              </a:rPr>
              <a:t>Website Cổng thông tin &amp; Quản trị CMS</a:t>
            </a:r>
          </a:p>
          <a:p>
            <a:pPr>
              <a:defRPr sz="1200">
                <a:solidFill>
                  <a:srgbClr val="334155"/>
                </a:solidFill>
              </a:defRPr>
            </a:pPr>
            <a:r>
              <a:rPr>
                <a:latin typeface="Arial"/>
              </a:rPr>
              <a:t>Xây dựng giao diện xem tin cho đoàn viên và phân hệ CMS quản lý bài viết, chuyên mục, biểu mẫu số.</a:t>
            </a:r>
          </a:p>
        </p:txBody>
      </p:sp>
      <p:sp>
        <p:nvSpPr>
          <p:cNvPr id="21" name="TextBox 20"/>
          <p:cNvSpPr txBox="1"/>
          <p:nvPr/>
        </p:nvSpPr>
        <p:spPr>
          <a:xfrm>
            <a:off x="1645920" y="5010912"/>
            <a:ext cx="9875520" cy="594360"/>
          </a:xfrm>
          <a:prstGeom prst="rect">
            <a:avLst/>
          </a:prstGeom>
          <a:noFill/>
        </p:spPr>
        <p:txBody>
          <a:bodyPr wrap="square" lIns="0" tIns="0">
            <a:spAutoFit/>
          </a:bodyPr>
          <a:lstStyle/>
          <a:p>
            <a:pPr>
              <a:defRPr b="1" sz="1300">
                <a:solidFill>
                  <a:srgbClr val="002855"/>
                </a:solidFill>
              </a:defRPr>
            </a:pPr>
            <a:r>
              <a:rPr>
                <a:latin typeface="Arial"/>
              </a:rPr>
              <a:t>Tích hợp AI &amp; Xuất bản tự động</a:t>
            </a:r>
          </a:p>
          <a:p>
            <a:pPr>
              <a:defRPr sz="1200">
                <a:solidFill>
                  <a:srgbClr val="334155"/>
                </a:solidFill>
              </a:defRPr>
            </a:pPr>
            <a:r>
              <a:rPr>
                <a:latin typeface="Arial"/>
              </a:rPr>
              <a:t>Kết nối Google Gemini API hỗ trợ tạo bài, gợi ý tiêu đề, đọc ảnh sự kiện và đăng bài tự động sang Fanpage Facebook.</a:t>
            </a:r>
          </a:p>
        </p:txBody>
      </p:sp>
      <p:sp>
        <p:nvSpPr>
          <p:cNvPr id="22" name="TextBox 21"/>
          <p:cNvSpPr txBox="1"/>
          <p:nvPr/>
        </p:nvSpPr>
        <p:spPr>
          <a:xfrm>
            <a:off x="1645920" y="5724144"/>
            <a:ext cx="9875520" cy="594360"/>
          </a:xfrm>
          <a:prstGeom prst="rect">
            <a:avLst/>
          </a:prstGeom>
          <a:noFill/>
        </p:spPr>
        <p:txBody>
          <a:bodyPr wrap="square" lIns="0" tIns="0">
            <a:spAutoFit/>
          </a:bodyPr>
          <a:lstStyle/>
          <a:p>
            <a:pPr>
              <a:defRPr b="1" sz="1300">
                <a:solidFill>
                  <a:srgbClr val="002855"/>
                </a:solidFill>
              </a:defRPr>
            </a:pPr>
            <a:r>
              <a:rPr>
                <a:latin typeface="Arial"/>
              </a:rPr>
              <a:t>Định hướng phát triển tiếp theo</a:t>
            </a:r>
          </a:p>
          <a:p>
            <a:pPr>
              <a:defRPr sz="1200">
                <a:solidFill>
                  <a:srgbClr val="334155"/>
                </a:solidFill>
              </a:defRPr>
            </a:pPr>
            <a:r>
              <a:rPr>
                <a:latin typeface="Arial"/>
              </a:rPr>
              <a:t>Hoàn tất kết nối kênh Zalo Official Account, bổ sung chức năng khảo sát ý kiến đoàn viên và phát triển ứng dụng di động.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111025" y="2297430"/>
            <a:ext cx="5969644" cy="335260"/>
          </a:xfrm>
          <a:prstGeom prst="rect">
            <a:avLst/>
          </a:prstGeom>
          <a:noFill/>
          <a:ln/>
        </p:spPr>
        <p:txBody>
          <a:bodyPr wrap="none" lIns="0" tIns="0" rIns="0" bIns="0" rtlCol="0" anchor="t"/>
          <a:lstStyle/>
          <a:p>
            <a:pPr marL="0" indent="0" algn="ctr">
              <a:lnSpc>
                <a:spcPct val="100000"/>
              </a:lnSpc>
              <a:buNone/>
            </a:pPr>
            <a:r>
              <a:rPr lang="vi-VN" sz="2800" b="1" noProof="1">
                <a:solidFill>
                  <a:srgbClr val="002855"/>
                </a:solidFill>
                <a:latin typeface="Carlito Bold" pitchFamily="34" charset="0"/>
                <a:ea typeface="Carlito Bold" pitchFamily="34" charset="-122"/>
                <a:cs typeface="Carlito Bold" pitchFamily="34" charset="0"/>
              </a:rPr>
              <a:t>CẢM ƠN THẦY VÀ CÁC BẠN ĐÃ LẮNG NGHE!</a:t>
            </a:r>
            <a:endParaRPr lang="vi-VN" sz="2800" noProof="1"/>
          </a:p>
        </p:txBody>
      </p:sp>
      <p:sp>
        <p:nvSpPr>
          <p:cNvPr id="3" name="Text 1"/>
          <p:cNvSpPr/>
          <p:nvPr/>
        </p:nvSpPr>
        <p:spPr>
          <a:xfrm>
            <a:off x="1893245" y="3500120"/>
            <a:ext cx="8405007" cy="792163"/>
          </a:xfrm>
          <a:prstGeom prst="rect">
            <a:avLst/>
          </a:prstGeom>
          <a:noFill/>
          <a:ln/>
        </p:spPr>
        <p:txBody>
          <a:bodyPr wrap="square" lIns="0" tIns="0" rIns="0" bIns="0" rtlCol="0" anchor="t">
            <a:normAutofit/>
          </a:bodyPr>
          <a:lstStyle/>
          <a:p>
            <a:pPr marL="0" indent="0" algn="ctr">
              <a:lnSpc>
                <a:spcPct val="100000"/>
              </a:lnSpc>
              <a:buNone/>
            </a:pPr>
            <a:r>
              <a:rPr lang="vi-VN" sz="2000" noProof="1">
                <a:solidFill>
                  <a:srgbClr val="334155"/>
                </a:solidFill>
                <a:latin typeface="Carlito" pitchFamily="34" charset="0"/>
                <a:ea typeface="Carlito" pitchFamily="34" charset="-122"/>
                <a:cs typeface="Carlito" pitchFamily="34" charset="0"/>
              </a:rPr>
              <a:t>Nhóm 2 xin trân trọng cảm ơn sự hướng dẫn tận tình của ThS. Võ Quốc Lương</a:t>
            </a:r>
            <a:r>
              <a:rPr lang="vi-VN" sz="2000" noProof="1">
                <a:solidFill>
                  <a:srgbClr val="334155"/>
                </a:solidFill>
                <a:latin typeface="Carlito" pitchFamily="34" charset="0"/>
                <a:ea typeface="Carlito" pitchFamily="34" charset="-122"/>
                <a:cs typeface="Carlito" pitchFamily="34" charset="0"/>
              </a:rPr>
              <a:t> </a:t>
            </a:r>
            <a:endParaRPr lang="vi-VN" sz="2000" noProof="1"/>
          </a:p>
          <a:p>
            <a:pPr marL="0" indent="0" algn="ctr">
              <a:lnSpc>
                <a:spcPct val="100000"/>
              </a:lnSpc>
              <a:buNone/>
            </a:pPr>
            <a:r>
              <a:rPr>
                <a:solidFill>
                  <a:srgbClr val="334155"/>
                </a:solidFill>
              </a:rPr>
              <a:t>Kính mời Thầy nhận xét, đặt câu hỏi cho nhóm ạ!</a:t>
            </a:r>
            <a:endParaRPr lang="vi-VN" sz="2000" noProof="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853</Words>
  <Application>Microsoft Office PowerPoint</Application>
  <PresentationFormat>Màn hình rộng</PresentationFormat>
  <Paragraphs>116</Paragraphs>
  <Slides>10</Slides>
  <Notes>10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10</vt:i4>
      </vt:variant>
    </vt:vector>
  </HeadingPairs>
  <TitlesOfParts>
    <vt:vector size="16" baseType="lpstr">
      <vt:lpstr>Arimo Bold</vt:lpstr>
      <vt:lpstr>Arial</vt:lpstr>
      <vt:lpstr>PT Sans Bold</vt:lpstr>
      <vt:lpstr>Carlito Bold</vt:lpstr>
      <vt:lpstr>Carlito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Bình Dương</cp:lastModifiedBy>
  <cp:revision>3</cp:revision>
  <dcterms:created xsi:type="dcterms:W3CDTF">2026-10-25T04:53:38Z</dcterms:created>
  <dcterms:modified xsi:type="dcterms:W3CDTF">2026-10-25T14:27:08Z</dcterms:modified>
</cp:coreProperties>
</file>