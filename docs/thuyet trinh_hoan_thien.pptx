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5" autoAdjust="0"/>
    <p:restoredTop sz="94431" autoAdjust="0"/>
  </p:normalViewPr>
  <p:slideViewPr>
    <p:cSldViewPr snapToGrid="0" snapToObjects="1">
      <p:cViewPr varScale="1">
        <p:scale>
          <a:sx n="104" d="100"/>
          <a:sy n="104" d="100"/>
        </p:scale>
        <p:origin x="756" y="114"/>
      </p:cViewPr>
      <p:guideLst>
        <p:guide pos="384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625274159"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819765582"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10/24/2026</a:t>
            </a:fld>
            <a:endParaRPr lang="en-US"/>
          </a:p>
        </p:txBody>
      </p:sp>
      <p:sp>
        <p:nvSpPr>
          <p:cNvPr id="159643182"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563452908"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0315420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364400353"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82214971" name="Slide Image Placeholder 1"/>
          <p:cNvSpPr>
            <a:spLocks noGrp="1" noRot="1" noChangeAspect="1"/>
          </p:cNvSpPr>
          <p:nvPr>
            <p:ph type="sldImg"/>
          </p:nvPr>
        </p:nvSpPr>
        <p:spPr bwMode="auto"/>
      </p:sp>
      <p:sp>
        <p:nvSpPr>
          <p:cNvPr id="1951672987" name="Notes Placeholder 2"/>
          <p:cNvSpPr>
            <a:spLocks noGrp="1"/>
          </p:cNvSpPr>
          <p:nvPr>
            <p:ph type="body" idx="1"/>
          </p:nvPr>
        </p:nvSpPr>
        <p:spPr bwMode="auto"/>
        <p:txBody>
          <a:bodyPr/>
          <a:lstStyle/>
          <a:p>
            <a:pPr>
              <a:defRPr/>
            </a:pPr>
            <a:endParaRPr lang="en-US"/>
          </a:p>
        </p:txBody>
      </p:sp>
      <p:sp>
        <p:nvSpPr>
          <p:cNvPr id="1447702385"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50204058" name="Slide Image Placeholder 1"/>
          <p:cNvSpPr>
            <a:spLocks noGrp="1" noRot="1" noChangeAspect="1"/>
          </p:cNvSpPr>
          <p:nvPr>
            <p:ph type="sldImg"/>
          </p:nvPr>
        </p:nvSpPr>
        <p:spPr bwMode="auto"/>
      </p:sp>
      <p:sp>
        <p:nvSpPr>
          <p:cNvPr id="855094560" name="Notes Placeholder 2"/>
          <p:cNvSpPr>
            <a:spLocks noGrp="1"/>
          </p:cNvSpPr>
          <p:nvPr>
            <p:ph type="body" idx="1"/>
          </p:nvPr>
        </p:nvSpPr>
        <p:spPr bwMode="auto"/>
        <p:txBody>
          <a:bodyPr/>
          <a:lstStyle/>
          <a:p>
            <a:pPr>
              <a:defRPr/>
            </a:pPr>
            <a:endParaRPr lang="en-US"/>
          </a:p>
        </p:txBody>
      </p:sp>
      <p:sp>
        <p:nvSpPr>
          <p:cNvPr id="1268368270"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07160879" name="Slide Image Placeholder 1"/>
          <p:cNvSpPr>
            <a:spLocks noGrp="1" noRot="1" noChangeAspect="1"/>
          </p:cNvSpPr>
          <p:nvPr>
            <p:ph type="sldImg"/>
          </p:nvPr>
        </p:nvSpPr>
        <p:spPr bwMode="auto"/>
      </p:sp>
      <p:sp>
        <p:nvSpPr>
          <p:cNvPr id="1849410906" name="Notes Placeholder 2"/>
          <p:cNvSpPr>
            <a:spLocks noGrp="1"/>
          </p:cNvSpPr>
          <p:nvPr>
            <p:ph type="body" idx="1"/>
          </p:nvPr>
        </p:nvSpPr>
        <p:spPr bwMode="auto"/>
        <p:txBody>
          <a:bodyPr/>
          <a:lstStyle/>
          <a:p>
            <a:pPr>
              <a:defRPr/>
            </a:pPr>
            <a:endParaRPr lang="en-US"/>
          </a:p>
        </p:txBody>
      </p:sp>
      <p:sp>
        <p:nvSpPr>
          <p:cNvPr id="1373113612"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02353953" name="Slide Image Placeholder 1"/>
          <p:cNvSpPr>
            <a:spLocks noGrp="1" noRot="1" noChangeAspect="1"/>
          </p:cNvSpPr>
          <p:nvPr>
            <p:ph type="sldImg"/>
          </p:nvPr>
        </p:nvSpPr>
        <p:spPr bwMode="auto"/>
      </p:sp>
      <p:sp>
        <p:nvSpPr>
          <p:cNvPr id="353046167" name="Notes Placeholder 2"/>
          <p:cNvSpPr>
            <a:spLocks noGrp="1"/>
          </p:cNvSpPr>
          <p:nvPr>
            <p:ph type="body" idx="1"/>
          </p:nvPr>
        </p:nvSpPr>
        <p:spPr bwMode="auto"/>
        <p:txBody>
          <a:bodyPr/>
          <a:lstStyle/>
          <a:p>
            <a:pPr>
              <a:defRPr/>
            </a:pPr>
            <a:endParaRPr lang="en-US"/>
          </a:p>
        </p:txBody>
      </p:sp>
      <p:sp>
        <p:nvSpPr>
          <p:cNvPr id="2072573907"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02090851" name="Slide Image Placeholder 1"/>
          <p:cNvSpPr>
            <a:spLocks noGrp="1" noRot="1" noChangeAspect="1"/>
          </p:cNvSpPr>
          <p:nvPr>
            <p:ph type="sldImg"/>
          </p:nvPr>
        </p:nvSpPr>
        <p:spPr bwMode="auto"/>
      </p:sp>
      <p:sp>
        <p:nvSpPr>
          <p:cNvPr id="121899841" name="Notes Placeholder 2"/>
          <p:cNvSpPr>
            <a:spLocks noGrp="1"/>
          </p:cNvSpPr>
          <p:nvPr>
            <p:ph type="body" idx="1"/>
          </p:nvPr>
        </p:nvSpPr>
        <p:spPr bwMode="auto"/>
        <p:txBody>
          <a:bodyPr/>
          <a:lstStyle/>
          <a:p>
            <a:pPr>
              <a:defRPr/>
            </a:pPr>
            <a:endParaRPr lang="en-US"/>
          </a:p>
        </p:txBody>
      </p:sp>
      <p:sp>
        <p:nvSpPr>
          <p:cNvPr id="115853011"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96364332" name="Slide Image Placeholder 1"/>
          <p:cNvSpPr>
            <a:spLocks noGrp="1" noRot="1" noChangeAspect="1"/>
          </p:cNvSpPr>
          <p:nvPr>
            <p:ph type="sldImg"/>
          </p:nvPr>
        </p:nvSpPr>
        <p:spPr bwMode="auto"/>
      </p:sp>
      <p:sp>
        <p:nvSpPr>
          <p:cNvPr id="1026868594" name="Notes Placeholder 2"/>
          <p:cNvSpPr>
            <a:spLocks noGrp="1"/>
          </p:cNvSpPr>
          <p:nvPr>
            <p:ph type="body" idx="1"/>
          </p:nvPr>
        </p:nvSpPr>
        <p:spPr bwMode="auto"/>
        <p:txBody>
          <a:bodyPr/>
          <a:lstStyle/>
          <a:p>
            <a:pPr>
              <a:defRPr/>
            </a:pPr>
            <a:endParaRPr lang="en-US"/>
          </a:p>
        </p:txBody>
      </p:sp>
      <p:sp>
        <p:nvSpPr>
          <p:cNvPr id="161629638"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96775833" name="Slide Image Placeholder 1"/>
          <p:cNvSpPr>
            <a:spLocks noGrp="1" noRot="1" noChangeAspect="1"/>
          </p:cNvSpPr>
          <p:nvPr>
            <p:ph type="sldImg"/>
          </p:nvPr>
        </p:nvSpPr>
        <p:spPr bwMode="auto"/>
      </p:sp>
      <p:sp>
        <p:nvSpPr>
          <p:cNvPr id="1841025842" name="Notes Placeholder 2"/>
          <p:cNvSpPr>
            <a:spLocks noGrp="1"/>
          </p:cNvSpPr>
          <p:nvPr>
            <p:ph type="body" idx="1"/>
          </p:nvPr>
        </p:nvSpPr>
        <p:spPr bwMode="auto"/>
        <p:txBody>
          <a:bodyPr/>
          <a:lstStyle/>
          <a:p>
            <a:pPr>
              <a:defRPr/>
            </a:pPr>
            <a:endParaRPr lang="en-US" dirty="0"/>
          </a:p>
        </p:txBody>
      </p:sp>
      <p:sp>
        <p:nvSpPr>
          <p:cNvPr id="401003145"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23870516" name="Slide Image Placeholder 1"/>
          <p:cNvSpPr>
            <a:spLocks noGrp="1" noRot="1" noChangeAspect="1"/>
          </p:cNvSpPr>
          <p:nvPr>
            <p:ph type="sldImg"/>
          </p:nvPr>
        </p:nvSpPr>
        <p:spPr bwMode="auto"/>
      </p:sp>
      <p:sp>
        <p:nvSpPr>
          <p:cNvPr id="1519514850" name="Notes Placeholder 2"/>
          <p:cNvSpPr>
            <a:spLocks noGrp="1"/>
          </p:cNvSpPr>
          <p:nvPr>
            <p:ph type="body" idx="1"/>
          </p:nvPr>
        </p:nvSpPr>
        <p:spPr bwMode="auto"/>
        <p:txBody>
          <a:bodyPr/>
          <a:lstStyle/>
          <a:p>
            <a:pPr>
              <a:defRPr/>
            </a:pPr>
            <a:endParaRPr lang="en-US"/>
          </a:p>
        </p:txBody>
      </p:sp>
      <p:sp>
        <p:nvSpPr>
          <p:cNvPr id="658800164"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03360641" name="Slide Image Placeholder 1"/>
          <p:cNvSpPr>
            <a:spLocks noGrp="1" noRot="1" noChangeAspect="1"/>
          </p:cNvSpPr>
          <p:nvPr>
            <p:ph type="sldImg"/>
          </p:nvPr>
        </p:nvSpPr>
        <p:spPr bwMode="auto"/>
      </p:sp>
      <p:sp>
        <p:nvSpPr>
          <p:cNvPr id="546525656" name="Notes Placeholder 2"/>
          <p:cNvSpPr>
            <a:spLocks noGrp="1"/>
          </p:cNvSpPr>
          <p:nvPr>
            <p:ph type="body" idx="1"/>
          </p:nvPr>
        </p:nvSpPr>
        <p:spPr bwMode="auto"/>
        <p:txBody>
          <a:bodyPr/>
          <a:lstStyle/>
          <a:p>
            <a:pPr>
              <a:defRPr/>
            </a:pPr>
            <a:endParaRPr lang="en-US"/>
          </a:p>
        </p:txBody>
      </p:sp>
      <p:sp>
        <p:nvSpPr>
          <p:cNvPr id="1414378132"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26090955" name="Slide Image Placeholder 1"/>
          <p:cNvSpPr>
            <a:spLocks noGrp="1" noRot="1" noChangeAspect="1"/>
          </p:cNvSpPr>
          <p:nvPr>
            <p:ph type="sldImg"/>
          </p:nvPr>
        </p:nvSpPr>
        <p:spPr bwMode="auto"/>
      </p:sp>
      <p:sp>
        <p:nvSpPr>
          <p:cNvPr id="110295194" name="Notes Placeholder 2"/>
          <p:cNvSpPr>
            <a:spLocks noGrp="1"/>
          </p:cNvSpPr>
          <p:nvPr>
            <p:ph type="body" idx="1"/>
          </p:nvPr>
        </p:nvSpPr>
        <p:spPr bwMode="auto"/>
        <p:txBody>
          <a:bodyPr/>
          <a:lstStyle/>
          <a:p>
            <a:pPr>
              <a:defRPr/>
            </a:pPr>
            <a:endParaRPr lang="en-US"/>
          </a:p>
        </p:txBody>
      </p:sp>
      <p:sp>
        <p:nvSpPr>
          <p:cNvPr id="999941876"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81529488" name="Slide Image Placeholder 1"/>
          <p:cNvSpPr>
            <a:spLocks noGrp="1" noRot="1" noChangeAspect="1"/>
          </p:cNvSpPr>
          <p:nvPr>
            <p:ph type="sldImg"/>
          </p:nvPr>
        </p:nvSpPr>
        <p:spPr bwMode="auto"/>
      </p:sp>
      <p:sp>
        <p:nvSpPr>
          <p:cNvPr id="1799096408" name="Notes Placeholder 2"/>
          <p:cNvSpPr>
            <a:spLocks noGrp="1"/>
          </p:cNvSpPr>
          <p:nvPr>
            <p:ph type="body" idx="1"/>
          </p:nvPr>
        </p:nvSpPr>
        <p:spPr bwMode="auto"/>
        <p:txBody>
          <a:bodyPr/>
          <a:lstStyle/>
          <a:p>
            <a:pPr>
              <a:defRPr/>
            </a:pPr>
            <a:endParaRPr lang="en-US"/>
          </a:p>
        </p:txBody>
      </p:sp>
      <p:sp>
        <p:nvSpPr>
          <p:cNvPr id="1954163673"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31494569" name="Slide Image Placeholder 1"/>
          <p:cNvSpPr>
            <a:spLocks noGrp="1" noRot="1" noChangeAspect="1"/>
          </p:cNvSpPr>
          <p:nvPr>
            <p:ph type="sldImg"/>
          </p:nvPr>
        </p:nvSpPr>
        <p:spPr bwMode="auto"/>
      </p:sp>
      <p:sp>
        <p:nvSpPr>
          <p:cNvPr id="1396293744" name="Notes Placeholder 2"/>
          <p:cNvSpPr>
            <a:spLocks noGrp="1"/>
          </p:cNvSpPr>
          <p:nvPr>
            <p:ph type="body" idx="1"/>
          </p:nvPr>
        </p:nvSpPr>
        <p:spPr bwMode="auto"/>
        <p:txBody>
          <a:bodyPr/>
          <a:lstStyle/>
          <a:p>
            <a:pPr>
              <a:defRPr/>
            </a:pPr>
            <a:endParaRPr lang="en-US"/>
          </a:p>
        </p:txBody>
      </p:sp>
      <p:sp>
        <p:nvSpPr>
          <p:cNvPr id="104697216"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7FFF6-614E-60EA-B2A4-032BFC1F0577}"/>
            </a:ext>
          </a:extLst>
        </p:cNvPr>
        <p:cNvGrpSpPr/>
        <p:nvPr/>
      </p:nvGrpSpPr>
      <p:grpSpPr bwMode="auto">
        <a:xfrm>
          <a:off x="0" y="0"/>
          <a:ext cx="0" cy="0"/>
          <a:chOff x="0" y="0"/>
          <a:chExt cx="0" cy="0"/>
        </a:xfrm>
      </p:grpSpPr>
      <p:sp>
        <p:nvSpPr>
          <p:cNvPr id="882214971" name="Slide Image Placeholder 1">
            <a:extLst>
              <a:ext uri="{FF2B5EF4-FFF2-40B4-BE49-F238E27FC236}">
                <a16:creationId xmlns:a16="http://schemas.microsoft.com/office/drawing/2014/main" id="{4EAE3EAA-ACDA-9090-92F8-CAE354732341}"/>
              </a:ext>
            </a:extLst>
          </p:cNvPr>
          <p:cNvSpPr>
            <a:spLocks noGrp="1" noRot="1" noChangeAspect="1"/>
          </p:cNvSpPr>
          <p:nvPr>
            <p:ph type="sldImg"/>
          </p:nvPr>
        </p:nvSpPr>
        <p:spPr bwMode="auto"/>
      </p:sp>
      <p:sp>
        <p:nvSpPr>
          <p:cNvPr id="1951672987" name="Notes Placeholder 2">
            <a:extLst>
              <a:ext uri="{FF2B5EF4-FFF2-40B4-BE49-F238E27FC236}">
                <a16:creationId xmlns:a16="http://schemas.microsoft.com/office/drawing/2014/main" id="{714FC30A-544A-4A52-F2AA-C07B1378D37E}"/>
              </a:ext>
            </a:extLst>
          </p:cNvPr>
          <p:cNvSpPr>
            <a:spLocks noGrp="1"/>
          </p:cNvSpPr>
          <p:nvPr>
            <p:ph type="body" idx="1"/>
          </p:nvPr>
        </p:nvSpPr>
        <p:spPr bwMode="auto"/>
        <p:txBody>
          <a:bodyPr/>
          <a:lstStyle/>
          <a:p>
            <a:pPr>
              <a:defRPr/>
            </a:pPr>
            <a:endParaRPr lang="en-US" dirty="0"/>
          </a:p>
        </p:txBody>
      </p:sp>
      <p:sp>
        <p:nvSpPr>
          <p:cNvPr id="1447702385" name="Slide Number Placeholder 3">
            <a:extLst>
              <a:ext uri="{FF2B5EF4-FFF2-40B4-BE49-F238E27FC236}">
                <a16:creationId xmlns:a16="http://schemas.microsoft.com/office/drawing/2014/main" id="{2C0C03E8-4618-98AC-8ABC-1F4680839708}"/>
              </a:ext>
            </a:extLst>
          </p:cNvPr>
          <p:cNvSpPr>
            <a:spLocks noGrp="1"/>
          </p:cNvSpPr>
          <p:nvPr>
            <p:ph type="sldNum" sz="quarter" idx="10"/>
          </p:nvPr>
        </p:nvSpPr>
        <p:spPr bwMode="auto"/>
        <p:txBody>
          <a:bodyPr/>
          <a:lstStyle/>
          <a:p>
            <a:pPr>
              <a:defRPr/>
            </a:pPr>
            <a:fld id="{F7021451-1387-4CA6-816F-3879F97B5CBC}" type="slidenum">
              <a:rPr lang="en-US"/>
              <a:t>13</a:t>
            </a:fld>
            <a:endParaRPr lang="en-US"/>
          </a:p>
        </p:txBody>
      </p:sp>
    </p:spTree>
    <p:extLst>
      <p:ext uri="{BB962C8B-B14F-4D97-AF65-F5344CB8AC3E}">
        <p14:creationId xmlns:p14="http://schemas.microsoft.com/office/powerpoint/2010/main" val="2260758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7.jpg"/><Relationship Id="rId5"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name="Slide 1">
    <p:bg>
      <p:bgPr>
        <a:solidFill>
          <a:srgbClr val="F6F8FB"/>
        </a:solidFill>
        <a:effectLst/>
      </p:bgPr>
    </p:bg>
    <p:spTree>
      <p:nvGrpSpPr>
        <p:cNvPr id="1" name=""/>
        <p:cNvGrpSpPr/>
        <p:nvPr/>
      </p:nvGrpSpPr>
      <p:grpSpPr bwMode="auto">
        <a:xfrm>
          <a:off x="0" y="0"/>
          <a:ext cx="0" cy="0"/>
          <a:chOff x="0" y="0"/>
          <a:chExt cx="0" cy="0"/>
        </a:xfrm>
      </p:grpSpPr>
      <p:pic>
        <p:nvPicPr>
          <p:cNvPr id="870917759" name="Image 0" descr="/var/folders/t4/q0khv7qd1r3dc2yrbwkzmjf00000gn/T/html2pptx-5EShAo/html2pptx-bg-1791687631881-4aa197ed81b4d.png"/>
          <p:cNvPicPr>
            <a:picLocks noChangeAspect="1"/>
          </p:cNvPicPr>
          <p:nvPr/>
        </p:nvPicPr>
        <p:blipFill rotWithShape="1">
          <a:blip r:embed="rId3"/>
          <a:stretch/>
        </p:blipFill>
        <p:spPr bwMode="auto">
          <a:xfrm>
            <a:off x="0" y="0"/>
            <a:ext cx="12192000" cy="6858000"/>
          </a:xfrm>
          <a:prstGeom prst="rect">
            <a:avLst/>
          </a:prstGeom>
        </p:spPr>
      </p:pic>
      <p:pic>
        <p:nvPicPr>
          <p:cNvPr id="106409509" name="Image 1" descr="/var/folders/t4/q0khv7qd1r3dc2yrbwkzmjf00000gn/T/html2pptx-5EShAo/html2pptx-bg-1791687634666-11618a6fb0db7.png"/>
          <p:cNvPicPr>
            <a:picLocks noChangeAspect="1"/>
          </p:cNvPicPr>
          <p:nvPr/>
        </p:nvPicPr>
        <p:blipFill rotWithShape="1">
          <a:blip r:embed="rId4"/>
          <a:stretch/>
        </p:blipFill>
        <p:spPr bwMode="auto">
          <a:xfrm>
            <a:off x="0" y="0"/>
            <a:ext cx="12192000" cy="6858000"/>
          </a:xfrm>
          <a:prstGeom prst="rect">
            <a:avLst/>
          </a:prstGeom>
        </p:spPr>
      </p:pic>
      <p:sp>
        <p:nvSpPr>
          <p:cNvPr id="1537142312" name="Text 0"/>
          <p:cNvSpPr/>
          <p:nvPr/>
        </p:nvSpPr>
        <p:spPr bwMode="auto">
          <a:xfrm>
            <a:off x="3376664" y="664681"/>
            <a:ext cx="5375100" cy="161925"/>
          </a:xfrm>
          <a:prstGeom prst="rect">
            <a:avLst/>
          </a:prstGeom>
          <a:noFill/>
          <a:ln/>
        </p:spPr>
        <p:txBody>
          <a:bodyPr wrap="square" lIns="0" tIns="0" rIns="0" bIns="0" rtlCol="0" anchor="t"/>
          <a:lstStyle/>
          <a:p>
            <a:pPr marL="0" indent="0" algn="ctr">
              <a:spcBef>
                <a:spcPts val="1125"/>
              </a:spcBef>
              <a:spcAft>
                <a:spcPts val="1350"/>
              </a:spcAft>
              <a:buNone/>
              <a:defRPr/>
            </a:pPr>
            <a:r>
              <a:rPr lang="vi-VN" sz="1150" b="1" noProof="1">
                <a:latin typeface="Segoe UI" panose="020B0502040204020203" pitchFamily="34" charset="0"/>
                <a:ea typeface="Arial"/>
                <a:cs typeface="Segoe UI" panose="020B0502040204020203" pitchFamily="34" charset="0"/>
              </a:rPr>
              <a:t>TRƯỜNG ĐẠI HỌC THỦ DẦU MỘT · VIỆN CÔNG NGHỆ SỐ</a:t>
            </a:r>
            <a:endParaRPr lang="vi-VN" sz="1150" noProof="1">
              <a:latin typeface="Segoe UI" panose="020B0502040204020203" pitchFamily="34" charset="0"/>
              <a:cs typeface="Segoe UI" panose="020B0502040204020203" pitchFamily="34" charset="0"/>
            </a:endParaRPr>
          </a:p>
        </p:txBody>
      </p:sp>
      <p:pic>
        <p:nvPicPr>
          <p:cNvPr id="159039897" name="Image 2" descr="/var/folders/t4/q0khv7qd1r3dc2yrbwkzmjf00000gn/T/html2pptx-5EShAo/html2pptx-bg-1791687635451-9107ca478c6db8.png"/>
          <p:cNvPicPr>
            <a:picLocks noChangeAspect="1"/>
          </p:cNvPicPr>
          <p:nvPr/>
        </p:nvPicPr>
        <p:blipFill rotWithShape="1">
          <a:blip r:embed="rId5"/>
          <a:stretch/>
        </p:blipFill>
        <p:spPr bwMode="auto">
          <a:xfrm>
            <a:off x="5064090" y="998056"/>
            <a:ext cx="2000250" cy="774948"/>
          </a:xfrm>
          <a:prstGeom prst="rect">
            <a:avLst/>
          </a:prstGeom>
        </p:spPr>
      </p:pic>
      <p:sp>
        <p:nvSpPr>
          <p:cNvPr id="1949878041" name="Text 1"/>
          <p:cNvSpPr/>
          <p:nvPr/>
        </p:nvSpPr>
        <p:spPr bwMode="auto">
          <a:xfrm>
            <a:off x="3504682" y="2021392"/>
            <a:ext cx="5169481" cy="447145"/>
          </a:xfrm>
          <a:prstGeom prst="roundRect">
            <a:avLst>
              <a:gd name="adj" fmla="val 3222581"/>
            </a:avLst>
          </a:prstGeom>
          <a:solidFill>
            <a:srgbClr val="002855"/>
          </a:solidFill>
          <a:ln/>
        </p:spPr>
        <p:txBody>
          <a:bodyPr wrap="square" rtlCol="0" anchor="ctr"/>
          <a:lstStyle/>
          <a:p>
            <a:pPr marL="0" indent="0">
              <a:buNone/>
              <a:defRPr/>
            </a:pPr>
            <a:endParaRPr lang="vi-VN" noProof="1">
              <a:latin typeface="Segoe UI" panose="020B0502040204020203" pitchFamily="34" charset="0"/>
              <a:cs typeface="Segoe UI" panose="020B0502040204020203" pitchFamily="34" charset="0"/>
            </a:endParaRPr>
          </a:p>
        </p:txBody>
      </p:sp>
      <p:sp>
        <p:nvSpPr>
          <p:cNvPr id="2006476494" name="Text 2"/>
          <p:cNvSpPr/>
          <p:nvPr/>
        </p:nvSpPr>
        <p:spPr bwMode="auto">
          <a:xfrm>
            <a:off x="3458126" y="2021393"/>
            <a:ext cx="5293638" cy="295274"/>
          </a:xfrm>
          <a:prstGeom prst="rect">
            <a:avLst/>
          </a:prstGeom>
          <a:noFill/>
          <a:ln/>
        </p:spPr>
        <p:txBody>
          <a:bodyPr wrap="square" lIns="209550" tIns="76200" rIns="209550" bIns="76200" rtlCol="0" anchor="t"/>
          <a:lstStyle/>
          <a:p>
            <a:pPr>
              <a:defRPr sz="1600" b="1"/>
            </a:pPr>
            <a:r>
              <a:t>BÁO CÁO ĐỒ ÁN CƠ SỞ NGÀNH</a:t>
            </a:r>
          </a:p>
        </p:txBody>
      </p:sp>
      <p:sp>
        <p:nvSpPr>
          <p:cNvPr id="37544028" name="Text 3"/>
          <p:cNvSpPr/>
          <p:nvPr/>
        </p:nvSpPr>
        <p:spPr bwMode="auto">
          <a:xfrm>
            <a:off x="1444693" y="2979227"/>
            <a:ext cx="9320504" cy="1368194"/>
          </a:xfrm>
          <a:prstGeom prst="rect">
            <a:avLst/>
          </a:prstGeom>
          <a:noFill/>
          <a:ln/>
        </p:spPr>
        <p:txBody>
          <a:bodyPr wrap="square" lIns="0" tIns="0" rIns="0" bIns="0" rtlCol="0" anchor="t"/>
          <a:lstStyle/>
          <a:p>
            <a:pPr marL="0" indent="0" algn="ctr">
              <a:lnSpc>
                <a:spcPct val="30000"/>
              </a:lnSpc>
              <a:spcBef>
                <a:spcPts val="1950"/>
              </a:spcBef>
              <a:spcAft>
                <a:spcPts val="1350"/>
              </a:spcAft>
              <a:buNone/>
              <a:defRPr/>
            </a:pPr>
            <a:r>
              <a:rPr lang="vi-VN" sz="3000" b="1" noProof="1">
                <a:solidFill>
                  <a:srgbClr val="002855"/>
                </a:solidFill>
                <a:latin typeface="Segoe UI" panose="020B0502040204020203" pitchFamily="34" charset="0"/>
                <a:ea typeface="Arial"/>
                <a:cs typeface="Segoe UI" panose="020B0502040204020203" pitchFamily="34" charset="0"/>
              </a:rPr>
              <a:t>Xây dựng Website Truyền thông Công đoàn TDMU</a:t>
            </a:r>
            <a:endParaRPr lang="vi-VN" sz="3000" b="1" noProof="1">
              <a:latin typeface="Segoe UI" panose="020B0502040204020203" pitchFamily="34" charset="0"/>
              <a:cs typeface="Segoe UI" panose="020B0502040204020203" pitchFamily="34" charset="0"/>
            </a:endParaRPr>
          </a:p>
          <a:p>
            <a:pPr marL="0" indent="0" algn="ctr">
              <a:lnSpc>
                <a:spcPct val="30000"/>
              </a:lnSpc>
              <a:spcBef>
                <a:spcPts val="1950"/>
              </a:spcBef>
              <a:spcAft>
                <a:spcPts val="1350"/>
              </a:spcAft>
              <a:buNone/>
              <a:defRPr/>
            </a:pPr>
            <a:r>
              <a:rPr lang="vi-VN" sz="3000" b="1" noProof="1">
                <a:solidFill>
                  <a:srgbClr val="002855"/>
                </a:solidFill>
                <a:latin typeface="Segoe UI" panose="020B0502040204020203" pitchFamily="34" charset="0"/>
                <a:ea typeface="Arial"/>
                <a:cs typeface="Segoe UI" panose="020B0502040204020203" pitchFamily="34" charset="0"/>
              </a:rPr>
              <a:t>tích hợp AI hỗ trợ tạo và đăng tải nội dung</a:t>
            </a:r>
            <a:endParaRPr lang="vi-VN" sz="3000" b="1" noProof="1">
              <a:latin typeface="Segoe UI" panose="020B0502040204020203" pitchFamily="34" charset="0"/>
              <a:cs typeface="Segoe UI" panose="020B0502040204020203" pitchFamily="34" charset="0"/>
            </a:endParaRPr>
          </a:p>
        </p:txBody>
      </p:sp>
      <p:sp>
        <p:nvSpPr>
          <p:cNvPr id="1670694659" name="Text 4"/>
          <p:cNvSpPr/>
          <p:nvPr/>
        </p:nvSpPr>
        <p:spPr bwMode="auto">
          <a:xfrm>
            <a:off x="4725718" y="4003630"/>
            <a:ext cx="2676991" cy="128301"/>
          </a:xfrm>
          <a:prstGeom prst="rect">
            <a:avLst/>
          </a:prstGeom>
          <a:noFill/>
          <a:ln/>
        </p:spPr>
        <p:txBody>
          <a:bodyPr wrap="square" lIns="0" tIns="0" rIns="0" bIns="0" rtlCol="0" anchor="t"/>
          <a:lstStyle/>
          <a:p>
            <a:pPr marL="0" indent="0" algn="ctr">
              <a:buNone/>
              <a:defRPr/>
            </a:pPr>
            <a:r>
              <a:rPr lang="vi-VN" noProof="1">
                <a:solidFill>
                  <a:srgbClr val="31415C"/>
                </a:solidFill>
                <a:latin typeface="Segoe UI" panose="020B0502040204020203" pitchFamily="34" charset="0"/>
                <a:ea typeface="Arial"/>
                <a:cs typeface="Segoe UI" panose="020B0502040204020203" pitchFamily="34" charset="0"/>
              </a:rPr>
              <a:t>Nhóm thực hiện: </a:t>
            </a:r>
            <a:r>
              <a:rPr lang="vi-VN" b="1" noProof="1">
                <a:solidFill>
                  <a:srgbClr val="002855"/>
                </a:solidFill>
                <a:latin typeface="Segoe UI" panose="020B0502040204020203" pitchFamily="34" charset="0"/>
                <a:ea typeface="Arial"/>
                <a:cs typeface="Segoe UI" panose="020B0502040204020203" pitchFamily="34" charset="0"/>
              </a:rPr>
              <a:t>Nhóm 2</a:t>
            </a:r>
            <a:endParaRPr lang="vi-VN" noProof="1">
              <a:latin typeface="Segoe UI" panose="020B0502040204020203" pitchFamily="34" charset="0"/>
              <a:cs typeface="Segoe UI" panose="020B0502040204020203" pitchFamily="34" charset="0"/>
            </a:endParaRPr>
          </a:p>
        </p:txBody>
      </p:sp>
      <p:sp>
        <p:nvSpPr>
          <p:cNvPr id="394878804" name="Text 5"/>
          <p:cNvSpPr/>
          <p:nvPr/>
        </p:nvSpPr>
        <p:spPr bwMode="auto">
          <a:xfrm>
            <a:off x="4055842" y="5097440"/>
            <a:ext cx="4080313" cy="762504"/>
          </a:xfrm>
          <a:prstGeom prst="rect">
            <a:avLst/>
          </a:prstGeom>
          <a:noFill/>
          <a:ln/>
        </p:spPr>
        <p:txBody>
          <a:bodyPr wrap="square" lIns="0" tIns="0" rIns="0" bIns="0" rtlCol="0" anchor="t"/>
          <a:lstStyle/>
          <a:p>
            <a:pPr marL="0" indent="0" algn="l">
              <a:buNone/>
              <a:defRPr/>
            </a:pPr>
            <a:endParaRPr lang="vi-VN" b="0" baseline="-25000" noProof="1">
              <a:latin typeface="Segoe UI" panose="020B0502040204020203" pitchFamily="34" charset="0"/>
              <a:cs typeface="Segoe UI" panose="020B0502040204020203" pitchFamily="34" charset="0"/>
            </a:endParaRPr>
          </a:p>
        </p:txBody>
      </p:sp>
      <p:sp>
        <p:nvSpPr>
          <p:cNvPr id="613455218" name="Text 6"/>
          <p:cNvSpPr/>
          <p:nvPr/>
        </p:nvSpPr>
        <p:spPr bwMode="auto">
          <a:xfrm>
            <a:off x="3208522" y="6108333"/>
            <a:ext cx="5774954" cy="152400"/>
          </a:xfrm>
          <a:prstGeom prst="rect">
            <a:avLst/>
          </a:prstGeom>
          <a:noFill/>
          <a:ln/>
        </p:spPr>
        <p:txBody>
          <a:bodyPr wrap="square" lIns="0" tIns="0" rIns="0" bIns="0" rtlCol="0" anchor="t"/>
          <a:lstStyle/>
          <a:p>
            <a:pPr marL="0" indent="0" algn="ctr">
              <a:spcBef>
                <a:spcPts val="1650"/>
              </a:spcBef>
              <a:spcAft>
                <a:spcPts val="1050"/>
              </a:spcAft>
              <a:buNone/>
              <a:defRPr/>
            </a:pPr>
            <a:r>
              <a:rPr lang="vi-VN" sz="1050" noProof="1">
                <a:solidFill>
                  <a:srgbClr val="8A97AB"/>
                </a:solidFill>
                <a:latin typeface="Segoe UI" panose="020B0502040204020203" pitchFamily="34" charset="0"/>
                <a:ea typeface="Arial"/>
                <a:cs typeface="Segoe UI" panose="020B0502040204020203" pitchFamily="34" charset="0"/>
              </a:rPr>
              <a:t>HỌC PHẦN: ĐỒ ÁN CƠ SỞ NGÀNH · NĂM HỌC 2026–2027 · THÁNG 10/2026</a:t>
            </a:r>
            <a:endParaRPr lang="vi-VN" sz="1050" noProof="1">
              <a:latin typeface="Segoe UI" panose="020B0502040204020203" pitchFamily="34" charset="0"/>
              <a:cs typeface="Segoe UI" panose="020B0502040204020203" pitchFamily="34" charset="0"/>
            </a:endParaRPr>
          </a:p>
        </p:txBody>
      </p:sp>
      <p:sp>
        <p:nvSpPr>
          <p:cNvPr id="2" name="Text 5">
            <a:extLst>
              <a:ext uri="{FF2B5EF4-FFF2-40B4-BE49-F238E27FC236}">
                <a16:creationId xmlns:a16="http://schemas.microsoft.com/office/drawing/2014/main" id="{057AB317-5C80-DBFF-4540-0B877F1E471D}"/>
              </a:ext>
            </a:extLst>
          </p:cNvPr>
          <p:cNvSpPr/>
          <p:nvPr/>
        </p:nvSpPr>
        <p:spPr bwMode="auto">
          <a:xfrm>
            <a:off x="2940385" y="4536564"/>
            <a:ext cx="6247658" cy="762504"/>
          </a:xfrm>
          <a:prstGeom prst="rect">
            <a:avLst/>
          </a:prstGeom>
          <a:noFill/>
          <a:ln/>
        </p:spPr>
        <p:txBody>
          <a:bodyPr wrap="square" lIns="0" tIns="0" rIns="0" bIns="0" rtlCol="0" anchor="t"/>
          <a:lstStyle/>
          <a:p>
            <a:pPr>
              <a:defRPr sz="1100" b="0"/>
            </a:pPr>
            <a:r>
              <a:t>GVHD: ThS. Võ Quốc Lương | Nhóm thực hiện: Nhóm 2</a:t>
            </a:r>
          </a:p>
          <a:p>
            <a:pPr>
              <a:defRPr sz="1100" b="0"/>
            </a:pPr>
            <a:r>
              <a:t>1. Nguyễn Bình Dương (Trưởng nhóm)  2. Trần Hồng Thanh  3. Phạm Anh Tuấn</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name="Slide 2">
    <p:bg>
      <p:bgPr>
        <a:solidFill>
          <a:srgbClr val="F6F8FB"/>
        </a:solidFill>
        <a:effectLst/>
      </p:bgPr>
    </p:bg>
    <p:spTree>
      <p:nvGrpSpPr>
        <p:cNvPr id="1" name=""/>
        <p:cNvGrpSpPr/>
        <p:nvPr/>
      </p:nvGrpSpPr>
      <p:grpSpPr bwMode="auto">
        <a:xfrm>
          <a:off x="0" y="0"/>
          <a:ext cx="0" cy="0"/>
          <a:chOff x="0" y="0"/>
          <a:chExt cx="0" cy="0"/>
        </a:xfrm>
      </p:grpSpPr>
      <p:sp>
        <p:nvSpPr>
          <p:cNvPr id="725398438"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100" b="1" noProof="1">
                <a:solidFill>
                  <a:srgbClr val="B07F12"/>
                </a:solidFill>
                <a:latin typeface="Arial"/>
                <a:ea typeface="Arial"/>
                <a:cs typeface="Arial"/>
              </a:rPr>
              <a:t>1. GIỚI THIỆU ĐỀ TÀI</a:t>
            </a:r>
            <a:endParaRPr lang="vi-VN" sz="1100" noProof="1"/>
          </a:p>
        </p:txBody>
      </p:sp>
      <p:sp>
        <p:nvSpPr>
          <p:cNvPr id="1697951551" name="Text 1"/>
          <p:cNvSpPr/>
          <p:nvPr/>
        </p:nvSpPr>
        <p:spPr bwMode="auto">
          <a:xfrm>
            <a:off x="533400" y="542925"/>
            <a:ext cx="11347704" cy="359569"/>
          </a:xfrm>
          <a:prstGeom prst="rect">
            <a:avLst/>
          </a:prstGeom>
          <a:noFill/>
          <a:ln/>
        </p:spPr>
        <p:txBody>
          <a:bodyPr wrap="square" lIns="0" tIns="0" rIns="0" bIns="0" rtlCol="0" anchor="t"/>
          <a:lstStyle/>
          <a:p>
            <a:r>
              <a:t>Bối cảnh &amp; Tính cấp thiết của đề tài</a:t>
            </a:r>
          </a:p>
        </p:txBody>
      </p:sp>
      <p:pic>
        <p:nvPicPr>
          <p:cNvPr id="1625949967" name="Image 0" descr="/var/folders/t4/q0khv7qd1r3dc2yrbwkzmjf00000gn/T/html2pptx-hpn747/html2pptx-bg-1791687637400-35b90b69f14bc8.png"/>
          <p:cNvPicPr>
            <a:picLocks noChangeAspect="1"/>
          </p:cNvPicPr>
          <p:nvPr/>
        </p:nvPicPr>
        <p:blipFill rotWithShape="1">
          <a:blip r:embed="rId3"/>
          <a:stretch/>
        </p:blipFill>
        <p:spPr bwMode="auto">
          <a:xfrm>
            <a:off x="533400" y="978694"/>
            <a:ext cx="1047750" cy="38100"/>
          </a:xfrm>
          <a:prstGeom prst="rect">
            <a:avLst/>
          </a:prstGeom>
        </p:spPr>
      </p:pic>
      <p:sp>
        <p:nvSpPr>
          <p:cNvPr id="229454653" name="Text 2"/>
          <p:cNvSpPr/>
          <p:nvPr/>
        </p:nvSpPr>
        <p:spPr bwMode="auto">
          <a:xfrm>
            <a:off x="533400" y="1245394"/>
            <a:ext cx="4400550" cy="2928938"/>
          </a:xfrm>
          <a:prstGeom prst="roundRect">
            <a:avLst>
              <a:gd name="adj" fmla="val 4553"/>
            </a:avLst>
          </a:prstGeom>
          <a:solidFill>
            <a:srgbClr val="FFFFFF"/>
          </a:solidFill>
          <a:ln w="9525">
            <a:solidFill>
              <a:srgbClr val="E3E9F2"/>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sz="2400" noProof="1"/>
          </a:p>
        </p:txBody>
      </p:sp>
      <p:sp>
        <p:nvSpPr>
          <p:cNvPr id="1349251627" name="Text 3"/>
          <p:cNvSpPr/>
          <p:nvPr/>
        </p:nvSpPr>
        <p:spPr bwMode="auto">
          <a:xfrm>
            <a:off x="771525" y="1464469"/>
            <a:ext cx="4002786" cy="190500"/>
          </a:xfrm>
          <a:prstGeom prst="rect">
            <a:avLst/>
          </a:prstGeom>
          <a:noFill/>
          <a:ln/>
        </p:spPr>
        <p:txBody>
          <a:bodyPr wrap="square" lIns="0" tIns="0" rIns="0" bIns="0" rtlCol="0" anchor="t"/>
          <a:lstStyle/>
          <a:p>
            <a:pPr marL="0" indent="0" algn="l">
              <a:spcAft>
                <a:spcPts val="1050"/>
              </a:spcAft>
              <a:buNone/>
              <a:defRPr/>
            </a:pPr>
            <a:r>
              <a:rPr lang="vi-VN" sz="1600" b="1" noProof="1">
                <a:solidFill>
                  <a:srgbClr val="002855"/>
                </a:solidFill>
                <a:latin typeface="Arial"/>
                <a:ea typeface="Arial"/>
                <a:cs typeface="Arial"/>
              </a:rPr>
              <a:t>Công đoàn Trường ĐH Thủ Dầu Một</a:t>
            </a:r>
            <a:endParaRPr lang="vi-VN" sz="1600" noProof="1"/>
          </a:p>
        </p:txBody>
      </p:sp>
      <p:sp>
        <p:nvSpPr>
          <p:cNvPr id="1870838840" name="Text 4"/>
          <p:cNvSpPr/>
          <p:nvPr/>
        </p:nvSpPr>
        <p:spPr bwMode="auto">
          <a:xfrm>
            <a:off x="771525" y="1788319"/>
            <a:ext cx="4002786" cy="371475"/>
          </a:xfrm>
          <a:prstGeom prst="rect">
            <a:avLst/>
          </a:prstGeom>
          <a:noFill/>
          <a:ln/>
        </p:spPr>
        <p:txBody>
          <a:bodyPr wrap="square" lIns="0" tIns="0" rIns="0" bIns="0" rtlCol="0" anchor="t"/>
          <a:lstStyle/>
          <a:p>
            <a:r>
              <a:t>Quy mô hơn 800 cán bộ, giảng viên và người lao động</a:t>
            </a:r>
          </a:p>
        </p:txBody>
      </p:sp>
      <p:sp>
        <p:nvSpPr>
          <p:cNvPr id="1055967817" name="Text 7"/>
          <p:cNvSpPr/>
          <p:nvPr/>
        </p:nvSpPr>
        <p:spPr bwMode="auto">
          <a:xfrm>
            <a:off x="771525" y="2274094"/>
            <a:ext cx="280990" cy="371475"/>
          </a:xfrm>
          <a:prstGeom prst="rect">
            <a:avLst/>
          </a:prstGeom>
          <a:noFill/>
          <a:ln/>
        </p:spPr>
        <p:txBody>
          <a:bodyPr wrap="square" lIns="0" tIns="0" rIns="0" bIns="0" rtlCol="0" anchor="t"/>
          <a:lstStyle/>
          <a:p>
            <a:pPr marL="0" indent="0" algn="l">
              <a:lnSpc>
                <a:spcPts val="2925"/>
              </a:lnSpc>
              <a:buNone/>
              <a:defRPr/>
            </a:pPr>
            <a:endParaRPr lang="vi-VN" sz="2400" noProof="1"/>
          </a:p>
        </p:txBody>
      </p:sp>
      <p:sp>
        <p:nvSpPr>
          <p:cNvPr id="1097968427" name="Text 9"/>
          <p:cNvSpPr/>
          <p:nvPr/>
        </p:nvSpPr>
        <p:spPr bwMode="auto">
          <a:xfrm>
            <a:off x="771525" y="2893219"/>
            <a:ext cx="4002786" cy="192881"/>
          </a:xfrm>
          <a:prstGeom prst="rect">
            <a:avLst/>
          </a:prstGeom>
          <a:noFill/>
          <a:ln/>
        </p:spPr>
        <p:txBody>
          <a:bodyPr wrap="square" lIns="0" tIns="0" rIns="0" bIns="0" rtlCol="0" anchor="t"/>
          <a:lstStyle/>
          <a:p>
            <a:r>
              <a:t>Kênh truyền thông hiện tại:</a:t>
            </a:r>
          </a:p>
        </p:txBody>
      </p:sp>
      <p:sp>
        <p:nvSpPr>
          <p:cNvPr id="1624888564" name="Text 10"/>
          <p:cNvSpPr/>
          <p:nvPr/>
        </p:nvSpPr>
        <p:spPr bwMode="auto">
          <a:xfrm>
            <a:off x="771525" y="3200400"/>
            <a:ext cx="4002786" cy="192881"/>
          </a:xfrm>
          <a:prstGeom prst="rect">
            <a:avLst/>
          </a:prstGeom>
          <a:noFill/>
          <a:ln/>
        </p:spPr>
        <p:txBody>
          <a:bodyPr wrap="square" lIns="0" tIns="0" rIns="0" bIns="0" rtlCol="0" anchor="t"/>
          <a:lstStyle/>
          <a:p>
            <a:r>
              <a:t>Mục tin trên Website trường · Fanpage Facebook · Nhóm Zalo</a:t>
            </a:r>
          </a:p>
        </p:txBody>
      </p:sp>
      <p:sp>
        <p:nvSpPr>
          <p:cNvPr id="1888100889" name="Text 11"/>
          <p:cNvSpPr/>
          <p:nvPr/>
        </p:nvSpPr>
        <p:spPr bwMode="auto">
          <a:xfrm>
            <a:off x="771525" y="3507581"/>
            <a:ext cx="4002786" cy="371475"/>
          </a:xfrm>
          <a:prstGeom prst="rect">
            <a:avLst/>
          </a:prstGeom>
          <a:noFill/>
          <a:ln/>
        </p:spPr>
        <p:txBody>
          <a:bodyPr wrap="square" lIns="0" tIns="0" rIns="0" bIns="0" rtlCol="0" anchor="t"/>
          <a:lstStyle/>
          <a:p>
            <a:r>
              <a:t>Đội ngũ truyền thông hoạt động kiêm nhiệm</a:t>
            </a:r>
          </a:p>
        </p:txBody>
      </p:sp>
      <p:sp>
        <p:nvSpPr>
          <p:cNvPr id="1902858871" name="Text 12"/>
          <p:cNvSpPr/>
          <p:nvPr/>
        </p:nvSpPr>
        <p:spPr bwMode="auto">
          <a:xfrm>
            <a:off x="5219700" y="1245394"/>
            <a:ext cx="6438899" cy="627162"/>
          </a:xfrm>
          <a:prstGeom prst="roundRect">
            <a:avLst>
              <a:gd name="adj" fmla="val 18225"/>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1563338913" name="Text 13"/>
          <p:cNvSpPr/>
          <p:nvPr/>
        </p:nvSpPr>
        <p:spPr bwMode="auto">
          <a:xfrm>
            <a:off x="5381625" y="1369218"/>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1547095410" name="Text 14"/>
          <p:cNvSpPr/>
          <p:nvPr/>
        </p:nvSpPr>
        <p:spPr bwMode="auto">
          <a:xfrm>
            <a:off x="5378006" y="1369218"/>
            <a:ext cx="369189" cy="361950"/>
          </a:xfrm>
          <a:prstGeom prst="rect">
            <a:avLst/>
          </a:prstGeom>
          <a:noFill/>
          <a:ln/>
        </p:spPr>
        <p:txBody>
          <a:bodyPr wrap="square" lIns="0" tIns="0" rIns="0" bIns="0" rtlCol="0" anchor="ctr"/>
          <a:lstStyle/>
          <a:p>
            <a:pPr marL="0" indent="0" algn="ctr">
              <a:buNone/>
              <a:defRPr/>
            </a:pPr>
            <a:r>
              <a:rPr lang="vi-VN" sz="1600" b="1" noProof="1">
                <a:solidFill>
                  <a:srgbClr val="F6E7BD"/>
                </a:solidFill>
                <a:latin typeface="Arial"/>
                <a:ea typeface="Arial"/>
                <a:cs typeface="Arial"/>
              </a:rPr>
              <a:t>01</a:t>
            </a:r>
            <a:endParaRPr lang="vi-VN" sz="1600" noProof="1"/>
          </a:p>
        </p:txBody>
      </p:sp>
      <p:sp>
        <p:nvSpPr>
          <p:cNvPr id="2036830797" name="Text 15"/>
          <p:cNvSpPr/>
          <p:nvPr/>
        </p:nvSpPr>
        <p:spPr bwMode="auto">
          <a:xfrm>
            <a:off x="5895975" y="1369218"/>
            <a:ext cx="5594610" cy="171450"/>
          </a:xfrm>
          <a:prstGeom prst="rect">
            <a:avLst/>
          </a:prstGeom>
          <a:noFill/>
          <a:ln/>
        </p:spPr>
        <p:txBody>
          <a:bodyPr wrap="square" lIns="0" tIns="0" rIns="0" bIns="0" rtlCol="0" anchor="t"/>
          <a:lstStyle/>
          <a:p>
            <a:r>
              <a:t>1. Áp lực kiêm nhiệm &amp; Chậm trễ tin tức</a:t>
            </a:r>
          </a:p>
        </p:txBody>
      </p:sp>
      <p:sp>
        <p:nvSpPr>
          <p:cNvPr id="1217143524" name="Text 16"/>
          <p:cNvSpPr/>
          <p:nvPr/>
        </p:nvSpPr>
        <p:spPr bwMode="auto">
          <a:xfrm>
            <a:off x="5895975" y="1569245"/>
            <a:ext cx="5712714" cy="161924"/>
          </a:xfrm>
          <a:prstGeom prst="rect">
            <a:avLst/>
          </a:prstGeom>
          <a:noFill/>
          <a:ln/>
        </p:spPr>
        <p:txBody>
          <a:bodyPr wrap="square" lIns="0" tIns="0" rIns="0" bIns="0" rtlCol="0" anchor="t"/>
          <a:lstStyle/>
          <a:p>
            <a:r>
              <a:t>Đội ngũ làm truyền thông là cán bộ kiêm nhiệm; khâu tìm ý tưởng, viết bài chuẩn phong cách đoàn thể và chuẩn bị hình ảnh tốn nhiều thời gian đăng tải tin tức.</a:t>
            </a:r>
          </a:p>
        </p:txBody>
      </p:sp>
      <p:sp>
        <p:nvSpPr>
          <p:cNvPr id="889763406" name="Text 17"/>
          <p:cNvSpPr/>
          <p:nvPr/>
        </p:nvSpPr>
        <p:spPr bwMode="auto">
          <a:xfrm>
            <a:off x="5219700" y="1986855"/>
            <a:ext cx="6438899" cy="806648"/>
          </a:xfrm>
          <a:prstGeom prst="roundRect">
            <a:avLst>
              <a:gd name="adj" fmla="val 14170"/>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1220917906" name="Text 18"/>
          <p:cNvSpPr/>
          <p:nvPr/>
        </p:nvSpPr>
        <p:spPr bwMode="auto">
          <a:xfrm>
            <a:off x="5381625" y="2110680"/>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327495487" name="Text 19"/>
          <p:cNvSpPr/>
          <p:nvPr/>
        </p:nvSpPr>
        <p:spPr bwMode="auto">
          <a:xfrm>
            <a:off x="5378006" y="2110680"/>
            <a:ext cx="369189" cy="361950"/>
          </a:xfrm>
          <a:prstGeom prst="rect">
            <a:avLst/>
          </a:prstGeom>
          <a:noFill/>
          <a:ln/>
        </p:spPr>
        <p:txBody>
          <a:bodyPr wrap="square" lIns="0" tIns="0" rIns="0" bIns="0" rtlCol="0" anchor="ctr"/>
          <a:lstStyle/>
          <a:p>
            <a:r>
              <a:t>02</a:t>
            </a:r>
          </a:p>
        </p:txBody>
      </p:sp>
      <p:sp>
        <p:nvSpPr>
          <p:cNvPr id="693808807" name="Text 20"/>
          <p:cNvSpPr/>
          <p:nvPr/>
        </p:nvSpPr>
        <p:spPr bwMode="auto">
          <a:xfrm>
            <a:off x="5906649" y="2156709"/>
            <a:ext cx="5762625" cy="852000"/>
          </a:xfrm>
          <a:prstGeom prst="rect">
            <a:avLst/>
          </a:prstGeom>
          <a:noFill/>
          <a:ln/>
        </p:spPr>
        <p:txBody>
          <a:bodyPr wrap="square" lIns="0" tIns="0" rIns="0" bIns="0" rtlCol="0" anchor="t"/>
          <a:lstStyle/>
          <a:p>
            <a:r>
              <a:t>2. Đăng tải thủ công, thao tác lặp lại trên nhiều kênh</a:t>
            </a:r>
          </a:p>
          <a:p>
            <a:r>
              <a:t>Quy trình xuất bản rời rạc; cán bộ phải sao chép, định dạng lại văn bản và tải ảnh lặp lại thủ công trên từng nền tảng (Website, Fanpage Facebook, Zalo).</a:t>
            </a:r>
          </a:p>
        </p:txBody>
      </p:sp>
      <p:sp>
        <p:nvSpPr>
          <p:cNvPr id="1070267935" name="Text 21"/>
          <p:cNvSpPr/>
          <p:nvPr/>
        </p:nvSpPr>
        <p:spPr bwMode="auto">
          <a:xfrm>
            <a:off x="5895975" y="2310705"/>
            <a:ext cx="5712714" cy="358972"/>
          </a:xfrm>
          <a:prstGeom prst="rect">
            <a:avLst/>
          </a:prstGeom>
          <a:noFill/>
          <a:ln/>
        </p:spPr>
        <p:txBody>
          <a:bodyPr wrap="square" lIns="0" tIns="0" rIns="0" bIns="0" rtlCol="0" anchor="t"/>
          <a:lstStyle/>
          <a:p>
            <a:pPr marL="0" indent="0" algn="l">
              <a:lnSpc>
                <a:spcPts val="1414"/>
              </a:lnSpc>
              <a:buNone/>
              <a:defRPr/>
            </a:pPr>
            <a:endParaRPr lang="vi-VN" sz="1100" noProof="1"/>
          </a:p>
        </p:txBody>
      </p:sp>
      <p:sp>
        <p:nvSpPr>
          <p:cNvPr id="1771249569" name="Text 22"/>
          <p:cNvSpPr/>
          <p:nvPr/>
        </p:nvSpPr>
        <p:spPr bwMode="auto">
          <a:xfrm>
            <a:off x="5219700" y="3507879"/>
            <a:ext cx="6438899" cy="723900"/>
          </a:xfrm>
          <a:prstGeom prst="roundRect">
            <a:avLst>
              <a:gd name="adj" fmla="val 18225"/>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1650751441" name="Text 23"/>
          <p:cNvSpPr/>
          <p:nvPr/>
        </p:nvSpPr>
        <p:spPr bwMode="auto">
          <a:xfrm>
            <a:off x="5381625" y="3631704"/>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1106036581" name="Text 24"/>
          <p:cNvSpPr/>
          <p:nvPr/>
        </p:nvSpPr>
        <p:spPr bwMode="auto">
          <a:xfrm>
            <a:off x="5378006" y="3631704"/>
            <a:ext cx="369189" cy="361950"/>
          </a:xfrm>
          <a:prstGeom prst="rect">
            <a:avLst/>
          </a:prstGeom>
          <a:noFill/>
          <a:ln/>
        </p:spPr>
        <p:txBody>
          <a:bodyPr wrap="square" lIns="0" tIns="0" rIns="0" bIns="0" rtlCol="0" anchor="ctr"/>
          <a:lstStyle/>
          <a:p>
            <a:r>
              <a:t>03</a:t>
            </a:r>
          </a:p>
        </p:txBody>
      </p:sp>
      <p:sp>
        <p:nvSpPr>
          <p:cNvPr id="845454433" name="Text 25"/>
          <p:cNvSpPr/>
          <p:nvPr/>
        </p:nvSpPr>
        <p:spPr bwMode="auto">
          <a:xfrm>
            <a:off x="5895975" y="3631704"/>
            <a:ext cx="5642125" cy="171450"/>
          </a:xfrm>
          <a:prstGeom prst="rect">
            <a:avLst/>
          </a:prstGeom>
          <a:noFill/>
          <a:ln/>
        </p:spPr>
        <p:txBody>
          <a:bodyPr wrap="square" lIns="0" tIns="0" rIns="0" bIns="0" rtlCol="0" anchor="t"/>
          <a:lstStyle/>
          <a:p>
            <a:r>
              <a:t>3. Thiếu công cụ đo lường, thống kê tập trung</a:t>
            </a:r>
          </a:p>
        </p:txBody>
      </p:sp>
      <p:sp>
        <p:nvSpPr>
          <p:cNvPr id="2000591319" name="Text 26"/>
          <p:cNvSpPr/>
          <p:nvPr/>
        </p:nvSpPr>
        <p:spPr bwMode="auto">
          <a:xfrm>
            <a:off x="5895975" y="3831730"/>
            <a:ext cx="5762624" cy="171450"/>
          </a:xfrm>
          <a:prstGeom prst="rect">
            <a:avLst/>
          </a:prstGeom>
          <a:noFill/>
          <a:ln/>
        </p:spPr>
        <p:txBody>
          <a:bodyPr wrap="square" lIns="0" tIns="0" rIns="0" bIns="0" rtlCol="0" anchor="t"/>
          <a:lstStyle/>
          <a:p>
            <a:r>
              <a:t>Ban Chấp hành chưa có công cụ số liệu đo lường định lượng lượt xem, mức độ tương tác đa kênh để đánh giá và điều chỉnh hiệu quả tuyên truyền.</a:t>
            </a:r>
          </a:p>
        </p:txBody>
      </p:sp>
      <p:sp>
        <p:nvSpPr>
          <p:cNvPr id="1184167521" name="Text 27"/>
          <p:cNvSpPr/>
          <p:nvPr/>
        </p:nvSpPr>
        <p:spPr bwMode="auto">
          <a:xfrm>
            <a:off x="5219700" y="4351843"/>
            <a:ext cx="6438899" cy="627162"/>
          </a:xfrm>
          <a:prstGeom prst="roundRect">
            <a:avLst>
              <a:gd name="adj" fmla="val 18225"/>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p:txBody>
      </p:sp>
      <p:sp>
        <p:nvSpPr>
          <p:cNvPr id="649402166" name="Text 28"/>
          <p:cNvSpPr/>
          <p:nvPr/>
        </p:nvSpPr>
        <p:spPr bwMode="auto">
          <a:xfrm>
            <a:off x="5381625" y="4475668"/>
            <a:ext cx="361950" cy="361950"/>
          </a:xfrm>
          <a:prstGeom prst="roundRect">
            <a:avLst>
              <a:gd name="adj" fmla="val 26316"/>
            </a:avLst>
          </a:prstGeom>
          <a:solidFill>
            <a:srgbClr val="002855"/>
          </a:solidFill>
          <a:ln/>
        </p:spPr>
        <p:txBody>
          <a:bodyPr wrap="square" rtlCol="0" anchor="ctr"/>
          <a:lstStyle/>
          <a:p/>
        </p:txBody>
      </p:sp>
      <p:sp>
        <p:nvSpPr>
          <p:cNvPr id="1392645965" name="Text 29"/>
          <p:cNvSpPr/>
          <p:nvPr/>
        </p:nvSpPr>
        <p:spPr bwMode="auto">
          <a:xfrm>
            <a:off x="5378006" y="4475668"/>
            <a:ext cx="369189" cy="361950"/>
          </a:xfrm>
          <a:prstGeom prst="rect">
            <a:avLst/>
          </a:prstGeom>
          <a:noFill/>
          <a:ln/>
        </p:spPr>
        <p:txBody>
          <a:bodyPr wrap="square" lIns="0" tIns="0" rIns="0" bIns="0" rtlCol="0" anchor="ctr"/>
          <a:lstStyle/>
          <a:p/>
        </p:txBody>
      </p:sp>
      <p:sp>
        <p:nvSpPr>
          <p:cNvPr id="473528342" name="Text 30"/>
          <p:cNvSpPr/>
          <p:nvPr/>
        </p:nvSpPr>
        <p:spPr bwMode="auto">
          <a:xfrm>
            <a:off x="5895975" y="4475668"/>
            <a:ext cx="5388004" cy="171450"/>
          </a:xfrm>
          <a:prstGeom prst="rect">
            <a:avLst/>
          </a:prstGeom>
          <a:noFill/>
          <a:ln/>
        </p:spPr>
        <p:txBody>
          <a:bodyPr wrap="square" lIns="0" tIns="0" rIns="0" bIns="0" rtlCol="0" anchor="t"/>
          <a:lstStyle/>
          <a:p/>
        </p:txBody>
      </p:sp>
      <p:sp>
        <p:nvSpPr>
          <p:cNvPr id="1587790627" name="Text 31"/>
          <p:cNvSpPr/>
          <p:nvPr/>
        </p:nvSpPr>
        <p:spPr bwMode="auto">
          <a:xfrm>
            <a:off x="5895975" y="4675693"/>
            <a:ext cx="5388004" cy="179487"/>
          </a:xfrm>
          <a:prstGeom prst="rect">
            <a:avLst/>
          </a:prstGeom>
          <a:noFill/>
          <a:ln/>
        </p:spPr>
        <p:txBody>
          <a:bodyPr wrap="square" lIns="0" tIns="0" rIns="0" bIns="0" rtlCol="0" anchor="t"/>
          <a:lstStyle/>
          <a:p/>
        </p:txBody>
      </p:sp>
      <p:sp>
        <p:nvSpPr>
          <p:cNvPr id="998169476" name="Text 32"/>
          <p:cNvSpPr/>
          <p:nvPr/>
        </p:nvSpPr>
        <p:spPr bwMode="auto">
          <a:xfrm>
            <a:off x="5230375" y="5093304"/>
            <a:ext cx="6438899" cy="627162"/>
          </a:xfrm>
          <a:prstGeom prst="roundRect">
            <a:avLst>
              <a:gd name="adj" fmla="val 18225"/>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p:txBody>
      </p:sp>
      <p:sp>
        <p:nvSpPr>
          <p:cNvPr id="472541620" name="Text 33"/>
          <p:cNvSpPr/>
          <p:nvPr/>
        </p:nvSpPr>
        <p:spPr bwMode="auto">
          <a:xfrm>
            <a:off x="5381625" y="5217129"/>
            <a:ext cx="361950" cy="361950"/>
          </a:xfrm>
          <a:prstGeom prst="roundRect">
            <a:avLst>
              <a:gd name="adj" fmla="val 26316"/>
            </a:avLst>
          </a:prstGeom>
          <a:solidFill>
            <a:srgbClr val="002855"/>
          </a:solidFill>
          <a:ln/>
        </p:spPr>
        <p:txBody>
          <a:bodyPr wrap="square" rtlCol="0" anchor="ctr"/>
          <a:lstStyle/>
          <a:p/>
        </p:txBody>
      </p:sp>
      <p:sp>
        <p:nvSpPr>
          <p:cNvPr id="648601177" name="Text 34"/>
          <p:cNvSpPr/>
          <p:nvPr/>
        </p:nvSpPr>
        <p:spPr bwMode="auto">
          <a:xfrm>
            <a:off x="5378006" y="5217129"/>
            <a:ext cx="369189" cy="361950"/>
          </a:xfrm>
          <a:prstGeom prst="rect">
            <a:avLst/>
          </a:prstGeom>
          <a:noFill/>
          <a:ln/>
        </p:spPr>
        <p:txBody>
          <a:bodyPr wrap="square" lIns="0" tIns="0" rIns="0" bIns="0" rtlCol="0" anchor="ctr"/>
          <a:lstStyle/>
          <a:p/>
        </p:txBody>
      </p:sp>
      <p:sp>
        <p:nvSpPr>
          <p:cNvPr id="1043762863" name="Text 35"/>
          <p:cNvSpPr/>
          <p:nvPr/>
        </p:nvSpPr>
        <p:spPr bwMode="auto">
          <a:xfrm>
            <a:off x="5895975" y="5217129"/>
            <a:ext cx="4737824" cy="171450"/>
          </a:xfrm>
          <a:prstGeom prst="rect">
            <a:avLst/>
          </a:prstGeom>
          <a:noFill/>
          <a:ln/>
        </p:spPr>
        <p:txBody>
          <a:bodyPr wrap="square" lIns="0" tIns="0" rIns="0" bIns="0" rtlCol="0" anchor="t"/>
          <a:lstStyle/>
          <a:p/>
        </p:txBody>
      </p:sp>
      <p:sp>
        <p:nvSpPr>
          <p:cNvPr id="1335701097" name="Text 36"/>
          <p:cNvSpPr/>
          <p:nvPr/>
        </p:nvSpPr>
        <p:spPr bwMode="auto">
          <a:xfrm>
            <a:off x="5895974" y="5417154"/>
            <a:ext cx="5642126" cy="237909"/>
          </a:xfrm>
          <a:prstGeom prst="rect">
            <a:avLst/>
          </a:prstGeom>
          <a:noFill/>
          <a:ln/>
        </p:spPr>
        <p:txBody>
          <a:bodyPr wrap="square" lIns="0" tIns="0" rIns="0" bIns="0" rtlCol="0" anchor="t"/>
          <a:lstStyle/>
          <a:p/>
        </p:txBody>
      </p:sp>
      <p:sp>
        <p:nvSpPr>
          <p:cNvPr id="1096184557" name="Shape 37"/>
          <p:cNvSpPr/>
          <p:nvPr/>
        </p:nvSpPr>
        <p:spPr bwMode="auto">
          <a:xfrm>
            <a:off x="533400" y="6548438"/>
            <a:ext cx="11125200" cy="0"/>
          </a:xfrm>
          <a:prstGeom prst="line">
            <a:avLst/>
          </a:prstGeom>
          <a:noFill/>
          <a:ln w="9525">
            <a:solidFill>
              <a:srgbClr val="E2E8F0"/>
            </a:solidFill>
            <a:prstDash val="solid"/>
          </a:ln>
        </p:spPr>
        <p:txBody>
          <a:bodyPr/>
          <a:lstStyle/>
          <a:p>
            <a:endParaRPr lang="vi-VN" sz="2400" noProof="1"/>
          </a:p>
        </p:txBody>
      </p:sp>
      <p:sp>
        <p:nvSpPr>
          <p:cNvPr id="1775219853" name="Text 38"/>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1000" noProof="1">
                <a:solidFill>
                  <a:srgbClr val="8A97AB"/>
                </a:solidFill>
                <a:latin typeface="Arial"/>
                <a:ea typeface="Arial"/>
                <a:cs typeface="Arial"/>
              </a:rPr>
              <a:t>Nhóm 2 · Đồ án Cơ sở ngành 2026–2027</a:t>
            </a:r>
            <a:endParaRPr lang="vi-VN" sz="100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name="Slide 3">
    <p:bg>
      <p:bgPr>
        <a:solidFill>
          <a:srgbClr val="F6F8FB"/>
        </a:solidFill>
        <a:effectLst/>
      </p:bgPr>
    </p:bg>
    <p:spTree>
      <p:nvGrpSpPr>
        <p:cNvPr id="1" name=""/>
        <p:cNvGrpSpPr/>
        <p:nvPr/>
      </p:nvGrpSpPr>
      <p:grpSpPr bwMode="auto">
        <a:xfrm>
          <a:off x="0" y="0"/>
          <a:ext cx="0" cy="0"/>
          <a:chOff x="0" y="0"/>
          <a:chExt cx="0" cy="0"/>
        </a:xfrm>
      </p:grpSpPr>
      <p:sp>
        <p:nvSpPr>
          <p:cNvPr id="1171304446"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1. GIỚI THIỆU ĐỀ TÀI</a:t>
            </a:r>
            <a:endParaRPr lang="vi-VN" sz="1000" noProof="1"/>
          </a:p>
        </p:txBody>
      </p:sp>
      <p:sp>
        <p:nvSpPr>
          <p:cNvPr id="1429121415" name="Text 1"/>
          <p:cNvSpPr/>
          <p:nvPr/>
        </p:nvSpPr>
        <p:spPr bwMode="auto">
          <a:xfrm>
            <a:off x="533400" y="542925"/>
            <a:ext cx="11347704" cy="359569"/>
          </a:xfrm>
          <a:prstGeom prst="rect">
            <a:avLst/>
          </a:prstGeom>
          <a:noFill/>
          <a:ln/>
        </p:spPr>
        <p:txBody>
          <a:bodyPr wrap="square" lIns="0" tIns="0" rIns="0" bIns="0" rtlCol="0" anchor="t"/>
          <a:lstStyle/>
          <a:p>
            <a:r>
              <a:t>Mục tiêu nghiên cứu &amp; Định hướng giải quyết</a:t>
            </a:r>
          </a:p>
        </p:txBody>
      </p:sp>
      <p:pic>
        <p:nvPicPr>
          <p:cNvPr id="1201039326" name="Image 0" descr="/var/folders/t4/q0khv7qd1r3dc2yrbwkzmjf00000gn/T/html2pptx-BplEkJ/html2pptx-bg-1791687638880-a4641591ea96a8.png"/>
          <p:cNvPicPr>
            <a:picLocks noChangeAspect="1"/>
          </p:cNvPicPr>
          <p:nvPr/>
        </p:nvPicPr>
        <p:blipFill rotWithShape="1">
          <a:blip r:embed="rId3"/>
          <a:stretch/>
        </p:blipFill>
        <p:spPr bwMode="auto">
          <a:xfrm>
            <a:off x="533400" y="978694"/>
            <a:ext cx="1047750" cy="38100"/>
          </a:xfrm>
          <a:prstGeom prst="rect">
            <a:avLst/>
          </a:prstGeom>
        </p:spPr>
      </p:pic>
      <p:sp>
        <p:nvSpPr>
          <p:cNvPr id="1683790642" name="Text 2"/>
          <p:cNvSpPr/>
          <p:nvPr/>
        </p:nvSpPr>
        <p:spPr bwMode="auto">
          <a:xfrm>
            <a:off x="533400" y="1283494"/>
            <a:ext cx="11125200" cy="1733549"/>
          </a:xfrm>
          <a:prstGeom prst="roundRect">
            <a:avLst>
              <a:gd name="adj" fmla="val 4887"/>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242870066" name="Shape 3"/>
          <p:cNvSpPr/>
          <p:nvPr/>
        </p:nvSpPr>
        <p:spPr bwMode="auto">
          <a:xfrm>
            <a:off x="742950" y="1307306"/>
            <a:ext cx="10677906" cy="0"/>
          </a:xfrm>
          <a:prstGeom prst="line">
            <a:avLst/>
          </a:prstGeom>
          <a:noFill/>
          <a:ln w="47625">
            <a:solidFill>
              <a:srgbClr val="D4A017"/>
            </a:solidFill>
            <a:prstDash val="solid"/>
          </a:ln>
        </p:spPr>
        <p:txBody>
          <a:bodyPr/>
          <a:lstStyle/>
          <a:p>
            <a:endParaRPr lang="vi-VN" noProof="1"/>
          </a:p>
        </p:txBody>
      </p:sp>
      <p:sp>
        <p:nvSpPr>
          <p:cNvPr id="158340560" name="Text 7"/>
          <p:cNvSpPr/>
          <p:nvPr/>
        </p:nvSpPr>
        <p:spPr bwMode="auto">
          <a:xfrm>
            <a:off x="752475" y="1521619"/>
            <a:ext cx="419100" cy="419100"/>
          </a:xfrm>
          <a:prstGeom prst="roundRect">
            <a:avLst>
              <a:gd name="adj" fmla="val 27273"/>
            </a:avLst>
          </a:prstGeom>
          <a:solidFill>
            <a:srgbClr val="EEF3FA"/>
          </a:solidFill>
          <a:ln/>
        </p:spPr>
        <p:txBody>
          <a:bodyPr wrap="square" rtlCol="0" anchor="ctr"/>
          <a:lstStyle/>
          <a:p>
            <a:pPr marL="0" indent="0">
              <a:buNone/>
              <a:defRPr/>
            </a:pPr>
            <a:endParaRPr lang="vi-VN" noProof="1"/>
          </a:p>
        </p:txBody>
      </p:sp>
      <p:sp>
        <p:nvSpPr>
          <p:cNvPr id="1904439579" name="Text 8"/>
          <p:cNvSpPr/>
          <p:nvPr/>
        </p:nvSpPr>
        <p:spPr bwMode="auto">
          <a:xfrm>
            <a:off x="748284" y="1521619"/>
            <a:ext cx="427482" cy="419100"/>
          </a:xfrm>
          <a:prstGeom prst="rect">
            <a:avLst/>
          </a:prstGeom>
          <a:noFill/>
          <a:ln/>
        </p:spPr>
        <p:txBody>
          <a:bodyPr wrap="square" lIns="0" tIns="0" rIns="0" bIns="0" rtlCol="0" anchor="ctr"/>
          <a:lstStyle/>
          <a:p>
            <a:pPr marL="0" indent="0" algn="ctr">
              <a:spcAft>
                <a:spcPts val="900"/>
              </a:spcAft>
              <a:buNone/>
              <a:defRPr/>
            </a:pPr>
            <a:r>
              <a:rPr lang="vi-VN" sz="1600" b="1" noProof="1">
                <a:solidFill>
                  <a:srgbClr val="002855"/>
                </a:solidFill>
                <a:latin typeface="Arial"/>
                <a:ea typeface="Arial"/>
                <a:cs typeface="Arial"/>
              </a:rPr>
              <a:t>01</a:t>
            </a:r>
            <a:endParaRPr lang="vi-VN" sz="1600" noProof="1"/>
          </a:p>
        </p:txBody>
      </p:sp>
      <p:sp>
        <p:nvSpPr>
          <p:cNvPr id="1546982759" name="Text 9"/>
          <p:cNvSpPr/>
          <p:nvPr/>
        </p:nvSpPr>
        <p:spPr bwMode="auto">
          <a:xfrm>
            <a:off x="1278741" y="1581150"/>
            <a:ext cx="3180156" cy="200025"/>
          </a:xfrm>
          <a:prstGeom prst="rect">
            <a:avLst/>
          </a:prstGeom>
          <a:noFill/>
          <a:ln/>
        </p:spPr>
        <p:txBody>
          <a:bodyPr wrap="square" lIns="0" tIns="0" rIns="0" bIns="0" rtlCol="0" anchor="t"/>
          <a:lstStyle/>
          <a:p>
            <a:pPr>
              <a:defRPr sz="1400" b="1"/>
            </a:pPr>
            <a:r>
              <a:t>Mục tiêu trọng tâm của đề tài</a:t>
            </a:r>
          </a:p>
        </p:txBody>
      </p:sp>
      <p:sp>
        <p:nvSpPr>
          <p:cNvPr id="2111694592" name="Text 10"/>
          <p:cNvSpPr/>
          <p:nvPr/>
        </p:nvSpPr>
        <p:spPr bwMode="auto">
          <a:xfrm>
            <a:off x="762001" y="1993392"/>
            <a:ext cx="10896599" cy="965310"/>
          </a:xfrm>
          <a:prstGeom prst="rect">
            <a:avLst/>
          </a:prstGeom>
          <a:noFill/>
          <a:ln/>
        </p:spPr>
        <p:txBody>
          <a:bodyPr wrap="square" lIns="0" tIns="0" rIns="0" bIns="76200" rtlCol="0" anchor="t"/>
          <a:lstStyle/>
          <a:p>
            <a:pPr>
              <a:defRPr sz="1200"/>
            </a:pPr>
            <a:r>
              <a:t>Xây dựng hệ thống quản lý truyền thông tích hợp AI hỗ trợ tạo nội dung và tự động hóa xuất bản đa kênh (Website Công đoàn, Fanpage Facebook, Zalo OA), giúp giải phóng sức lao động thủ công và nâng cao hiệu quả thông tin đoàn thể.</a:t>
            </a:r>
          </a:p>
        </p:txBody>
      </p:sp>
      <p:sp>
        <p:nvSpPr>
          <p:cNvPr id="119018652" name="Text 11"/>
          <p:cNvSpPr/>
          <p:nvPr/>
        </p:nvSpPr>
        <p:spPr bwMode="auto">
          <a:xfrm>
            <a:off x="542926" y="3178968"/>
            <a:ext cx="4986782" cy="2819493"/>
          </a:xfrm>
          <a:prstGeom prst="roundRect">
            <a:avLst>
              <a:gd name="adj" fmla="val 4887"/>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872668944" name="Shape 12"/>
          <p:cNvSpPr/>
          <p:nvPr/>
        </p:nvSpPr>
        <p:spPr bwMode="auto">
          <a:xfrm>
            <a:off x="752476" y="3202781"/>
            <a:ext cx="3136850" cy="0"/>
          </a:xfrm>
          <a:prstGeom prst="line">
            <a:avLst/>
          </a:prstGeom>
          <a:noFill/>
          <a:ln w="47625">
            <a:solidFill>
              <a:srgbClr val="002855"/>
            </a:solidFill>
            <a:prstDash val="solid"/>
          </a:ln>
        </p:spPr>
        <p:txBody>
          <a:bodyPr/>
          <a:lstStyle/>
          <a:p>
            <a:endParaRPr lang="vi-VN" noProof="1"/>
          </a:p>
        </p:txBody>
      </p:sp>
      <p:sp>
        <p:nvSpPr>
          <p:cNvPr id="1401385729" name="Shape 14"/>
          <p:cNvSpPr/>
          <p:nvPr/>
        </p:nvSpPr>
        <p:spPr bwMode="auto">
          <a:xfrm>
            <a:off x="752476" y="5907881"/>
            <a:ext cx="3136850" cy="0"/>
          </a:xfrm>
          <a:prstGeom prst="line">
            <a:avLst/>
          </a:prstGeom>
          <a:noFill/>
          <a:ln w="9525">
            <a:solidFill>
              <a:srgbClr val="E3E9F2"/>
            </a:solidFill>
            <a:prstDash val="solid"/>
          </a:ln>
        </p:spPr>
        <p:txBody>
          <a:bodyPr/>
          <a:lstStyle/>
          <a:p>
            <a:endParaRPr lang="vi-VN" noProof="1"/>
          </a:p>
        </p:txBody>
      </p:sp>
      <p:sp>
        <p:nvSpPr>
          <p:cNvPr id="1263682881" name="Shape 15"/>
          <p:cNvSpPr/>
          <p:nvPr/>
        </p:nvSpPr>
        <p:spPr bwMode="auto">
          <a:xfrm>
            <a:off x="547689" y="3369469"/>
            <a:ext cx="0" cy="2347912"/>
          </a:xfrm>
          <a:prstGeom prst="line">
            <a:avLst/>
          </a:prstGeom>
          <a:noFill/>
          <a:ln w="9525">
            <a:solidFill>
              <a:srgbClr val="E3E9F2"/>
            </a:solidFill>
            <a:prstDash val="solid"/>
          </a:ln>
        </p:spPr>
        <p:txBody>
          <a:bodyPr/>
          <a:lstStyle/>
          <a:p>
            <a:endParaRPr lang="vi-VN" noProof="1"/>
          </a:p>
        </p:txBody>
      </p:sp>
      <p:sp>
        <p:nvSpPr>
          <p:cNvPr id="677722008" name="Text 16"/>
          <p:cNvSpPr/>
          <p:nvPr/>
        </p:nvSpPr>
        <p:spPr bwMode="auto">
          <a:xfrm>
            <a:off x="762001" y="3417094"/>
            <a:ext cx="419100" cy="419100"/>
          </a:xfrm>
          <a:prstGeom prst="roundRect">
            <a:avLst>
              <a:gd name="adj" fmla="val 27273"/>
            </a:avLst>
          </a:prstGeom>
          <a:solidFill>
            <a:srgbClr val="EEF3FA"/>
          </a:solidFill>
          <a:ln/>
        </p:spPr>
        <p:txBody>
          <a:bodyPr wrap="square" rtlCol="0" anchor="ctr"/>
          <a:lstStyle/>
          <a:p>
            <a:pPr marL="0" indent="0">
              <a:buNone/>
              <a:defRPr/>
            </a:pPr>
            <a:endParaRPr lang="vi-VN" noProof="1"/>
          </a:p>
        </p:txBody>
      </p:sp>
      <p:sp>
        <p:nvSpPr>
          <p:cNvPr id="1015376251" name="Text 17"/>
          <p:cNvSpPr/>
          <p:nvPr/>
        </p:nvSpPr>
        <p:spPr bwMode="auto">
          <a:xfrm>
            <a:off x="757810" y="3417094"/>
            <a:ext cx="427482" cy="419100"/>
          </a:xfrm>
          <a:prstGeom prst="rect">
            <a:avLst/>
          </a:prstGeom>
          <a:noFill/>
          <a:ln/>
        </p:spPr>
        <p:txBody>
          <a:bodyPr wrap="square" lIns="0" tIns="0" rIns="0" bIns="0" rtlCol="0" anchor="ctr"/>
          <a:lstStyle/>
          <a:p>
            <a:pPr marL="0" indent="0" algn="ctr">
              <a:spcAft>
                <a:spcPts val="900"/>
              </a:spcAft>
              <a:buNone/>
              <a:defRPr/>
            </a:pPr>
            <a:r>
              <a:rPr lang="vi-VN" sz="1600" b="1" noProof="1">
                <a:solidFill>
                  <a:srgbClr val="002855"/>
                </a:solidFill>
                <a:latin typeface="Arial"/>
                <a:ea typeface="Arial"/>
                <a:cs typeface="Arial"/>
              </a:rPr>
              <a:t>02</a:t>
            </a:r>
            <a:endParaRPr lang="vi-VN" sz="1600" noProof="1"/>
          </a:p>
        </p:txBody>
      </p:sp>
      <p:sp>
        <p:nvSpPr>
          <p:cNvPr id="851672837" name="Text 18"/>
          <p:cNvSpPr/>
          <p:nvPr/>
        </p:nvSpPr>
        <p:spPr bwMode="auto">
          <a:xfrm>
            <a:off x="1287648" y="3503679"/>
            <a:ext cx="3180156" cy="200025"/>
          </a:xfrm>
          <a:prstGeom prst="rect">
            <a:avLst/>
          </a:prstGeom>
          <a:noFill/>
          <a:ln/>
        </p:spPr>
        <p:txBody>
          <a:bodyPr wrap="square" lIns="0" tIns="0" rIns="0" bIns="0" rtlCol="0" anchor="t"/>
          <a:lstStyle/>
          <a:p>
            <a:pPr>
              <a:defRPr sz="1300" b="1"/>
            </a:pPr>
            <a:r>
              <a:t>Hỗ trợ tạo &amp; biên tập nội dung bằng AI</a:t>
            </a:r>
          </a:p>
        </p:txBody>
      </p:sp>
      <p:sp>
        <p:nvSpPr>
          <p:cNvPr id="1160333943" name="Text 19"/>
          <p:cNvSpPr/>
          <p:nvPr/>
        </p:nvSpPr>
        <p:spPr bwMode="auto">
          <a:xfrm>
            <a:off x="742950" y="4027796"/>
            <a:ext cx="4873675" cy="1269206"/>
          </a:xfrm>
          <a:prstGeom prst="rect">
            <a:avLst/>
          </a:prstGeom>
          <a:noFill/>
          <a:ln/>
        </p:spPr>
        <p:txBody>
          <a:bodyPr wrap="square" lIns="0" tIns="0" rIns="0" bIns="76200" rtlCol="0" anchor="t"/>
          <a:lstStyle/>
          <a:p>
            <a:pPr>
              <a:defRPr sz="1100"/>
            </a:pPr>
            <a:r>
              <a:t>• Tự động phân tích kế hoạch, hồ sơ sự kiện để lập dàn ý và dựng bài viết.</a:t>
            </a:r>
          </a:p>
          <a:p>
            <a:pPr>
              <a:defRPr sz="1100"/>
            </a:pPr>
            <a:r>
              <a:t>• Tự động tạo tóm tắt tin (Sapo), gợi ý tiêu đề thu hút độc giả.</a:t>
            </a:r>
          </a:p>
          <a:p>
            <a:pPr>
              <a:defRPr sz="1100"/>
            </a:pPr>
            <a:r>
              <a:t>• Kiểm tra lỗi chính tả tiếng Việt và chuẩn hóa văn phong báo chí đoàn thể.</a:t>
            </a:r>
          </a:p>
          <a:p>
            <a:pPr>
              <a:defRPr sz="1100"/>
            </a:pPr>
            <a:r>
              <a:t>• Tạo nội dung tối ưu theo từng định dạng kênh (Website, Facebook, Zalo).</a:t>
            </a:r>
          </a:p>
        </p:txBody>
      </p:sp>
      <p:sp>
        <p:nvSpPr>
          <p:cNvPr id="1597045743" name="Text 20"/>
          <p:cNvSpPr/>
          <p:nvPr/>
        </p:nvSpPr>
        <p:spPr bwMode="auto">
          <a:xfrm>
            <a:off x="6158180" y="3175397"/>
            <a:ext cx="5486131" cy="2819493"/>
          </a:xfrm>
          <a:prstGeom prst="roundRect">
            <a:avLst>
              <a:gd name="adj" fmla="val 4887"/>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454527346" name="Shape 21"/>
          <p:cNvSpPr/>
          <p:nvPr/>
        </p:nvSpPr>
        <p:spPr bwMode="auto">
          <a:xfrm>
            <a:off x="6367730" y="3199209"/>
            <a:ext cx="3136999" cy="0"/>
          </a:xfrm>
          <a:prstGeom prst="line">
            <a:avLst/>
          </a:prstGeom>
          <a:noFill/>
          <a:ln w="47625">
            <a:solidFill>
              <a:srgbClr val="002855"/>
            </a:solidFill>
            <a:prstDash val="solid"/>
          </a:ln>
        </p:spPr>
        <p:txBody>
          <a:bodyPr/>
          <a:lstStyle/>
          <a:p>
            <a:endParaRPr lang="vi-VN" noProof="1"/>
          </a:p>
        </p:txBody>
      </p:sp>
      <p:sp>
        <p:nvSpPr>
          <p:cNvPr id="508585135" name="Shape 23"/>
          <p:cNvSpPr/>
          <p:nvPr/>
        </p:nvSpPr>
        <p:spPr bwMode="auto">
          <a:xfrm>
            <a:off x="6367730" y="5904309"/>
            <a:ext cx="3136999" cy="0"/>
          </a:xfrm>
          <a:prstGeom prst="line">
            <a:avLst/>
          </a:prstGeom>
          <a:noFill/>
          <a:ln w="9525">
            <a:solidFill>
              <a:srgbClr val="E3E9F2"/>
            </a:solidFill>
            <a:prstDash val="solid"/>
          </a:ln>
        </p:spPr>
        <p:txBody>
          <a:bodyPr/>
          <a:lstStyle/>
          <a:p>
            <a:endParaRPr lang="vi-VN" noProof="1"/>
          </a:p>
        </p:txBody>
      </p:sp>
      <p:sp>
        <p:nvSpPr>
          <p:cNvPr id="1054193073" name="Shape 24"/>
          <p:cNvSpPr/>
          <p:nvPr/>
        </p:nvSpPr>
        <p:spPr bwMode="auto">
          <a:xfrm>
            <a:off x="6162942" y="3365897"/>
            <a:ext cx="0" cy="2347912"/>
          </a:xfrm>
          <a:prstGeom prst="line">
            <a:avLst/>
          </a:prstGeom>
          <a:noFill/>
          <a:ln w="9525">
            <a:solidFill>
              <a:srgbClr val="E3E9F2"/>
            </a:solidFill>
            <a:prstDash val="solid"/>
          </a:ln>
        </p:spPr>
        <p:txBody>
          <a:bodyPr/>
          <a:lstStyle/>
          <a:p>
            <a:endParaRPr lang="vi-VN" noProof="1"/>
          </a:p>
        </p:txBody>
      </p:sp>
      <p:sp>
        <p:nvSpPr>
          <p:cNvPr id="38648754" name="Text 25"/>
          <p:cNvSpPr/>
          <p:nvPr/>
        </p:nvSpPr>
        <p:spPr bwMode="auto">
          <a:xfrm>
            <a:off x="6377255" y="3413522"/>
            <a:ext cx="419100" cy="419100"/>
          </a:xfrm>
          <a:prstGeom prst="roundRect">
            <a:avLst>
              <a:gd name="adj" fmla="val 27273"/>
            </a:avLst>
          </a:prstGeom>
          <a:solidFill>
            <a:srgbClr val="EEF3FA"/>
          </a:solidFill>
          <a:ln/>
        </p:spPr>
        <p:txBody>
          <a:bodyPr wrap="square" rtlCol="0" anchor="ctr"/>
          <a:lstStyle/>
          <a:p>
            <a:pPr marL="0" indent="0">
              <a:buNone/>
              <a:defRPr/>
            </a:pPr>
            <a:endParaRPr lang="vi-VN" noProof="1"/>
          </a:p>
        </p:txBody>
      </p:sp>
      <p:sp>
        <p:nvSpPr>
          <p:cNvPr id="1783980578" name="Text 26"/>
          <p:cNvSpPr/>
          <p:nvPr/>
        </p:nvSpPr>
        <p:spPr bwMode="auto">
          <a:xfrm>
            <a:off x="6373064" y="3413522"/>
            <a:ext cx="427482" cy="419100"/>
          </a:xfrm>
          <a:prstGeom prst="rect">
            <a:avLst/>
          </a:prstGeom>
          <a:noFill/>
          <a:ln/>
        </p:spPr>
        <p:txBody>
          <a:bodyPr wrap="square" lIns="0" tIns="0" rIns="0" bIns="0" rtlCol="0" anchor="ctr"/>
          <a:lstStyle/>
          <a:p>
            <a:pPr marL="0" indent="0" algn="ctr">
              <a:spcAft>
                <a:spcPts val="900"/>
              </a:spcAft>
              <a:buNone/>
              <a:defRPr/>
            </a:pPr>
            <a:r>
              <a:rPr lang="vi-VN" sz="1600" b="1" noProof="1">
                <a:solidFill>
                  <a:srgbClr val="002855"/>
                </a:solidFill>
                <a:latin typeface="Arial"/>
                <a:ea typeface="Arial"/>
                <a:cs typeface="Arial"/>
              </a:rPr>
              <a:t>03</a:t>
            </a:r>
            <a:endParaRPr lang="vi-VN" sz="1600" noProof="1"/>
          </a:p>
        </p:txBody>
      </p:sp>
      <p:sp>
        <p:nvSpPr>
          <p:cNvPr id="735394977" name="Text 27"/>
          <p:cNvSpPr/>
          <p:nvPr/>
        </p:nvSpPr>
        <p:spPr bwMode="auto">
          <a:xfrm>
            <a:off x="6875945" y="3493387"/>
            <a:ext cx="3180308" cy="200025"/>
          </a:xfrm>
          <a:prstGeom prst="rect">
            <a:avLst/>
          </a:prstGeom>
          <a:noFill/>
          <a:ln/>
        </p:spPr>
        <p:txBody>
          <a:bodyPr wrap="square" lIns="0" tIns="0" rIns="0" bIns="0" rtlCol="0" anchor="t"/>
          <a:lstStyle/>
          <a:p>
            <a:pPr>
              <a:defRPr sz="1300" b="1"/>
            </a:pPr>
            <a:r>
              <a:t>Tự động hóa xuất bản đa kênh &amp; Đo lường</a:t>
            </a:r>
          </a:p>
        </p:txBody>
      </p:sp>
      <p:sp>
        <p:nvSpPr>
          <p:cNvPr id="2001075406" name="Text 28"/>
          <p:cNvSpPr/>
          <p:nvPr/>
        </p:nvSpPr>
        <p:spPr bwMode="auto">
          <a:xfrm>
            <a:off x="6367730" y="3908914"/>
            <a:ext cx="5052745" cy="1462088"/>
          </a:xfrm>
          <a:prstGeom prst="rect">
            <a:avLst/>
          </a:prstGeom>
          <a:noFill/>
          <a:ln/>
        </p:spPr>
        <p:txBody>
          <a:bodyPr wrap="square" lIns="0" tIns="0" rIns="0" bIns="76200" rtlCol="0" anchor="t"/>
          <a:lstStyle/>
          <a:p>
            <a:pPr>
              <a:defRPr sz="1100"/>
            </a:pPr>
            <a:r>
              <a:t>• Quy trình kiểm duyệt khép kín 4 bước đảm bảo tính chuẩn xác.</a:t>
            </a:r>
          </a:p>
          <a:p>
            <a:pPr>
              <a:defRPr sz="1100"/>
            </a:pPr>
            <a:r>
              <a:t>• Lập lịch hẹn giờ xuất bản tự động qua tiến trình ngầm (Scheduler).</a:t>
            </a:r>
          </a:p>
          <a:p>
            <a:pPr>
              <a:defRPr sz="1100"/>
            </a:pPr>
            <a:r>
              <a:t>• Tự động đăng tải nội dung và hình ảnh đồng thời lên Website, Fanpage Facebook và Zalo.</a:t>
            </a:r>
          </a:p>
          <a:p>
            <a:pPr>
              <a:defRPr sz="1100"/>
            </a:pPr>
            <a:r>
              <a:t>• Theo dõi, thống kê định lượng lượt xem và tương tác đa kênh tập trung.</a:t>
            </a:r>
          </a:p>
        </p:txBody>
      </p:sp>
      <p:sp>
        <p:nvSpPr>
          <p:cNvPr id="1465018155" name="Shape 31"/>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42990271" name="Text 32"/>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name="Slide 4">
    <p:bg>
      <p:bgPr>
        <a:solidFill>
          <a:srgbClr val="F6F8FB"/>
        </a:solidFill>
        <a:effectLst/>
      </p:bgPr>
    </p:bg>
    <p:spTree>
      <p:nvGrpSpPr>
        <p:cNvPr id="1" name=""/>
        <p:cNvGrpSpPr/>
        <p:nvPr/>
      </p:nvGrpSpPr>
      <p:grpSpPr bwMode="auto">
        <a:xfrm>
          <a:off x="0" y="0"/>
          <a:ext cx="0" cy="0"/>
          <a:chOff x="0" y="0"/>
          <a:chExt cx="0" cy="0"/>
        </a:xfrm>
      </p:grpSpPr>
      <p:sp>
        <p:nvSpPr>
          <p:cNvPr id="1074498975"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2. PHÂN TÍCH YÊU CẦU</a:t>
            </a:r>
            <a:endParaRPr lang="vi-VN" sz="1000" noProof="1"/>
          </a:p>
        </p:txBody>
      </p:sp>
      <p:sp>
        <p:nvSpPr>
          <p:cNvPr id="1059015700" name="Text 1"/>
          <p:cNvSpPr/>
          <p:nvPr/>
        </p:nvSpPr>
        <p:spPr bwMode="auto">
          <a:xfrm>
            <a:off x="533400" y="542925"/>
            <a:ext cx="11347704" cy="359569"/>
          </a:xfrm>
          <a:prstGeom prst="rect">
            <a:avLst/>
          </a:prstGeom>
          <a:noFill/>
          <a:ln/>
        </p:spPr>
        <p:txBody>
          <a:bodyPr wrap="square" lIns="0" tIns="0" rIns="0" bIns="0" rtlCol="0" anchor="t"/>
          <a:lstStyle/>
          <a:p>
            <a:r>
              <a:t>Các chức năng chính — Cổng thông tin đoàn viên &amp; công chúng</a:t>
            </a:r>
          </a:p>
        </p:txBody>
      </p:sp>
      <p:pic>
        <p:nvPicPr>
          <p:cNvPr id="1209397928" name="Image 0" descr="/var/folders/t4/q0khv7qd1r3dc2yrbwkzmjf00000gn/T/html2pptx-nqhyar/html2pptx-bg-1791687640399-666125c3823468.png"/>
          <p:cNvPicPr>
            <a:picLocks noChangeAspect="1"/>
          </p:cNvPicPr>
          <p:nvPr/>
        </p:nvPicPr>
        <p:blipFill rotWithShape="1">
          <a:blip r:embed="rId3"/>
          <a:stretch/>
        </p:blipFill>
        <p:spPr bwMode="auto">
          <a:xfrm>
            <a:off x="533400" y="978694"/>
            <a:ext cx="1047750" cy="38100"/>
          </a:xfrm>
          <a:prstGeom prst="rect">
            <a:avLst/>
          </a:prstGeom>
        </p:spPr>
      </p:pic>
      <p:sp>
        <p:nvSpPr>
          <p:cNvPr id="678543229" name="Text 2"/>
          <p:cNvSpPr/>
          <p:nvPr/>
        </p:nvSpPr>
        <p:spPr bwMode="auto">
          <a:xfrm>
            <a:off x="533399" y="1264444"/>
            <a:ext cx="5016551"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1316152353" name="Text 3"/>
          <p:cNvSpPr/>
          <p:nvPr/>
        </p:nvSpPr>
        <p:spPr bwMode="auto">
          <a:xfrm>
            <a:off x="733424" y="1426369"/>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1300277468" name="Text 4"/>
          <p:cNvSpPr/>
          <p:nvPr/>
        </p:nvSpPr>
        <p:spPr bwMode="auto">
          <a:xfrm>
            <a:off x="730187" y="1426369"/>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01</a:t>
            </a:r>
            <a:endParaRPr lang="vi-VN" sz="1400" noProof="1"/>
          </a:p>
        </p:txBody>
      </p:sp>
      <p:sp>
        <p:nvSpPr>
          <p:cNvPr id="503144253" name="Text 5"/>
          <p:cNvSpPr/>
          <p:nvPr/>
        </p:nvSpPr>
        <p:spPr bwMode="auto">
          <a:xfrm>
            <a:off x="1172997" y="1447802"/>
            <a:ext cx="4112121" cy="247650"/>
          </a:xfrm>
          <a:prstGeom prst="rect">
            <a:avLst/>
          </a:prstGeom>
          <a:noFill/>
          <a:ln/>
        </p:spPr>
        <p:txBody>
          <a:bodyPr wrap="square" lIns="0" tIns="0" rIns="0" bIns="0" rtlCol="0" anchor="t"/>
          <a:lstStyle/>
          <a:p>
            <a:r>
              <a:t>Tin tức &amp; Tìm kiếm nâng cao</a:t>
            </a:r>
          </a:p>
        </p:txBody>
      </p:sp>
      <p:sp>
        <p:nvSpPr>
          <p:cNvPr id="962317796" name="Text 6"/>
          <p:cNvSpPr/>
          <p:nvPr/>
        </p:nvSpPr>
        <p:spPr bwMode="auto">
          <a:xfrm>
            <a:off x="733423" y="1826419"/>
            <a:ext cx="3423849" cy="371475"/>
          </a:xfrm>
          <a:prstGeom prst="rect">
            <a:avLst/>
          </a:prstGeom>
          <a:noFill/>
          <a:ln/>
        </p:spPr>
        <p:txBody>
          <a:bodyPr wrap="square" lIns="0" tIns="0" rIns="0" bIns="0" rtlCol="0" anchor="t"/>
          <a:lstStyle/>
          <a:p>
            <a:r>
              <a:t>Lọc tin theo chuyên mục hoạt động; tìm kiếm toàn văn theo từ khóa, tác giả, thời gian; danh sách hiển thị phân trang tối ưu.</a:t>
            </a:r>
          </a:p>
        </p:txBody>
      </p:sp>
      <p:sp>
        <p:nvSpPr>
          <p:cNvPr id="2126577439" name="Text 7"/>
          <p:cNvSpPr/>
          <p:nvPr/>
        </p:nvSpPr>
        <p:spPr bwMode="auto">
          <a:xfrm>
            <a:off x="6442024" y="1269208"/>
            <a:ext cx="5016551"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2073135920" name="Text 8"/>
          <p:cNvSpPr/>
          <p:nvPr/>
        </p:nvSpPr>
        <p:spPr bwMode="auto">
          <a:xfrm>
            <a:off x="6642050" y="1431133"/>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408462836" name="Text 9"/>
          <p:cNvSpPr/>
          <p:nvPr/>
        </p:nvSpPr>
        <p:spPr bwMode="auto">
          <a:xfrm>
            <a:off x="6638812" y="1431133"/>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02</a:t>
            </a:r>
            <a:endParaRPr lang="vi-VN" sz="1400" noProof="1"/>
          </a:p>
        </p:txBody>
      </p:sp>
      <p:sp>
        <p:nvSpPr>
          <p:cNvPr id="95561688" name="Text 10"/>
          <p:cNvSpPr/>
          <p:nvPr/>
        </p:nvSpPr>
        <p:spPr bwMode="auto">
          <a:xfrm>
            <a:off x="7081622" y="1452566"/>
            <a:ext cx="3978325" cy="247650"/>
          </a:xfrm>
          <a:prstGeom prst="rect">
            <a:avLst/>
          </a:prstGeom>
          <a:noFill/>
          <a:ln/>
        </p:spPr>
        <p:txBody>
          <a:bodyPr wrap="square" lIns="0" tIns="0" rIns="0" bIns="0" rtlCol="0" anchor="t"/>
          <a:lstStyle/>
          <a:p>
            <a:r>
              <a:t>Đọc bài viết đa phương tiện</a:t>
            </a:r>
          </a:p>
        </p:txBody>
      </p:sp>
      <p:sp>
        <p:nvSpPr>
          <p:cNvPr id="1756118230" name="Text 11"/>
          <p:cNvSpPr/>
          <p:nvPr/>
        </p:nvSpPr>
        <p:spPr bwMode="auto">
          <a:xfrm>
            <a:off x="6642049" y="1831183"/>
            <a:ext cx="3423849" cy="371475"/>
          </a:xfrm>
          <a:prstGeom prst="rect">
            <a:avLst/>
          </a:prstGeom>
          <a:noFill/>
          <a:ln/>
        </p:spPr>
        <p:txBody>
          <a:bodyPr wrap="square" lIns="0" tIns="0" rIns="0" bIns="0" rtlCol="0" anchor="t"/>
          <a:lstStyle/>
          <a:p>
            <a:r>
              <a:t>Bố cục bài báo chuẩn mực (Tiêu đề – Sapo – Toàn văn); hiển thị album ảnh sự kiện và tài liệu văn bản đính kèm.</a:t>
            </a:r>
          </a:p>
        </p:txBody>
      </p:sp>
      <p:sp>
        <p:nvSpPr>
          <p:cNvPr id="180671454" name="Text 12"/>
          <p:cNvSpPr/>
          <p:nvPr/>
        </p:nvSpPr>
        <p:spPr bwMode="auto">
          <a:xfrm>
            <a:off x="553873" y="3655219"/>
            <a:ext cx="5016760"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941840615" name="Text 13"/>
          <p:cNvSpPr/>
          <p:nvPr/>
        </p:nvSpPr>
        <p:spPr bwMode="auto">
          <a:xfrm>
            <a:off x="753898" y="3817144"/>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974009373" name="Text 14"/>
          <p:cNvSpPr/>
          <p:nvPr/>
        </p:nvSpPr>
        <p:spPr bwMode="auto">
          <a:xfrm>
            <a:off x="750659" y="3817144"/>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03</a:t>
            </a:r>
            <a:endParaRPr lang="vi-VN" sz="1400" noProof="1"/>
          </a:p>
        </p:txBody>
      </p:sp>
      <p:sp>
        <p:nvSpPr>
          <p:cNvPr id="708537714" name="Text 15"/>
          <p:cNvSpPr/>
          <p:nvPr/>
        </p:nvSpPr>
        <p:spPr bwMode="auto">
          <a:xfrm>
            <a:off x="1193469" y="3838576"/>
            <a:ext cx="3008214" cy="220133"/>
          </a:xfrm>
          <a:prstGeom prst="rect">
            <a:avLst/>
          </a:prstGeom>
          <a:noFill/>
          <a:ln/>
        </p:spPr>
        <p:txBody>
          <a:bodyPr wrap="square" lIns="0" tIns="0" rIns="0" bIns="0" rtlCol="0" anchor="t"/>
          <a:lstStyle/>
          <a:p>
            <a:r>
              <a:t>Tương tác &amp; Gửi phản hồi</a:t>
            </a:r>
          </a:p>
        </p:txBody>
      </p:sp>
      <p:sp>
        <p:nvSpPr>
          <p:cNvPr id="508787004" name="Text 16"/>
          <p:cNvSpPr/>
          <p:nvPr/>
        </p:nvSpPr>
        <p:spPr bwMode="auto">
          <a:xfrm>
            <a:off x="753898" y="4217194"/>
            <a:ext cx="3424008" cy="371475"/>
          </a:xfrm>
          <a:prstGeom prst="rect">
            <a:avLst/>
          </a:prstGeom>
          <a:noFill/>
          <a:ln/>
        </p:spPr>
        <p:txBody>
          <a:bodyPr wrap="square" lIns="0" tIns="0" rIns="0" bIns="0" rtlCol="0" anchor="t"/>
          <a:lstStyle/>
          <a:p>
            <a:r>
              <a:t>Đoàn viên bày tỏ cảm xúc (Like), bình luận có kiểm duyệt văn minh; tiếp nhận ý kiến đóng góp, tâm tư nguyện vọng trực tuyến.</a:t>
            </a:r>
          </a:p>
        </p:txBody>
      </p:sp>
      <p:sp>
        <p:nvSpPr>
          <p:cNvPr id="1677464714" name="Text 17"/>
          <p:cNvSpPr/>
          <p:nvPr/>
        </p:nvSpPr>
        <p:spPr bwMode="auto">
          <a:xfrm>
            <a:off x="6438787" y="3581402"/>
            <a:ext cx="5016551"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1866628196" name="Text 18"/>
          <p:cNvSpPr/>
          <p:nvPr/>
        </p:nvSpPr>
        <p:spPr bwMode="auto">
          <a:xfrm>
            <a:off x="6638812" y="3743327"/>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1092766351" name="Text 19"/>
          <p:cNvSpPr/>
          <p:nvPr/>
        </p:nvSpPr>
        <p:spPr bwMode="auto">
          <a:xfrm>
            <a:off x="6635575" y="3743327"/>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04</a:t>
            </a:r>
            <a:endParaRPr lang="vi-VN" sz="1400" noProof="1"/>
          </a:p>
        </p:txBody>
      </p:sp>
      <p:sp>
        <p:nvSpPr>
          <p:cNvPr id="1615161333" name="Text 20"/>
          <p:cNvSpPr/>
          <p:nvPr/>
        </p:nvSpPr>
        <p:spPr bwMode="auto">
          <a:xfrm>
            <a:off x="7078384" y="3764760"/>
            <a:ext cx="3800280" cy="247650"/>
          </a:xfrm>
          <a:prstGeom prst="rect">
            <a:avLst/>
          </a:prstGeom>
          <a:noFill/>
          <a:ln/>
        </p:spPr>
        <p:txBody>
          <a:bodyPr wrap="square" lIns="0" tIns="0" rIns="0" bIns="0" rtlCol="0" anchor="t"/>
          <a:lstStyle/>
          <a:p>
            <a:r>
              <a:t>Kho văn bản &amp; Biểu mẫu điện tử</a:t>
            </a:r>
          </a:p>
        </p:txBody>
      </p:sp>
      <p:sp>
        <p:nvSpPr>
          <p:cNvPr id="805853147" name="Text 21"/>
          <p:cNvSpPr/>
          <p:nvPr/>
        </p:nvSpPr>
        <p:spPr bwMode="auto">
          <a:xfrm>
            <a:off x="6638811" y="4143377"/>
            <a:ext cx="3423849" cy="371475"/>
          </a:xfrm>
          <a:prstGeom prst="rect">
            <a:avLst/>
          </a:prstGeom>
          <a:noFill/>
          <a:ln/>
        </p:spPr>
        <p:txBody>
          <a:bodyPr wrap="square" lIns="0" tIns="0" rIns="0" bIns="0" rtlCol="0" anchor="t"/>
          <a:lstStyle/>
          <a:p>
            <a:r>
              <a:t>Tra cứu văn bản pháp quy, quy chế chế độ chính sách; cung cấp biểu mẫu hành chính điện tử cho phép tải về định dạng Word/PDF.</a:t>
            </a:r>
          </a:p>
        </p:txBody>
      </p:sp>
      <p:sp>
        <p:nvSpPr>
          <p:cNvPr id="1863185046" name="Shape 32"/>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361689658" name="Text 33"/>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name="Slide 5">
    <p:bg>
      <p:bgPr>
        <a:solidFill>
          <a:srgbClr val="F6F8FB"/>
        </a:solidFill>
        <a:effectLst/>
      </p:bgPr>
    </p:bg>
    <p:spTree>
      <p:nvGrpSpPr>
        <p:cNvPr id="1" name=""/>
        <p:cNvGrpSpPr/>
        <p:nvPr/>
      </p:nvGrpSpPr>
      <p:grpSpPr bwMode="auto">
        <a:xfrm>
          <a:off x="0" y="0"/>
          <a:ext cx="0" cy="0"/>
          <a:chOff x="0" y="0"/>
          <a:chExt cx="0" cy="0"/>
        </a:xfrm>
      </p:grpSpPr>
      <p:sp>
        <p:nvSpPr>
          <p:cNvPr id="1402422897"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2. PHÂN TÍCH YÊU CẦU</a:t>
            </a:r>
            <a:endParaRPr lang="vi-VN" sz="1000" noProof="1"/>
          </a:p>
        </p:txBody>
      </p:sp>
      <p:sp>
        <p:nvSpPr>
          <p:cNvPr id="959888522" name="Text 1"/>
          <p:cNvSpPr/>
          <p:nvPr/>
        </p:nvSpPr>
        <p:spPr bwMode="auto">
          <a:xfrm>
            <a:off x="533400" y="542925"/>
            <a:ext cx="11347704" cy="359569"/>
          </a:xfrm>
          <a:prstGeom prst="rect">
            <a:avLst/>
          </a:prstGeom>
          <a:noFill/>
          <a:ln/>
        </p:spPr>
        <p:txBody>
          <a:bodyPr wrap="square" lIns="0" tIns="0" rIns="0" bIns="0" rtlCol="0" anchor="t"/>
          <a:lstStyle/>
          <a:p>
            <a:r>
              <a:t>Các chức năng chính — Phân hệ Quản trị hệ thống &amp; Biên tập CMS</a:t>
            </a:r>
          </a:p>
        </p:txBody>
      </p:sp>
      <p:pic>
        <p:nvPicPr>
          <p:cNvPr id="310296203" name="Image 0" descr="/var/folders/t4/q0khv7qd1r3dc2yrbwkzmjf00000gn/T/html2pptx-MFhxpT/html2pptx-bg-1791687641636-59e5fcf0fe2bd.png"/>
          <p:cNvPicPr>
            <a:picLocks noChangeAspect="1"/>
          </p:cNvPicPr>
          <p:nvPr/>
        </p:nvPicPr>
        <p:blipFill rotWithShape="1">
          <a:blip r:embed="rId3"/>
          <a:stretch/>
        </p:blipFill>
        <p:spPr bwMode="auto">
          <a:xfrm>
            <a:off x="533400" y="978694"/>
            <a:ext cx="1047750" cy="38100"/>
          </a:xfrm>
          <a:prstGeom prst="rect">
            <a:avLst/>
          </a:prstGeom>
        </p:spPr>
      </p:pic>
      <p:sp>
        <p:nvSpPr>
          <p:cNvPr id="348523205" name="Text 2"/>
          <p:cNvSpPr/>
          <p:nvPr/>
        </p:nvSpPr>
        <p:spPr bwMode="auto">
          <a:xfrm>
            <a:off x="5334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34365386" name="Text 3"/>
          <p:cNvSpPr/>
          <p:nvPr/>
        </p:nvSpPr>
        <p:spPr bwMode="auto">
          <a:xfrm>
            <a:off x="6953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2132093590" name="Text 4"/>
          <p:cNvSpPr/>
          <p:nvPr/>
        </p:nvSpPr>
        <p:spPr bwMode="auto">
          <a:xfrm>
            <a:off x="692467"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01</a:t>
            </a:r>
            <a:endParaRPr lang="vi-VN" sz="1000" noProof="1"/>
          </a:p>
        </p:txBody>
      </p:sp>
      <p:sp>
        <p:nvSpPr>
          <p:cNvPr id="1476022496" name="Text 5"/>
          <p:cNvSpPr/>
          <p:nvPr/>
        </p:nvSpPr>
        <p:spPr bwMode="auto">
          <a:xfrm>
            <a:off x="695325" y="1778794"/>
            <a:ext cx="2390013" cy="161925"/>
          </a:xfrm>
          <a:prstGeom prst="rect">
            <a:avLst/>
          </a:prstGeom>
          <a:noFill/>
          <a:ln/>
        </p:spPr>
        <p:txBody>
          <a:bodyPr wrap="square" lIns="0" tIns="0" rIns="0" bIns="0" rtlCol="0" anchor="t"/>
          <a:lstStyle/>
          <a:p>
            <a:r>
              <a:t>Quản trị &amp; Phân quyền RBAC</a:t>
            </a:r>
          </a:p>
        </p:txBody>
      </p:sp>
      <p:sp>
        <p:nvSpPr>
          <p:cNvPr id="1359344306" name="Text 6"/>
          <p:cNvSpPr/>
          <p:nvPr/>
        </p:nvSpPr>
        <p:spPr bwMode="auto">
          <a:xfrm>
            <a:off x="695325" y="1988344"/>
            <a:ext cx="2505075" cy="517922"/>
          </a:xfrm>
          <a:prstGeom prst="rect">
            <a:avLst/>
          </a:prstGeom>
          <a:noFill/>
          <a:ln/>
        </p:spPr>
        <p:txBody>
          <a:bodyPr wrap="square" lIns="0" tIns="0" rIns="0" bIns="0" rtlCol="0" anchor="t"/>
          <a:lstStyle/>
          <a:p>
            <a:r>
              <a:t>Phân quyền 4 vai trò rõ rệt (Admin, Editor, Contributor, User); quản lý thành viên gắn với Tổ công đoàn trực thuộc.</a:t>
            </a:r>
          </a:p>
        </p:txBody>
      </p:sp>
      <p:sp>
        <p:nvSpPr>
          <p:cNvPr id="1965999113" name="Text 7"/>
          <p:cNvSpPr/>
          <p:nvPr/>
        </p:nvSpPr>
        <p:spPr bwMode="auto">
          <a:xfrm>
            <a:off x="33528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868855104" name="Text 8"/>
          <p:cNvSpPr/>
          <p:nvPr/>
        </p:nvSpPr>
        <p:spPr bwMode="auto">
          <a:xfrm>
            <a:off x="35147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515993690" name="Text 9"/>
          <p:cNvSpPr/>
          <p:nvPr/>
        </p:nvSpPr>
        <p:spPr bwMode="auto">
          <a:xfrm>
            <a:off x="3511868"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02</a:t>
            </a:r>
            <a:endParaRPr lang="vi-VN" sz="1000" noProof="1"/>
          </a:p>
        </p:txBody>
      </p:sp>
      <p:sp>
        <p:nvSpPr>
          <p:cNvPr id="1827806591" name="Text 10"/>
          <p:cNvSpPr/>
          <p:nvPr/>
        </p:nvSpPr>
        <p:spPr bwMode="auto">
          <a:xfrm>
            <a:off x="3514725" y="1778794"/>
            <a:ext cx="2390013" cy="161925"/>
          </a:xfrm>
          <a:prstGeom prst="rect">
            <a:avLst/>
          </a:prstGeom>
          <a:noFill/>
          <a:ln/>
        </p:spPr>
        <p:txBody>
          <a:bodyPr wrap="square" lIns="0" tIns="0" rIns="0" bIns="0" rtlCol="0" anchor="t"/>
          <a:lstStyle/>
          <a:p>
            <a:r>
              <a:t>Soạn thảo bài viết (CMS)</a:t>
            </a:r>
          </a:p>
        </p:txBody>
      </p:sp>
      <p:sp>
        <p:nvSpPr>
          <p:cNvPr id="39333245" name="Text 11"/>
          <p:cNvSpPr/>
          <p:nvPr/>
        </p:nvSpPr>
        <p:spPr bwMode="auto">
          <a:xfrm>
            <a:off x="3514725" y="1988344"/>
            <a:ext cx="2390013" cy="517922"/>
          </a:xfrm>
          <a:prstGeom prst="rect">
            <a:avLst/>
          </a:prstGeom>
          <a:noFill/>
          <a:ln/>
        </p:spPr>
        <p:txBody>
          <a:bodyPr wrap="square" lIns="0" tIns="0" rIns="0" bIns="0" rtlCol="0" anchor="t"/>
          <a:lstStyle/>
          <a:p>
            <a:r>
              <a:t>Trình biên tập nội dung trực quan, hỗ trợ định dạng báo chí, bảng biểu và chèn tệp đa phương tiện.</a:t>
            </a:r>
          </a:p>
        </p:txBody>
      </p:sp>
      <p:sp>
        <p:nvSpPr>
          <p:cNvPr id="641261385" name="Text 12"/>
          <p:cNvSpPr/>
          <p:nvPr/>
        </p:nvSpPr>
        <p:spPr bwMode="auto">
          <a:xfrm>
            <a:off x="61722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442133264" name="Text 13"/>
          <p:cNvSpPr/>
          <p:nvPr/>
        </p:nvSpPr>
        <p:spPr bwMode="auto">
          <a:xfrm>
            <a:off x="63341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705281429" name="Text 14"/>
          <p:cNvSpPr/>
          <p:nvPr/>
        </p:nvSpPr>
        <p:spPr bwMode="auto">
          <a:xfrm>
            <a:off x="6331268"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03</a:t>
            </a:r>
            <a:endParaRPr lang="vi-VN" sz="1000" noProof="1"/>
          </a:p>
        </p:txBody>
      </p:sp>
      <p:sp>
        <p:nvSpPr>
          <p:cNvPr id="1984289581" name="Text 15"/>
          <p:cNvSpPr/>
          <p:nvPr/>
        </p:nvSpPr>
        <p:spPr bwMode="auto">
          <a:xfrm>
            <a:off x="6334125" y="1778794"/>
            <a:ext cx="2390013" cy="161925"/>
          </a:xfrm>
          <a:prstGeom prst="rect">
            <a:avLst/>
          </a:prstGeom>
          <a:noFill/>
          <a:ln/>
        </p:spPr>
        <p:txBody>
          <a:bodyPr wrap="square" lIns="0" tIns="0" rIns="0" bIns="0" rtlCol="0" anchor="t"/>
          <a:lstStyle/>
          <a:p>
            <a:r>
              <a:t>Quy trình kiểm duyệt 4 bước</a:t>
            </a:r>
          </a:p>
        </p:txBody>
      </p:sp>
      <p:sp>
        <p:nvSpPr>
          <p:cNvPr id="1002533493" name="Text 16"/>
          <p:cNvSpPr/>
          <p:nvPr/>
        </p:nvSpPr>
        <p:spPr bwMode="auto">
          <a:xfrm>
            <a:off x="6334125" y="1988344"/>
            <a:ext cx="2390013" cy="517922"/>
          </a:xfrm>
          <a:prstGeom prst="rect">
            <a:avLst/>
          </a:prstGeom>
          <a:noFill/>
          <a:ln/>
        </p:spPr>
        <p:txBody>
          <a:bodyPr wrap="square" lIns="0" tIns="0" rIns="0" bIns="0" rtlCol="0" anchor="t"/>
          <a:lstStyle/>
          <a:p>
            <a:r>
              <a:t>Nháp → Chờ duyệt → Đã duyệt → Xuất bản; xem trước hiển thị và kiểm duyệt bài viết chính xác trước khi phát hành.</a:t>
            </a:r>
          </a:p>
        </p:txBody>
      </p:sp>
      <p:sp>
        <p:nvSpPr>
          <p:cNvPr id="1632029538" name="Text 17"/>
          <p:cNvSpPr/>
          <p:nvPr/>
        </p:nvSpPr>
        <p:spPr bwMode="auto">
          <a:xfrm>
            <a:off x="89916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802780343" name="Text 18"/>
          <p:cNvSpPr/>
          <p:nvPr/>
        </p:nvSpPr>
        <p:spPr bwMode="auto">
          <a:xfrm>
            <a:off x="91535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1624976401" name="Text 19"/>
          <p:cNvSpPr/>
          <p:nvPr/>
        </p:nvSpPr>
        <p:spPr bwMode="auto">
          <a:xfrm>
            <a:off x="9150667"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04</a:t>
            </a:r>
            <a:endParaRPr lang="vi-VN" sz="1000" noProof="1"/>
          </a:p>
        </p:txBody>
      </p:sp>
      <p:sp>
        <p:nvSpPr>
          <p:cNvPr id="1386990661" name="Text 20"/>
          <p:cNvSpPr/>
          <p:nvPr/>
        </p:nvSpPr>
        <p:spPr bwMode="auto">
          <a:xfrm>
            <a:off x="9153525" y="1778794"/>
            <a:ext cx="2390013" cy="161925"/>
          </a:xfrm>
          <a:prstGeom prst="rect">
            <a:avLst/>
          </a:prstGeom>
          <a:noFill/>
          <a:ln/>
        </p:spPr>
        <p:txBody>
          <a:bodyPr wrap="square" lIns="0" tIns="0" rIns="0" bIns="0" rtlCol="0" anchor="t"/>
          <a:lstStyle/>
          <a:p>
            <a:r>
              <a:t>Lập lịch xuất bản tự động</a:t>
            </a:r>
          </a:p>
        </p:txBody>
      </p:sp>
      <p:sp>
        <p:nvSpPr>
          <p:cNvPr id="1862772748" name="Text 21"/>
          <p:cNvSpPr/>
          <p:nvPr/>
        </p:nvSpPr>
        <p:spPr bwMode="auto">
          <a:xfrm>
            <a:off x="9153525" y="1988344"/>
            <a:ext cx="2390013" cy="517922"/>
          </a:xfrm>
          <a:prstGeom prst="rect">
            <a:avLst/>
          </a:prstGeom>
          <a:noFill/>
          <a:ln/>
        </p:spPr>
        <p:txBody>
          <a:bodyPr wrap="square" lIns="0" tIns="0" rIns="0" bIns="0" rtlCol="0" anchor="t"/>
          <a:lstStyle/>
          <a:p>
            <a:r>
              <a:t>Thiết lập thời gian phát hành bài viết theo khung giờ ấn định; tiến trình ngầm tự động kích hoạt xuất bản đúng giờ.</a:t>
            </a:r>
          </a:p>
        </p:txBody>
      </p:sp>
      <p:sp>
        <p:nvSpPr>
          <p:cNvPr id="876809556" name="Text 22"/>
          <p:cNvSpPr/>
          <p:nvPr/>
        </p:nvSpPr>
        <p:spPr bwMode="auto">
          <a:xfrm>
            <a:off x="5334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455290549" name="Text 23"/>
          <p:cNvSpPr/>
          <p:nvPr/>
        </p:nvSpPr>
        <p:spPr bwMode="auto">
          <a:xfrm>
            <a:off x="6953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1093135243" name="Text 24"/>
          <p:cNvSpPr/>
          <p:nvPr/>
        </p:nvSpPr>
        <p:spPr bwMode="auto">
          <a:xfrm>
            <a:off x="692467"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05</a:t>
            </a:r>
            <a:endParaRPr lang="vi-VN" sz="1000" noProof="1"/>
          </a:p>
        </p:txBody>
      </p:sp>
      <p:sp>
        <p:nvSpPr>
          <p:cNvPr id="1088127334" name="Text 25"/>
          <p:cNvSpPr/>
          <p:nvPr/>
        </p:nvSpPr>
        <p:spPr bwMode="auto">
          <a:xfrm>
            <a:off x="695325" y="4093369"/>
            <a:ext cx="2390013" cy="161925"/>
          </a:xfrm>
          <a:prstGeom prst="rect">
            <a:avLst/>
          </a:prstGeom>
          <a:noFill/>
          <a:ln/>
        </p:spPr>
        <p:txBody>
          <a:bodyPr wrap="square" lIns="0" tIns="0" rIns="0" bIns="0" rtlCol="0" anchor="t"/>
          <a:lstStyle/>
          <a:p>
            <a:r>
              <a:t>Đồng bộ Fanpage Facebook</a:t>
            </a:r>
          </a:p>
        </p:txBody>
      </p:sp>
      <p:sp>
        <p:nvSpPr>
          <p:cNvPr id="2006869768" name="Text 26"/>
          <p:cNvSpPr/>
          <p:nvPr/>
        </p:nvSpPr>
        <p:spPr bwMode="auto">
          <a:xfrm>
            <a:off x="695325" y="4302919"/>
            <a:ext cx="2390013" cy="517922"/>
          </a:xfrm>
          <a:prstGeom prst="rect">
            <a:avLst/>
          </a:prstGeom>
          <a:noFill/>
          <a:ln/>
        </p:spPr>
        <p:txBody>
          <a:bodyPr wrap="square" lIns="0" tIns="0" rIns="0" bIns="0" rtlCol="0" anchor="t"/>
          <a:lstStyle/>
          <a:p>
            <a:r>
              <a:t>Tích hợp Meta Graph API v19 tự động đăng bài viết, hình ảnh và liên kết bài đọc lên Fanpage Công đoàn khi phê duyệt.</a:t>
            </a:r>
          </a:p>
        </p:txBody>
      </p:sp>
      <p:sp>
        <p:nvSpPr>
          <p:cNvPr id="131671412" name="Text 27"/>
          <p:cNvSpPr/>
          <p:nvPr/>
        </p:nvSpPr>
        <p:spPr bwMode="auto">
          <a:xfrm>
            <a:off x="33528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425332783" name="Text 28"/>
          <p:cNvSpPr/>
          <p:nvPr/>
        </p:nvSpPr>
        <p:spPr bwMode="auto">
          <a:xfrm>
            <a:off x="35147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1054262772" name="Text 29"/>
          <p:cNvSpPr/>
          <p:nvPr/>
        </p:nvSpPr>
        <p:spPr bwMode="auto">
          <a:xfrm>
            <a:off x="3511868"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06</a:t>
            </a:r>
            <a:endParaRPr lang="vi-VN" sz="1000" noProof="1"/>
          </a:p>
        </p:txBody>
      </p:sp>
      <p:sp>
        <p:nvSpPr>
          <p:cNvPr id="656601929" name="Text 30"/>
          <p:cNvSpPr/>
          <p:nvPr/>
        </p:nvSpPr>
        <p:spPr bwMode="auto">
          <a:xfrm>
            <a:off x="3514725" y="4093369"/>
            <a:ext cx="2390013" cy="161925"/>
          </a:xfrm>
          <a:prstGeom prst="rect">
            <a:avLst/>
          </a:prstGeom>
          <a:noFill/>
          <a:ln/>
        </p:spPr>
        <p:txBody>
          <a:bodyPr wrap="square" lIns="0" tIns="0" rIns="0" bIns="0" rtlCol="0" anchor="t"/>
          <a:lstStyle/>
          <a:p>
            <a:r>
              <a:t>Bảng điều khiển (Dashboard)</a:t>
            </a:r>
          </a:p>
        </p:txBody>
      </p:sp>
      <p:sp>
        <p:nvSpPr>
          <p:cNvPr id="1468801247" name="Text 31"/>
          <p:cNvSpPr/>
          <p:nvPr/>
        </p:nvSpPr>
        <p:spPr bwMode="auto">
          <a:xfrm>
            <a:off x="3514725" y="4302919"/>
            <a:ext cx="2390013" cy="517922"/>
          </a:xfrm>
          <a:prstGeom prst="rect">
            <a:avLst/>
          </a:prstGeom>
          <a:noFill/>
          <a:ln/>
        </p:spPr>
        <p:txBody>
          <a:bodyPr wrap="square" lIns="0" tIns="0" rIns="0" bIns="0" rtlCol="0" anchor="t"/>
          <a:lstStyle/>
          <a:p>
            <a:r>
              <a:t>Thống kê số lượng bài viết theo trạng thái và theo dõi tổng quan hoạt động xuất bản đa kênh của hệ thống.</a:t>
            </a:r>
          </a:p>
        </p:txBody>
      </p:sp>
      <p:sp>
        <p:nvSpPr>
          <p:cNvPr id="1875312712" name="Text 32"/>
          <p:cNvSpPr/>
          <p:nvPr/>
        </p:nvSpPr>
        <p:spPr bwMode="auto">
          <a:xfrm>
            <a:off x="61722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908477655" name="Text 33"/>
          <p:cNvSpPr/>
          <p:nvPr/>
        </p:nvSpPr>
        <p:spPr bwMode="auto">
          <a:xfrm>
            <a:off x="63341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800509021" name="Text 34"/>
          <p:cNvSpPr/>
          <p:nvPr/>
        </p:nvSpPr>
        <p:spPr bwMode="auto">
          <a:xfrm>
            <a:off x="6331268"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07</a:t>
            </a:r>
            <a:endParaRPr lang="vi-VN" sz="1000" noProof="1"/>
          </a:p>
        </p:txBody>
      </p:sp>
      <p:sp>
        <p:nvSpPr>
          <p:cNvPr id="1239723103" name="Text 35"/>
          <p:cNvSpPr/>
          <p:nvPr/>
        </p:nvSpPr>
        <p:spPr bwMode="auto">
          <a:xfrm>
            <a:off x="6334125" y="4093369"/>
            <a:ext cx="2390013" cy="161925"/>
          </a:xfrm>
          <a:prstGeom prst="rect">
            <a:avLst/>
          </a:prstGeom>
          <a:noFill/>
          <a:ln/>
        </p:spPr>
        <p:txBody>
          <a:bodyPr wrap="square" lIns="0" tIns="0" rIns="0" bIns="0" rtlCol="0" anchor="t"/>
          <a:lstStyle/>
          <a:p>
            <a:r>
              <a:t>Quản lý Văn bản &amp; Biểu mẫu</a:t>
            </a:r>
          </a:p>
        </p:txBody>
      </p:sp>
      <p:sp>
        <p:nvSpPr>
          <p:cNvPr id="1577619318" name="Text 36"/>
          <p:cNvSpPr/>
          <p:nvPr/>
        </p:nvSpPr>
        <p:spPr bwMode="auto">
          <a:xfrm>
            <a:off x="6334125" y="4302919"/>
            <a:ext cx="2390013" cy="345281"/>
          </a:xfrm>
          <a:prstGeom prst="rect">
            <a:avLst/>
          </a:prstGeom>
          <a:noFill/>
          <a:ln/>
        </p:spPr>
        <p:txBody>
          <a:bodyPr wrap="square" lIns="0" tIns="0" rIns="0" bIns="0" rtlCol="0" anchor="t"/>
          <a:lstStyle/>
          <a:p>
            <a:r>
              <a:t>Cập nhật số hiệu văn bản, trích yếu, tệp scan PDF; phân loại biểu mẫu đơn từ điện tử theo danh mục nghiệp vụ.</a:t>
            </a:r>
          </a:p>
        </p:txBody>
      </p:sp>
      <p:sp>
        <p:nvSpPr>
          <p:cNvPr id="101279089" name="Text 37"/>
          <p:cNvSpPr/>
          <p:nvPr/>
        </p:nvSpPr>
        <p:spPr bwMode="auto">
          <a:xfrm>
            <a:off x="89916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978225723" name="Text 38"/>
          <p:cNvSpPr/>
          <p:nvPr/>
        </p:nvSpPr>
        <p:spPr bwMode="auto">
          <a:xfrm>
            <a:off x="91535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2122408399" name="Text 39"/>
          <p:cNvSpPr/>
          <p:nvPr/>
        </p:nvSpPr>
        <p:spPr bwMode="auto">
          <a:xfrm>
            <a:off x="9150667"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08</a:t>
            </a:r>
            <a:endParaRPr lang="vi-VN" sz="1000" noProof="1"/>
          </a:p>
        </p:txBody>
      </p:sp>
      <p:sp>
        <p:nvSpPr>
          <p:cNvPr id="1592274018" name="Text 40"/>
          <p:cNvSpPr/>
          <p:nvPr/>
        </p:nvSpPr>
        <p:spPr bwMode="auto">
          <a:xfrm>
            <a:off x="9153525" y="4093369"/>
            <a:ext cx="2390013" cy="161925"/>
          </a:xfrm>
          <a:prstGeom prst="rect">
            <a:avLst/>
          </a:prstGeom>
          <a:noFill/>
          <a:ln/>
        </p:spPr>
        <p:txBody>
          <a:bodyPr wrap="square" lIns="0" tIns="0" rIns="0" bIns="0" rtlCol="0" anchor="t"/>
          <a:lstStyle/>
          <a:p>
            <a:r>
              <a:t>Nhật ký kiểm toán &amp; Cấu hình</a:t>
            </a:r>
          </a:p>
        </p:txBody>
      </p:sp>
      <p:sp>
        <p:nvSpPr>
          <p:cNvPr id="172883449" name="Text 41"/>
          <p:cNvSpPr/>
          <p:nvPr/>
        </p:nvSpPr>
        <p:spPr bwMode="auto">
          <a:xfrm>
            <a:off x="9153525" y="4302919"/>
            <a:ext cx="2390013" cy="517922"/>
          </a:xfrm>
          <a:prstGeom prst="rect">
            <a:avLst/>
          </a:prstGeom>
          <a:noFill/>
          <a:ln/>
        </p:spPr>
        <p:txBody>
          <a:bodyPr wrap="square" lIns="0" tIns="0" rIns="0" bIns="0" rtlCol="0" anchor="t"/>
          <a:lstStyle/>
          <a:p>
            <a:r>
              <a:t>Lưu vết lịch sử thao tác người dùng (Audit Logs); quản lý khóa API hệ thống và giám sát định mức tài nguyên AI.</a:t>
            </a:r>
          </a:p>
        </p:txBody>
      </p:sp>
      <p:sp>
        <p:nvSpPr>
          <p:cNvPr id="738599549" name="Shape 42"/>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403495935" name="Text 43"/>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name="Slide 6">
    <p:bg>
      <p:bgPr>
        <a:solidFill>
          <a:srgbClr val="F6F8FB"/>
        </a:solidFill>
        <a:effectLst/>
      </p:bgPr>
    </p:bg>
    <p:spTree>
      <p:nvGrpSpPr>
        <p:cNvPr id="1" name=""/>
        <p:cNvGrpSpPr/>
        <p:nvPr/>
      </p:nvGrpSpPr>
      <p:grpSpPr bwMode="auto">
        <a:xfrm>
          <a:off x="0" y="0"/>
          <a:ext cx="0" cy="0"/>
          <a:chOff x="0" y="0"/>
          <a:chExt cx="0" cy="0"/>
        </a:xfrm>
      </p:grpSpPr>
      <p:sp>
        <p:nvSpPr>
          <p:cNvPr id="988663049"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2. PHÂN TÍCH YÊU CẦU</a:t>
            </a:r>
            <a:endParaRPr lang="vi-VN" sz="1000" noProof="1"/>
          </a:p>
        </p:txBody>
      </p:sp>
      <p:sp>
        <p:nvSpPr>
          <p:cNvPr id="1364667650" name="Text 1"/>
          <p:cNvSpPr/>
          <p:nvPr/>
        </p:nvSpPr>
        <p:spPr bwMode="auto">
          <a:xfrm>
            <a:off x="533400" y="542925"/>
            <a:ext cx="11347704" cy="359569"/>
          </a:xfrm>
          <a:prstGeom prst="rect">
            <a:avLst/>
          </a:prstGeom>
          <a:noFill/>
          <a:ln/>
        </p:spPr>
        <p:txBody>
          <a:bodyPr wrap="square" lIns="0" tIns="0" rIns="0" bIns="0" rtlCol="0" anchor="t"/>
          <a:lstStyle/>
          <a:p>
            <a:r>
              <a:t>Trợ lý AI hỗ trợ sáng tạo nội dung đa kênh</a:t>
            </a:r>
          </a:p>
        </p:txBody>
      </p:sp>
      <p:pic>
        <p:nvPicPr>
          <p:cNvPr id="1372264076" name="Image 0" descr="/var/folders/t4/q0khv7qd1r3dc2yrbwkzmjf00000gn/T/html2pptx-3PyRvM/html2pptx-bg-1791687642797-ab2105bbbd9cb8.png"/>
          <p:cNvPicPr>
            <a:picLocks noChangeAspect="1"/>
          </p:cNvPicPr>
          <p:nvPr/>
        </p:nvPicPr>
        <p:blipFill rotWithShape="1">
          <a:blip r:embed="rId3"/>
          <a:stretch/>
        </p:blipFill>
        <p:spPr bwMode="auto">
          <a:xfrm>
            <a:off x="533400" y="978694"/>
            <a:ext cx="1047750" cy="38100"/>
          </a:xfrm>
          <a:prstGeom prst="rect">
            <a:avLst/>
          </a:prstGeom>
        </p:spPr>
      </p:pic>
      <p:sp>
        <p:nvSpPr>
          <p:cNvPr id="1141313944" name="Text 2"/>
          <p:cNvSpPr/>
          <p:nvPr/>
        </p:nvSpPr>
        <p:spPr bwMode="auto">
          <a:xfrm>
            <a:off x="533400" y="1150144"/>
            <a:ext cx="10881360" cy="214015"/>
          </a:xfrm>
          <a:prstGeom prst="rect">
            <a:avLst/>
          </a:prstGeom>
          <a:noFill/>
          <a:ln/>
        </p:spPr>
        <p:txBody>
          <a:bodyPr wrap="square" lIns="0" tIns="0" rIns="0" bIns="0" rtlCol="0" anchor="t"/>
          <a:lstStyle/>
          <a:p>
            <a:r>
              <a:t>Ứng dụng Google Gemini AI hỗ trợ biên soạn nội dung đa nền tảng theo cơ chế Human-in-the-loop: AI đề xuất và chuyển đổi định dạng, biên tập viên giữ quyền kiểm duyệt cuối cùng.</a:t>
            </a:r>
          </a:p>
        </p:txBody>
      </p:sp>
      <p:sp>
        <p:nvSpPr>
          <p:cNvPr id="1364353431" name="Text 3"/>
          <p:cNvSpPr/>
          <p:nvPr/>
        </p:nvSpPr>
        <p:spPr bwMode="auto">
          <a:xfrm>
            <a:off x="533400" y="1573709"/>
            <a:ext cx="3606701"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282954407" name="Text 4"/>
          <p:cNvSpPr/>
          <p:nvPr/>
        </p:nvSpPr>
        <p:spPr bwMode="auto">
          <a:xfrm>
            <a:off x="714375" y="17261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1845100964" name="Text 5"/>
          <p:cNvSpPr/>
          <p:nvPr/>
        </p:nvSpPr>
        <p:spPr bwMode="auto">
          <a:xfrm>
            <a:off x="711327" y="1726109"/>
            <a:ext cx="310896" cy="304800"/>
          </a:xfrm>
          <a:prstGeom prst="rect">
            <a:avLst/>
          </a:prstGeom>
          <a:noFill/>
          <a:ln/>
        </p:spPr>
        <p:txBody>
          <a:bodyPr wrap="square" lIns="0" tIns="0" rIns="0" bIns="0" rtlCol="0" anchor="ctr"/>
          <a:lstStyle/>
          <a:p>
            <a:r>
              <a:t>01</a:t>
            </a:r>
          </a:p>
        </p:txBody>
      </p:sp>
      <p:sp>
        <p:nvSpPr>
          <p:cNvPr id="1016852456" name="Text 6"/>
          <p:cNvSpPr/>
          <p:nvPr/>
        </p:nvSpPr>
        <p:spPr bwMode="auto">
          <a:xfrm>
            <a:off x="1114425" y="1792784"/>
            <a:ext cx="1681692" cy="171450"/>
          </a:xfrm>
          <a:prstGeom prst="rect">
            <a:avLst/>
          </a:prstGeom>
          <a:noFill/>
          <a:ln/>
        </p:spPr>
        <p:txBody>
          <a:bodyPr wrap="square" lIns="0" tIns="0" rIns="0" bIns="0" rtlCol="0" anchor="t"/>
          <a:lstStyle/>
          <a:p>
            <a:r>
              <a:t>Chấp bút bài viết từ tư liệu thô</a:t>
            </a:r>
          </a:p>
        </p:txBody>
      </p:sp>
      <p:sp>
        <p:nvSpPr>
          <p:cNvPr id="72998157" name="Text 7"/>
          <p:cNvSpPr/>
          <p:nvPr/>
        </p:nvSpPr>
        <p:spPr bwMode="auto">
          <a:xfrm>
            <a:off x="714375" y="2107109"/>
            <a:ext cx="3309646" cy="535781"/>
          </a:xfrm>
          <a:prstGeom prst="rect">
            <a:avLst/>
          </a:prstGeom>
          <a:noFill/>
          <a:ln/>
        </p:spPr>
        <p:txBody>
          <a:bodyPr wrap="square" lIns="0" tIns="0" rIns="0" bIns="0" rtlCol="0" anchor="t"/>
          <a:lstStyle/>
          <a:p>
            <a:r>
              <a:t>Đọc hiểu tài liệu sự kiện (Kế hoạch, thông báo, ảnh) để sinh bản thảo bài viết hoàn chỉnh theo cấu trúc 5W1H báo chí.</a:t>
            </a:r>
          </a:p>
        </p:txBody>
      </p:sp>
      <p:sp>
        <p:nvSpPr>
          <p:cNvPr id="149157382" name="Text 8"/>
          <p:cNvSpPr/>
          <p:nvPr/>
        </p:nvSpPr>
        <p:spPr bwMode="auto">
          <a:xfrm>
            <a:off x="4292501" y="1573709"/>
            <a:ext cx="3606850"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2023426606" name="Text 9"/>
          <p:cNvSpPr/>
          <p:nvPr/>
        </p:nvSpPr>
        <p:spPr bwMode="auto">
          <a:xfrm>
            <a:off x="4473476" y="17261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1894304406" name="Text 10"/>
          <p:cNvSpPr/>
          <p:nvPr/>
        </p:nvSpPr>
        <p:spPr bwMode="auto">
          <a:xfrm>
            <a:off x="4470428" y="1726109"/>
            <a:ext cx="310896" cy="304800"/>
          </a:xfrm>
          <a:prstGeom prst="rect">
            <a:avLst/>
          </a:prstGeom>
          <a:noFill/>
          <a:ln/>
        </p:spPr>
        <p:txBody>
          <a:bodyPr wrap="square" lIns="0" tIns="0" rIns="0" bIns="0" rtlCol="0" anchor="ctr"/>
          <a:lstStyle/>
          <a:p>
            <a:r>
              <a:t>02</a:t>
            </a:r>
          </a:p>
        </p:txBody>
      </p:sp>
      <p:sp>
        <p:nvSpPr>
          <p:cNvPr id="53570159" name="Text 11"/>
          <p:cNvSpPr/>
          <p:nvPr/>
        </p:nvSpPr>
        <p:spPr bwMode="auto">
          <a:xfrm>
            <a:off x="4873525" y="1792784"/>
            <a:ext cx="1397210" cy="171450"/>
          </a:xfrm>
          <a:prstGeom prst="rect">
            <a:avLst/>
          </a:prstGeom>
          <a:noFill/>
          <a:ln/>
        </p:spPr>
        <p:txBody>
          <a:bodyPr wrap="square" lIns="0" tIns="0" rIns="0" bIns="0" rtlCol="0" anchor="t"/>
          <a:lstStyle/>
          <a:p>
            <a:r>
              <a:t>Tóm tắt Sapo &amp; Tối ưu đa kênh</a:t>
            </a:r>
          </a:p>
        </p:txBody>
      </p:sp>
      <p:sp>
        <p:nvSpPr>
          <p:cNvPr id="904769311" name="Text 12"/>
          <p:cNvSpPr/>
          <p:nvPr/>
        </p:nvSpPr>
        <p:spPr bwMode="auto">
          <a:xfrm>
            <a:off x="4473476" y="2107109"/>
            <a:ext cx="3309798" cy="357188"/>
          </a:xfrm>
          <a:prstGeom prst="rect">
            <a:avLst/>
          </a:prstGeom>
          <a:noFill/>
          <a:ln/>
        </p:spPr>
        <p:txBody>
          <a:bodyPr wrap="square" lIns="0" tIns="0" rIns="0" bIns="0" rtlCol="0" anchor="t"/>
          <a:lstStyle/>
          <a:p>
            <a:r>
              <a:t>Tự động sinh đoạn dẫn nhập cô đọng cho Website, đồng thời rút gọn thành bài đăng ngắn kèm hashtag cho Fanpage và Zalo.</a:t>
            </a:r>
          </a:p>
        </p:txBody>
      </p:sp>
      <p:sp>
        <p:nvSpPr>
          <p:cNvPr id="709415554" name="Text 23"/>
          <p:cNvSpPr/>
          <p:nvPr/>
        </p:nvSpPr>
        <p:spPr bwMode="auto">
          <a:xfrm>
            <a:off x="4292501" y="3554909"/>
            <a:ext cx="3606850"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070345396" name="Text 24"/>
          <p:cNvSpPr/>
          <p:nvPr/>
        </p:nvSpPr>
        <p:spPr bwMode="auto">
          <a:xfrm>
            <a:off x="4473476" y="37073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1005010649" name="Text 25"/>
          <p:cNvSpPr/>
          <p:nvPr/>
        </p:nvSpPr>
        <p:spPr bwMode="auto">
          <a:xfrm>
            <a:off x="4470428" y="3707309"/>
            <a:ext cx="310896" cy="304800"/>
          </a:xfrm>
          <a:prstGeom prst="rect">
            <a:avLst/>
          </a:prstGeom>
          <a:noFill/>
          <a:ln/>
        </p:spPr>
        <p:txBody>
          <a:bodyPr wrap="square" lIns="0" tIns="0" rIns="0" bIns="0" rtlCol="0" anchor="ctr"/>
          <a:lstStyle/>
          <a:p>
            <a:r>
              <a:t>03</a:t>
            </a:r>
          </a:p>
        </p:txBody>
      </p:sp>
      <p:sp>
        <p:nvSpPr>
          <p:cNvPr id="448043160" name="Text 26"/>
          <p:cNvSpPr/>
          <p:nvPr/>
        </p:nvSpPr>
        <p:spPr bwMode="auto">
          <a:xfrm>
            <a:off x="4873525" y="3773984"/>
            <a:ext cx="1489204" cy="171450"/>
          </a:xfrm>
          <a:prstGeom prst="rect">
            <a:avLst/>
          </a:prstGeom>
          <a:noFill/>
          <a:ln/>
        </p:spPr>
        <p:txBody>
          <a:bodyPr wrap="square" lIns="0" tIns="0" rIns="0" bIns="0" rtlCol="0" anchor="t"/>
          <a:lstStyle/>
          <a:p>
            <a:r>
              <a:t>Gợi ý tiêu đề bài viết</a:t>
            </a:r>
          </a:p>
        </p:txBody>
      </p:sp>
      <p:sp>
        <p:nvSpPr>
          <p:cNvPr id="1489428580" name="Text 27"/>
          <p:cNvSpPr/>
          <p:nvPr/>
        </p:nvSpPr>
        <p:spPr bwMode="auto">
          <a:xfrm>
            <a:off x="4473476" y="4088309"/>
            <a:ext cx="3309798" cy="357188"/>
          </a:xfrm>
          <a:prstGeom prst="rect">
            <a:avLst/>
          </a:prstGeom>
          <a:noFill/>
          <a:ln/>
        </p:spPr>
        <p:txBody>
          <a:bodyPr wrap="square" lIns="0" tIns="0" rIns="0" bIns="0" rtlCol="0" anchor="t"/>
          <a:lstStyle/>
          <a:p>
            <a:r>
              <a:t>Đề xuất các phương án tiêu đề trang trọng, đúng chuẩn phong cách đoàn thể và hấp dẫn độc giả.</a:t>
            </a:r>
          </a:p>
        </p:txBody>
      </p:sp>
      <p:sp>
        <p:nvSpPr>
          <p:cNvPr id="244178056" name="Text 28"/>
          <p:cNvSpPr/>
          <p:nvPr/>
        </p:nvSpPr>
        <p:spPr bwMode="auto">
          <a:xfrm>
            <a:off x="8051750" y="3554909"/>
            <a:ext cx="3606701"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635074082" name="Text 29"/>
          <p:cNvSpPr/>
          <p:nvPr/>
        </p:nvSpPr>
        <p:spPr bwMode="auto">
          <a:xfrm>
            <a:off x="8232725" y="37073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264002214" name="Text 30"/>
          <p:cNvSpPr/>
          <p:nvPr/>
        </p:nvSpPr>
        <p:spPr bwMode="auto">
          <a:xfrm>
            <a:off x="8229677" y="3707309"/>
            <a:ext cx="310896" cy="304800"/>
          </a:xfrm>
          <a:prstGeom prst="rect">
            <a:avLst/>
          </a:prstGeom>
          <a:noFill/>
          <a:ln/>
        </p:spPr>
        <p:txBody>
          <a:bodyPr wrap="square" lIns="0" tIns="0" rIns="0" bIns="0" rtlCol="0" anchor="ctr"/>
          <a:lstStyle/>
          <a:p>
            <a:r>
              <a:t>04</a:t>
            </a:r>
          </a:p>
        </p:txBody>
      </p:sp>
      <p:sp>
        <p:nvSpPr>
          <p:cNvPr id="1220310364" name="Text 31"/>
          <p:cNvSpPr/>
          <p:nvPr/>
        </p:nvSpPr>
        <p:spPr bwMode="auto">
          <a:xfrm>
            <a:off x="8632775" y="3773984"/>
            <a:ext cx="1447154" cy="171450"/>
          </a:xfrm>
          <a:prstGeom prst="rect">
            <a:avLst/>
          </a:prstGeom>
          <a:noFill/>
          <a:ln/>
        </p:spPr>
        <p:txBody>
          <a:bodyPr wrap="square" lIns="0" tIns="0" rIns="0" bIns="0" rtlCol="0" anchor="t"/>
          <a:lstStyle/>
          <a:p>
            <a:r>
              <a:t>Chuẩn hóa văn phong &amp; Ngữ pháp</a:t>
            </a:r>
          </a:p>
        </p:txBody>
      </p:sp>
      <p:sp>
        <p:nvSpPr>
          <p:cNvPr id="690906954" name="Text 32"/>
          <p:cNvSpPr/>
          <p:nvPr/>
        </p:nvSpPr>
        <p:spPr bwMode="auto">
          <a:xfrm>
            <a:off x="8232725" y="4088309"/>
            <a:ext cx="3309646" cy="357188"/>
          </a:xfrm>
          <a:prstGeom prst="rect">
            <a:avLst/>
          </a:prstGeom>
          <a:noFill/>
          <a:ln/>
        </p:spPr>
        <p:txBody>
          <a:bodyPr wrap="square" lIns="0" tIns="0" rIns="0" bIns="0" rtlCol="0" anchor="t"/>
          <a:lstStyle/>
          <a:p>
            <a:r>
              <a:t>Tự động rà soát chính tả, tinh chỉnh câu từ mạch lạc và chuẩn mực theo văn bản hành chính Công đoàn.</a:t>
            </a:r>
          </a:p>
        </p:txBody>
      </p:sp>
      <p:sp>
        <p:nvSpPr>
          <p:cNvPr id="2026376871" name="Text 33"/>
          <p:cNvSpPr/>
          <p:nvPr/>
        </p:nvSpPr>
        <p:spPr bwMode="auto">
          <a:xfrm>
            <a:off x="533400" y="5574209"/>
            <a:ext cx="11125200" cy="421481"/>
          </a:xfrm>
          <a:prstGeom prst="roundRect">
            <a:avLst>
              <a:gd name="adj" fmla="val 27119"/>
            </a:avLst>
          </a:prstGeom>
          <a:solidFill>
            <a:srgbClr val="002855"/>
          </a:solidFill>
          <a:ln/>
        </p:spPr>
        <p:txBody>
          <a:bodyPr wrap="square" rtlCol="0" anchor="ctr"/>
          <a:lstStyle/>
          <a:p>
            <a:pPr marL="0" indent="0">
              <a:buNone/>
              <a:defRPr/>
            </a:pPr>
            <a:endParaRPr lang="vi-VN" noProof="1"/>
          </a:p>
        </p:txBody>
      </p:sp>
      <p:sp>
        <p:nvSpPr>
          <p:cNvPr id="1338903763" name="Text 34"/>
          <p:cNvSpPr/>
          <p:nvPr/>
        </p:nvSpPr>
        <p:spPr bwMode="auto">
          <a:xfrm>
            <a:off x="723900" y="5688509"/>
            <a:ext cx="10959084" cy="192881"/>
          </a:xfrm>
          <a:prstGeom prst="rect">
            <a:avLst/>
          </a:prstGeom>
          <a:noFill/>
          <a:ln/>
        </p:spPr>
        <p:txBody>
          <a:bodyPr wrap="square" lIns="0" tIns="0" rIns="0" bIns="0" rtlCol="0" anchor="t"/>
          <a:lstStyle/>
          <a:p>
            <a:r>
              <a:t>Cơ sở kỹ thuật: Tích hợp Google Gemini API qua giao thức RESTful an toàn, phản hồi thời gian thực và quản lý hạn mức Token theo vai trò.</a:t>
            </a:r>
          </a:p>
        </p:txBody>
      </p:sp>
      <p:sp>
        <p:nvSpPr>
          <p:cNvPr id="247088338" name="Shape 35"/>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2067949737" name="Text 36"/>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name="Slide 7">
    <p:bg>
      <p:bgPr>
        <a:solidFill>
          <a:srgbClr val="F6F8FB"/>
        </a:solidFill>
        <a:effectLst/>
      </p:bgPr>
    </p:bg>
    <p:spTree>
      <p:nvGrpSpPr>
        <p:cNvPr id="1" name=""/>
        <p:cNvGrpSpPr/>
        <p:nvPr/>
      </p:nvGrpSpPr>
      <p:grpSpPr bwMode="auto">
        <a:xfrm>
          <a:off x="0" y="0"/>
          <a:ext cx="0" cy="0"/>
          <a:chOff x="0" y="0"/>
          <a:chExt cx="0" cy="0"/>
        </a:xfrm>
      </p:grpSpPr>
      <p:sp>
        <p:nvSpPr>
          <p:cNvPr id="1445726117"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3. GIẢI PHÁP CÔNG NGHỆ</a:t>
            </a:r>
            <a:endParaRPr lang="vi-VN" sz="1000" noProof="1"/>
          </a:p>
        </p:txBody>
      </p:sp>
      <p:sp>
        <p:nvSpPr>
          <p:cNvPr id="1250095752" name="Text 1"/>
          <p:cNvSpPr/>
          <p:nvPr/>
        </p:nvSpPr>
        <p:spPr bwMode="auto">
          <a:xfrm>
            <a:off x="533400" y="542925"/>
            <a:ext cx="11347704" cy="359569"/>
          </a:xfrm>
          <a:prstGeom prst="rect">
            <a:avLst/>
          </a:prstGeom>
          <a:noFill/>
          <a:ln/>
        </p:spPr>
        <p:txBody>
          <a:bodyPr wrap="square" lIns="0" tIns="0" rIns="0" bIns="0" rtlCol="0" anchor="t"/>
          <a:lstStyle/>
          <a:p>
            <a:r>
              <a:t>Kiến trúc kỹ thuật — 4 thành phần hệ thống</a:t>
            </a:r>
          </a:p>
        </p:txBody>
      </p:sp>
      <p:pic>
        <p:nvPicPr>
          <p:cNvPr id="1938761839" name="Image 0" descr="/var/folders/t4/q0khv7qd1r3dc2yrbwkzmjf00000gn/T/html2pptx-GZNJ0n/html2pptx-bg-1791687643951-6c6bf3bb1a279.png"/>
          <p:cNvPicPr>
            <a:picLocks noChangeAspect="1"/>
          </p:cNvPicPr>
          <p:nvPr/>
        </p:nvPicPr>
        <p:blipFill rotWithShape="1">
          <a:blip r:embed="rId3"/>
          <a:stretch/>
        </p:blipFill>
        <p:spPr bwMode="auto">
          <a:xfrm>
            <a:off x="533400" y="978694"/>
            <a:ext cx="1047750" cy="38100"/>
          </a:xfrm>
          <a:prstGeom prst="rect">
            <a:avLst/>
          </a:prstGeom>
        </p:spPr>
      </p:pic>
      <p:sp>
        <p:nvSpPr>
          <p:cNvPr id="171965350" name="Text 2"/>
          <p:cNvSpPr/>
          <p:nvPr/>
        </p:nvSpPr>
        <p:spPr bwMode="auto">
          <a:xfrm>
            <a:off x="533400" y="1283494"/>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464939221" name="Shape 3"/>
          <p:cNvSpPr/>
          <p:nvPr/>
        </p:nvSpPr>
        <p:spPr bwMode="auto">
          <a:xfrm>
            <a:off x="762000" y="1307306"/>
            <a:ext cx="5010149" cy="0"/>
          </a:xfrm>
          <a:prstGeom prst="line">
            <a:avLst/>
          </a:prstGeom>
          <a:noFill/>
          <a:ln w="47625">
            <a:solidFill>
              <a:srgbClr val="002855"/>
            </a:solidFill>
            <a:prstDash val="solid"/>
          </a:ln>
        </p:spPr>
        <p:txBody>
          <a:bodyPr/>
          <a:lstStyle/>
          <a:p>
            <a:endParaRPr lang="vi-VN" noProof="1"/>
          </a:p>
        </p:txBody>
      </p:sp>
      <p:sp>
        <p:nvSpPr>
          <p:cNvPr id="1174777384" name="Shape 4"/>
          <p:cNvSpPr/>
          <p:nvPr/>
        </p:nvSpPr>
        <p:spPr bwMode="auto">
          <a:xfrm>
            <a:off x="5995988" y="1473994"/>
            <a:ext cx="0" cy="1785937"/>
          </a:xfrm>
          <a:prstGeom prst="line">
            <a:avLst/>
          </a:prstGeom>
          <a:noFill/>
          <a:ln w="9525">
            <a:solidFill>
              <a:srgbClr val="E3E9F2"/>
            </a:solidFill>
            <a:prstDash val="solid"/>
          </a:ln>
        </p:spPr>
        <p:txBody>
          <a:bodyPr/>
          <a:lstStyle/>
          <a:p>
            <a:endParaRPr lang="vi-VN" noProof="1"/>
          </a:p>
        </p:txBody>
      </p:sp>
      <p:sp>
        <p:nvSpPr>
          <p:cNvPr id="635614464" name="Shape 5"/>
          <p:cNvSpPr/>
          <p:nvPr/>
        </p:nvSpPr>
        <p:spPr bwMode="auto">
          <a:xfrm>
            <a:off x="762000" y="3450431"/>
            <a:ext cx="5010149" cy="0"/>
          </a:xfrm>
          <a:prstGeom prst="line">
            <a:avLst/>
          </a:prstGeom>
          <a:noFill/>
          <a:ln w="9525">
            <a:solidFill>
              <a:srgbClr val="E3E9F2"/>
            </a:solidFill>
            <a:prstDash val="solid"/>
          </a:ln>
        </p:spPr>
        <p:txBody>
          <a:bodyPr/>
          <a:lstStyle/>
          <a:p>
            <a:endParaRPr lang="vi-VN" noProof="1"/>
          </a:p>
        </p:txBody>
      </p:sp>
      <p:sp>
        <p:nvSpPr>
          <p:cNvPr id="1371696479" name="Shape 6"/>
          <p:cNvSpPr/>
          <p:nvPr/>
        </p:nvSpPr>
        <p:spPr bwMode="auto">
          <a:xfrm>
            <a:off x="538163" y="1473994"/>
            <a:ext cx="0" cy="1785937"/>
          </a:xfrm>
          <a:prstGeom prst="line">
            <a:avLst/>
          </a:prstGeom>
          <a:noFill/>
          <a:ln w="9525">
            <a:solidFill>
              <a:srgbClr val="E3E9F2"/>
            </a:solidFill>
            <a:prstDash val="solid"/>
          </a:ln>
        </p:spPr>
        <p:txBody>
          <a:bodyPr/>
          <a:lstStyle/>
          <a:p>
            <a:endParaRPr lang="vi-VN" noProof="1"/>
          </a:p>
        </p:txBody>
      </p:sp>
      <p:sp>
        <p:nvSpPr>
          <p:cNvPr id="1833952385" name="Text 7"/>
          <p:cNvSpPr/>
          <p:nvPr/>
        </p:nvSpPr>
        <p:spPr bwMode="auto">
          <a:xfrm>
            <a:off x="771525" y="1521619"/>
            <a:ext cx="809625" cy="209550"/>
          </a:xfrm>
          <a:prstGeom prst="rect">
            <a:avLst/>
          </a:prstGeom>
          <a:noFill/>
          <a:ln/>
        </p:spPr>
        <p:txBody>
          <a:bodyPr wrap="square" lIns="0" tIns="0" rIns="0" bIns="0" rtlCol="0" anchor="t"/>
          <a:lstStyle/>
          <a:p>
            <a:r>
              <a:t>Frontend</a:t>
            </a:r>
          </a:p>
        </p:txBody>
      </p:sp>
      <p:sp>
        <p:nvSpPr>
          <p:cNvPr id="1626353813" name="Text 8"/>
          <p:cNvSpPr/>
          <p:nvPr/>
        </p:nvSpPr>
        <p:spPr bwMode="auto">
          <a:xfrm>
            <a:off x="4142333" y="1569244"/>
            <a:ext cx="1652698" cy="114300"/>
          </a:xfrm>
          <a:prstGeom prst="rect">
            <a:avLst/>
          </a:prstGeom>
          <a:noFill/>
          <a:ln/>
        </p:spPr>
        <p:txBody>
          <a:bodyPr wrap="square" lIns="0" tIns="0" rIns="0" bIns="0" rtlCol="0" anchor="t"/>
          <a:lstStyle/>
          <a:p>
            <a:r>
              <a:t>GIAO DIỆN NGƯỜI DÙNG</a:t>
            </a:r>
          </a:p>
        </p:txBody>
      </p:sp>
      <p:sp>
        <p:nvSpPr>
          <p:cNvPr id="505768138" name="Text 11"/>
          <p:cNvSpPr/>
          <p:nvPr/>
        </p:nvSpPr>
        <p:spPr bwMode="auto">
          <a:xfrm>
            <a:off x="3157840" y="1845469"/>
            <a:ext cx="1355602"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r>
              <a:t>React 18 SPA · Tailwind CSS</a:t>
            </a:r>
          </a:p>
        </p:txBody>
      </p:sp>
      <p:sp>
        <p:nvSpPr>
          <p:cNvPr id="1291001063" name="Text 14"/>
          <p:cNvSpPr/>
          <p:nvPr/>
        </p:nvSpPr>
        <p:spPr bwMode="auto">
          <a:xfrm>
            <a:off x="771525" y="2559844"/>
            <a:ext cx="5090922" cy="357188"/>
          </a:xfrm>
          <a:prstGeom prst="rect">
            <a:avLst/>
          </a:prstGeom>
          <a:noFill/>
          <a:ln/>
        </p:spPr>
        <p:txBody>
          <a:bodyPr wrap="square" lIns="0" tIns="0" rIns="0" bIns="0" rtlCol="0" anchor="t"/>
          <a:lstStyle/>
          <a:p>
            <a:r>
              <a:t>Xây dựng Cổng thông tin và giao diện Quản trị CMS với cơ chế tải nhanh (Single Page Application), tối ưu Responsive trên máy tính và thiết bị di động.</a:t>
            </a:r>
          </a:p>
        </p:txBody>
      </p:sp>
      <p:sp>
        <p:nvSpPr>
          <p:cNvPr id="1180808459" name="Text 15"/>
          <p:cNvSpPr/>
          <p:nvPr/>
        </p:nvSpPr>
        <p:spPr bwMode="auto">
          <a:xfrm>
            <a:off x="6191250" y="1283494"/>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506713569" name="Shape 16"/>
          <p:cNvSpPr/>
          <p:nvPr/>
        </p:nvSpPr>
        <p:spPr bwMode="auto">
          <a:xfrm>
            <a:off x="6419850" y="1307306"/>
            <a:ext cx="5010149" cy="0"/>
          </a:xfrm>
          <a:prstGeom prst="line">
            <a:avLst/>
          </a:prstGeom>
          <a:noFill/>
          <a:ln w="47625">
            <a:solidFill>
              <a:srgbClr val="D4A017"/>
            </a:solidFill>
            <a:prstDash val="solid"/>
          </a:ln>
        </p:spPr>
        <p:txBody>
          <a:bodyPr/>
          <a:lstStyle/>
          <a:p>
            <a:endParaRPr lang="vi-VN" noProof="1"/>
          </a:p>
        </p:txBody>
      </p:sp>
      <p:sp>
        <p:nvSpPr>
          <p:cNvPr id="1424523302" name="Shape 17"/>
          <p:cNvSpPr/>
          <p:nvPr/>
        </p:nvSpPr>
        <p:spPr bwMode="auto">
          <a:xfrm>
            <a:off x="11653838" y="1473994"/>
            <a:ext cx="0" cy="1785937"/>
          </a:xfrm>
          <a:prstGeom prst="line">
            <a:avLst/>
          </a:prstGeom>
          <a:noFill/>
          <a:ln w="9525">
            <a:solidFill>
              <a:srgbClr val="E3E9F2"/>
            </a:solidFill>
            <a:prstDash val="solid"/>
          </a:ln>
        </p:spPr>
        <p:txBody>
          <a:bodyPr/>
          <a:lstStyle/>
          <a:p>
            <a:endParaRPr lang="vi-VN" noProof="1"/>
          </a:p>
        </p:txBody>
      </p:sp>
      <p:sp>
        <p:nvSpPr>
          <p:cNvPr id="1742842550" name="Shape 18"/>
          <p:cNvSpPr/>
          <p:nvPr/>
        </p:nvSpPr>
        <p:spPr bwMode="auto">
          <a:xfrm>
            <a:off x="6419850" y="3450431"/>
            <a:ext cx="5010149" cy="0"/>
          </a:xfrm>
          <a:prstGeom prst="line">
            <a:avLst/>
          </a:prstGeom>
          <a:noFill/>
          <a:ln w="9525">
            <a:solidFill>
              <a:srgbClr val="E3E9F2"/>
            </a:solidFill>
            <a:prstDash val="solid"/>
          </a:ln>
        </p:spPr>
        <p:txBody>
          <a:bodyPr/>
          <a:lstStyle/>
          <a:p>
            <a:endParaRPr lang="vi-VN" noProof="1"/>
          </a:p>
        </p:txBody>
      </p:sp>
      <p:sp>
        <p:nvSpPr>
          <p:cNvPr id="512448447" name="Shape 19"/>
          <p:cNvSpPr/>
          <p:nvPr/>
        </p:nvSpPr>
        <p:spPr bwMode="auto">
          <a:xfrm>
            <a:off x="6196011" y="1473994"/>
            <a:ext cx="0" cy="1785937"/>
          </a:xfrm>
          <a:prstGeom prst="line">
            <a:avLst/>
          </a:prstGeom>
          <a:noFill/>
          <a:ln w="9525">
            <a:solidFill>
              <a:srgbClr val="E3E9F2"/>
            </a:solidFill>
            <a:prstDash val="solid"/>
          </a:ln>
        </p:spPr>
        <p:txBody>
          <a:bodyPr/>
          <a:lstStyle/>
          <a:p>
            <a:endParaRPr lang="vi-VN" noProof="1"/>
          </a:p>
        </p:txBody>
      </p:sp>
      <p:sp>
        <p:nvSpPr>
          <p:cNvPr id="1771527550" name="Text 20"/>
          <p:cNvSpPr/>
          <p:nvPr/>
        </p:nvSpPr>
        <p:spPr bwMode="auto">
          <a:xfrm>
            <a:off x="6429374" y="1521619"/>
            <a:ext cx="813751" cy="166688"/>
          </a:xfrm>
          <a:prstGeom prst="rect">
            <a:avLst/>
          </a:prstGeom>
          <a:noFill/>
          <a:ln/>
        </p:spPr>
        <p:txBody>
          <a:bodyPr wrap="square" lIns="0" tIns="0" rIns="0" bIns="0" rtlCol="0" anchor="t"/>
          <a:lstStyle/>
          <a:p>
            <a:r>
              <a:t>Backend</a:t>
            </a:r>
          </a:p>
        </p:txBody>
      </p:sp>
      <p:sp>
        <p:nvSpPr>
          <p:cNvPr id="1680971027" name="Text 21"/>
          <p:cNvSpPr/>
          <p:nvPr/>
        </p:nvSpPr>
        <p:spPr bwMode="auto">
          <a:xfrm>
            <a:off x="10240714" y="1569244"/>
            <a:ext cx="1203355" cy="114300"/>
          </a:xfrm>
          <a:prstGeom prst="rect">
            <a:avLst/>
          </a:prstGeom>
          <a:noFill/>
          <a:ln/>
        </p:spPr>
        <p:txBody>
          <a:bodyPr wrap="square" lIns="0" tIns="0" rIns="0" bIns="0" rtlCol="0" anchor="t"/>
          <a:lstStyle/>
          <a:p>
            <a:r>
              <a:t>XỬ LÝ NGHIỆP VỤ</a:t>
            </a:r>
          </a:p>
        </p:txBody>
      </p:sp>
      <p:sp>
        <p:nvSpPr>
          <p:cNvPr id="1547685258" name="Text 22"/>
          <p:cNvSpPr/>
          <p:nvPr/>
        </p:nvSpPr>
        <p:spPr bwMode="auto">
          <a:xfrm>
            <a:off x="6429375" y="1845469"/>
            <a:ext cx="952352"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r>
              <a:t>Node.js · Express RESTful API</a:t>
            </a:r>
          </a:p>
        </p:txBody>
      </p:sp>
      <p:sp>
        <p:nvSpPr>
          <p:cNvPr id="338024935" name="Text 24"/>
          <p:cNvSpPr/>
          <p:nvPr/>
        </p:nvSpPr>
        <p:spPr bwMode="auto">
          <a:xfrm>
            <a:off x="8670765" y="1845469"/>
            <a:ext cx="1017599"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r>
              <a:t>Xử lý logic tập trung</a:t>
            </a:r>
          </a:p>
        </p:txBody>
      </p:sp>
      <p:sp>
        <p:nvSpPr>
          <p:cNvPr id="921318234" name="Text 28"/>
          <p:cNvSpPr/>
          <p:nvPr/>
        </p:nvSpPr>
        <p:spPr bwMode="auto">
          <a:xfrm>
            <a:off x="8921609" y="2188369"/>
            <a:ext cx="1095565"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r>
              <a:t>Bảo mật &amp; Tác vụ ngầm</a:t>
            </a:r>
          </a:p>
        </p:txBody>
      </p:sp>
      <p:sp>
        <p:nvSpPr>
          <p:cNvPr id="2106201389" name="Text 29"/>
          <p:cNvSpPr/>
          <p:nvPr/>
        </p:nvSpPr>
        <p:spPr bwMode="auto">
          <a:xfrm>
            <a:off x="6429375" y="2559844"/>
            <a:ext cx="5090922" cy="357188"/>
          </a:xfrm>
          <a:prstGeom prst="rect">
            <a:avLst/>
          </a:prstGeom>
          <a:noFill/>
          <a:ln/>
        </p:spPr>
        <p:txBody>
          <a:bodyPr wrap="square" lIns="0" tIns="0" rIns="0" bIns="0" rtlCol="0" anchor="t"/>
          <a:lstStyle/>
          <a:p>
            <a:r>
              <a:t>Xử lý tập trung logic nghiệp vụ, xác thực bảo mật JWT, mã hóa mật khẩu Bcrypt và điều phối tiến trình ngầm lập lịch xuất bản.</a:t>
            </a:r>
          </a:p>
        </p:txBody>
      </p:sp>
      <p:sp>
        <p:nvSpPr>
          <p:cNvPr id="598612279" name="Text 30"/>
          <p:cNvSpPr/>
          <p:nvPr/>
        </p:nvSpPr>
        <p:spPr bwMode="auto">
          <a:xfrm>
            <a:off x="533400" y="3640931"/>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534172165" name="Shape 31"/>
          <p:cNvSpPr/>
          <p:nvPr/>
        </p:nvSpPr>
        <p:spPr bwMode="auto">
          <a:xfrm>
            <a:off x="762000" y="3664744"/>
            <a:ext cx="5010149" cy="0"/>
          </a:xfrm>
          <a:prstGeom prst="line">
            <a:avLst/>
          </a:prstGeom>
          <a:noFill/>
          <a:ln w="47625">
            <a:solidFill>
              <a:srgbClr val="D4A017"/>
            </a:solidFill>
            <a:prstDash val="solid"/>
          </a:ln>
        </p:spPr>
        <p:txBody>
          <a:bodyPr/>
          <a:lstStyle/>
          <a:p>
            <a:endParaRPr lang="vi-VN" noProof="1"/>
          </a:p>
        </p:txBody>
      </p:sp>
      <p:sp>
        <p:nvSpPr>
          <p:cNvPr id="1074409641" name="Shape 32"/>
          <p:cNvSpPr/>
          <p:nvPr/>
        </p:nvSpPr>
        <p:spPr bwMode="auto">
          <a:xfrm>
            <a:off x="5995988" y="3831431"/>
            <a:ext cx="0" cy="1785938"/>
          </a:xfrm>
          <a:prstGeom prst="line">
            <a:avLst/>
          </a:prstGeom>
          <a:noFill/>
          <a:ln w="9525">
            <a:solidFill>
              <a:srgbClr val="E3E9F2"/>
            </a:solidFill>
            <a:prstDash val="solid"/>
          </a:ln>
        </p:spPr>
        <p:txBody>
          <a:bodyPr/>
          <a:lstStyle/>
          <a:p>
            <a:endParaRPr lang="vi-VN" noProof="1"/>
          </a:p>
        </p:txBody>
      </p:sp>
      <p:sp>
        <p:nvSpPr>
          <p:cNvPr id="52658828" name="Shape 33"/>
          <p:cNvSpPr/>
          <p:nvPr/>
        </p:nvSpPr>
        <p:spPr bwMode="auto">
          <a:xfrm>
            <a:off x="762000" y="5807869"/>
            <a:ext cx="5010149" cy="0"/>
          </a:xfrm>
          <a:prstGeom prst="line">
            <a:avLst/>
          </a:prstGeom>
          <a:noFill/>
          <a:ln w="9525">
            <a:solidFill>
              <a:srgbClr val="E3E9F2"/>
            </a:solidFill>
            <a:prstDash val="solid"/>
          </a:ln>
        </p:spPr>
        <p:txBody>
          <a:bodyPr/>
          <a:lstStyle/>
          <a:p>
            <a:endParaRPr lang="vi-VN" noProof="1"/>
          </a:p>
        </p:txBody>
      </p:sp>
      <p:sp>
        <p:nvSpPr>
          <p:cNvPr id="2125115662" name="Shape 34"/>
          <p:cNvSpPr/>
          <p:nvPr/>
        </p:nvSpPr>
        <p:spPr bwMode="auto">
          <a:xfrm>
            <a:off x="538163" y="3831431"/>
            <a:ext cx="0" cy="1785938"/>
          </a:xfrm>
          <a:prstGeom prst="line">
            <a:avLst/>
          </a:prstGeom>
          <a:noFill/>
          <a:ln w="9525">
            <a:solidFill>
              <a:srgbClr val="E3E9F2"/>
            </a:solidFill>
            <a:prstDash val="solid"/>
          </a:ln>
        </p:spPr>
        <p:txBody>
          <a:bodyPr/>
          <a:lstStyle/>
          <a:p>
            <a:endParaRPr lang="vi-VN" noProof="1"/>
          </a:p>
        </p:txBody>
      </p:sp>
      <p:sp>
        <p:nvSpPr>
          <p:cNvPr id="362813722" name="Text 35"/>
          <p:cNvSpPr/>
          <p:nvPr/>
        </p:nvSpPr>
        <p:spPr bwMode="auto">
          <a:xfrm>
            <a:off x="771525" y="3879056"/>
            <a:ext cx="1216866" cy="209550"/>
          </a:xfrm>
          <a:prstGeom prst="rect">
            <a:avLst/>
          </a:prstGeom>
          <a:noFill/>
          <a:ln/>
        </p:spPr>
        <p:txBody>
          <a:bodyPr wrap="square" lIns="0" tIns="0" rIns="0" bIns="0" rtlCol="0" anchor="t"/>
          <a:lstStyle/>
          <a:p>
            <a:r>
              <a:t>Cơ sở dữ liệu</a:t>
            </a:r>
          </a:p>
        </p:txBody>
      </p:sp>
      <p:sp>
        <p:nvSpPr>
          <p:cNvPr id="250328946" name="Text 36"/>
          <p:cNvSpPr/>
          <p:nvPr/>
        </p:nvSpPr>
        <p:spPr bwMode="auto">
          <a:xfrm>
            <a:off x="4297263" y="3926681"/>
            <a:ext cx="1494669" cy="114300"/>
          </a:xfrm>
          <a:prstGeom prst="rect">
            <a:avLst/>
          </a:prstGeom>
          <a:noFill/>
          <a:ln/>
        </p:spPr>
        <p:txBody>
          <a:bodyPr wrap="square" lIns="0" tIns="0" rIns="0" bIns="0" rtlCol="0" anchor="t"/>
          <a:lstStyle/>
          <a:p>
            <a:r>
              <a:t>LƯU TRỮ &amp; TOÀN VẸN</a:t>
            </a:r>
          </a:p>
        </p:txBody>
      </p:sp>
      <p:sp>
        <p:nvSpPr>
          <p:cNvPr id="116544063" name="Text 37"/>
          <p:cNvSpPr/>
          <p:nvPr/>
        </p:nvSpPr>
        <p:spPr bwMode="auto">
          <a:xfrm>
            <a:off x="771524" y="4202906"/>
            <a:ext cx="1515369"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r>
              <a:t>Microsoft SQL Server 2022</a:t>
            </a:r>
          </a:p>
        </p:txBody>
      </p:sp>
      <p:sp>
        <p:nvSpPr>
          <p:cNvPr id="1539446823" name="Text 42"/>
          <p:cNvSpPr/>
          <p:nvPr/>
        </p:nvSpPr>
        <p:spPr bwMode="auto">
          <a:xfrm>
            <a:off x="771525" y="4917281"/>
            <a:ext cx="5090922" cy="357188"/>
          </a:xfrm>
          <a:prstGeom prst="rect">
            <a:avLst/>
          </a:prstGeom>
          <a:noFill/>
          <a:ln/>
        </p:spPr>
        <p:txBody>
          <a:bodyPr wrap="square" lIns="0" tIns="0" rIns="0" bIns="0" rtlCol="0" anchor="t"/>
          <a:lstStyle/>
          <a:p>
            <a:r>
              <a:t>Mô hình dữ liệu quan hệ chuẩn hóa 3NF, bảo đảm toàn vẹn giao dịch ACID, tối ưu hóa truy vấn dữ liệu thông qua hệ thống chỉ mục (Indexing).</a:t>
            </a:r>
          </a:p>
        </p:txBody>
      </p:sp>
      <p:sp>
        <p:nvSpPr>
          <p:cNvPr id="1850102576" name="Text 43"/>
          <p:cNvSpPr/>
          <p:nvPr/>
        </p:nvSpPr>
        <p:spPr bwMode="auto">
          <a:xfrm>
            <a:off x="6191250" y="3640931"/>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95764774" name="Shape 44"/>
          <p:cNvSpPr/>
          <p:nvPr/>
        </p:nvSpPr>
        <p:spPr bwMode="auto">
          <a:xfrm>
            <a:off x="6419850" y="3664744"/>
            <a:ext cx="5010149" cy="0"/>
          </a:xfrm>
          <a:prstGeom prst="line">
            <a:avLst/>
          </a:prstGeom>
          <a:noFill/>
          <a:ln w="47625">
            <a:solidFill>
              <a:srgbClr val="002855"/>
            </a:solidFill>
            <a:prstDash val="solid"/>
          </a:ln>
        </p:spPr>
        <p:txBody>
          <a:bodyPr/>
          <a:lstStyle/>
          <a:p>
            <a:endParaRPr lang="vi-VN" noProof="1"/>
          </a:p>
        </p:txBody>
      </p:sp>
      <p:sp>
        <p:nvSpPr>
          <p:cNvPr id="696939686" name="Shape 45"/>
          <p:cNvSpPr/>
          <p:nvPr/>
        </p:nvSpPr>
        <p:spPr bwMode="auto">
          <a:xfrm>
            <a:off x="11653838" y="3831431"/>
            <a:ext cx="0" cy="1785938"/>
          </a:xfrm>
          <a:prstGeom prst="line">
            <a:avLst/>
          </a:prstGeom>
          <a:noFill/>
          <a:ln w="9525">
            <a:solidFill>
              <a:srgbClr val="E3E9F2"/>
            </a:solidFill>
            <a:prstDash val="solid"/>
          </a:ln>
        </p:spPr>
        <p:txBody>
          <a:bodyPr/>
          <a:lstStyle/>
          <a:p>
            <a:endParaRPr lang="vi-VN" noProof="1"/>
          </a:p>
        </p:txBody>
      </p:sp>
      <p:sp>
        <p:nvSpPr>
          <p:cNvPr id="906554245" name="Shape 46"/>
          <p:cNvSpPr/>
          <p:nvPr/>
        </p:nvSpPr>
        <p:spPr bwMode="auto">
          <a:xfrm>
            <a:off x="6419850" y="5807869"/>
            <a:ext cx="5010149" cy="0"/>
          </a:xfrm>
          <a:prstGeom prst="line">
            <a:avLst/>
          </a:prstGeom>
          <a:noFill/>
          <a:ln w="9525">
            <a:solidFill>
              <a:srgbClr val="E3E9F2"/>
            </a:solidFill>
            <a:prstDash val="solid"/>
          </a:ln>
        </p:spPr>
        <p:txBody>
          <a:bodyPr/>
          <a:lstStyle/>
          <a:p>
            <a:endParaRPr lang="vi-VN" noProof="1"/>
          </a:p>
        </p:txBody>
      </p:sp>
      <p:sp>
        <p:nvSpPr>
          <p:cNvPr id="737937530" name="Shape 47"/>
          <p:cNvSpPr/>
          <p:nvPr/>
        </p:nvSpPr>
        <p:spPr bwMode="auto">
          <a:xfrm>
            <a:off x="6196011" y="3831431"/>
            <a:ext cx="0" cy="1785938"/>
          </a:xfrm>
          <a:prstGeom prst="line">
            <a:avLst/>
          </a:prstGeom>
          <a:noFill/>
          <a:ln w="9525">
            <a:solidFill>
              <a:srgbClr val="E3E9F2"/>
            </a:solidFill>
            <a:prstDash val="solid"/>
          </a:ln>
        </p:spPr>
        <p:txBody>
          <a:bodyPr/>
          <a:lstStyle/>
          <a:p>
            <a:endParaRPr lang="vi-VN" noProof="1"/>
          </a:p>
        </p:txBody>
      </p:sp>
      <p:sp>
        <p:nvSpPr>
          <p:cNvPr id="1685917915" name="Text 48"/>
          <p:cNvSpPr/>
          <p:nvPr/>
        </p:nvSpPr>
        <p:spPr bwMode="auto">
          <a:xfrm>
            <a:off x="6429374" y="3879056"/>
            <a:ext cx="1507435" cy="161925"/>
          </a:xfrm>
          <a:prstGeom prst="rect">
            <a:avLst/>
          </a:prstGeom>
          <a:noFill/>
          <a:ln/>
        </p:spPr>
        <p:txBody>
          <a:bodyPr wrap="square" lIns="0" tIns="0" rIns="0" bIns="0" rtlCol="0" anchor="t"/>
          <a:lstStyle/>
          <a:p>
            <a:r>
              <a:t>Dịch vụ tích hợp</a:t>
            </a:r>
          </a:p>
        </p:txBody>
      </p:sp>
      <p:sp>
        <p:nvSpPr>
          <p:cNvPr id="508664859" name="Text 49"/>
          <p:cNvSpPr/>
          <p:nvPr/>
        </p:nvSpPr>
        <p:spPr bwMode="auto">
          <a:xfrm>
            <a:off x="10021342" y="3926681"/>
            <a:ext cx="1427116" cy="114300"/>
          </a:xfrm>
          <a:prstGeom prst="rect">
            <a:avLst/>
          </a:prstGeom>
          <a:noFill/>
          <a:ln/>
        </p:spPr>
        <p:txBody>
          <a:bodyPr wrap="square" lIns="0" tIns="0" rIns="0" bIns="0" rtlCol="0" anchor="t"/>
          <a:lstStyle/>
          <a:p>
            <a:r>
              <a:t>XỬ LÝ NGÔN NGỮ &amp; ĐA KÊNH</a:t>
            </a:r>
          </a:p>
        </p:txBody>
      </p:sp>
      <p:sp>
        <p:nvSpPr>
          <p:cNvPr id="774944240" name="Text 50"/>
          <p:cNvSpPr/>
          <p:nvPr/>
        </p:nvSpPr>
        <p:spPr bwMode="auto">
          <a:xfrm>
            <a:off x="6429375" y="4202906"/>
            <a:ext cx="1284089"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r>
              <a:t>Google Gemini API</a:t>
            </a:r>
          </a:p>
        </p:txBody>
      </p:sp>
      <p:sp>
        <p:nvSpPr>
          <p:cNvPr id="1784093668" name="Text 53"/>
          <p:cNvSpPr/>
          <p:nvPr/>
        </p:nvSpPr>
        <p:spPr bwMode="auto">
          <a:xfrm>
            <a:off x="7898561" y="4193382"/>
            <a:ext cx="1399330"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r>
              <a:t>Meta Graph API v19</a:t>
            </a:r>
          </a:p>
        </p:txBody>
      </p:sp>
      <p:sp>
        <p:nvSpPr>
          <p:cNvPr id="1599644895" name="Text 54"/>
          <p:cNvSpPr/>
          <p:nvPr/>
        </p:nvSpPr>
        <p:spPr bwMode="auto">
          <a:xfrm>
            <a:off x="6429375" y="4917281"/>
            <a:ext cx="5090922" cy="357188"/>
          </a:xfrm>
          <a:prstGeom prst="rect">
            <a:avLst/>
          </a:prstGeom>
          <a:noFill/>
          <a:ln/>
        </p:spPr>
        <p:txBody>
          <a:bodyPr wrap="square" lIns="0" tIns="0" rIns="0" bIns="0" rtlCol="0" anchor="t"/>
          <a:lstStyle/>
          <a:p>
            <a:r>
              <a:t>Lõi AI xử lý ngôn ngữ tự nhiên tiếng Việt hỗ trợ biên soạn nội dung; Meta Graph API cung cấp kết nối an toàn tự động đăng bài lên Fanpage.</a:t>
            </a:r>
          </a:p>
        </p:txBody>
      </p:sp>
      <p:sp>
        <p:nvSpPr>
          <p:cNvPr id="1648780674" name="Shape 55"/>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1035627763" name="Text 56"/>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name="Slide 8">
    <p:bg>
      <p:bgPr>
        <a:solidFill>
          <a:srgbClr val="F6F8FB"/>
        </a:solidFill>
        <a:effectLst/>
      </p:bgPr>
    </p:bg>
    <p:spTree>
      <p:nvGrpSpPr>
        <p:cNvPr id="1" name=""/>
        <p:cNvGrpSpPr/>
        <p:nvPr/>
      </p:nvGrpSpPr>
      <p:grpSpPr bwMode="auto">
        <a:xfrm>
          <a:off x="0" y="0"/>
          <a:ext cx="0" cy="0"/>
          <a:chOff x="0" y="0"/>
          <a:chExt cx="0" cy="0"/>
        </a:xfrm>
      </p:grpSpPr>
      <p:sp>
        <p:nvSpPr>
          <p:cNvPr id="10650005"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4. PHÂN TÍCH &amp; THIẾT KẾ HỆ THỐNG</a:t>
            </a:r>
            <a:endParaRPr lang="vi-VN" sz="1000" noProof="1"/>
          </a:p>
        </p:txBody>
      </p:sp>
      <p:sp>
        <p:nvSpPr>
          <p:cNvPr id="498466913" name="Text 1"/>
          <p:cNvSpPr/>
          <p:nvPr/>
        </p:nvSpPr>
        <p:spPr bwMode="auto">
          <a:xfrm>
            <a:off x="533400" y="542925"/>
            <a:ext cx="11347704" cy="359569"/>
          </a:xfrm>
          <a:prstGeom prst="rect">
            <a:avLst/>
          </a:prstGeom>
          <a:noFill/>
          <a:ln/>
        </p:spPr>
        <p:txBody>
          <a:bodyPr wrap="square" lIns="0" tIns="0" rIns="0" bIns="0" rtlCol="0" anchor="t"/>
          <a:lstStyle/>
          <a:p>
            <a:r>
              <a:t>Biểu đồ Use Case tổng quát và các phân hệ chức năng</a:t>
            </a:r>
          </a:p>
        </p:txBody>
      </p:sp>
      <p:pic>
        <p:nvPicPr>
          <p:cNvPr id="1507799084" name="Image 0" descr="/var/folders/t4/q0khv7qd1r3dc2yrbwkzmjf00000gn/T/html2pptx-MbMXpX/html2pptx-bg-1791687645085-30dbbe03d212c.png"/>
          <p:cNvPicPr>
            <a:picLocks noChangeAspect="1"/>
          </p:cNvPicPr>
          <p:nvPr/>
        </p:nvPicPr>
        <p:blipFill rotWithShape="1">
          <a:blip r:embed="rId3"/>
          <a:stretch/>
        </p:blipFill>
        <p:spPr bwMode="auto">
          <a:xfrm>
            <a:off x="533400" y="978694"/>
            <a:ext cx="1047750" cy="38100"/>
          </a:xfrm>
          <a:prstGeom prst="rect">
            <a:avLst/>
          </a:prstGeom>
        </p:spPr>
      </p:pic>
      <p:sp>
        <p:nvSpPr>
          <p:cNvPr id="296639830" name="Text 2"/>
          <p:cNvSpPr/>
          <p:nvPr/>
        </p:nvSpPr>
        <p:spPr bwMode="auto">
          <a:xfrm>
            <a:off x="533400" y="1245394"/>
            <a:ext cx="6004179" cy="142875"/>
          </a:xfrm>
          <a:prstGeom prst="rect">
            <a:avLst/>
          </a:prstGeom>
          <a:noFill/>
          <a:ln/>
        </p:spPr>
        <p:txBody>
          <a:bodyPr wrap="square" lIns="0" tIns="0" rIns="0" bIns="0" rtlCol="0" anchor="t"/>
          <a:lstStyle/>
          <a:p>
            <a:r>
              <a:t>4 NHÓM TÁC NHÂN (ACTOR)</a:t>
            </a:r>
          </a:p>
        </p:txBody>
      </p:sp>
      <p:sp>
        <p:nvSpPr>
          <p:cNvPr id="2015982658" name="Text 3"/>
          <p:cNvSpPr/>
          <p:nvPr/>
        </p:nvSpPr>
        <p:spPr bwMode="auto">
          <a:xfrm>
            <a:off x="533400" y="1483519"/>
            <a:ext cx="1655755" cy="295274"/>
          </a:xfrm>
          <a:prstGeom prst="roundRect">
            <a:avLst>
              <a:gd name="adj" fmla="val 3222581"/>
            </a:avLst>
          </a:prstGeom>
          <a:solidFill>
            <a:srgbClr val="002855"/>
          </a:solidFill>
          <a:ln/>
        </p:spPr>
        <p:txBody>
          <a:bodyPr wrap="square" lIns="133350" tIns="76200" rIns="133350" bIns="76200" rtlCol="0" anchor="ctr"/>
          <a:lstStyle/>
          <a:p>
            <a:pPr marL="0" indent="0" algn="l">
              <a:buNone/>
              <a:defRPr/>
            </a:pPr>
            <a:r>
              <a:rPr lang="vi-VN" sz="1000" b="1" noProof="1">
                <a:solidFill>
                  <a:srgbClr val="EAF1FA"/>
                </a:solidFill>
                <a:latin typeface="Arial"/>
                <a:ea typeface="Arial"/>
                <a:cs typeface="Arial"/>
              </a:rPr>
              <a:t>Quản trị viên (Admin)</a:t>
            </a:r>
            <a:endParaRPr lang="vi-VN" sz="1000" noProof="1"/>
          </a:p>
        </p:txBody>
      </p:sp>
      <p:sp>
        <p:nvSpPr>
          <p:cNvPr id="20333978" name="Text 4"/>
          <p:cNvSpPr/>
          <p:nvPr/>
        </p:nvSpPr>
        <p:spPr bwMode="auto">
          <a:xfrm>
            <a:off x="2243207" y="1483519"/>
            <a:ext cx="1655755" cy="295274"/>
          </a:xfrm>
          <a:prstGeom prst="roundRect">
            <a:avLst>
              <a:gd name="adj" fmla="val 3222581"/>
            </a:avLst>
          </a:prstGeom>
          <a:solidFill>
            <a:srgbClr val="002855"/>
          </a:solidFill>
          <a:ln/>
        </p:spPr>
        <p:txBody>
          <a:bodyPr wrap="square" lIns="133350" tIns="76200" rIns="133350" bIns="76200" rtlCol="0" anchor="ctr"/>
          <a:lstStyle/>
          <a:p>
            <a:pPr marL="0" indent="0" algn="l">
              <a:buNone/>
              <a:defRPr/>
            </a:pPr>
            <a:r>
              <a:rPr lang="vi-VN" sz="1000" b="1" noProof="1">
                <a:solidFill>
                  <a:srgbClr val="EAF1FA"/>
                </a:solidFill>
                <a:latin typeface="Arial"/>
                <a:ea typeface="Arial"/>
                <a:cs typeface="Arial"/>
              </a:rPr>
              <a:t>Biên tập viên (Editor)</a:t>
            </a:r>
            <a:endParaRPr lang="vi-VN" sz="1000" noProof="1"/>
          </a:p>
        </p:txBody>
      </p:sp>
      <p:sp>
        <p:nvSpPr>
          <p:cNvPr id="921278382" name="Text 5"/>
          <p:cNvSpPr/>
          <p:nvPr/>
        </p:nvSpPr>
        <p:spPr bwMode="auto">
          <a:xfrm>
            <a:off x="3953014" y="1483519"/>
            <a:ext cx="2037883" cy="295274"/>
          </a:xfrm>
          <a:prstGeom prst="roundRect">
            <a:avLst>
              <a:gd name="adj" fmla="val 3222581"/>
            </a:avLst>
          </a:prstGeom>
          <a:solidFill>
            <a:srgbClr val="002855"/>
          </a:solidFill>
          <a:ln/>
        </p:spPr>
        <p:txBody>
          <a:bodyPr wrap="square" lIns="133350" tIns="76200" rIns="133350" bIns="76200" rtlCol="0" anchor="ctr"/>
          <a:lstStyle/>
          <a:p>
            <a:pPr marL="0" indent="0" algn="l">
              <a:buNone/>
              <a:defRPr/>
            </a:pPr>
            <a:r>
              <a:rPr lang="vi-VN" sz="1000" b="1" noProof="1">
                <a:solidFill>
                  <a:srgbClr val="EAF1FA"/>
                </a:solidFill>
                <a:latin typeface="Arial"/>
                <a:ea typeface="Arial"/>
                <a:cs typeface="Arial"/>
              </a:rPr>
              <a:t>Cộng tác viên (Contributor)</a:t>
            </a:r>
            <a:endParaRPr lang="vi-VN" sz="1000" noProof="1"/>
          </a:p>
        </p:txBody>
      </p:sp>
      <p:sp>
        <p:nvSpPr>
          <p:cNvPr id="1625837095" name="Text 6"/>
          <p:cNvSpPr/>
          <p:nvPr/>
        </p:nvSpPr>
        <p:spPr bwMode="auto">
          <a:xfrm>
            <a:off x="533399" y="1854994"/>
            <a:ext cx="1581151" cy="295274"/>
          </a:xfrm>
          <a:prstGeom prst="roundRect">
            <a:avLst>
              <a:gd name="adj" fmla="val 3222581"/>
            </a:avLst>
          </a:prstGeom>
          <a:solidFill>
            <a:srgbClr val="002855"/>
          </a:solidFill>
          <a:ln/>
        </p:spPr>
        <p:txBody>
          <a:bodyPr wrap="square" lIns="133350" tIns="76200" rIns="133350" bIns="76200" rtlCol="0" anchor="ctr"/>
          <a:lstStyle/>
          <a:p>
            <a:pPr marL="0" indent="0" algn="l">
              <a:buNone/>
              <a:defRPr/>
            </a:pPr>
            <a:r>
              <a:rPr lang="vi-VN" sz="1000" b="1" noProof="1">
                <a:solidFill>
                  <a:srgbClr val="EAF1FA"/>
                </a:solidFill>
                <a:latin typeface="Arial"/>
                <a:ea typeface="Arial"/>
                <a:cs typeface="Arial"/>
              </a:rPr>
              <a:t>Đoàn viên / Độc giả</a:t>
            </a:r>
            <a:endParaRPr lang="vi-VN" sz="1000" noProof="1"/>
          </a:p>
        </p:txBody>
      </p:sp>
      <p:sp>
        <p:nvSpPr>
          <p:cNvPr id="1929487286" name="Text 7"/>
          <p:cNvSpPr/>
          <p:nvPr/>
        </p:nvSpPr>
        <p:spPr bwMode="auto">
          <a:xfrm>
            <a:off x="533400" y="2321719"/>
            <a:ext cx="6004179" cy="142875"/>
          </a:xfrm>
          <a:prstGeom prst="rect">
            <a:avLst/>
          </a:prstGeom>
          <a:noFill/>
          <a:ln/>
        </p:spPr>
        <p:txBody>
          <a:bodyPr wrap="square" lIns="0" tIns="0" rIns="0" bIns="0" rtlCol="0" anchor="t"/>
          <a:lstStyle/>
          <a:p>
            <a:r>
              <a:t>5 PHÂN HỆ CHỨC NĂNG CỐT LÕI</a:t>
            </a:r>
          </a:p>
        </p:txBody>
      </p:sp>
      <p:sp>
        <p:nvSpPr>
          <p:cNvPr id="1702895364" name="Text 8"/>
          <p:cNvSpPr/>
          <p:nvPr/>
        </p:nvSpPr>
        <p:spPr bwMode="auto">
          <a:xfrm>
            <a:off x="533400" y="2559844"/>
            <a:ext cx="5886450" cy="2137172"/>
          </a:xfrm>
          <a:prstGeom prst="roundRect">
            <a:avLst>
              <a:gd name="adj" fmla="val 6240"/>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606367627" name="Shape 9"/>
          <p:cNvSpPr/>
          <p:nvPr/>
        </p:nvSpPr>
        <p:spPr bwMode="auto">
          <a:xfrm>
            <a:off x="714375" y="3012281"/>
            <a:ext cx="5524500" cy="0"/>
          </a:xfrm>
          <a:prstGeom prst="line">
            <a:avLst/>
          </a:prstGeom>
          <a:noFill/>
          <a:ln w="9525">
            <a:solidFill>
              <a:srgbClr val="E3E9F2"/>
            </a:solidFill>
            <a:prstDash val="dash"/>
          </a:ln>
        </p:spPr>
        <p:txBody>
          <a:bodyPr/>
          <a:lstStyle/>
          <a:p>
            <a:endParaRPr lang="vi-VN" noProof="1"/>
          </a:p>
        </p:txBody>
      </p:sp>
      <p:sp>
        <p:nvSpPr>
          <p:cNvPr id="315121726" name="Text 10"/>
          <p:cNvSpPr/>
          <p:nvPr/>
        </p:nvSpPr>
        <p:spPr bwMode="auto">
          <a:xfrm>
            <a:off x="714375" y="2759869"/>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1</a:t>
            </a:r>
            <a:endParaRPr lang="vi-VN" sz="1000" noProof="1"/>
          </a:p>
        </p:txBody>
      </p:sp>
      <p:sp>
        <p:nvSpPr>
          <p:cNvPr id="541046798" name="Text 11"/>
          <p:cNvSpPr/>
          <p:nvPr/>
        </p:nvSpPr>
        <p:spPr bwMode="auto">
          <a:xfrm>
            <a:off x="1019174" y="2759869"/>
            <a:ext cx="4687577" cy="186333"/>
          </a:xfrm>
          <a:prstGeom prst="rect">
            <a:avLst/>
          </a:prstGeom>
          <a:noFill/>
          <a:ln/>
        </p:spPr>
        <p:txBody>
          <a:bodyPr wrap="square" lIns="0" tIns="0" rIns="0" bIns="0" rtlCol="0" anchor="t"/>
          <a:lstStyle/>
          <a:p>
            <a:r>
              <a:t>Quản lý bài viết &amp; nội dung — Soạn thảo, đính kèm media, lưu bản nháp, phân quyền tác giả</a:t>
            </a:r>
          </a:p>
        </p:txBody>
      </p:sp>
      <p:sp>
        <p:nvSpPr>
          <p:cNvPr id="108056505" name="Shape 12"/>
          <p:cNvSpPr/>
          <p:nvPr/>
        </p:nvSpPr>
        <p:spPr bwMode="auto">
          <a:xfrm>
            <a:off x="714375" y="3322439"/>
            <a:ext cx="5524500" cy="0"/>
          </a:xfrm>
          <a:prstGeom prst="line">
            <a:avLst/>
          </a:prstGeom>
          <a:noFill/>
          <a:ln w="9525">
            <a:solidFill>
              <a:srgbClr val="E3E9F2"/>
            </a:solidFill>
            <a:prstDash val="dash"/>
          </a:ln>
        </p:spPr>
        <p:txBody>
          <a:bodyPr/>
          <a:lstStyle/>
          <a:p>
            <a:endParaRPr lang="vi-VN" noProof="1"/>
          </a:p>
        </p:txBody>
      </p:sp>
      <p:sp>
        <p:nvSpPr>
          <p:cNvPr id="2072824464" name="Text 13"/>
          <p:cNvSpPr/>
          <p:nvPr/>
        </p:nvSpPr>
        <p:spPr bwMode="auto">
          <a:xfrm>
            <a:off x="714375" y="3070027"/>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2</a:t>
            </a:r>
            <a:endParaRPr lang="vi-VN" sz="1000" noProof="1"/>
          </a:p>
        </p:txBody>
      </p:sp>
      <p:sp>
        <p:nvSpPr>
          <p:cNvPr id="22886867" name="Text 14"/>
          <p:cNvSpPr/>
          <p:nvPr/>
        </p:nvSpPr>
        <p:spPr bwMode="auto">
          <a:xfrm>
            <a:off x="1019174" y="3070027"/>
            <a:ext cx="3386763" cy="186333"/>
          </a:xfrm>
          <a:prstGeom prst="rect">
            <a:avLst/>
          </a:prstGeom>
          <a:noFill/>
          <a:ln/>
        </p:spPr>
        <p:txBody>
          <a:bodyPr wrap="square" lIns="0" tIns="0" rIns="0" bIns="0" rtlCol="0" anchor="t"/>
          <a:lstStyle/>
          <a:p>
            <a:r>
              <a:t>Trợ lý AI hỗ trợ biên tập — Gợi ý bố cục, tiêu đề, trích xuất tóm tắt, kiểm soát token</a:t>
            </a:r>
          </a:p>
        </p:txBody>
      </p:sp>
      <p:sp>
        <p:nvSpPr>
          <p:cNvPr id="41581989" name="Shape 15"/>
          <p:cNvSpPr/>
          <p:nvPr/>
        </p:nvSpPr>
        <p:spPr bwMode="auto">
          <a:xfrm>
            <a:off x="714375" y="3632596"/>
            <a:ext cx="5524500" cy="0"/>
          </a:xfrm>
          <a:prstGeom prst="line">
            <a:avLst/>
          </a:prstGeom>
          <a:noFill/>
          <a:ln w="9525">
            <a:solidFill>
              <a:srgbClr val="E3E9F2"/>
            </a:solidFill>
            <a:prstDash val="dash"/>
          </a:ln>
        </p:spPr>
        <p:txBody>
          <a:bodyPr/>
          <a:lstStyle/>
          <a:p>
            <a:endParaRPr lang="vi-VN" noProof="1"/>
          </a:p>
        </p:txBody>
      </p:sp>
      <p:sp>
        <p:nvSpPr>
          <p:cNvPr id="1673367991" name="Text 16"/>
          <p:cNvSpPr/>
          <p:nvPr/>
        </p:nvSpPr>
        <p:spPr bwMode="auto">
          <a:xfrm>
            <a:off x="714375" y="3380184"/>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3</a:t>
            </a:r>
            <a:endParaRPr lang="vi-VN" sz="1000" noProof="1"/>
          </a:p>
        </p:txBody>
      </p:sp>
      <p:sp>
        <p:nvSpPr>
          <p:cNvPr id="925502246" name="Text 17"/>
          <p:cNvSpPr/>
          <p:nvPr/>
        </p:nvSpPr>
        <p:spPr bwMode="auto">
          <a:xfrm>
            <a:off x="1019174" y="3380184"/>
            <a:ext cx="4270418" cy="186333"/>
          </a:xfrm>
          <a:prstGeom prst="rect">
            <a:avLst/>
          </a:prstGeom>
          <a:noFill/>
          <a:ln/>
        </p:spPr>
        <p:txBody>
          <a:bodyPr wrap="square" lIns="0" tIns="0" rIns="0" bIns="0" rtlCol="0" anchor="t"/>
          <a:lstStyle/>
          <a:p>
            <a:r>
              <a:t>Kiểm duyệt &amp; Xuất bản đa kênh — Quy trình 4 bước, xem trước, hẹn giờ, đồng bộ Facebook</a:t>
            </a:r>
          </a:p>
        </p:txBody>
      </p:sp>
      <p:sp>
        <p:nvSpPr>
          <p:cNvPr id="457755770" name="Shape 18"/>
          <p:cNvSpPr/>
          <p:nvPr/>
        </p:nvSpPr>
        <p:spPr bwMode="auto">
          <a:xfrm>
            <a:off x="714375" y="3942755"/>
            <a:ext cx="5524500" cy="0"/>
          </a:xfrm>
          <a:prstGeom prst="line">
            <a:avLst/>
          </a:prstGeom>
          <a:noFill/>
          <a:ln w="9525">
            <a:solidFill>
              <a:srgbClr val="E3E9F2"/>
            </a:solidFill>
            <a:prstDash val="dash"/>
          </a:ln>
        </p:spPr>
        <p:txBody>
          <a:bodyPr/>
          <a:lstStyle/>
          <a:p>
            <a:endParaRPr lang="vi-VN" noProof="1"/>
          </a:p>
        </p:txBody>
      </p:sp>
      <p:sp>
        <p:nvSpPr>
          <p:cNvPr id="1588957073" name="Text 19"/>
          <p:cNvSpPr/>
          <p:nvPr/>
        </p:nvSpPr>
        <p:spPr bwMode="auto">
          <a:xfrm>
            <a:off x="714375" y="3690342"/>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4</a:t>
            </a:r>
            <a:endParaRPr lang="vi-VN" sz="1000" noProof="1"/>
          </a:p>
        </p:txBody>
      </p:sp>
      <p:sp>
        <p:nvSpPr>
          <p:cNvPr id="2144642820" name="Shape 21"/>
          <p:cNvSpPr/>
          <p:nvPr/>
        </p:nvSpPr>
        <p:spPr bwMode="auto">
          <a:xfrm>
            <a:off x="714375" y="4252913"/>
            <a:ext cx="5524500" cy="0"/>
          </a:xfrm>
          <a:prstGeom prst="line">
            <a:avLst/>
          </a:prstGeom>
          <a:noFill/>
          <a:ln w="9525">
            <a:solidFill>
              <a:srgbClr val="E3E9F2"/>
            </a:solidFill>
            <a:prstDash val="dash"/>
          </a:ln>
        </p:spPr>
        <p:txBody>
          <a:bodyPr/>
          <a:lstStyle/>
          <a:p>
            <a:endParaRPr lang="vi-VN" noProof="1"/>
          </a:p>
        </p:txBody>
      </p:sp>
      <p:sp>
        <p:nvSpPr>
          <p:cNvPr id="151893184" name="Text 22"/>
          <p:cNvSpPr/>
          <p:nvPr/>
        </p:nvSpPr>
        <p:spPr bwMode="auto">
          <a:xfrm>
            <a:off x="714375" y="4000500"/>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5</a:t>
            </a:r>
            <a:endParaRPr lang="vi-VN" sz="1000" noProof="1"/>
          </a:p>
        </p:txBody>
      </p:sp>
      <p:sp>
        <p:nvSpPr>
          <p:cNvPr id="474285615" name="Text 23"/>
          <p:cNvSpPr/>
          <p:nvPr/>
        </p:nvSpPr>
        <p:spPr bwMode="auto">
          <a:xfrm>
            <a:off x="1019174" y="3689449"/>
            <a:ext cx="3853714" cy="186333"/>
          </a:xfrm>
          <a:prstGeom prst="rect">
            <a:avLst/>
          </a:prstGeom>
          <a:noFill/>
          <a:ln/>
        </p:spPr>
        <p:txBody>
          <a:bodyPr wrap="square" lIns="0" tIns="0" rIns="0" bIns="0" rtlCol="0" anchor="t"/>
          <a:lstStyle/>
          <a:p>
            <a:r>
              <a:t>Tra cứu thông tin &amp; Tương tác — Xem tin tức, tra cứu văn bản, biểu mẫu điện tử, gửi góp ý</a:t>
            </a:r>
          </a:p>
        </p:txBody>
      </p:sp>
      <p:sp>
        <p:nvSpPr>
          <p:cNvPr id="1499707221" name="Text 24"/>
          <p:cNvSpPr/>
          <p:nvPr/>
        </p:nvSpPr>
        <p:spPr bwMode="auto">
          <a:xfrm>
            <a:off x="714375" y="4310658"/>
            <a:ext cx="213741" cy="186333"/>
          </a:xfrm>
          <a:prstGeom prst="rect">
            <a:avLst/>
          </a:prstGeom>
          <a:noFill/>
          <a:ln/>
        </p:spPr>
        <p:txBody>
          <a:bodyPr wrap="square" lIns="0" tIns="0" rIns="0" bIns="0" rtlCol="0" anchor="t"/>
          <a:lstStyle/>
          <a:p>
            <a:pPr marL="0" indent="0" algn="l">
              <a:lnSpc>
                <a:spcPts val="1468"/>
              </a:lnSpc>
              <a:buNone/>
              <a:defRPr/>
            </a:pPr>
            <a:endParaRPr lang="vi-VN" sz="1000" noProof="1"/>
          </a:p>
        </p:txBody>
      </p:sp>
      <p:sp>
        <p:nvSpPr>
          <p:cNvPr id="1616624030" name="Text 25"/>
          <p:cNvSpPr/>
          <p:nvPr/>
        </p:nvSpPr>
        <p:spPr bwMode="auto">
          <a:xfrm>
            <a:off x="1019174" y="3999607"/>
            <a:ext cx="3623274" cy="186333"/>
          </a:xfrm>
          <a:prstGeom prst="rect">
            <a:avLst/>
          </a:prstGeom>
          <a:noFill/>
          <a:ln/>
        </p:spPr>
        <p:txBody>
          <a:bodyPr wrap="square" lIns="0" tIns="0" rIns="0" bIns="0" rtlCol="0" anchor="t"/>
          <a:lstStyle/>
          <a:p>
            <a:r>
              <a:t>Quản trị hệ thống &amp; Người dùng — Phân quyền RBAC, quản lý tài khoản, cấu hình API, audit logs</a:t>
            </a:r>
          </a:p>
        </p:txBody>
      </p:sp>
      <p:sp>
        <p:nvSpPr>
          <p:cNvPr id="265859507" name="Text 26"/>
          <p:cNvSpPr/>
          <p:nvPr/>
        </p:nvSpPr>
        <p:spPr bwMode="auto">
          <a:xfrm>
            <a:off x="533400" y="4830365"/>
            <a:ext cx="5886450" cy="619125"/>
          </a:xfrm>
          <a:prstGeom prst="roundRect">
            <a:avLst>
              <a:gd name="adj" fmla="val 18462"/>
            </a:avLst>
          </a:prstGeom>
          <a:solidFill>
            <a:srgbClr val="EEF3FA"/>
          </a:solidFill>
          <a:ln w="9525">
            <a:solidFill>
              <a:srgbClr val="DBE5F1"/>
            </a:solidFill>
          </a:ln>
        </p:spPr>
        <p:txBody>
          <a:bodyPr wrap="square" rtlCol="0" anchor="ctr"/>
          <a:lstStyle/>
          <a:p>
            <a:pPr marL="0" indent="0">
              <a:buNone/>
              <a:defRPr/>
            </a:pPr>
            <a:endParaRPr lang="vi-VN" noProof="1"/>
          </a:p>
        </p:txBody>
      </p:sp>
      <p:sp>
        <p:nvSpPr>
          <p:cNvPr id="180938056" name="Text 27"/>
          <p:cNvSpPr/>
          <p:nvPr/>
        </p:nvSpPr>
        <p:spPr bwMode="auto">
          <a:xfrm>
            <a:off x="695325" y="4954191"/>
            <a:ext cx="5673852" cy="371475"/>
          </a:xfrm>
          <a:prstGeom prst="rect">
            <a:avLst/>
          </a:prstGeom>
          <a:noFill/>
          <a:ln/>
        </p:spPr>
        <p:txBody>
          <a:bodyPr wrap="square" lIns="0" tIns="0" rIns="0" bIns="0" rtlCol="0" anchor="t"/>
          <a:lstStyle/>
          <a:p>
            <a:r>
              <a:t>26 use case được đặc tả chuẩn UML với đầy đủ quan hệ &lt;&lt;include&gt;&gt;, &lt;&lt;extend&gt;&gt; và luồng sự kiện chi tiết.</a:t>
            </a:r>
          </a:p>
        </p:txBody>
      </p:sp>
      <p:sp>
        <p:nvSpPr>
          <p:cNvPr id="900242687" name="Text 28"/>
          <p:cNvSpPr/>
          <p:nvPr/>
        </p:nvSpPr>
        <p:spPr bwMode="auto">
          <a:xfrm>
            <a:off x="6667500" y="1245394"/>
            <a:ext cx="4991100" cy="5334000"/>
          </a:xfrm>
          <a:prstGeom prst="roundRect">
            <a:avLst>
              <a:gd name="adj" fmla="val 267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77667814" name="Image 1"/>
          <p:cNvPicPr>
            <a:picLocks noChangeAspect="1"/>
          </p:cNvPicPr>
          <p:nvPr/>
        </p:nvPicPr>
        <p:blipFill>
          <a:blip r:embed="rId4"/>
          <a:srcRect/>
          <a:stretch/>
        </p:blipFill>
        <p:spPr bwMode="auto">
          <a:xfrm>
            <a:off x="6810375" y="1399372"/>
            <a:ext cx="4705350" cy="5119062"/>
          </a:xfrm>
          <a:prstGeom prst="rect">
            <a:avLst/>
          </a:prstGeom>
        </p:spPr>
      </p:pic>
      <p:sp>
        <p:nvSpPr>
          <p:cNvPr id="2114610084" name="Text 29"/>
          <p:cNvSpPr/>
          <p:nvPr/>
        </p:nvSpPr>
        <p:spPr bwMode="auto">
          <a:xfrm>
            <a:off x="6763322" y="6624785"/>
            <a:ext cx="4799457" cy="133350"/>
          </a:xfrm>
          <a:prstGeom prst="rect">
            <a:avLst/>
          </a:prstGeom>
          <a:noFill/>
          <a:ln/>
        </p:spPr>
        <p:txBody>
          <a:bodyPr wrap="square" lIns="0" tIns="0" rIns="0" bIns="0" rtlCol="0" anchor="t"/>
          <a:lstStyle/>
          <a:p>
            <a:pPr marL="0" indent="0" algn="ctr">
              <a:spcBef>
                <a:spcPts val="750"/>
              </a:spcBef>
              <a:buNone/>
              <a:defRPr/>
            </a:pPr>
            <a:r>
              <a:rPr lang="vi-VN" sz="900" noProof="1">
                <a:solidFill>
                  <a:srgbClr val="8A97AB"/>
                </a:solidFill>
                <a:latin typeface="Arial"/>
                <a:ea typeface="Arial"/>
                <a:cs typeface="Arial"/>
              </a:rPr>
              <a:t>Biểu đồ Use Case tổng quát hệ thống</a:t>
            </a:r>
            <a:endParaRPr lang="vi-VN" sz="900" noProof="1"/>
          </a:p>
        </p:txBody>
      </p:sp>
      <p:sp>
        <p:nvSpPr>
          <p:cNvPr id="407911527" name="Shape 30"/>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1612392569" name="Text 31"/>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33997073" name="Shape 32"/>
          <p:cNvSpPr/>
          <p:nvPr/>
        </p:nvSpPr>
        <p:spPr bwMode="auto">
          <a:xfrm>
            <a:off x="6810375" y="1393031"/>
            <a:ext cx="4705350" cy="0"/>
          </a:xfrm>
          <a:prstGeom prst="line">
            <a:avLst/>
          </a:prstGeom>
          <a:noFill/>
          <a:ln w="9525">
            <a:solidFill>
              <a:srgbClr val="EDF1F7"/>
            </a:solidFill>
            <a:prstDash val="solid"/>
          </a:ln>
        </p:spPr>
        <p:txBody>
          <a:bodyPr/>
          <a:lstStyle/>
          <a:p>
            <a:endParaRPr lang="vi-VN" noProof="1"/>
          </a:p>
        </p:txBody>
      </p:sp>
      <p:sp>
        <p:nvSpPr>
          <p:cNvPr id="244372080" name="Shape 33"/>
          <p:cNvSpPr/>
          <p:nvPr/>
        </p:nvSpPr>
        <p:spPr bwMode="auto">
          <a:xfrm>
            <a:off x="11510963" y="1388269"/>
            <a:ext cx="0" cy="5141268"/>
          </a:xfrm>
          <a:prstGeom prst="line">
            <a:avLst/>
          </a:prstGeom>
          <a:noFill/>
          <a:ln w="9525">
            <a:solidFill>
              <a:srgbClr val="EDF1F7"/>
            </a:solidFill>
            <a:prstDash val="solid"/>
          </a:ln>
        </p:spPr>
        <p:txBody>
          <a:bodyPr/>
          <a:lstStyle/>
          <a:p>
            <a:endParaRPr lang="vi-VN" noProof="1"/>
          </a:p>
        </p:txBody>
      </p:sp>
      <p:sp>
        <p:nvSpPr>
          <p:cNvPr id="834499497" name="Shape 34"/>
          <p:cNvSpPr/>
          <p:nvPr/>
        </p:nvSpPr>
        <p:spPr bwMode="auto">
          <a:xfrm>
            <a:off x="6810375" y="6524774"/>
            <a:ext cx="4705350" cy="0"/>
          </a:xfrm>
          <a:prstGeom prst="line">
            <a:avLst/>
          </a:prstGeom>
          <a:noFill/>
          <a:ln w="9525">
            <a:solidFill>
              <a:srgbClr val="EDF1F7"/>
            </a:solidFill>
            <a:prstDash val="solid"/>
          </a:ln>
        </p:spPr>
        <p:txBody>
          <a:bodyPr/>
          <a:lstStyle/>
          <a:p>
            <a:endParaRPr lang="vi-VN" noProof="1"/>
          </a:p>
        </p:txBody>
      </p:sp>
      <p:sp>
        <p:nvSpPr>
          <p:cNvPr id="786633352" name="Shape 35"/>
          <p:cNvSpPr/>
          <p:nvPr/>
        </p:nvSpPr>
        <p:spPr bwMode="auto">
          <a:xfrm>
            <a:off x="6815138" y="1388269"/>
            <a:ext cx="0" cy="5141268"/>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name="Slide 9">
    <p:bg>
      <p:bgPr>
        <a:solidFill>
          <a:srgbClr val="F6F8FB"/>
        </a:solidFill>
        <a:effectLst/>
      </p:bgPr>
    </p:bg>
    <p:spTree>
      <p:nvGrpSpPr>
        <p:cNvPr id="1" name=""/>
        <p:cNvGrpSpPr/>
        <p:nvPr/>
      </p:nvGrpSpPr>
      <p:grpSpPr bwMode="auto">
        <a:xfrm>
          <a:off x="0" y="0"/>
          <a:ext cx="0" cy="0"/>
          <a:chOff x="0" y="0"/>
          <a:chExt cx="0" cy="0"/>
        </a:xfrm>
      </p:grpSpPr>
      <p:sp>
        <p:nvSpPr>
          <p:cNvPr id="1778504505"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4. PHÂN TÍCH &amp; THIẾT KẾ HỆ THỐNG</a:t>
            </a:r>
            <a:endParaRPr lang="vi-VN" sz="1000" noProof="1"/>
          </a:p>
        </p:txBody>
      </p:sp>
      <p:sp>
        <p:nvSpPr>
          <p:cNvPr id="1516662613" name="Text 1"/>
          <p:cNvSpPr/>
          <p:nvPr/>
        </p:nvSpPr>
        <p:spPr bwMode="auto">
          <a:xfrm>
            <a:off x="533400" y="542925"/>
            <a:ext cx="11347704" cy="359569"/>
          </a:xfrm>
          <a:prstGeom prst="rect">
            <a:avLst/>
          </a:prstGeom>
          <a:noFill/>
          <a:ln/>
        </p:spPr>
        <p:txBody>
          <a:bodyPr wrap="square" lIns="0" tIns="0" rIns="0" bIns="0" rtlCol="0" anchor="t"/>
          <a:lstStyle/>
          <a:p>
            <a:r>
              <a:t>Thiết kế cơ sở dữ liệu quan hệ</a:t>
            </a:r>
          </a:p>
        </p:txBody>
      </p:sp>
      <p:pic>
        <p:nvPicPr>
          <p:cNvPr id="536241311" name="Image 0" descr="/var/folders/t4/q0khv7qd1r3dc2yrbwkzmjf00000gn/T/html2pptx-3ey5sh/html2pptx-bg-1791687646699-ce072b8ac0a458.png"/>
          <p:cNvPicPr>
            <a:picLocks noChangeAspect="1"/>
          </p:cNvPicPr>
          <p:nvPr/>
        </p:nvPicPr>
        <p:blipFill rotWithShape="1">
          <a:blip r:embed="rId3"/>
          <a:stretch/>
        </p:blipFill>
        <p:spPr bwMode="auto">
          <a:xfrm>
            <a:off x="533400" y="978694"/>
            <a:ext cx="1047750" cy="38100"/>
          </a:xfrm>
          <a:prstGeom prst="rect">
            <a:avLst/>
          </a:prstGeom>
        </p:spPr>
      </p:pic>
      <p:sp>
        <p:nvSpPr>
          <p:cNvPr id="1162282214" name="Text 2"/>
          <p:cNvSpPr/>
          <p:nvPr/>
        </p:nvSpPr>
        <p:spPr bwMode="auto">
          <a:xfrm>
            <a:off x="533400" y="1264444"/>
            <a:ext cx="5857875" cy="1785938"/>
          </a:xfrm>
          <a:prstGeom prst="roundRect">
            <a:avLst>
              <a:gd name="adj" fmla="val 74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224472586" name="Text 3"/>
          <p:cNvSpPr/>
          <p:nvPr/>
        </p:nvSpPr>
        <p:spPr bwMode="auto">
          <a:xfrm>
            <a:off x="714375" y="1407319"/>
            <a:ext cx="5605844" cy="161925"/>
          </a:xfrm>
          <a:prstGeom prst="rect">
            <a:avLst/>
          </a:prstGeom>
          <a:noFill/>
          <a:ln/>
        </p:spPr>
        <p:txBody>
          <a:bodyPr wrap="square" lIns="0" tIns="0" rIns="0" bIns="0" rtlCol="0" anchor="t"/>
          <a:lstStyle/>
          <a:p>
            <a:r>
              <a:t>Đặc tả kỹ thuật CSDL</a:t>
            </a:r>
          </a:p>
        </p:txBody>
      </p:sp>
      <p:sp>
        <p:nvSpPr>
          <p:cNvPr id="1967574883" name="Text 4"/>
          <p:cNvSpPr/>
          <p:nvPr/>
        </p:nvSpPr>
        <p:spPr bwMode="auto">
          <a:xfrm>
            <a:off x="714375" y="1645444"/>
            <a:ext cx="5495925" cy="1262063"/>
          </a:xfrm>
          <a:prstGeom prst="rect">
            <a:avLst/>
          </a:prstGeom>
          <a:noFill/>
          <a:ln/>
        </p:spPr>
        <p:txBody>
          <a:bodyPr wrap="square" lIns="152400" tIns="0" rIns="0" bIns="66675" rtlCol="0" anchor="t"/>
          <a:lstStyle/>
          <a:p>
            <a:r>
              <a:t>• Microsoft SQL Server 2022 kết hợp Connection Pool tối ưu hiệu năng kết nối.</a:t>
            </a:r>
          </a:p>
          <a:p>
            <a:r>
              <a:t>• Chuẩn hóa dữ liệu bậc 3 (3NF), loại bỏ dư thừa và hạn chế dị thường dữ liệu.</a:t>
            </a:r>
          </a:p>
          <a:p>
            <a:r>
              <a:t>• Ràng buộc toàn vẹn khóa chính (PK) / khóa ngoại (FK) và bảo toàn giao dịch ACID.</a:t>
            </a:r>
          </a:p>
          <a:p>
            <a:r>
              <a:t>• Đánh chỉ mục (Indexing) trên các trường slug, category_id, status tăng tốc truy vấn.</a:t>
            </a:r>
          </a:p>
        </p:txBody>
      </p:sp>
      <p:sp>
        <p:nvSpPr>
          <p:cNvPr id="380914844" name="Text 5"/>
          <p:cNvSpPr/>
          <p:nvPr/>
        </p:nvSpPr>
        <p:spPr bwMode="auto">
          <a:xfrm>
            <a:off x="533400" y="3164681"/>
            <a:ext cx="5857875" cy="1714500"/>
          </a:xfrm>
          <a:prstGeom prst="roundRect">
            <a:avLst>
              <a:gd name="adj" fmla="val 7778"/>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769482477" name="Text 6"/>
          <p:cNvSpPr/>
          <p:nvPr/>
        </p:nvSpPr>
        <p:spPr bwMode="auto">
          <a:xfrm>
            <a:off x="714375" y="3307556"/>
            <a:ext cx="5605844" cy="161925"/>
          </a:xfrm>
          <a:prstGeom prst="rect">
            <a:avLst/>
          </a:prstGeom>
          <a:noFill/>
          <a:ln/>
        </p:spPr>
        <p:txBody>
          <a:bodyPr wrap="square" lIns="0" tIns="0" rIns="0" bIns="0" rtlCol="0" anchor="t"/>
          <a:lstStyle/>
          <a:p>
            <a:r>
              <a:t>15 bảng nghiệp vụ chính theo 4 nhóm thực thể</a:t>
            </a:r>
          </a:p>
        </p:txBody>
      </p:sp>
      <p:sp>
        <p:nvSpPr>
          <p:cNvPr id="1608541823" name="Text 7"/>
          <p:cNvSpPr/>
          <p:nvPr/>
        </p:nvSpPr>
        <p:spPr bwMode="auto">
          <a:xfrm>
            <a:off x="714375" y="3545681"/>
            <a:ext cx="1221880"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ORGANIZATIONS</a:t>
            </a:r>
            <a:endParaRPr lang="vi-VN" sz="900" noProof="1"/>
          </a:p>
        </p:txBody>
      </p:sp>
      <p:sp>
        <p:nvSpPr>
          <p:cNvPr id="1553966374" name="Text 8"/>
          <p:cNvSpPr/>
          <p:nvPr/>
        </p:nvSpPr>
        <p:spPr bwMode="auto">
          <a:xfrm>
            <a:off x="1984623" y="3545681"/>
            <a:ext cx="1393702"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UNION_BRANCHES</a:t>
            </a:r>
            <a:endParaRPr lang="vi-VN" sz="900" noProof="1"/>
          </a:p>
        </p:txBody>
      </p:sp>
      <p:sp>
        <p:nvSpPr>
          <p:cNvPr id="1555805195" name="Text 9"/>
          <p:cNvSpPr/>
          <p:nvPr/>
        </p:nvSpPr>
        <p:spPr bwMode="auto">
          <a:xfrm>
            <a:off x="3426693" y="3545681"/>
            <a:ext cx="825492"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MEMBERS</a:t>
            </a:r>
            <a:endParaRPr lang="vi-VN" sz="900" noProof="1"/>
          </a:p>
        </p:txBody>
      </p:sp>
      <p:sp>
        <p:nvSpPr>
          <p:cNvPr id="14697596" name="Text 10"/>
          <p:cNvSpPr/>
          <p:nvPr/>
        </p:nvSpPr>
        <p:spPr bwMode="auto">
          <a:xfrm>
            <a:off x="4300553" y="3545681"/>
            <a:ext cx="654324"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USERS</a:t>
            </a:r>
            <a:endParaRPr lang="vi-VN" sz="900" noProof="1"/>
          </a:p>
        </p:txBody>
      </p:sp>
      <p:sp>
        <p:nvSpPr>
          <p:cNvPr id="1060775627" name="Text 11"/>
          <p:cNvSpPr/>
          <p:nvPr/>
        </p:nvSpPr>
        <p:spPr bwMode="auto">
          <a:xfrm>
            <a:off x="5003245" y="3545681"/>
            <a:ext cx="996660"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CATEGORIES</a:t>
            </a:r>
            <a:endParaRPr lang="vi-VN" sz="900" noProof="1"/>
          </a:p>
        </p:txBody>
      </p:sp>
      <p:sp>
        <p:nvSpPr>
          <p:cNvPr id="1730038241" name="Text 12"/>
          <p:cNvSpPr/>
          <p:nvPr/>
        </p:nvSpPr>
        <p:spPr bwMode="auto">
          <a:xfrm>
            <a:off x="714374" y="3860006"/>
            <a:ext cx="881042"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ARTICLES</a:t>
            </a:r>
            <a:endParaRPr lang="vi-VN" sz="900" noProof="1"/>
          </a:p>
        </p:txBody>
      </p:sp>
      <p:sp>
        <p:nvSpPr>
          <p:cNvPr id="1362803006" name="Text 13"/>
          <p:cNvSpPr/>
          <p:nvPr/>
        </p:nvSpPr>
        <p:spPr bwMode="auto">
          <a:xfrm>
            <a:off x="1641928" y="3860006"/>
            <a:ext cx="1247938"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ARTICLE_AUDITS</a:t>
            </a:r>
            <a:endParaRPr lang="vi-VN" sz="900" noProof="1"/>
          </a:p>
        </p:txBody>
      </p:sp>
      <p:sp>
        <p:nvSpPr>
          <p:cNvPr id="127377906" name="Text 14"/>
          <p:cNvSpPr/>
          <p:nvPr/>
        </p:nvSpPr>
        <p:spPr bwMode="auto">
          <a:xfrm>
            <a:off x="2936378" y="3860006"/>
            <a:ext cx="914549"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COMMENTS</a:t>
            </a:r>
            <a:endParaRPr lang="vi-VN" sz="900" noProof="1"/>
          </a:p>
        </p:txBody>
      </p:sp>
      <p:sp>
        <p:nvSpPr>
          <p:cNvPr id="1620711932" name="Text 15"/>
          <p:cNvSpPr/>
          <p:nvPr/>
        </p:nvSpPr>
        <p:spPr bwMode="auto">
          <a:xfrm>
            <a:off x="3897439" y="3860006"/>
            <a:ext cx="1021402"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l">
              <a:buNone/>
              <a:defRPr/>
            </a:pPr>
            <a:r>
              <a:rPr lang="vi-VN" sz="900" b="1" noProof="1">
                <a:solidFill>
                  <a:srgbClr val="24456E"/>
                </a:solidFill>
                <a:latin typeface="Arial"/>
                <a:ea typeface="Arial"/>
                <a:cs typeface="Arial"/>
              </a:rPr>
              <a:t>BOOKMARKS</a:t>
            </a:r>
            <a:endParaRPr lang="vi-VN" sz="900" noProof="1"/>
          </a:p>
        </p:txBody>
      </p:sp>
      <p:sp>
        <p:nvSpPr>
          <p:cNvPr id="1165322204" name="Text 16"/>
          <p:cNvSpPr/>
          <p:nvPr/>
        </p:nvSpPr>
        <p:spPr bwMode="auto">
          <a:xfrm>
            <a:off x="4965352" y="3860006"/>
            <a:ext cx="1010927"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DOCUMENTS</a:t>
            </a:r>
            <a:endParaRPr lang="vi-VN" sz="900" noProof="1"/>
          </a:p>
        </p:txBody>
      </p:sp>
      <p:sp>
        <p:nvSpPr>
          <p:cNvPr id="97641124" name="Text 18"/>
          <p:cNvSpPr/>
          <p:nvPr/>
        </p:nvSpPr>
        <p:spPr bwMode="auto">
          <a:xfrm>
            <a:off x="2223196" y="4174331"/>
            <a:ext cx="983961"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SCHEDULES</a:t>
            </a:r>
            <a:endParaRPr lang="vi-VN" sz="900" noProof="1"/>
          </a:p>
        </p:txBody>
      </p:sp>
      <p:sp>
        <p:nvSpPr>
          <p:cNvPr id="1931732471" name="Text 19"/>
          <p:cNvSpPr/>
          <p:nvPr/>
        </p:nvSpPr>
        <p:spPr bwMode="auto">
          <a:xfrm>
            <a:off x="3273832" y="4174331"/>
            <a:ext cx="1554921"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WELFARE_PROGRAMS</a:t>
            </a:r>
            <a:endParaRPr lang="vi-VN" sz="900" noProof="1"/>
          </a:p>
        </p:txBody>
      </p:sp>
      <p:sp>
        <p:nvSpPr>
          <p:cNvPr id="1567713886" name="Text 20"/>
          <p:cNvSpPr/>
          <p:nvPr/>
        </p:nvSpPr>
        <p:spPr bwMode="auto">
          <a:xfrm>
            <a:off x="4895427" y="4174331"/>
            <a:ext cx="1167539"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AID_REQUESTS</a:t>
            </a:r>
            <a:endParaRPr lang="vi-VN" sz="900" noProof="1"/>
          </a:p>
        </p:txBody>
      </p:sp>
      <p:sp>
        <p:nvSpPr>
          <p:cNvPr id="1848429268" name="Text 21"/>
          <p:cNvSpPr/>
          <p:nvPr/>
        </p:nvSpPr>
        <p:spPr bwMode="auto">
          <a:xfrm>
            <a:off x="714375" y="4488656"/>
            <a:ext cx="1343026"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INBOX_FEEDBACK</a:t>
            </a:r>
            <a:endParaRPr lang="vi-VN" sz="900" noProof="1"/>
          </a:p>
        </p:txBody>
      </p:sp>
      <p:sp>
        <p:nvSpPr>
          <p:cNvPr id="1898289275" name="Text 22"/>
          <p:cNvSpPr/>
          <p:nvPr/>
        </p:nvSpPr>
        <p:spPr bwMode="auto">
          <a:xfrm>
            <a:off x="6638925" y="1264444"/>
            <a:ext cx="5019675" cy="5334000"/>
          </a:xfrm>
          <a:prstGeom prst="roundRect">
            <a:avLst>
              <a:gd name="adj" fmla="val 2657"/>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1246624806" name="Image 1"/>
          <p:cNvPicPr>
            <a:picLocks noChangeAspect="1"/>
          </p:cNvPicPr>
          <p:nvPr/>
        </p:nvPicPr>
        <p:blipFill>
          <a:blip r:embed="rId4"/>
          <a:srcRect/>
          <a:stretch/>
        </p:blipFill>
        <p:spPr bwMode="auto">
          <a:xfrm>
            <a:off x="6781800" y="1409781"/>
            <a:ext cx="4733925" cy="3661903"/>
          </a:xfrm>
          <a:prstGeom prst="rect">
            <a:avLst/>
          </a:prstGeom>
        </p:spPr>
      </p:pic>
      <p:sp>
        <p:nvSpPr>
          <p:cNvPr id="517730841" name="Text 23"/>
          <p:cNvSpPr/>
          <p:nvPr/>
        </p:nvSpPr>
        <p:spPr bwMode="auto">
          <a:xfrm>
            <a:off x="6734461" y="5169396"/>
            <a:ext cx="4828604" cy="133350"/>
          </a:xfrm>
          <a:prstGeom prst="rect">
            <a:avLst/>
          </a:prstGeom>
          <a:noFill/>
          <a:ln/>
        </p:spPr>
        <p:txBody>
          <a:bodyPr wrap="square" lIns="0" tIns="0" rIns="0" bIns="0" rtlCol="0" anchor="t"/>
          <a:lstStyle/>
          <a:p>
            <a:pPr marL="0" indent="0" algn="ctr">
              <a:spcBef>
                <a:spcPts val="750"/>
              </a:spcBef>
              <a:buNone/>
              <a:defRPr/>
            </a:pPr>
            <a:r>
              <a:rPr lang="vi-VN" sz="900" noProof="1">
                <a:solidFill>
                  <a:srgbClr val="8A97AB"/>
                </a:solidFill>
                <a:latin typeface="Arial"/>
                <a:ea typeface="Arial"/>
                <a:cs typeface="Arial"/>
              </a:rPr>
              <a:t>Sơ đồ quan hệ trong cơ sở dữ liệu</a:t>
            </a:r>
            <a:endParaRPr lang="vi-VN" sz="900" noProof="1"/>
          </a:p>
        </p:txBody>
      </p:sp>
      <p:sp>
        <p:nvSpPr>
          <p:cNvPr id="1875844736" name="Shape 24"/>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506202728" name="Text 25"/>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1611640450" name="Shape 26"/>
          <p:cNvSpPr/>
          <p:nvPr/>
        </p:nvSpPr>
        <p:spPr bwMode="auto">
          <a:xfrm>
            <a:off x="6781800" y="1412081"/>
            <a:ext cx="4733925" cy="0"/>
          </a:xfrm>
          <a:prstGeom prst="line">
            <a:avLst/>
          </a:prstGeom>
          <a:noFill/>
          <a:ln w="9525">
            <a:solidFill>
              <a:srgbClr val="EDF1F7"/>
            </a:solidFill>
            <a:prstDash val="solid"/>
          </a:ln>
        </p:spPr>
        <p:txBody>
          <a:bodyPr/>
          <a:lstStyle/>
          <a:p>
            <a:endParaRPr lang="vi-VN" noProof="1"/>
          </a:p>
        </p:txBody>
      </p:sp>
      <p:sp>
        <p:nvSpPr>
          <p:cNvPr id="1776745191" name="Shape 27"/>
          <p:cNvSpPr/>
          <p:nvPr/>
        </p:nvSpPr>
        <p:spPr bwMode="auto">
          <a:xfrm>
            <a:off x="11510963" y="1407319"/>
            <a:ext cx="0" cy="3666827"/>
          </a:xfrm>
          <a:prstGeom prst="line">
            <a:avLst/>
          </a:prstGeom>
          <a:noFill/>
          <a:ln w="9525">
            <a:solidFill>
              <a:srgbClr val="EDF1F7"/>
            </a:solidFill>
            <a:prstDash val="solid"/>
          </a:ln>
        </p:spPr>
        <p:txBody>
          <a:bodyPr/>
          <a:lstStyle/>
          <a:p>
            <a:endParaRPr lang="vi-VN" noProof="1"/>
          </a:p>
        </p:txBody>
      </p:sp>
      <p:sp>
        <p:nvSpPr>
          <p:cNvPr id="1627594382" name="Shape 28"/>
          <p:cNvSpPr/>
          <p:nvPr/>
        </p:nvSpPr>
        <p:spPr bwMode="auto">
          <a:xfrm>
            <a:off x="6781800" y="5069384"/>
            <a:ext cx="4733925" cy="0"/>
          </a:xfrm>
          <a:prstGeom prst="line">
            <a:avLst/>
          </a:prstGeom>
          <a:noFill/>
          <a:ln w="9525">
            <a:solidFill>
              <a:srgbClr val="EDF1F7"/>
            </a:solidFill>
            <a:prstDash val="solid"/>
          </a:ln>
        </p:spPr>
        <p:txBody>
          <a:bodyPr/>
          <a:lstStyle/>
          <a:p>
            <a:endParaRPr lang="vi-VN" noProof="1"/>
          </a:p>
        </p:txBody>
      </p:sp>
      <p:sp>
        <p:nvSpPr>
          <p:cNvPr id="2108835123" name="Shape 29"/>
          <p:cNvSpPr/>
          <p:nvPr/>
        </p:nvSpPr>
        <p:spPr bwMode="auto">
          <a:xfrm>
            <a:off x="6786563" y="1407319"/>
            <a:ext cx="0" cy="3666827"/>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name="Slide 10">
    <p:bg>
      <p:bgPr>
        <a:solidFill>
          <a:srgbClr val="F6F8FB"/>
        </a:solidFill>
        <a:effectLst/>
      </p:bgPr>
    </p:bg>
    <p:spTree>
      <p:nvGrpSpPr>
        <p:cNvPr id="1" name=""/>
        <p:cNvGrpSpPr/>
        <p:nvPr/>
      </p:nvGrpSpPr>
      <p:grpSpPr bwMode="auto">
        <a:xfrm>
          <a:off x="0" y="0"/>
          <a:ext cx="0" cy="0"/>
          <a:chOff x="0" y="0"/>
          <a:chExt cx="0" cy="0"/>
        </a:xfrm>
      </p:grpSpPr>
      <p:sp>
        <p:nvSpPr>
          <p:cNvPr id="335525789" name="Text 0"/>
          <p:cNvSpPr/>
          <p:nvPr/>
        </p:nvSpPr>
        <p:spPr bwMode="auto">
          <a:xfrm>
            <a:off x="533400" y="342900"/>
            <a:ext cx="11347704" cy="142875"/>
          </a:xfrm>
          <a:prstGeom prst="rect">
            <a:avLst/>
          </a:prstGeom>
          <a:noFill/>
          <a:ln/>
        </p:spPr>
        <p:txBody>
          <a:bodyPr wrap="square" lIns="0" tIns="0" rIns="0" bIns="0" rtlCol="0" anchor="t"/>
          <a:lstStyle/>
          <a:p>
            <a:r>
              <a:t>5. KẾT QUẢ THỰC NGHIỆM</a:t>
            </a:r>
          </a:p>
        </p:txBody>
      </p:sp>
      <p:sp>
        <p:nvSpPr>
          <p:cNvPr id="2108582936" name="Text 1"/>
          <p:cNvSpPr/>
          <p:nvPr/>
        </p:nvSpPr>
        <p:spPr bwMode="auto">
          <a:xfrm>
            <a:off x="533400" y="542925"/>
            <a:ext cx="11347704" cy="359569"/>
          </a:xfrm>
          <a:prstGeom prst="rect">
            <a:avLst/>
          </a:prstGeom>
          <a:noFill/>
          <a:ln/>
        </p:spPr>
        <p:txBody>
          <a:bodyPr wrap="square" lIns="0" tIns="0" rIns="0" bIns="0" rtlCol="0" anchor="t"/>
          <a:lstStyle/>
          <a:p>
            <a:r>
              <a:t>Giao diện Cổng thông tin đoàn viên &amp; công chúng</a:t>
            </a:r>
          </a:p>
        </p:txBody>
      </p:sp>
      <p:pic>
        <p:nvPicPr>
          <p:cNvPr id="845500851" name="Image 0" descr="/var/folders/t4/q0khv7qd1r3dc2yrbwkzmjf00000gn/T/html2pptx-DrXSpt/html2pptx-bg-1791687647929-93161aae6e2868.png"/>
          <p:cNvPicPr>
            <a:picLocks noChangeAspect="1"/>
          </p:cNvPicPr>
          <p:nvPr/>
        </p:nvPicPr>
        <p:blipFill rotWithShape="1">
          <a:blip r:embed="rId3"/>
          <a:stretch/>
        </p:blipFill>
        <p:spPr bwMode="auto">
          <a:xfrm>
            <a:off x="533400" y="978694"/>
            <a:ext cx="1047750" cy="38100"/>
          </a:xfrm>
          <a:prstGeom prst="rect">
            <a:avLst/>
          </a:prstGeom>
        </p:spPr>
      </p:pic>
      <p:sp>
        <p:nvSpPr>
          <p:cNvPr id="999737400" name="Text 2"/>
          <p:cNvSpPr/>
          <p:nvPr/>
        </p:nvSpPr>
        <p:spPr bwMode="auto">
          <a:xfrm>
            <a:off x="533400" y="1169194"/>
            <a:ext cx="2688916" cy="142875"/>
          </a:xfrm>
          <a:prstGeom prst="rect">
            <a:avLst/>
          </a:prstGeom>
          <a:noFill/>
          <a:ln/>
        </p:spPr>
        <p:txBody>
          <a:bodyPr wrap="square" lIns="152400" tIns="0" rIns="0" bIns="0" rtlCol="0" anchor="t"/>
          <a:lstStyle/>
          <a:p>
            <a:r>
              <a:t>Chuẩn nhận diện TDMU</a:t>
            </a:r>
          </a:p>
        </p:txBody>
      </p:sp>
      <p:sp>
        <p:nvSpPr>
          <p:cNvPr id="1975321100" name="Text 3"/>
          <p:cNvSpPr/>
          <p:nvPr/>
        </p:nvSpPr>
        <p:spPr bwMode="auto">
          <a:xfrm>
            <a:off x="533400"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2017389275" name="Text 4"/>
          <p:cNvSpPr/>
          <p:nvPr/>
        </p:nvSpPr>
        <p:spPr bwMode="auto">
          <a:xfrm>
            <a:off x="3417243" y="1169194"/>
            <a:ext cx="3161333" cy="142875"/>
          </a:xfrm>
          <a:prstGeom prst="rect">
            <a:avLst/>
          </a:prstGeom>
          <a:noFill/>
          <a:ln/>
        </p:spPr>
        <p:txBody>
          <a:bodyPr wrap="square" lIns="152400" tIns="0" rIns="0" bIns="0" rtlCol="0" anchor="t"/>
          <a:lstStyle/>
          <a:p>
            <a:r>
              <a:t>Kho Văn bản &amp; Phúc lợi số hóa</a:t>
            </a:r>
          </a:p>
        </p:txBody>
      </p:sp>
      <p:sp>
        <p:nvSpPr>
          <p:cNvPr id="1533198457" name="Text 5"/>
          <p:cNvSpPr/>
          <p:nvPr/>
        </p:nvSpPr>
        <p:spPr bwMode="auto">
          <a:xfrm>
            <a:off x="3417243"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2062761761" name="Text 6"/>
          <p:cNvSpPr/>
          <p:nvPr/>
        </p:nvSpPr>
        <p:spPr bwMode="auto">
          <a:xfrm>
            <a:off x="6764238" y="1169194"/>
            <a:ext cx="3049604" cy="142875"/>
          </a:xfrm>
          <a:prstGeom prst="rect">
            <a:avLst/>
          </a:prstGeom>
          <a:noFill/>
          <a:ln/>
        </p:spPr>
        <p:txBody>
          <a:bodyPr wrap="square" lIns="152400" tIns="0" rIns="0" bIns="0" rtlCol="0" anchor="t"/>
          <a:lstStyle/>
          <a:p>
            <a:r>
              <a:t>Đọc bài viết chuẩn báo chí</a:t>
            </a:r>
          </a:p>
        </p:txBody>
      </p:sp>
      <p:sp>
        <p:nvSpPr>
          <p:cNvPr id="1001416523" name="Text 7"/>
          <p:cNvSpPr/>
          <p:nvPr/>
        </p:nvSpPr>
        <p:spPr bwMode="auto">
          <a:xfrm>
            <a:off x="6764238"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87719301" name="Text 8"/>
          <p:cNvSpPr/>
          <p:nvPr/>
        </p:nvSpPr>
        <p:spPr bwMode="auto">
          <a:xfrm>
            <a:off x="533400" y="1407319"/>
            <a:ext cx="2340525" cy="142875"/>
          </a:xfrm>
          <a:prstGeom prst="rect">
            <a:avLst/>
          </a:prstGeom>
          <a:noFill/>
          <a:ln/>
        </p:spPr>
        <p:txBody>
          <a:bodyPr wrap="square" lIns="152400" tIns="0" rIns="0" bIns="0" rtlCol="0" anchor="t"/>
          <a:lstStyle/>
          <a:p>
            <a:r>
              <a:t>Tối ưu Responsive đa thiết bị</a:t>
            </a:r>
          </a:p>
        </p:txBody>
      </p:sp>
      <p:sp>
        <p:nvSpPr>
          <p:cNvPr id="616865855" name="Text 9"/>
          <p:cNvSpPr/>
          <p:nvPr/>
        </p:nvSpPr>
        <p:spPr bwMode="auto">
          <a:xfrm>
            <a:off x="533400" y="1464469"/>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614992802" name="Text 10"/>
          <p:cNvSpPr/>
          <p:nvPr/>
        </p:nvSpPr>
        <p:spPr bwMode="auto">
          <a:xfrm>
            <a:off x="533400"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1059608118" name="Image 1"/>
          <p:cNvPicPr>
            <a:picLocks noChangeAspect="1"/>
          </p:cNvPicPr>
          <p:nvPr/>
        </p:nvPicPr>
        <p:blipFill>
          <a:blip r:embed="rId4"/>
          <a:srcRect/>
          <a:stretch/>
        </p:blipFill>
        <p:spPr bwMode="auto">
          <a:xfrm>
            <a:off x="657225" y="1831804"/>
            <a:ext cx="5210175" cy="2738681"/>
          </a:xfrm>
          <a:prstGeom prst="rect">
            <a:avLst/>
          </a:prstGeom>
        </p:spPr>
      </p:pic>
      <p:sp>
        <p:nvSpPr>
          <p:cNvPr id="1357707864" name="Text 11"/>
          <p:cNvSpPr/>
          <p:nvPr/>
        </p:nvSpPr>
        <p:spPr bwMode="auto">
          <a:xfrm>
            <a:off x="695325" y="4671120"/>
            <a:ext cx="5236654" cy="216682"/>
          </a:xfrm>
          <a:prstGeom prst="rect">
            <a:avLst/>
          </a:prstGeom>
          <a:noFill/>
          <a:ln/>
        </p:spPr>
        <p:txBody>
          <a:bodyPr wrap="square" lIns="0" tIns="0" rIns="0" bIns="0" rtlCol="0" anchor="t"/>
          <a:lstStyle/>
          <a:p>
            <a:r>
              <a:t>Trang chủ Cổng thông tin</a:t>
            </a:r>
          </a:p>
        </p:txBody>
      </p:sp>
      <p:sp>
        <p:nvSpPr>
          <p:cNvPr id="1345049996" name="Text 12"/>
          <p:cNvSpPr/>
          <p:nvPr/>
        </p:nvSpPr>
        <p:spPr bwMode="auto">
          <a:xfrm>
            <a:off x="695325" y="4894518"/>
            <a:ext cx="5236654" cy="358972"/>
          </a:xfrm>
          <a:prstGeom prst="rect">
            <a:avLst/>
          </a:prstGeom>
          <a:noFill/>
          <a:ln/>
        </p:spPr>
        <p:txBody>
          <a:bodyPr wrap="square" lIns="0" tIns="0" rIns="0" bIns="0" rtlCol="0" anchor="t"/>
          <a:lstStyle/>
          <a:p>
            <a:r>
              <a:t>Bố cục trang nhã theo chuẩn nhận diện TDMU; menu chuyên mục rõ ràng, tích hợp banner sự kiện nổi bật và luồng tin tức phong trào mới nhất.</a:t>
            </a:r>
          </a:p>
        </p:txBody>
      </p:sp>
      <p:sp>
        <p:nvSpPr>
          <p:cNvPr id="2109461479" name="Text 13"/>
          <p:cNvSpPr/>
          <p:nvPr/>
        </p:nvSpPr>
        <p:spPr bwMode="auto">
          <a:xfrm>
            <a:off x="6200775"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1006755031" name="Image 2"/>
          <p:cNvPicPr>
            <a:picLocks noChangeAspect="1"/>
          </p:cNvPicPr>
          <p:nvPr/>
        </p:nvPicPr>
        <p:blipFill>
          <a:blip r:embed="rId5"/>
          <a:srcRect/>
          <a:stretch/>
        </p:blipFill>
        <p:spPr bwMode="auto">
          <a:xfrm>
            <a:off x="6324600" y="1831804"/>
            <a:ext cx="5210175" cy="2738681"/>
          </a:xfrm>
          <a:prstGeom prst="rect">
            <a:avLst/>
          </a:prstGeom>
        </p:spPr>
      </p:pic>
      <p:sp>
        <p:nvSpPr>
          <p:cNvPr id="1693096689" name="Text 14"/>
          <p:cNvSpPr/>
          <p:nvPr/>
        </p:nvSpPr>
        <p:spPr bwMode="auto">
          <a:xfrm>
            <a:off x="6362700" y="4671120"/>
            <a:ext cx="5236654" cy="216681"/>
          </a:xfrm>
          <a:prstGeom prst="rect">
            <a:avLst/>
          </a:prstGeom>
          <a:noFill/>
          <a:ln/>
        </p:spPr>
        <p:txBody>
          <a:bodyPr wrap="square" lIns="0" tIns="0" rIns="0" bIns="0" rtlCol="0" anchor="t"/>
          <a:lstStyle/>
          <a:p>
            <a:r>
              <a:t>Trang chi tiết bài viết &amp; Tương tác</a:t>
            </a:r>
          </a:p>
        </p:txBody>
      </p:sp>
      <p:sp>
        <p:nvSpPr>
          <p:cNvPr id="110564237" name="Text 15"/>
          <p:cNvSpPr/>
          <p:nvPr/>
        </p:nvSpPr>
        <p:spPr bwMode="auto">
          <a:xfrm>
            <a:off x="6362700" y="4894518"/>
            <a:ext cx="5236654" cy="569360"/>
          </a:xfrm>
          <a:prstGeom prst="rect">
            <a:avLst/>
          </a:prstGeom>
          <a:noFill/>
          <a:ln/>
        </p:spPr>
        <p:txBody>
          <a:bodyPr wrap="square" lIns="0" tIns="0" rIns="0" bIns="0" rtlCol="0" anchor="t"/>
          <a:lstStyle/>
          <a:p>
            <a:r>
              <a:t>Định dạng bài báo chuẩn mực (Tiêu đề, Sapo, Toàn văn); hiển thị album ảnh sự kiện, tệp văn bản đính kèm và khu vực phản hồi độc giả.</a:t>
            </a:r>
          </a:p>
        </p:txBody>
      </p:sp>
      <p:sp>
        <p:nvSpPr>
          <p:cNvPr id="862187831" name="Shape 16"/>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84807338" name="Text 17"/>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1481413502" name="Shape 18"/>
          <p:cNvSpPr/>
          <p:nvPr/>
        </p:nvSpPr>
        <p:spPr bwMode="auto">
          <a:xfrm>
            <a:off x="657225" y="1831181"/>
            <a:ext cx="5210175" cy="0"/>
          </a:xfrm>
          <a:prstGeom prst="line">
            <a:avLst/>
          </a:prstGeom>
          <a:noFill/>
          <a:ln w="9525">
            <a:solidFill>
              <a:srgbClr val="EDF1F7"/>
            </a:solidFill>
            <a:prstDash val="solid"/>
          </a:ln>
        </p:spPr>
        <p:txBody>
          <a:bodyPr/>
          <a:lstStyle/>
          <a:p>
            <a:endParaRPr lang="vi-VN" noProof="1"/>
          </a:p>
        </p:txBody>
      </p:sp>
      <p:sp>
        <p:nvSpPr>
          <p:cNvPr id="1482740072" name="Shape 19"/>
          <p:cNvSpPr/>
          <p:nvPr/>
        </p:nvSpPr>
        <p:spPr bwMode="auto">
          <a:xfrm>
            <a:off x="5862638" y="1826419"/>
            <a:ext cx="0" cy="2749451"/>
          </a:xfrm>
          <a:prstGeom prst="line">
            <a:avLst/>
          </a:prstGeom>
          <a:noFill/>
          <a:ln w="9525">
            <a:solidFill>
              <a:srgbClr val="EDF1F7"/>
            </a:solidFill>
            <a:prstDash val="solid"/>
          </a:ln>
        </p:spPr>
        <p:txBody>
          <a:bodyPr/>
          <a:lstStyle/>
          <a:p>
            <a:endParaRPr lang="vi-VN" noProof="1"/>
          </a:p>
        </p:txBody>
      </p:sp>
      <p:sp>
        <p:nvSpPr>
          <p:cNvPr id="1030329911" name="Shape 20"/>
          <p:cNvSpPr/>
          <p:nvPr/>
        </p:nvSpPr>
        <p:spPr bwMode="auto">
          <a:xfrm>
            <a:off x="657225" y="4571107"/>
            <a:ext cx="5210175" cy="0"/>
          </a:xfrm>
          <a:prstGeom prst="line">
            <a:avLst/>
          </a:prstGeom>
          <a:noFill/>
          <a:ln w="9525">
            <a:solidFill>
              <a:srgbClr val="EDF1F7"/>
            </a:solidFill>
            <a:prstDash val="solid"/>
          </a:ln>
        </p:spPr>
        <p:txBody>
          <a:bodyPr/>
          <a:lstStyle/>
          <a:p>
            <a:endParaRPr lang="vi-VN" noProof="1"/>
          </a:p>
        </p:txBody>
      </p:sp>
      <p:sp>
        <p:nvSpPr>
          <p:cNvPr id="1989211595" name="Shape 21"/>
          <p:cNvSpPr/>
          <p:nvPr/>
        </p:nvSpPr>
        <p:spPr bwMode="auto">
          <a:xfrm>
            <a:off x="661988" y="1826419"/>
            <a:ext cx="0" cy="2749451"/>
          </a:xfrm>
          <a:prstGeom prst="line">
            <a:avLst/>
          </a:prstGeom>
          <a:noFill/>
          <a:ln w="9525">
            <a:solidFill>
              <a:srgbClr val="EDF1F7"/>
            </a:solidFill>
            <a:prstDash val="solid"/>
          </a:ln>
        </p:spPr>
        <p:txBody>
          <a:bodyPr/>
          <a:lstStyle/>
          <a:p>
            <a:endParaRPr lang="vi-VN" noProof="1"/>
          </a:p>
        </p:txBody>
      </p:sp>
      <p:sp>
        <p:nvSpPr>
          <p:cNvPr id="142640582" name="Shape 22"/>
          <p:cNvSpPr/>
          <p:nvPr/>
        </p:nvSpPr>
        <p:spPr bwMode="auto">
          <a:xfrm>
            <a:off x="6324600" y="1831181"/>
            <a:ext cx="5210175" cy="0"/>
          </a:xfrm>
          <a:prstGeom prst="line">
            <a:avLst/>
          </a:prstGeom>
          <a:noFill/>
          <a:ln w="9525">
            <a:solidFill>
              <a:srgbClr val="EDF1F7"/>
            </a:solidFill>
            <a:prstDash val="solid"/>
          </a:ln>
        </p:spPr>
        <p:txBody>
          <a:bodyPr/>
          <a:lstStyle/>
          <a:p>
            <a:endParaRPr lang="vi-VN" noProof="1"/>
          </a:p>
        </p:txBody>
      </p:sp>
      <p:sp>
        <p:nvSpPr>
          <p:cNvPr id="630371208" name="Shape 23"/>
          <p:cNvSpPr/>
          <p:nvPr/>
        </p:nvSpPr>
        <p:spPr bwMode="auto">
          <a:xfrm>
            <a:off x="11530012" y="1826419"/>
            <a:ext cx="0" cy="2749451"/>
          </a:xfrm>
          <a:prstGeom prst="line">
            <a:avLst/>
          </a:prstGeom>
          <a:noFill/>
          <a:ln w="9525">
            <a:solidFill>
              <a:srgbClr val="EDF1F7"/>
            </a:solidFill>
            <a:prstDash val="solid"/>
          </a:ln>
        </p:spPr>
        <p:txBody>
          <a:bodyPr/>
          <a:lstStyle/>
          <a:p>
            <a:endParaRPr lang="vi-VN" noProof="1"/>
          </a:p>
        </p:txBody>
      </p:sp>
      <p:sp>
        <p:nvSpPr>
          <p:cNvPr id="1482762303" name="Shape 24"/>
          <p:cNvSpPr/>
          <p:nvPr/>
        </p:nvSpPr>
        <p:spPr bwMode="auto">
          <a:xfrm>
            <a:off x="6324600" y="4571107"/>
            <a:ext cx="5210175" cy="0"/>
          </a:xfrm>
          <a:prstGeom prst="line">
            <a:avLst/>
          </a:prstGeom>
          <a:noFill/>
          <a:ln w="9525">
            <a:solidFill>
              <a:srgbClr val="EDF1F7"/>
            </a:solidFill>
            <a:prstDash val="solid"/>
          </a:ln>
        </p:spPr>
        <p:txBody>
          <a:bodyPr/>
          <a:lstStyle/>
          <a:p>
            <a:endParaRPr lang="vi-VN" noProof="1"/>
          </a:p>
        </p:txBody>
      </p:sp>
      <p:sp>
        <p:nvSpPr>
          <p:cNvPr id="1731064471" name="Shape 25"/>
          <p:cNvSpPr/>
          <p:nvPr/>
        </p:nvSpPr>
        <p:spPr bwMode="auto">
          <a:xfrm>
            <a:off x="6329363" y="1826419"/>
            <a:ext cx="0" cy="2749451"/>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name="Slide 11">
    <p:bg>
      <p:bgPr>
        <a:solidFill>
          <a:srgbClr val="F6F8FB"/>
        </a:solidFill>
        <a:effectLst/>
      </p:bgPr>
    </p:bg>
    <p:spTree>
      <p:nvGrpSpPr>
        <p:cNvPr id="1" name=""/>
        <p:cNvGrpSpPr/>
        <p:nvPr/>
      </p:nvGrpSpPr>
      <p:grpSpPr bwMode="auto">
        <a:xfrm>
          <a:off x="0" y="0"/>
          <a:ext cx="0" cy="0"/>
          <a:chOff x="0" y="0"/>
          <a:chExt cx="0" cy="0"/>
        </a:xfrm>
      </p:grpSpPr>
      <p:sp>
        <p:nvSpPr>
          <p:cNvPr id="716076251" name="Text 0"/>
          <p:cNvSpPr/>
          <p:nvPr/>
        </p:nvSpPr>
        <p:spPr bwMode="auto">
          <a:xfrm>
            <a:off x="533400" y="342900"/>
            <a:ext cx="11347704" cy="142875"/>
          </a:xfrm>
          <a:prstGeom prst="rect">
            <a:avLst/>
          </a:prstGeom>
          <a:noFill/>
          <a:ln/>
        </p:spPr>
        <p:txBody>
          <a:bodyPr wrap="square" lIns="0" tIns="0" rIns="0" bIns="0" rtlCol="0" anchor="t"/>
          <a:lstStyle/>
          <a:p>
            <a:r>
              <a:t>5. KẾT QUẢ THỰC NGHIỆM</a:t>
            </a:r>
          </a:p>
        </p:txBody>
      </p:sp>
      <p:sp>
        <p:nvSpPr>
          <p:cNvPr id="388015217" name="Text 1"/>
          <p:cNvSpPr/>
          <p:nvPr/>
        </p:nvSpPr>
        <p:spPr bwMode="auto">
          <a:xfrm>
            <a:off x="533400" y="542925"/>
            <a:ext cx="11347704" cy="359569"/>
          </a:xfrm>
          <a:prstGeom prst="rect">
            <a:avLst/>
          </a:prstGeom>
          <a:noFill/>
          <a:ln/>
        </p:spPr>
        <p:txBody>
          <a:bodyPr wrap="square" lIns="0" tIns="0" rIns="0" bIns="0" rtlCol="0" anchor="t"/>
          <a:lstStyle/>
          <a:p>
            <a:r>
              <a:t>Phân hệ Quản trị CMS &amp; Biên tập tích hợp AI</a:t>
            </a:r>
          </a:p>
        </p:txBody>
      </p:sp>
      <p:pic>
        <p:nvPicPr>
          <p:cNvPr id="1494636220" name="Image 0" descr="/var/folders/t4/q0khv7qd1r3dc2yrbwkzmjf00000gn/T/html2pptx-j5AHGl/html2pptx-bg-1791687649333-14213dd336991.png"/>
          <p:cNvPicPr>
            <a:picLocks noChangeAspect="1"/>
          </p:cNvPicPr>
          <p:nvPr/>
        </p:nvPicPr>
        <p:blipFill rotWithShape="1">
          <a:blip r:embed="rId3"/>
          <a:stretch/>
        </p:blipFill>
        <p:spPr bwMode="auto">
          <a:xfrm>
            <a:off x="533400" y="978694"/>
            <a:ext cx="1047750" cy="38100"/>
          </a:xfrm>
          <a:prstGeom prst="rect">
            <a:avLst/>
          </a:prstGeom>
        </p:spPr>
      </p:pic>
      <p:sp>
        <p:nvSpPr>
          <p:cNvPr id="574550244" name="Text 2"/>
          <p:cNvSpPr/>
          <p:nvPr/>
        </p:nvSpPr>
        <p:spPr bwMode="auto">
          <a:xfrm>
            <a:off x="533400" y="1169194"/>
            <a:ext cx="2516770" cy="142875"/>
          </a:xfrm>
          <a:prstGeom prst="rect">
            <a:avLst/>
          </a:prstGeom>
          <a:noFill/>
          <a:ln/>
        </p:spPr>
        <p:txBody>
          <a:bodyPr wrap="square" lIns="152400" tIns="0" rIns="0" bIns="0" rtlCol="0" anchor="t"/>
          <a:lstStyle/>
          <a:p>
            <a:r>
              <a:t>Bảng điều khiển theo dõi tin bài</a:t>
            </a:r>
          </a:p>
        </p:txBody>
      </p:sp>
      <p:sp>
        <p:nvSpPr>
          <p:cNvPr id="20344709" name="Text 3"/>
          <p:cNvSpPr/>
          <p:nvPr/>
        </p:nvSpPr>
        <p:spPr bwMode="auto">
          <a:xfrm>
            <a:off x="533400"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824359032" name="Text 4"/>
          <p:cNvSpPr/>
          <p:nvPr/>
        </p:nvSpPr>
        <p:spPr bwMode="auto">
          <a:xfrm>
            <a:off x="3248471" y="1169194"/>
            <a:ext cx="2880038" cy="142875"/>
          </a:xfrm>
          <a:prstGeom prst="rect">
            <a:avLst/>
          </a:prstGeom>
          <a:noFill/>
          <a:ln/>
        </p:spPr>
        <p:txBody>
          <a:bodyPr wrap="square" lIns="152400" tIns="0" rIns="0" bIns="0" rtlCol="0" anchor="t"/>
          <a:lstStyle/>
          <a:p>
            <a:r>
              <a:t>Quy trình kiểm duyệt 4 bước</a:t>
            </a:r>
          </a:p>
        </p:txBody>
      </p:sp>
      <p:sp>
        <p:nvSpPr>
          <p:cNvPr id="2031012361" name="Text 5"/>
          <p:cNvSpPr/>
          <p:nvPr/>
        </p:nvSpPr>
        <p:spPr bwMode="auto">
          <a:xfrm>
            <a:off x="3248471"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826344242" name="Text 6"/>
          <p:cNvSpPr/>
          <p:nvPr/>
        </p:nvSpPr>
        <p:spPr bwMode="auto">
          <a:xfrm>
            <a:off x="6319689" y="1169194"/>
            <a:ext cx="3375833" cy="142875"/>
          </a:xfrm>
          <a:prstGeom prst="rect">
            <a:avLst/>
          </a:prstGeom>
          <a:noFill/>
          <a:ln/>
        </p:spPr>
        <p:txBody>
          <a:bodyPr wrap="square" lIns="152400" tIns="0" rIns="0" bIns="0" rtlCol="0" anchor="t"/>
          <a:lstStyle/>
          <a:p>
            <a:r>
              <a:t>Soạn thảo tích hợp Trợ lý AI</a:t>
            </a:r>
          </a:p>
        </p:txBody>
      </p:sp>
      <p:sp>
        <p:nvSpPr>
          <p:cNvPr id="537125904" name="Text 7"/>
          <p:cNvSpPr/>
          <p:nvPr/>
        </p:nvSpPr>
        <p:spPr bwMode="auto">
          <a:xfrm>
            <a:off x="6319689"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548170870" name="Text 8"/>
          <p:cNvSpPr/>
          <p:nvPr/>
        </p:nvSpPr>
        <p:spPr bwMode="auto">
          <a:xfrm>
            <a:off x="533400" y="1407319"/>
            <a:ext cx="3382816" cy="142875"/>
          </a:xfrm>
          <a:prstGeom prst="rect">
            <a:avLst/>
          </a:prstGeom>
          <a:noFill/>
          <a:ln/>
        </p:spPr>
        <p:txBody>
          <a:bodyPr wrap="square" lIns="152400" tIns="0" rIns="0" bIns="0" rtlCol="0" anchor="t"/>
          <a:lstStyle/>
          <a:p>
            <a:r>
              <a:t>Xuất bản đa kênh tự động</a:t>
            </a:r>
          </a:p>
        </p:txBody>
      </p:sp>
      <p:sp>
        <p:nvSpPr>
          <p:cNvPr id="1148760331" name="Text 9"/>
          <p:cNvSpPr/>
          <p:nvPr/>
        </p:nvSpPr>
        <p:spPr bwMode="auto">
          <a:xfrm>
            <a:off x="533400" y="1464469"/>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385779790" name="Text 10"/>
          <p:cNvSpPr/>
          <p:nvPr/>
        </p:nvSpPr>
        <p:spPr bwMode="auto">
          <a:xfrm>
            <a:off x="533400"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538594473" name="Image 1"/>
          <p:cNvPicPr>
            <a:picLocks noChangeAspect="1"/>
          </p:cNvPicPr>
          <p:nvPr/>
        </p:nvPicPr>
        <p:blipFill>
          <a:blip r:embed="rId4"/>
          <a:srcRect/>
          <a:stretch/>
        </p:blipFill>
        <p:spPr bwMode="auto">
          <a:xfrm>
            <a:off x="657225" y="1831804"/>
            <a:ext cx="5210175" cy="2738681"/>
          </a:xfrm>
          <a:prstGeom prst="rect">
            <a:avLst/>
          </a:prstGeom>
        </p:spPr>
      </p:pic>
      <p:sp>
        <p:nvSpPr>
          <p:cNvPr id="491609652" name="Text 11"/>
          <p:cNvSpPr/>
          <p:nvPr/>
        </p:nvSpPr>
        <p:spPr bwMode="auto">
          <a:xfrm>
            <a:off x="695325" y="4671120"/>
            <a:ext cx="5236654" cy="378023"/>
          </a:xfrm>
          <a:prstGeom prst="rect">
            <a:avLst/>
          </a:prstGeom>
          <a:noFill/>
          <a:ln/>
        </p:spPr>
        <p:txBody>
          <a:bodyPr wrap="square" lIns="0" tIns="0" rIns="0" bIns="0" rtlCol="0" anchor="t"/>
          <a:lstStyle/>
          <a:p>
            <a:r>
              <a:t>Giao diện Biên tập &amp; Trợ lý AI</a:t>
            </a:r>
          </a:p>
        </p:txBody>
      </p:sp>
      <p:sp>
        <p:nvSpPr>
          <p:cNvPr id="1661774850" name="Text 12"/>
          <p:cNvSpPr/>
          <p:nvPr/>
        </p:nvSpPr>
        <p:spPr bwMode="auto">
          <a:xfrm>
            <a:off x="695325" y="4869656"/>
            <a:ext cx="5236654" cy="378023"/>
          </a:xfrm>
          <a:prstGeom prst="rect">
            <a:avLst/>
          </a:prstGeom>
          <a:noFill/>
          <a:ln/>
        </p:spPr>
        <p:txBody>
          <a:bodyPr wrap="square" lIns="0" tIns="0" rIns="0" bIns="0" rtlCol="0" anchor="t"/>
          <a:lstStyle/>
          <a:p>
            <a:r>
              <a:t>Khung soạn thảo bài viết trực quan; tích hợp công cụ AI hỗ trợ biên tập và màn hình xem trước định dạng bài đăng Fanpage Facebook.</a:t>
            </a:r>
          </a:p>
        </p:txBody>
      </p:sp>
      <p:sp>
        <p:nvSpPr>
          <p:cNvPr id="377243331" name="Text 13"/>
          <p:cNvSpPr/>
          <p:nvPr/>
        </p:nvSpPr>
        <p:spPr bwMode="auto">
          <a:xfrm>
            <a:off x="6200775"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694397265" name="Image 2"/>
          <p:cNvPicPr>
            <a:picLocks noChangeAspect="1"/>
          </p:cNvPicPr>
          <p:nvPr/>
        </p:nvPicPr>
        <p:blipFill>
          <a:blip r:embed="rId5"/>
          <a:srcRect/>
          <a:stretch/>
        </p:blipFill>
        <p:spPr bwMode="auto">
          <a:xfrm>
            <a:off x="6324600" y="1831804"/>
            <a:ext cx="5210175" cy="2738681"/>
          </a:xfrm>
          <a:prstGeom prst="rect">
            <a:avLst/>
          </a:prstGeom>
        </p:spPr>
      </p:pic>
      <p:sp>
        <p:nvSpPr>
          <p:cNvPr id="789861210" name="Text 14"/>
          <p:cNvSpPr/>
          <p:nvPr/>
        </p:nvSpPr>
        <p:spPr bwMode="auto">
          <a:xfrm>
            <a:off x="6362700" y="4671120"/>
            <a:ext cx="5236654" cy="378023"/>
          </a:xfrm>
          <a:prstGeom prst="rect">
            <a:avLst/>
          </a:prstGeom>
          <a:noFill/>
          <a:ln/>
        </p:spPr>
        <p:txBody>
          <a:bodyPr wrap="square" lIns="0" tIns="0" rIns="0" bIns="0" rtlCol="0" anchor="t"/>
          <a:lstStyle/>
          <a:p>
            <a:r>
              <a:t>Bảng Điều Hành (Dashboard)</a:t>
            </a:r>
          </a:p>
        </p:txBody>
      </p:sp>
      <p:sp>
        <p:nvSpPr>
          <p:cNvPr id="1373535246" name="Text 15"/>
          <p:cNvSpPr/>
          <p:nvPr/>
        </p:nvSpPr>
        <p:spPr bwMode="auto">
          <a:xfrm>
            <a:off x="6362700" y="4869656"/>
            <a:ext cx="5236654" cy="378023"/>
          </a:xfrm>
          <a:prstGeom prst="rect">
            <a:avLst/>
          </a:prstGeom>
          <a:noFill/>
          <a:ln/>
        </p:spPr>
        <p:txBody>
          <a:bodyPr wrap="square" lIns="0" tIns="0" rIns="0" bIns="0" rtlCol="0" anchor="t"/>
          <a:lstStyle/>
          <a:p>
            <a:r>
              <a:t>Quản lý tập trung vòng đời bài viết, hàng đợi phê duyệt nội dung và theo dõi tổng thể hoạt động xuất bản của hệ thống.</a:t>
            </a:r>
          </a:p>
        </p:txBody>
      </p:sp>
      <p:sp>
        <p:nvSpPr>
          <p:cNvPr id="1169010671" name="Shape 16"/>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1693167322" name="Text 17"/>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12036410" name="Shape 18"/>
          <p:cNvSpPr/>
          <p:nvPr/>
        </p:nvSpPr>
        <p:spPr bwMode="auto">
          <a:xfrm>
            <a:off x="657225" y="1831181"/>
            <a:ext cx="5210175" cy="0"/>
          </a:xfrm>
          <a:prstGeom prst="line">
            <a:avLst/>
          </a:prstGeom>
          <a:noFill/>
          <a:ln w="9525">
            <a:solidFill>
              <a:srgbClr val="EDF1F7"/>
            </a:solidFill>
            <a:prstDash val="solid"/>
          </a:ln>
        </p:spPr>
        <p:txBody>
          <a:bodyPr/>
          <a:lstStyle/>
          <a:p>
            <a:endParaRPr lang="vi-VN" noProof="1"/>
          </a:p>
        </p:txBody>
      </p:sp>
      <p:sp>
        <p:nvSpPr>
          <p:cNvPr id="357488677" name="Shape 19"/>
          <p:cNvSpPr/>
          <p:nvPr/>
        </p:nvSpPr>
        <p:spPr bwMode="auto">
          <a:xfrm>
            <a:off x="5862638" y="1826419"/>
            <a:ext cx="0" cy="2749451"/>
          </a:xfrm>
          <a:prstGeom prst="line">
            <a:avLst/>
          </a:prstGeom>
          <a:noFill/>
          <a:ln w="9525">
            <a:solidFill>
              <a:srgbClr val="EDF1F7"/>
            </a:solidFill>
            <a:prstDash val="solid"/>
          </a:ln>
        </p:spPr>
        <p:txBody>
          <a:bodyPr/>
          <a:lstStyle/>
          <a:p>
            <a:endParaRPr lang="vi-VN" noProof="1"/>
          </a:p>
        </p:txBody>
      </p:sp>
      <p:sp>
        <p:nvSpPr>
          <p:cNvPr id="302488740" name="Shape 20"/>
          <p:cNvSpPr/>
          <p:nvPr/>
        </p:nvSpPr>
        <p:spPr bwMode="auto">
          <a:xfrm>
            <a:off x="657225" y="4571107"/>
            <a:ext cx="5210175" cy="0"/>
          </a:xfrm>
          <a:prstGeom prst="line">
            <a:avLst/>
          </a:prstGeom>
          <a:noFill/>
          <a:ln w="9525">
            <a:solidFill>
              <a:srgbClr val="EDF1F7"/>
            </a:solidFill>
            <a:prstDash val="solid"/>
          </a:ln>
        </p:spPr>
        <p:txBody>
          <a:bodyPr/>
          <a:lstStyle/>
          <a:p>
            <a:endParaRPr lang="vi-VN" noProof="1"/>
          </a:p>
        </p:txBody>
      </p:sp>
      <p:sp>
        <p:nvSpPr>
          <p:cNvPr id="1950007771" name="Shape 21"/>
          <p:cNvSpPr/>
          <p:nvPr/>
        </p:nvSpPr>
        <p:spPr bwMode="auto">
          <a:xfrm>
            <a:off x="661988" y="1826419"/>
            <a:ext cx="0" cy="2749451"/>
          </a:xfrm>
          <a:prstGeom prst="line">
            <a:avLst/>
          </a:prstGeom>
          <a:noFill/>
          <a:ln w="9525">
            <a:solidFill>
              <a:srgbClr val="EDF1F7"/>
            </a:solidFill>
            <a:prstDash val="solid"/>
          </a:ln>
        </p:spPr>
        <p:txBody>
          <a:bodyPr/>
          <a:lstStyle/>
          <a:p>
            <a:endParaRPr lang="vi-VN" noProof="1"/>
          </a:p>
        </p:txBody>
      </p:sp>
      <p:sp>
        <p:nvSpPr>
          <p:cNvPr id="730205966" name="Shape 22"/>
          <p:cNvSpPr/>
          <p:nvPr/>
        </p:nvSpPr>
        <p:spPr bwMode="auto">
          <a:xfrm>
            <a:off x="6324600" y="1831181"/>
            <a:ext cx="5210175" cy="0"/>
          </a:xfrm>
          <a:prstGeom prst="line">
            <a:avLst/>
          </a:prstGeom>
          <a:noFill/>
          <a:ln w="9525">
            <a:solidFill>
              <a:srgbClr val="EDF1F7"/>
            </a:solidFill>
            <a:prstDash val="solid"/>
          </a:ln>
        </p:spPr>
        <p:txBody>
          <a:bodyPr/>
          <a:lstStyle/>
          <a:p>
            <a:endParaRPr lang="vi-VN" noProof="1"/>
          </a:p>
        </p:txBody>
      </p:sp>
      <p:sp>
        <p:nvSpPr>
          <p:cNvPr id="83419040" name="Shape 23"/>
          <p:cNvSpPr/>
          <p:nvPr/>
        </p:nvSpPr>
        <p:spPr bwMode="auto">
          <a:xfrm>
            <a:off x="11530012" y="1826419"/>
            <a:ext cx="0" cy="2749451"/>
          </a:xfrm>
          <a:prstGeom prst="line">
            <a:avLst/>
          </a:prstGeom>
          <a:noFill/>
          <a:ln w="9525">
            <a:solidFill>
              <a:srgbClr val="EDF1F7"/>
            </a:solidFill>
            <a:prstDash val="solid"/>
          </a:ln>
        </p:spPr>
        <p:txBody>
          <a:bodyPr/>
          <a:lstStyle/>
          <a:p>
            <a:endParaRPr lang="vi-VN" noProof="1"/>
          </a:p>
        </p:txBody>
      </p:sp>
      <p:sp>
        <p:nvSpPr>
          <p:cNvPr id="1895229867" name="Shape 24"/>
          <p:cNvSpPr/>
          <p:nvPr/>
        </p:nvSpPr>
        <p:spPr bwMode="auto">
          <a:xfrm>
            <a:off x="6324600" y="4571107"/>
            <a:ext cx="5210175" cy="0"/>
          </a:xfrm>
          <a:prstGeom prst="line">
            <a:avLst/>
          </a:prstGeom>
          <a:noFill/>
          <a:ln w="9525">
            <a:solidFill>
              <a:srgbClr val="EDF1F7"/>
            </a:solidFill>
            <a:prstDash val="solid"/>
          </a:ln>
        </p:spPr>
        <p:txBody>
          <a:bodyPr/>
          <a:lstStyle/>
          <a:p>
            <a:endParaRPr lang="vi-VN" noProof="1"/>
          </a:p>
        </p:txBody>
      </p:sp>
      <p:sp>
        <p:nvSpPr>
          <p:cNvPr id="1021053175" name="Shape 25"/>
          <p:cNvSpPr/>
          <p:nvPr/>
        </p:nvSpPr>
        <p:spPr bwMode="auto">
          <a:xfrm>
            <a:off x="6329363" y="1826419"/>
            <a:ext cx="0" cy="2749451"/>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name="Slide 12">
    <p:bg>
      <p:bgPr>
        <a:solidFill>
          <a:srgbClr val="F6F8FB"/>
        </a:solidFill>
        <a:effectLst/>
      </p:bgPr>
    </p:bg>
    <p:spTree>
      <p:nvGrpSpPr>
        <p:cNvPr id="1" name=""/>
        <p:cNvGrpSpPr/>
        <p:nvPr/>
      </p:nvGrpSpPr>
      <p:grpSpPr bwMode="auto">
        <a:xfrm>
          <a:off x="0" y="0"/>
          <a:ext cx="0" cy="0"/>
          <a:chOff x="0" y="0"/>
          <a:chExt cx="0" cy="0"/>
        </a:xfrm>
      </p:grpSpPr>
      <p:sp>
        <p:nvSpPr>
          <p:cNvPr id="1551532279" name="Text 0"/>
          <p:cNvSpPr/>
          <p:nvPr/>
        </p:nvSpPr>
        <p:spPr bwMode="auto">
          <a:xfrm>
            <a:off x="533400" y="342900"/>
            <a:ext cx="11347704" cy="142875"/>
          </a:xfrm>
          <a:prstGeom prst="rect">
            <a:avLst/>
          </a:prstGeom>
          <a:noFill/>
          <a:ln/>
        </p:spPr>
        <p:txBody>
          <a:bodyPr wrap="square" lIns="0" tIns="0" rIns="0" bIns="0" rtlCol="0" anchor="t"/>
          <a:lstStyle/>
          <a:p>
            <a:r>
              <a:t>6. ĐÁNH GIÁ &amp; HƯỚNG PHÁT TRIỂN</a:t>
            </a:r>
          </a:p>
        </p:txBody>
      </p:sp>
      <p:sp>
        <p:nvSpPr>
          <p:cNvPr id="1087376138" name="Text 1"/>
          <p:cNvSpPr/>
          <p:nvPr/>
        </p:nvSpPr>
        <p:spPr bwMode="auto">
          <a:xfrm>
            <a:off x="533400" y="542925"/>
            <a:ext cx="11347704" cy="359569"/>
          </a:xfrm>
          <a:prstGeom prst="rect">
            <a:avLst/>
          </a:prstGeom>
          <a:noFill/>
          <a:ln/>
        </p:spPr>
        <p:txBody>
          <a:bodyPr wrap="square" lIns="0" tIns="0" rIns="0" bIns="0" rtlCol="0" anchor="t"/>
          <a:lstStyle/>
          <a:p>
            <a:r>
              <a:t>Kết quả đạt được và Hướng phát triển đề tài</a:t>
            </a:r>
          </a:p>
        </p:txBody>
      </p:sp>
      <p:pic>
        <p:nvPicPr>
          <p:cNvPr id="1664352587" name="Image 0" descr="/var/folders/t4/q0khv7qd1r3dc2yrbwkzmjf00000gn/T/html2pptx-PSMjzO/html2pptx-bg-1791687650677-c2ccd95290eeb.png"/>
          <p:cNvPicPr>
            <a:picLocks noChangeAspect="1"/>
          </p:cNvPicPr>
          <p:nvPr/>
        </p:nvPicPr>
        <p:blipFill rotWithShape="1">
          <a:blip r:embed="rId3"/>
          <a:stretch/>
        </p:blipFill>
        <p:spPr bwMode="auto">
          <a:xfrm>
            <a:off x="533400" y="978694"/>
            <a:ext cx="1047750" cy="38100"/>
          </a:xfrm>
          <a:prstGeom prst="rect">
            <a:avLst/>
          </a:prstGeom>
        </p:spPr>
      </p:pic>
      <p:sp>
        <p:nvSpPr>
          <p:cNvPr id="1534172061" name="Text 10"/>
          <p:cNvSpPr/>
          <p:nvPr/>
        </p:nvSpPr>
        <p:spPr bwMode="auto">
          <a:xfrm>
            <a:off x="3357563" y="1264444"/>
            <a:ext cx="2652713" cy="1291977"/>
          </a:xfrm>
          <a:prstGeom prst="roundRect">
            <a:avLst>
              <a:gd name="adj" fmla="val 10321"/>
            </a:avLst>
          </a:prstGeom>
          <a:solidFill>
            <a:srgbClr val="FFFFFF"/>
          </a:solidFill>
          <a:ln/>
          <a:effectLst>
            <a:outerShdw blurRad="152400" dist="57150" dir="5400000" algn="bl" rotWithShape="0">
              <a:srgbClr val="002855">
                <a:alpha val="6000"/>
              </a:srgbClr>
            </a:outerShdw>
          </a:effectLst>
        </p:spPr>
        <p:txBody>
          <a:bodyPr wrap="square" rtlCol="0" anchor="ctr"/>
          <a:lstStyle/>
          <a:p>
            <a:pPr marL="0" indent="0">
              <a:buNone/>
              <a:defRPr/>
            </a:pPr>
            <a:endParaRPr lang="vi-VN" noProof="1"/>
          </a:p>
        </p:txBody>
      </p:sp>
      <p:sp>
        <p:nvSpPr>
          <p:cNvPr id="296798508" name="Shape 11"/>
          <p:cNvSpPr/>
          <p:nvPr/>
        </p:nvSpPr>
        <p:spPr bwMode="auto">
          <a:xfrm>
            <a:off x="3509963" y="1288256"/>
            <a:ext cx="2347913" cy="0"/>
          </a:xfrm>
          <a:prstGeom prst="line">
            <a:avLst/>
          </a:prstGeom>
          <a:noFill/>
          <a:ln w="47625">
            <a:solidFill>
              <a:srgbClr val="D4A017"/>
            </a:solidFill>
            <a:prstDash val="solid"/>
          </a:ln>
        </p:spPr>
        <p:txBody>
          <a:bodyPr/>
          <a:lstStyle/>
          <a:p>
            <a:endParaRPr lang="vi-VN" noProof="1"/>
          </a:p>
        </p:txBody>
      </p:sp>
      <p:sp>
        <p:nvSpPr>
          <p:cNvPr id="658754239" name="Shape 12"/>
          <p:cNvSpPr/>
          <p:nvPr/>
        </p:nvSpPr>
        <p:spPr bwMode="auto">
          <a:xfrm>
            <a:off x="6010274" y="1435894"/>
            <a:ext cx="0" cy="987177"/>
          </a:xfrm>
          <a:prstGeom prst="line">
            <a:avLst/>
          </a:prstGeom>
          <a:noFill/>
          <a:ln w="9525">
            <a:solidFill>
              <a:srgbClr val="E3E9F2"/>
            </a:solidFill>
            <a:prstDash val="solid"/>
          </a:ln>
        </p:spPr>
        <p:txBody>
          <a:bodyPr/>
          <a:lstStyle/>
          <a:p>
            <a:endParaRPr lang="vi-VN" noProof="1"/>
          </a:p>
        </p:txBody>
      </p:sp>
      <p:sp>
        <p:nvSpPr>
          <p:cNvPr id="2127443947" name="Shape 13"/>
          <p:cNvSpPr/>
          <p:nvPr/>
        </p:nvSpPr>
        <p:spPr bwMode="auto">
          <a:xfrm>
            <a:off x="3509963" y="2555081"/>
            <a:ext cx="2347913" cy="0"/>
          </a:xfrm>
          <a:prstGeom prst="line">
            <a:avLst/>
          </a:prstGeom>
          <a:noFill/>
          <a:ln w="9525">
            <a:solidFill>
              <a:srgbClr val="E3E9F2"/>
            </a:solidFill>
            <a:prstDash val="solid"/>
          </a:ln>
        </p:spPr>
        <p:txBody>
          <a:bodyPr/>
          <a:lstStyle/>
          <a:p>
            <a:endParaRPr lang="vi-VN" noProof="1"/>
          </a:p>
        </p:txBody>
      </p:sp>
      <p:sp>
        <p:nvSpPr>
          <p:cNvPr id="1569735850" name="Shape 14"/>
          <p:cNvSpPr/>
          <p:nvPr/>
        </p:nvSpPr>
        <p:spPr bwMode="auto">
          <a:xfrm>
            <a:off x="3362324" y="1435894"/>
            <a:ext cx="0" cy="987177"/>
          </a:xfrm>
          <a:prstGeom prst="line">
            <a:avLst/>
          </a:prstGeom>
          <a:noFill/>
          <a:ln w="9525">
            <a:solidFill>
              <a:srgbClr val="E3E9F2"/>
            </a:solidFill>
            <a:prstDash val="solid"/>
          </a:ln>
        </p:spPr>
        <p:txBody>
          <a:bodyPr/>
          <a:lstStyle/>
          <a:p>
            <a:endParaRPr lang="vi-VN" noProof="1"/>
          </a:p>
        </p:txBody>
      </p:sp>
      <p:sp>
        <p:nvSpPr>
          <p:cNvPr id="2140140729" name="Text 15"/>
          <p:cNvSpPr/>
          <p:nvPr/>
        </p:nvSpPr>
        <p:spPr bwMode="auto">
          <a:xfrm>
            <a:off x="3496199" y="1483519"/>
            <a:ext cx="2375440" cy="356146"/>
          </a:xfrm>
          <a:prstGeom prst="rect">
            <a:avLst/>
          </a:prstGeom>
          <a:noFill/>
          <a:ln/>
        </p:spPr>
        <p:txBody>
          <a:bodyPr wrap="square" lIns="0" tIns="0" rIns="0" bIns="0" rtlCol="0" anchor="t"/>
          <a:lstStyle/>
          <a:p/>
        </p:txBody>
      </p:sp>
      <p:sp>
        <p:nvSpPr>
          <p:cNvPr id="832269212" name="Text 16"/>
          <p:cNvSpPr/>
          <p:nvPr/>
        </p:nvSpPr>
        <p:spPr bwMode="auto">
          <a:xfrm>
            <a:off x="3496199" y="1858714"/>
            <a:ext cx="2375440" cy="133350"/>
          </a:xfrm>
          <a:prstGeom prst="rect">
            <a:avLst/>
          </a:prstGeom>
          <a:noFill/>
          <a:ln/>
        </p:spPr>
        <p:txBody>
          <a:bodyPr wrap="square" lIns="0" tIns="0" rIns="0" bIns="0" rtlCol="0" anchor="t"/>
          <a:lstStyle/>
          <a:p>
            <a:r>
              <a:t>BIÊN SOẠN BÀI VIẾT (AI)</a:t>
            </a:r>
          </a:p>
        </p:txBody>
      </p:sp>
      <p:sp>
        <p:nvSpPr>
          <p:cNvPr id="1466821503" name="Text 17"/>
          <p:cNvSpPr/>
          <p:nvPr/>
        </p:nvSpPr>
        <p:spPr bwMode="auto">
          <a:xfrm>
            <a:off x="3496199" y="2068264"/>
            <a:ext cx="2375440" cy="345281"/>
          </a:xfrm>
          <a:prstGeom prst="rect">
            <a:avLst/>
          </a:prstGeom>
          <a:noFill/>
          <a:ln/>
        </p:spPr>
        <p:txBody>
          <a:bodyPr wrap="square" lIns="0" tIns="0" rIns="0" bIns="0" rtlCol="0" anchor="t"/>
          <a:lstStyle/>
          <a:p>
            <a:r>
              <a:t>AI hỗ trợ phân tích tư liệu sự kiện, gợi ý bố cục và chuẩn hóa câu từ theo văn phong báo chí chính luận, giảm tải thao tác thủ công cho cán bộ.</a:t>
            </a:r>
          </a:p>
        </p:txBody>
      </p:sp>
      <p:sp>
        <p:nvSpPr>
          <p:cNvPr id="189312234" name="Text 18"/>
          <p:cNvSpPr/>
          <p:nvPr/>
        </p:nvSpPr>
        <p:spPr bwMode="auto">
          <a:xfrm>
            <a:off x="6181725" y="1264444"/>
            <a:ext cx="2652713" cy="1291977"/>
          </a:xfrm>
          <a:prstGeom prst="roundRect">
            <a:avLst>
              <a:gd name="adj" fmla="val 10321"/>
            </a:avLst>
          </a:prstGeom>
          <a:solidFill>
            <a:srgbClr val="FFFFFF"/>
          </a:solidFill>
          <a:ln/>
          <a:effectLst>
            <a:outerShdw blurRad="15240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623447681" name="Shape 19"/>
          <p:cNvSpPr/>
          <p:nvPr/>
        </p:nvSpPr>
        <p:spPr bwMode="auto">
          <a:xfrm>
            <a:off x="6334125" y="1288256"/>
            <a:ext cx="2347912" cy="0"/>
          </a:xfrm>
          <a:prstGeom prst="line">
            <a:avLst/>
          </a:prstGeom>
          <a:noFill/>
          <a:ln w="47625">
            <a:solidFill>
              <a:srgbClr val="D4A017"/>
            </a:solidFill>
            <a:prstDash val="solid"/>
          </a:ln>
        </p:spPr>
        <p:txBody>
          <a:bodyPr/>
          <a:lstStyle/>
          <a:p>
            <a:endParaRPr lang="vi-VN" noProof="1"/>
          </a:p>
        </p:txBody>
      </p:sp>
      <p:sp>
        <p:nvSpPr>
          <p:cNvPr id="161504581" name="Shape 21"/>
          <p:cNvSpPr/>
          <p:nvPr/>
        </p:nvSpPr>
        <p:spPr bwMode="auto">
          <a:xfrm>
            <a:off x="6334125" y="2555081"/>
            <a:ext cx="2347912" cy="0"/>
          </a:xfrm>
          <a:prstGeom prst="line">
            <a:avLst/>
          </a:prstGeom>
          <a:noFill/>
          <a:ln w="9525">
            <a:solidFill>
              <a:srgbClr val="E3E9F2"/>
            </a:solidFill>
            <a:prstDash val="solid"/>
          </a:ln>
        </p:spPr>
        <p:txBody>
          <a:bodyPr/>
          <a:lstStyle/>
          <a:p>
            <a:endParaRPr lang="vi-VN" noProof="1"/>
          </a:p>
        </p:txBody>
      </p:sp>
      <p:sp>
        <p:nvSpPr>
          <p:cNvPr id="316818631" name="Shape 22"/>
          <p:cNvSpPr/>
          <p:nvPr/>
        </p:nvSpPr>
        <p:spPr bwMode="auto">
          <a:xfrm>
            <a:off x="6186488" y="1435894"/>
            <a:ext cx="0" cy="987177"/>
          </a:xfrm>
          <a:prstGeom prst="line">
            <a:avLst/>
          </a:prstGeom>
          <a:noFill/>
          <a:ln w="9525">
            <a:solidFill>
              <a:srgbClr val="E3E9F2"/>
            </a:solidFill>
            <a:prstDash val="solid"/>
          </a:ln>
        </p:spPr>
        <p:txBody>
          <a:bodyPr/>
          <a:lstStyle/>
          <a:p>
            <a:endParaRPr lang="vi-VN" noProof="1"/>
          </a:p>
        </p:txBody>
      </p:sp>
      <p:sp>
        <p:nvSpPr>
          <p:cNvPr id="1813989432" name="Text 23"/>
          <p:cNvSpPr/>
          <p:nvPr/>
        </p:nvSpPr>
        <p:spPr bwMode="auto">
          <a:xfrm>
            <a:off x="6320361" y="1483519"/>
            <a:ext cx="2375440" cy="356146"/>
          </a:xfrm>
          <a:prstGeom prst="rect">
            <a:avLst/>
          </a:prstGeom>
          <a:noFill/>
          <a:ln/>
        </p:spPr>
        <p:txBody>
          <a:bodyPr wrap="square" lIns="0" tIns="0" rIns="0" bIns="0" rtlCol="0" anchor="t"/>
          <a:lstStyle/>
          <a:p/>
        </p:txBody>
      </p:sp>
      <p:sp>
        <p:nvSpPr>
          <p:cNvPr id="268085201" name="Text 24"/>
          <p:cNvSpPr/>
          <p:nvPr/>
        </p:nvSpPr>
        <p:spPr bwMode="auto">
          <a:xfrm>
            <a:off x="6320361" y="1858714"/>
            <a:ext cx="2375440" cy="133350"/>
          </a:xfrm>
          <a:prstGeom prst="rect">
            <a:avLst/>
          </a:prstGeom>
          <a:noFill/>
          <a:ln/>
        </p:spPr>
        <p:txBody>
          <a:bodyPr wrap="square" lIns="0" tIns="0" rIns="0" bIns="0" rtlCol="0" anchor="t"/>
          <a:lstStyle/>
          <a:p>
            <a:r>
              <a:t>XUẤT BẢN ĐA KÊNH</a:t>
            </a:r>
          </a:p>
        </p:txBody>
      </p:sp>
      <p:sp>
        <p:nvSpPr>
          <p:cNvPr id="1276800826" name="Text 25"/>
          <p:cNvSpPr/>
          <p:nvPr/>
        </p:nvSpPr>
        <p:spPr bwMode="auto">
          <a:xfrm>
            <a:off x="6320361" y="2068264"/>
            <a:ext cx="2375440" cy="345281"/>
          </a:xfrm>
          <a:prstGeom prst="rect">
            <a:avLst/>
          </a:prstGeom>
          <a:noFill/>
          <a:ln/>
        </p:spPr>
        <p:txBody>
          <a:bodyPr wrap="square" lIns="0" tIns="0" rIns="0" bIns="0" rtlCol="0" anchor="t"/>
          <a:lstStyle/>
          <a:p>
            <a:r>
              <a:t>Tự động đồng bộ bài viết và hình ảnh lên Fanpage Facebook ngay sau khi phê duyệt; lập lịch phát hành chính xác qua tiến trình ngầm.</a:t>
            </a:r>
          </a:p>
        </p:txBody>
      </p:sp>
      <p:sp>
        <p:nvSpPr>
          <p:cNvPr id="9206746" name="Text 34"/>
          <p:cNvSpPr/>
          <p:nvPr/>
        </p:nvSpPr>
        <p:spPr bwMode="auto">
          <a:xfrm>
            <a:off x="422148" y="2689771"/>
            <a:ext cx="11347704" cy="133350"/>
          </a:xfrm>
          <a:prstGeom prst="rect">
            <a:avLst/>
          </a:prstGeom>
          <a:noFill/>
          <a:ln/>
        </p:spPr>
        <p:txBody>
          <a:bodyPr wrap="square" lIns="0" tIns="0" rIns="0" bIns="0" rtlCol="0" anchor="t"/>
          <a:lstStyle/>
          <a:p>
            <a:pPr marL="0" indent="0" algn="ctr">
              <a:spcBef>
                <a:spcPts val="1050"/>
              </a:spcBef>
              <a:buNone/>
              <a:defRPr/>
            </a:pPr>
            <a:endParaRPr lang="vi-VN" sz="950" noProof="1"/>
          </a:p>
        </p:txBody>
      </p:sp>
      <p:sp>
        <p:nvSpPr>
          <p:cNvPr id="533187219" name="Text 35"/>
          <p:cNvSpPr/>
          <p:nvPr/>
        </p:nvSpPr>
        <p:spPr bwMode="auto">
          <a:xfrm>
            <a:off x="533400" y="3070771"/>
            <a:ext cx="7272784" cy="1695450"/>
          </a:xfrm>
          <a:prstGeom prst="roundRect">
            <a:avLst>
              <a:gd name="adj" fmla="val 7865"/>
            </a:avLst>
          </a:prstGeom>
          <a:solidFill>
            <a:srgbClr val="002855"/>
          </a:solidFill>
          <a:ln/>
        </p:spPr>
        <p:txBody>
          <a:bodyPr wrap="square" rtlCol="0" anchor="ctr"/>
          <a:lstStyle/>
          <a:p>
            <a:pPr marL="0" indent="0">
              <a:buNone/>
              <a:defRPr/>
            </a:pPr>
            <a:endParaRPr lang="vi-VN" noProof="1"/>
          </a:p>
        </p:txBody>
      </p:sp>
      <p:sp>
        <p:nvSpPr>
          <p:cNvPr id="1334823512" name="Text 36"/>
          <p:cNvSpPr/>
          <p:nvPr/>
        </p:nvSpPr>
        <p:spPr bwMode="auto">
          <a:xfrm>
            <a:off x="742950" y="3242221"/>
            <a:ext cx="6990758" cy="171450"/>
          </a:xfrm>
          <a:prstGeom prst="rect">
            <a:avLst/>
          </a:prstGeom>
          <a:noFill/>
          <a:ln/>
        </p:spPr>
        <p:txBody>
          <a:bodyPr wrap="square" lIns="0" tIns="0" rIns="0" bIns="0" rtlCol="0" anchor="t"/>
          <a:lstStyle/>
          <a:p>
            <a:r>
              <a:t>Hướng phát triển đề tài</a:t>
            </a:r>
          </a:p>
        </p:txBody>
      </p:sp>
      <p:sp>
        <p:nvSpPr>
          <p:cNvPr id="2113244601" name="Text 37"/>
          <p:cNvSpPr/>
          <p:nvPr/>
        </p:nvSpPr>
        <p:spPr bwMode="auto">
          <a:xfrm>
            <a:off x="742950" y="3508921"/>
            <a:ext cx="6853684" cy="1085850"/>
          </a:xfrm>
          <a:prstGeom prst="rect">
            <a:avLst/>
          </a:prstGeom>
          <a:noFill/>
          <a:ln/>
        </p:spPr>
        <p:txBody>
          <a:bodyPr wrap="square" lIns="0" tIns="0" rIns="0" bIns="85725" rtlCol="0" anchor="t"/>
          <a:lstStyle/>
          <a:p>
            <a:r>
              <a:t>• Tiếp tục tinh chỉnh bộ prompt chuyên sâu cho từng loại văn bản và hoạt động công đoàn đặc thù.</a:t>
            </a:r>
          </a:p>
          <a:p>
            <a:r>
              <a:t>• Thử nghiệm tích hợp kênh Zalo Official Account khi được cấp quyền chính thức từ Nhà trường.</a:t>
            </a:r>
          </a:p>
          <a:p>
            <a:r>
              <a:t>• Hoàn thiện các tiện ích khảo sát và lắng nghe tâm tư nguyện vọng của đoàn viên cơ sở.</a:t>
            </a:r>
          </a:p>
          <a:p>
            <a:r>
              <a:t>• Triển khai lấy ý kiến thử nghiệm thực tế từ cán bộ công đoàn để tối ưu trải nghiệm người dùng.</a:t>
            </a:r>
          </a:p>
        </p:txBody>
      </p:sp>
      <p:sp>
        <p:nvSpPr>
          <p:cNvPr id="375851085" name="Shape 41"/>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875689636" name="Text 42"/>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pic>
        <p:nvPicPr>
          <p:cNvPr id="2140140730" name="Fanpage Live Result" descr="Hinh_4_13_Facebook_Fanpage_Result.png"/>
          <p:cNvPicPr>
            <a:picLocks noChangeAspect="1"/>
          </p:cNvPicPr>
          <p:nvPr/>
        </p:nvPicPr>
        <p:blipFill>
          <a:blip r:embed="rId4"/>
          <a:stretch>
            <a:fillRect/>
          </a:stretch>
        </p:blipFill>
        <p:spPr>
          <a:xfrm>
            <a:off x="8050000" y="1400000"/>
            <a:ext cx="3600000" cy="1756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DE8DBA4-B806-CFBD-AA2D-31C65321CA3E}"/>
            </a:ext>
          </a:extLst>
        </p:cNvPr>
        <p:cNvGrpSpPr/>
        <p:nvPr/>
      </p:nvGrpSpPr>
      <p:grpSpPr bwMode="auto">
        <a:xfrm>
          <a:off x="0" y="0"/>
          <a:ext cx="0" cy="0"/>
          <a:chOff x="0" y="0"/>
          <a:chExt cx="0" cy="0"/>
        </a:xfrm>
      </p:grpSpPr>
      <p:pic>
        <p:nvPicPr>
          <p:cNvPr id="870917759" name="Image 0" descr="/var/folders/t4/q0khv7qd1r3dc2yrbwkzmjf00000gn/T/html2pptx-5EShAo/html2pptx-bg-1791687631881-4aa197ed81b4d.png">
            <a:extLst>
              <a:ext uri="{FF2B5EF4-FFF2-40B4-BE49-F238E27FC236}">
                <a16:creationId xmlns:a16="http://schemas.microsoft.com/office/drawing/2014/main" id="{A0188B4A-09FA-D954-70C5-E968B291947C}"/>
              </a:ext>
            </a:extLst>
          </p:cNvPr>
          <p:cNvPicPr>
            <a:picLocks noChangeAspect="1"/>
          </p:cNvPicPr>
          <p:nvPr/>
        </p:nvPicPr>
        <p:blipFill rotWithShape="1">
          <a:blip r:embed="rId3"/>
          <a:stretch/>
        </p:blipFill>
        <p:spPr bwMode="auto">
          <a:xfrm>
            <a:off x="0" y="0"/>
            <a:ext cx="12192000" cy="6858000"/>
          </a:xfrm>
          <a:prstGeom prst="rect">
            <a:avLst/>
          </a:prstGeom>
        </p:spPr>
      </p:pic>
      <p:pic>
        <p:nvPicPr>
          <p:cNvPr id="106409509" name="Image 1" descr="/var/folders/t4/q0khv7qd1r3dc2yrbwkzmjf00000gn/T/html2pptx-5EShAo/html2pptx-bg-1791687634666-11618a6fb0db7.png">
            <a:extLst>
              <a:ext uri="{FF2B5EF4-FFF2-40B4-BE49-F238E27FC236}">
                <a16:creationId xmlns:a16="http://schemas.microsoft.com/office/drawing/2014/main" id="{CBD84E44-ECD2-1FF1-5FB6-604018459F68}"/>
              </a:ext>
            </a:extLst>
          </p:cNvPr>
          <p:cNvPicPr>
            <a:picLocks noChangeAspect="1"/>
          </p:cNvPicPr>
          <p:nvPr/>
        </p:nvPicPr>
        <p:blipFill rotWithShape="1">
          <a:blip r:embed="rId4"/>
          <a:stretch/>
        </p:blipFill>
        <p:spPr bwMode="auto">
          <a:xfrm>
            <a:off x="0" y="0"/>
            <a:ext cx="12192000" cy="6858000"/>
          </a:xfrm>
          <a:prstGeom prst="rect">
            <a:avLst/>
          </a:prstGeom>
        </p:spPr>
      </p:pic>
      <p:sp>
        <p:nvSpPr>
          <p:cNvPr id="394878804" name="Text 5">
            <a:extLst>
              <a:ext uri="{FF2B5EF4-FFF2-40B4-BE49-F238E27FC236}">
                <a16:creationId xmlns:a16="http://schemas.microsoft.com/office/drawing/2014/main" id="{1449C6BB-4DF0-866A-70E9-FF4D594FDDC6}"/>
              </a:ext>
            </a:extLst>
          </p:cNvPr>
          <p:cNvSpPr/>
          <p:nvPr/>
        </p:nvSpPr>
        <p:spPr bwMode="auto">
          <a:xfrm>
            <a:off x="4055842" y="5097440"/>
            <a:ext cx="4080313" cy="762504"/>
          </a:xfrm>
          <a:prstGeom prst="rect">
            <a:avLst/>
          </a:prstGeom>
          <a:noFill/>
          <a:ln/>
        </p:spPr>
        <p:txBody>
          <a:bodyPr wrap="square" lIns="0" tIns="0" rIns="0" bIns="0" rtlCol="0" anchor="t"/>
          <a:lstStyle/>
          <a:p>
            <a:pPr marL="0" indent="0" algn="l">
              <a:buNone/>
              <a:defRPr/>
            </a:pPr>
            <a:endParaRPr lang="vi-VN" b="0" baseline="-25000" noProof="1">
              <a:latin typeface="Arial"/>
              <a:cs typeface="Arial"/>
            </a:endParaRPr>
          </a:p>
        </p:txBody>
      </p:sp>
      <p:sp>
        <p:nvSpPr>
          <p:cNvPr id="1222255792" name="Text 39"/>
          <p:cNvSpPr/>
          <p:nvPr/>
        </p:nvSpPr>
        <p:spPr bwMode="auto">
          <a:xfrm>
            <a:off x="3111060" y="2052982"/>
            <a:ext cx="5969876" cy="959471"/>
          </a:xfrm>
          <a:prstGeom prst="rect">
            <a:avLst/>
          </a:prstGeom>
          <a:noFill/>
          <a:ln/>
        </p:spPr>
        <p:txBody>
          <a:bodyPr wrap="square" lIns="0" tIns="0" rIns="0" bIns="0" rtlCol="0" anchor="t"/>
          <a:lstStyle/>
          <a:p>
            <a:pPr>
              <a:defRPr sz="2800" b="1"/>
            </a:pPr>
            <a:r>
              <a:t>CẢM ƠN THẦY VÀ CÁC BẠN ĐÃ LẮNG NGHE!</a:t>
            </a:r>
          </a:p>
        </p:txBody>
      </p:sp>
      <p:sp>
        <p:nvSpPr>
          <p:cNvPr id="3" name="Hộp Văn bản 2">
            <a:extLst>
              <a:ext uri="{FF2B5EF4-FFF2-40B4-BE49-F238E27FC236}">
                <a16:creationId xmlns:a16="http://schemas.microsoft.com/office/drawing/2014/main" id="{766AA992-B800-41D2-FDDD-31F48C53E712}"/>
              </a:ext>
            </a:extLst>
          </p:cNvPr>
          <p:cNvSpPr txBox="1"/>
          <p:nvPr/>
        </p:nvSpPr>
        <p:spPr>
          <a:xfrm>
            <a:off x="1802028" y="3989066"/>
            <a:ext cx="8587940" cy="1569660"/>
          </a:xfrm>
          <a:prstGeom prst="rect">
            <a:avLst/>
          </a:prstGeom>
          <a:noFill/>
        </p:spPr>
        <p:txBody>
          <a:bodyPr wrap="square">
            <a:spAutoFit/>
          </a:bodyPr>
          <a:lstStyle/>
          <a:p>
            <a:pPr>
              <a:defRPr sz="1600" b="0"/>
            </a:pPr>
            <a:r>
              <a:t>Nhóm 2 xin trân trọng cảm ơn sự hướng dẫn tận tình của ThS. Võ Quốc Lương!</a:t>
            </a:r>
          </a:p>
          <a:p>
            <a:pPr>
              <a:defRPr sz="1600" b="0"/>
            </a:pPr>
            <a:r>
              <a:t>Kính mời Thầy nhận xét và đặt câu hỏi cho nhóm em ạ!</a:t>
            </a:r>
          </a:p>
        </p:txBody>
      </p:sp>
    </p:spTree>
    <p:extLst>
      <p:ext uri="{BB962C8B-B14F-4D97-AF65-F5344CB8AC3E}">
        <p14:creationId xmlns:p14="http://schemas.microsoft.com/office/powerpoint/2010/main" val="2841137762"/>
      </p:ext>
    </p:extLst>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960</TotalTime>
  <Words>2035</Words>
  <Application>Microsoft Office PowerPoint</Application>
  <PresentationFormat>Màn hình rộng</PresentationFormat>
  <Paragraphs>227</Paragraphs>
  <Slides>13</Slides>
  <Notes>13</Notes>
  <HiddenSlides>0</HiddenSlides>
  <MMClips>0</MMClips>
  <ScaleCrop>false</ScaleCrop>
  <HeadingPairs>
    <vt:vector size="6" baseType="variant">
      <vt:variant>
        <vt:lpstr>Phông được Dùng</vt:lpstr>
      </vt:variant>
      <vt:variant>
        <vt:i4>3</vt:i4>
      </vt:variant>
      <vt:variant>
        <vt:lpstr>Chủ đề</vt:lpstr>
      </vt:variant>
      <vt:variant>
        <vt:i4>1</vt:i4>
      </vt:variant>
      <vt:variant>
        <vt:lpstr>Tiêu đề Bản chiếu</vt:lpstr>
      </vt:variant>
      <vt:variant>
        <vt:i4>13</vt:i4>
      </vt:variant>
    </vt:vector>
  </HeadingPairs>
  <TitlesOfParts>
    <vt:vector size="17" baseType="lpstr">
      <vt:lpstr>Arial</vt:lpstr>
      <vt:lpstr>Calibri</vt:lpstr>
      <vt:lpstr>Segoe UI</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DeepPresenter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DeepPresenter Presentation</dc:title>
  <dc:subject/>
  <dc:creator>DeepPresenter</dc:creator>
  <cp:lastModifiedBy>Nguyễn Bình Dương</cp:lastModifiedBy>
  <cp:revision>12</cp:revision>
  <dcterms:created xsi:type="dcterms:W3CDTF">2026-10-11T03:00:50Z</dcterms:created>
  <dcterms:modified xsi:type="dcterms:W3CDTF">2026-10-24T04:17:05Z</dcterms:modified>
</cp:coreProperties>
</file>