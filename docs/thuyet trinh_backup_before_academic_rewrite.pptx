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extLst>
    <p:ext uri="{EFAFB233-063F-42B5-8137-9DF3F51BA10A}">
      <p15:sldGuideLst xmlns:p15="http://schemas.microsoft.com/office/powerpoint/2012/main">
        <p15:guide id="1" pos="3840">
          <p15:clr>
            <a:srgbClr val="A4A3A4"/>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5" autoAdjust="0"/>
    <p:restoredTop sz="94431" autoAdjust="0"/>
  </p:normalViewPr>
  <p:slideViewPr>
    <p:cSldViewPr snapToGrid="0" snapToObjects="1">
      <p:cViewPr varScale="1">
        <p:scale>
          <a:sx n="104" d="100"/>
          <a:sy n="104" d="100"/>
        </p:scale>
        <p:origin x="756" y="114"/>
      </p:cViewPr>
      <p:guideLst>
        <p:guide pos="3840"/>
        <p:guide orient="horz"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1625274159"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819765582"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5282F153-3F37-0F45-9E97-73ACFA13230C}" type="datetimeFigureOut">
              <a:rPr lang="en-US"/>
              <a:t>10/24/2026</a:t>
            </a:fld>
            <a:endParaRPr lang="en-US"/>
          </a:p>
        </p:txBody>
      </p:sp>
      <p:sp>
        <p:nvSpPr>
          <p:cNvPr id="159643182" name="Slide Image Placeholder 3"/>
          <p:cNvSpPr>
            <a:spLocks noGrp="1" noRot="1" noChangeAspec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1563452908"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603154204"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364400353"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82214971" name="Slide Image Placeholder 1"/>
          <p:cNvSpPr>
            <a:spLocks noGrp="1" noRot="1" noChangeAspect="1"/>
          </p:cNvSpPr>
          <p:nvPr>
            <p:ph type="sldImg"/>
          </p:nvPr>
        </p:nvSpPr>
        <p:spPr bwMode="auto"/>
      </p:sp>
      <p:sp>
        <p:nvSpPr>
          <p:cNvPr id="1951672987" name="Notes Placeholder 2"/>
          <p:cNvSpPr>
            <a:spLocks noGrp="1"/>
          </p:cNvSpPr>
          <p:nvPr>
            <p:ph type="body" idx="1"/>
          </p:nvPr>
        </p:nvSpPr>
        <p:spPr bwMode="auto"/>
        <p:txBody>
          <a:bodyPr/>
          <a:lstStyle/>
          <a:p>
            <a:pPr>
              <a:defRPr/>
            </a:pPr>
            <a:endParaRPr lang="en-US"/>
          </a:p>
        </p:txBody>
      </p:sp>
      <p:sp>
        <p:nvSpPr>
          <p:cNvPr id="1447702385" name="Slide Number Placeholder 3"/>
          <p:cNvSpPr>
            <a:spLocks noGrp="1"/>
          </p:cNvSpPr>
          <p:nvPr>
            <p:ph type="sldNum" sz="quarter" idx="10"/>
          </p:nvPr>
        </p:nvSpPr>
        <p:spPr bwMode="auto"/>
        <p:txBody>
          <a:bodyPr/>
          <a:lstStyle/>
          <a:p>
            <a:pPr>
              <a:defRPr/>
            </a:pPr>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150204058" name="Slide Image Placeholder 1"/>
          <p:cNvSpPr>
            <a:spLocks noGrp="1" noRot="1" noChangeAspect="1"/>
          </p:cNvSpPr>
          <p:nvPr>
            <p:ph type="sldImg"/>
          </p:nvPr>
        </p:nvSpPr>
        <p:spPr bwMode="auto"/>
      </p:sp>
      <p:sp>
        <p:nvSpPr>
          <p:cNvPr id="855094560" name="Notes Placeholder 2"/>
          <p:cNvSpPr>
            <a:spLocks noGrp="1"/>
          </p:cNvSpPr>
          <p:nvPr>
            <p:ph type="body" idx="1"/>
          </p:nvPr>
        </p:nvSpPr>
        <p:spPr bwMode="auto"/>
        <p:txBody>
          <a:bodyPr/>
          <a:lstStyle/>
          <a:p>
            <a:pPr>
              <a:defRPr/>
            </a:pPr>
            <a:endParaRPr lang="en-US"/>
          </a:p>
        </p:txBody>
      </p:sp>
      <p:sp>
        <p:nvSpPr>
          <p:cNvPr id="1268368270" name="Slide Number Placeholder 3"/>
          <p:cNvSpPr>
            <a:spLocks noGrp="1"/>
          </p:cNvSpPr>
          <p:nvPr>
            <p:ph type="sldNum" sz="quarter" idx="10"/>
          </p:nvPr>
        </p:nvSpPr>
        <p:spPr bwMode="auto"/>
        <p:txBody>
          <a:bodyPr/>
          <a:lstStyle/>
          <a:p>
            <a:pPr>
              <a:defRPr/>
            </a:pPr>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07160879" name="Slide Image Placeholder 1"/>
          <p:cNvSpPr>
            <a:spLocks noGrp="1" noRot="1" noChangeAspect="1"/>
          </p:cNvSpPr>
          <p:nvPr>
            <p:ph type="sldImg"/>
          </p:nvPr>
        </p:nvSpPr>
        <p:spPr bwMode="auto"/>
      </p:sp>
      <p:sp>
        <p:nvSpPr>
          <p:cNvPr id="1849410906" name="Notes Placeholder 2"/>
          <p:cNvSpPr>
            <a:spLocks noGrp="1"/>
          </p:cNvSpPr>
          <p:nvPr>
            <p:ph type="body" idx="1"/>
          </p:nvPr>
        </p:nvSpPr>
        <p:spPr bwMode="auto"/>
        <p:txBody>
          <a:bodyPr/>
          <a:lstStyle/>
          <a:p>
            <a:pPr>
              <a:defRPr/>
            </a:pPr>
            <a:endParaRPr lang="en-US"/>
          </a:p>
        </p:txBody>
      </p:sp>
      <p:sp>
        <p:nvSpPr>
          <p:cNvPr id="1373113612" name="Slide Number Placeholder 3"/>
          <p:cNvSpPr>
            <a:spLocks noGrp="1"/>
          </p:cNvSpPr>
          <p:nvPr>
            <p:ph type="sldNum" sz="quarter" idx="10"/>
          </p:nvPr>
        </p:nvSpPr>
        <p:spPr bwMode="auto"/>
        <p:txBody>
          <a:bodyPr/>
          <a:lstStyle/>
          <a:p>
            <a:pPr>
              <a:defRPr/>
            </a:pPr>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02353953" name="Slide Image Placeholder 1"/>
          <p:cNvSpPr>
            <a:spLocks noGrp="1" noRot="1" noChangeAspect="1"/>
          </p:cNvSpPr>
          <p:nvPr>
            <p:ph type="sldImg"/>
          </p:nvPr>
        </p:nvSpPr>
        <p:spPr bwMode="auto"/>
      </p:sp>
      <p:sp>
        <p:nvSpPr>
          <p:cNvPr id="353046167" name="Notes Placeholder 2"/>
          <p:cNvSpPr>
            <a:spLocks noGrp="1"/>
          </p:cNvSpPr>
          <p:nvPr>
            <p:ph type="body" idx="1"/>
          </p:nvPr>
        </p:nvSpPr>
        <p:spPr bwMode="auto"/>
        <p:txBody>
          <a:bodyPr/>
          <a:lstStyle/>
          <a:p>
            <a:pPr>
              <a:defRPr/>
            </a:pPr>
            <a:endParaRPr lang="en-US"/>
          </a:p>
        </p:txBody>
      </p:sp>
      <p:sp>
        <p:nvSpPr>
          <p:cNvPr id="2072573907" name="Slide Number Placeholder 3"/>
          <p:cNvSpPr>
            <a:spLocks noGrp="1"/>
          </p:cNvSpPr>
          <p:nvPr>
            <p:ph type="sldNum" sz="quarter" idx="10"/>
          </p:nvPr>
        </p:nvSpPr>
        <p:spPr bwMode="auto"/>
        <p:txBody>
          <a:bodyPr/>
          <a:lstStyle/>
          <a:p>
            <a:pPr>
              <a:defRPr/>
            </a:pPr>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02090851" name="Slide Image Placeholder 1"/>
          <p:cNvSpPr>
            <a:spLocks noGrp="1" noRot="1" noChangeAspect="1"/>
          </p:cNvSpPr>
          <p:nvPr>
            <p:ph type="sldImg"/>
          </p:nvPr>
        </p:nvSpPr>
        <p:spPr bwMode="auto"/>
      </p:sp>
      <p:sp>
        <p:nvSpPr>
          <p:cNvPr id="121899841" name="Notes Placeholder 2"/>
          <p:cNvSpPr>
            <a:spLocks noGrp="1"/>
          </p:cNvSpPr>
          <p:nvPr>
            <p:ph type="body" idx="1"/>
          </p:nvPr>
        </p:nvSpPr>
        <p:spPr bwMode="auto"/>
        <p:txBody>
          <a:bodyPr/>
          <a:lstStyle/>
          <a:p>
            <a:pPr>
              <a:defRPr/>
            </a:pPr>
            <a:endParaRPr lang="en-US"/>
          </a:p>
        </p:txBody>
      </p:sp>
      <p:sp>
        <p:nvSpPr>
          <p:cNvPr id="115853011" name="Slide Number Placeholder 3"/>
          <p:cNvSpPr>
            <a:spLocks noGrp="1"/>
          </p:cNvSpPr>
          <p:nvPr>
            <p:ph type="sldNum" sz="quarter" idx="10"/>
          </p:nvPr>
        </p:nvSpPr>
        <p:spPr bwMode="auto"/>
        <p:txBody>
          <a:bodyPr/>
          <a:lstStyle/>
          <a:p>
            <a:pPr>
              <a:defRPr/>
            </a:pPr>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196364332" name="Slide Image Placeholder 1"/>
          <p:cNvSpPr>
            <a:spLocks noGrp="1" noRot="1" noChangeAspect="1"/>
          </p:cNvSpPr>
          <p:nvPr>
            <p:ph type="sldImg"/>
          </p:nvPr>
        </p:nvSpPr>
        <p:spPr bwMode="auto"/>
      </p:sp>
      <p:sp>
        <p:nvSpPr>
          <p:cNvPr id="1026868594" name="Notes Placeholder 2"/>
          <p:cNvSpPr>
            <a:spLocks noGrp="1"/>
          </p:cNvSpPr>
          <p:nvPr>
            <p:ph type="body" idx="1"/>
          </p:nvPr>
        </p:nvSpPr>
        <p:spPr bwMode="auto"/>
        <p:txBody>
          <a:bodyPr/>
          <a:lstStyle/>
          <a:p>
            <a:pPr>
              <a:defRPr/>
            </a:pPr>
            <a:endParaRPr lang="en-US"/>
          </a:p>
        </p:txBody>
      </p:sp>
      <p:sp>
        <p:nvSpPr>
          <p:cNvPr id="161629638" name="Slide Number Placeholder 3"/>
          <p:cNvSpPr>
            <a:spLocks noGrp="1"/>
          </p:cNvSpPr>
          <p:nvPr>
            <p:ph type="sldNum" sz="quarter" idx="10"/>
          </p:nvPr>
        </p:nvSpPr>
        <p:spPr bwMode="auto"/>
        <p:txBody>
          <a:bodyPr/>
          <a:lstStyle/>
          <a:p>
            <a:pPr>
              <a:defRPr/>
            </a:pPr>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796775833" name="Slide Image Placeholder 1"/>
          <p:cNvSpPr>
            <a:spLocks noGrp="1" noRot="1" noChangeAspect="1"/>
          </p:cNvSpPr>
          <p:nvPr>
            <p:ph type="sldImg"/>
          </p:nvPr>
        </p:nvSpPr>
        <p:spPr bwMode="auto"/>
      </p:sp>
      <p:sp>
        <p:nvSpPr>
          <p:cNvPr id="1841025842" name="Notes Placeholder 2"/>
          <p:cNvSpPr>
            <a:spLocks noGrp="1"/>
          </p:cNvSpPr>
          <p:nvPr>
            <p:ph type="body" idx="1"/>
          </p:nvPr>
        </p:nvSpPr>
        <p:spPr bwMode="auto"/>
        <p:txBody>
          <a:bodyPr/>
          <a:lstStyle/>
          <a:p>
            <a:pPr>
              <a:defRPr/>
            </a:pPr>
            <a:endParaRPr lang="en-US" dirty="0"/>
          </a:p>
        </p:txBody>
      </p:sp>
      <p:sp>
        <p:nvSpPr>
          <p:cNvPr id="401003145" name="Slide Number Placeholder 3"/>
          <p:cNvSpPr>
            <a:spLocks noGrp="1"/>
          </p:cNvSpPr>
          <p:nvPr>
            <p:ph type="sldNum" sz="quarter" idx="10"/>
          </p:nvPr>
        </p:nvSpPr>
        <p:spPr bwMode="auto"/>
        <p:txBody>
          <a:bodyPr/>
          <a:lstStyle/>
          <a:p>
            <a:pPr>
              <a:defRPr/>
            </a:pPr>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23870516" name="Slide Image Placeholder 1"/>
          <p:cNvSpPr>
            <a:spLocks noGrp="1" noRot="1" noChangeAspect="1"/>
          </p:cNvSpPr>
          <p:nvPr>
            <p:ph type="sldImg"/>
          </p:nvPr>
        </p:nvSpPr>
        <p:spPr bwMode="auto"/>
      </p:sp>
      <p:sp>
        <p:nvSpPr>
          <p:cNvPr id="1519514850" name="Notes Placeholder 2"/>
          <p:cNvSpPr>
            <a:spLocks noGrp="1"/>
          </p:cNvSpPr>
          <p:nvPr>
            <p:ph type="body" idx="1"/>
          </p:nvPr>
        </p:nvSpPr>
        <p:spPr bwMode="auto"/>
        <p:txBody>
          <a:bodyPr/>
          <a:lstStyle/>
          <a:p>
            <a:pPr>
              <a:defRPr/>
            </a:pPr>
            <a:endParaRPr lang="en-US"/>
          </a:p>
        </p:txBody>
      </p:sp>
      <p:sp>
        <p:nvSpPr>
          <p:cNvPr id="658800164" name="Slide Number Placeholder 3"/>
          <p:cNvSpPr>
            <a:spLocks noGrp="1"/>
          </p:cNvSpPr>
          <p:nvPr>
            <p:ph type="sldNum" sz="quarter" idx="10"/>
          </p:nvPr>
        </p:nvSpPr>
        <p:spPr bwMode="auto"/>
        <p:txBody>
          <a:bodyPr/>
          <a:lstStyle/>
          <a:p>
            <a:pPr>
              <a:defRPr/>
            </a:pPr>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03360641" name="Slide Image Placeholder 1"/>
          <p:cNvSpPr>
            <a:spLocks noGrp="1" noRot="1" noChangeAspect="1"/>
          </p:cNvSpPr>
          <p:nvPr>
            <p:ph type="sldImg"/>
          </p:nvPr>
        </p:nvSpPr>
        <p:spPr bwMode="auto"/>
      </p:sp>
      <p:sp>
        <p:nvSpPr>
          <p:cNvPr id="546525656" name="Notes Placeholder 2"/>
          <p:cNvSpPr>
            <a:spLocks noGrp="1"/>
          </p:cNvSpPr>
          <p:nvPr>
            <p:ph type="body" idx="1"/>
          </p:nvPr>
        </p:nvSpPr>
        <p:spPr bwMode="auto"/>
        <p:txBody>
          <a:bodyPr/>
          <a:lstStyle/>
          <a:p>
            <a:pPr>
              <a:defRPr/>
            </a:pPr>
            <a:endParaRPr lang="en-US"/>
          </a:p>
        </p:txBody>
      </p:sp>
      <p:sp>
        <p:nvSpPr>
          <p:cNvPr id="1414378132" name="Slide Number Placeholder 3"/>
          <p:cNvSpPr>
            <a:spLocks noGrp="1"/>
          </p:cNvSpPr>
          <p:nvPr>
            <p:ph type="sldNum" sz="quarter" idx="10"/>
          </p:nvPr>
        </p:nvSpPr>
        <p:spPr bwMode="auto"/>
        <p:txBody>
          <a:bodyPr/>
          <a:lstStyle/>
          <a:p>
            <a:pPr>
              <a:defRPr/>
            </a:pPr>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26090955" name="Slide Image Placeholder 1"/>
          <p:cNvSpPr>
            <a:spLocks noGrp="1" noRot="1" noChangeAspect="1"/>
          </p:cNvSpPr>
          <p:nvPr>
            <p:ph type="sldImg"/>
          </p:nvPr>
        </p:nvSpPr>
        <p:spPr bwMode="auto"/>
      </p:sp>
      <p:sp>
        <p:nvSpPr>
          <p:cNvPr id="110295194" name="Notes Placeholder 2"/>
          <p:cNvSpPr>
            <a:spLocks noGrp="1"/>
          </p:cNvSpPr>
          <p:nvPr>
            <p:ph type="body" idx="1"/>
          </p:nvPr>
        </p:nvSpPr>
        <p:spPr bwMode="auto"/>
        <p:txBody>
          <a:bodyPr/>
          <a:lstStyle/>
          <a:p>
            <a:pPr>
              <a:defRPr/>
            </a:pPr>
            <a:endParaRPr lang="en-US"/>
          </a:p>
        </p:txBody>
      </p:sp>
      <p:sp>
        <p:nvSpPr>
          <p:cNvPr id="999941876" name="Slide Number Placeholder 3"/>
          <p:cNvSpPr>
            <a:spLocks noGrp="1"/>
          </p:cNvSpPr>
          <p:nvPr>
            <p:ph type="sldNum" sz="quarter" idx="10"/>
          </p:nvPr>
        </p:nvSpPr>
        <p:spPr bwMode="auto"/>
        <p:txBody>
          <a:bodyPr/>
          <a:lstStyle/>
          <a:p>
            <a:pPr>
              <a:defRPr/>
            </a:pPr>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81529488" name="Slide Image Placeholder 1"/>
          <p:cNvSpPr>
            <a:spLocks noGrp="1" noRot="1" noChangeAspect="1"/>
          </p:cNvSpPr>
          <p:nvPr>
            <p:ph type="sldImg"/>
          </p:nvPr>
        </p:nvSpPr>
        <p:spPr bwMode="auto"/>
      </p:sp>
      <p:sp>
        <p:nvSpPr>
          <p:cNvPr id="1799096408" name="Notes Placeholder 2"/>
          <p:cNvSpPr>
            <a:spLocks noGrp="1"/>
          </p:cNvSpPr>
          <p:nvPr>
            <p:ph type="body" idx="1"/>
          </p:nvPr>
        </p:nvSpPr>
        <p:spPr bwMode="auto"/>
        <p:txBody>
          <a:bodyPr/>
          <a:lstStyle/>
          <a:p>
            <a:pPr>
              <a:defRPr/>
            </a:pPr>
            <a:endParaRPr lang="en-US"/>
          </a:p>
        </p:txBody>
      </p:sp>
      <p:sp>
        <p:nvSpPr>
          <p:cNvPr id="1954163673" name="Slide Number Placeholder 3"/>
          <p:cNvSpPr>
            <a:spLocks noGrp="1"/>
          </p:cNvSpPr>
          <p:nvPr>
            <p:ph type="sldNum" sz="quarter" idx="10"/>
          </p:nvPr>
        </p:nvSpPr>
        <p:spPr bwMode="auto"/>
        <p:txBody>
          <a:bodyPr/>
          <a:lstStyle/>
          <a:p>
            <a:pPr>
              <a:defRPr/>
            </a:pPr>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931494569" name="Slide Image Placeholder 1"/>
          <p:cNvSpPr>
            <a:spLocks noGrp="1" noRot="1" noChangeAspect="1"/>
          </p:cNvSpPr>
          <p:nvPr>
            <p:ph type="sldImg"/>
          </p:nvPr>
        </p:nvSpPr>
        <p:spPr bwMode="auto"/>
      </p:sp>
      <p:sp>
        <p:nvSpPr>
          <p:cNvPr id="1396293744" name="Notes Placeholder 2"/>
          <p:cNvSpPr>
            <a:spLocks noGrp="1"/>
          </p:cNvSpPr>
          <p:nvPr>
            <p:ph type="body" idx="1"/>
          </p:nvPr>
        </p:nvSpPr>
        <p:spPr bwMode="auto"/>
        <p:txBody>
          <a:bodyPr/>
          <a:lstStyle/>
          <a:p>
            <a:pPr>
              <a:defRPr/>
            </a:pPr>
            <a:endParaRPr lang="en-US"/>
          </a:p>
        </p:txBody>
      </p:sp>
      <p:sp>
        <p:nvSpPr>
          <p:cNvPr id="104697216" name="Slide Number Placeholder 3"/>
          <p:cNvSpPr>
            <a:spLocks noGrp="1"/>
          </p:cNvSpPr>
          <p:nvPr>
            <p:ph type="sldNum" sz="quarter" idx="10"/>
          </p:nvPr>
        </p:nvSpPr>
        <p:spPr bwMode="auto"/>
        <p:txBody>
          <a:bodyPr/>
          <a:lstStyle/>
          <a:p>
            <a:pPr>
              <a:defRPr/>
            </a:pPr>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7FFF6-614E-60EA-B2A4-032BFC1F0577}"/>
            </a:ext>
          </a:extLst>
        </p:cNvPr>
        <p:cNvGrpSpPr/>
        <p:nvPr/>
      </p:nvGrpSpPr>
      <p:grpSpPr bwMode="auto">
        <a:xfrm>
          <a:off x="0" y="0"/>
          <a:ext cx="0" cy="0"/>
          <a:chOff x="0" y="0"/>
          <a:chExt cx="0" cy="0"/>
        </a:xfrm>
      </p:grpSpPr>
      <p:sp>
        <p:nvSpPr>
          <p:cNvPr id="882214971" name="Slide Image Placeholder 1">
            <a:extLst>
              <a:ext uri="{FF2B5EF4-FFF2-40B4-BE49-F238E27FC236}">
                <a16:creationId xmlns:a16="http://schemas.microsoft.com/office/drawing/2014/main" id="{4EAE3EAA-ACDA-9090-92F8-CAE354732341}"/>
              </a:ext>
            </a:extLst>
          </p:cNvPr>
          <p:cNvSpPr>
            <a:spLocks noGrp="1" noRot="1" noChangeAspect="1"/>
          </p:cNvSpPr>
          <p:nvPr>
            <p:ph type="sldImg"/>
          </p:nvPr>
        </p:nvSpPr>
        <p:spPr bwMode="auto"/>
      </p:sp>
      <p:sp>
        <p:nvSpPr>
          <p:cNvPr id="1951672987" name="Notes Placeholder 2">
            <a:extLst>
              <a:ext uri="{FF2B5EF4-FFF2-40B4-BE49-F238E27FC236}">
                <a16:creationId xmlns:a16="http://schemas.microsoft.com/office/drawing/2014/main" id="{714FC30A-544A-4A52-F2AA-C07B1378D37E}"/>
              </a:ext>
            </a:extLst>
          </p:cNvPr>
          <p:cNvSpPr>
            <a:spLocks noGrp="1"/>
          </p:cNvSpPr>
          <p:nvPr>
            <p:ph type="body" idx="1"/>
          </p:nvPr>
        </p:nvSpPr>
        <p:spPr bwMode="auto"/>
        <p:txBody>
          <a:bodyPr/>
          <a:lstStyle/>
          <a:p>
            <a:pPr>
              <a:defRPr/>
            </a:pPr>
            <a:endParaRPr lang="en-US" dirty="0"/>
          </a:p>
        </p:txBody>
      </p:sp>
      <p:sp>
        <p:nvSpPr>
          <p:cNvPr id="1447702385" name="Slide Number Placeholder 3">
            <a:extLst>
              <a:ext uri="{FF2B5EF4-FFF2-40B4-BE49-F238E27FC236}">
                <a16:creationId xmlns:a16="http://schemas.microsoft.com/office/drawing/2014/main" id="{2C0C03E8-4618-98AC-8ABC-1F4680839708}"/>
              </a:ext>
            </a:extLst>
          </p:cNvPr>
          <p:cNvSpPr>
            <a:spLocks noGrp="1"/>
          </p:cNvSpPr>
          <p:nvPr>
            <p:ph type="sldNum" sz="quarter" idx="10"/>
          </p:nvPr>
        </p:nvSpPr>
        <p:spPr bwMode="auto"/>
        <p:txBody>
          <a:bodyPr/>
          <a:lstStyle/>
          <a:p>
            <a:pPr>
              <a:defRPr/>
            </a:pPr>
            <a:fld id="{F7021451-1387-4CA6-816F-3879F97B5CBC}" type="slidenum">
              <a:rPr lang="en-US"/>
              <a:t>13</a:t>
            </a:fld>
            <a:endParaRPr lang="en-US"/>
          </a:p>
        </p:txBody>
      </p:sp>
    </p:spTree>
    <p:extLst>
      <p:ext uri="{BB962C8B-B14F-4D97-AF65-F5344CB8AC3E}">
        <p14:creationId xmlns:p14="http://schemas.microsoft.com/office/powerpoint/2010/main" val="22607580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preserve="1" userDrawn="1">
  <p:cSld name="DEFAULT">
    <p:bg>
      <p:bgRef idx="1001">
        <a:schemeClr val="bg1"/>
      </p:bgRef>
    </p:bg>
    <p:spTree>
      <p:nvGrpSpPr>
        <p:cNvPr id="1" name=""/>
        <p:cNvGrpSpPr/>
        <p:nvPr/>
      </p:nvGrpSpPr>
      <p:grpSpPr bwMode="auto">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7.jpg"/><Relationship Id="rId5"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9.png"/><Relationship Id="rId5"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showMasterPhAnim="0">
  <p:cSld name="Slide 1">
    <p:bg>
      <p:bgPr>
        <a:solidFill>
          <a:srgbClr val="F6F8FB"/>
        </a:solidFill>
        <a:effectLst/>
      </p:bgPr>
    </p:bg>
    <p:spTree>
      <p:nvGrpSpPr>
        <p:cNvPr id="1" name=""/>
        <p:cNvGrpSpPr/>
        <p:nvPr/>
      </p:nvGrpSpPr>
      <p:grpSpPr bwMode="auto">
        <a:xfrm>
          <a:off x="0" y="0"/>
          <a:ext cx="0" cy="0"/>
          <a:chOff x="0" y="0"/>
          <a:chExt cx="0" cy="0"/>
        </a:xfrm>
      </p:grpSpPr>
      <p:pic>
        <p:nvPicPr>
          <p:cNvPr id="870917759" name="Image 0" descr="/var/folders/t4/q0khv7qd1r3dc2yrbwkzmjf00000gn/T/html2pptx-5EShAo/html2pptx-bg-1791687631881-4aa197ed81b4d.png"/>
          <p:cNvPicPr>
            <a:picLocks noChangeAspect="1"/>
          </p:cNvPicPr>
          <p:nvPr/>
        </p:nvPicPr>
        <p:blipFill rotWithShape="1">
          <a:blip r:embed="rId3"/>
          <a:stretch/>
        </p:blipFill>
        <p:spPr bwMode="auto">
          <a:xfrm>
            <a:off x="0" y="0"/>
            <a:ext cx="12192000" cy="6858000"/>
          </a:xfrm>
          <a:prstGeom prst="rect">
            <a:avLst/>
          </a:prstGeom>
        </p:spPr>
      </p:pic>
      <p:pic>
        <p:nvPicPr>
          <p:cNvPr id="106409509" name="Image 1" descr="/var/folders/t4/q0khv7qd1r3dc2yrbwkzmjf00000gn/T/html2pptx-5EShAo/html2pptx-bg-1791687634666-11618a6fb0db7.png"/>
          <p:cNvPicPr>
            <a:picLocks noChangeAspect="1"/>
          </p:cNvPicPr>
          <p:nvPr/>
        </p:nvPicPr>
        <p:blipFill rotWithShape="1">
          <a:blip r:embed="rId4"/>
          <a:stretch/>
        </p:blipFill>
        <p:spPr bwMode="auto">
          <a:xfrm>
            <a:off x="0" y="0"/>
            <a:ext cx="12192000" cy="6858000"/>
          </a:xfrm>
          <a:prstGeom prst="rect">
            <a:avLst/>
          </a:prstGeom>
        </p:spPr>
      </p:pic>
      <p:sp>
        <p:nvSpPr>
          <p:cNvPr id="1537142312" name="Text 0"/>
          <p:cNvSpPr/>
          <p:nvPr/>
        </p:nvSpPr>
        <p:spPr bwMode="auto">
          <a:xfrm>
            <a:off x="3376664" y="664681"/>
            <a:ext cx="5375100" cy="161925"/>
          </a:xfrm>
          <a:prstGeom prst="rect">
            <a:avLst/>
          </a:prstGeom>
          <a:noFill/>
          <a:ln/>
        </p:spPr>
        <p:txBody>
          <a:bodyPr wrap="square" lIns="0" tIns="0" rIns="0" bIns="0" rtlCol="0" anchor="t"/>
          <a:lstStyle/>
          <a:p>
            <a:pPr marL="0" indent="0" algn="ctr">
              <a:spcBef>
                <a:spcPts val="1125"/>
              </a:spcBef>
              <a:spcAft>
                <a:spcPts val="1350"/>
              </a:spcAft>
              <a:buNone/>
              <a:defRPr/>
            </a:pPr>
            <a:r>
              <a:rPr lang="vi-VN" sz="1150" b="1" noProof="1">
                <a:latin typeface="Segoe UI" panose="020B0502040204020203" pitchFamily="34" charset="0"/>
                <a:ea typeface="Arial"/>
                <a:cs typeface="Segoe UI" panose="020B0502040204020203" pitchFamily="34" charset="0"/>
              </a:rPr>
              <a:t>TRƯỜNG ĐẠI HỌC THỦ DẦU MỘT · VIỆN CÔNG NGHỆ SỐ</a:t>
            </a:r>
            <a:endParaRPr lang="vi-VN" sz="1150" noProof="1">
              <a:latin typeface="Segoe UI" panose="020B0502040204020203" pitchFamily="34" charset="0"/>
              <a:cs typeface="Segoe UI" panose="020B0502040204020203" pitchFamily="34" charset="0"/>
            </a:endParaRPr>
          </a:p>
        </p:txBody>
      </p:sp>
      <p:pic>
        <p:nvPicPr>
          <p:cNvPr id="159039897" name="Image 2" descr="/var/folders/t4/q0khv7qd1r3dc2yrbwkzmjf00000gn/T/html2pptx-5EShAo/html2pptx-bg-1791687635451-9107ca478c6db8.png"/>
          <p:cNvPicPr>
            <a:picLocks noChangeAspect="1"/>
          </p:cNvPicPr>
          <p:nvPr/>
        </p:nvPicPr>
        <p:blipFill rotWithShape="1">
          <a:blip r:embed="rId5"/>
          <a:stretch/>
        </p:blipFill>
        <p:spPr bwMode="auto">
          <a:xfrm>
            <a:off x="5064090" y="998056"/>
            <a:ext cx="2000250" cy="774948"/>
          </a:xfrm>
          <a:prstGeom prst="rect">
            <a:avLst/>
          </a:prstGeom>
        </p:spPr>
      </p:pic>
      <p:sp>
        <p:nvSpPr>
          <p:cNvPr id="1949878041" name="Text 1"/>
          <p:cNvSpPr/>
          <p:nvPr/>
        </p:nvSpPr>
        <p:spPr bwMode="auto">
          <a:xfrm>
            <a:off x="3504682" y="2021392"/>
            <a:ext cx="5169481" cy="447145"/>
          </a:xfrm>
          <a:prstGeom prst="roundRect">
            <a:avLst>
              <a:gd name="adj" fmla="val 3222581"/>
            </a:avLst>
          </a:prstGeom>
          <a:solidFill>
            <a:srgbClr val="002855"/>
          </a:solidFill>
          <a:ln/>
        </p:spPr>
        <p:txBody>
          <a:bodyPr wrap="square" rtlCol="0" anchor="ctr"/>
          <a:lstStyle/>
          <a:p>
            <a:pPr marL="0" indent="0">
              <a:buNone/>
              <a:defRPr/>
            </a:pPr>
            <a:endParaRPr lang="vi-VN" noProof="1">
              <a:latin typeface="Segoe UI" panose="020B0502040204020203" pitchFamily="34" charset="0"/>
              <a:cs typeface="Segoe UI" panose="020B0502040204020203" pitchFamily="34" charset="0"/>
            </a:endParaRPr>
          </a:p>
        </p:txBody>
      </p:sp>
      <p:sp>
        <p:nvSpPr>
          <p:cNvPr id="2006476494" name="Text 2"/>
          <p:cNvSpPr/>
          <p:nvPr/>
        </p:nvSpPr>
        <p:spPr bwMode="auto">
          <a:xfrm>
            <a:off x="3458126" y="2021393"/>
            <a:ext cx="5293638" cy="295274"/>
          </a:xfrm>
          <a:prstGeom prst="rect">
            <a:avLst/>
          </a:prstGeom>
          <a:noFill/>
          <a:ln/>
        </p:spPr>
        <p:txBody>
          <a:bodyPr wrap="square" lIns="209550" tIns="76200" rIns="209550" bIns="76200" rtlCol="0" anchor="t"/>
          <a:lstStyle/>
          <a:p>
            <a:pPr marL="0" indent="0" algn="ctr">
              <a:spcBef>
                <a:spcPts val="1500"/>
              </a:spcBef>
              <a:buNone/>
              <a:defRPr/>
            </a:pPr>
            <a:r>
              <a:rPr lang="vi-VN" sz="2000" b="1" noProof="1">
                <a:solidFill>
                  <a:srgbClr val="F6E7BD"/>
                </a:solidFill>
                <a:latin typeface="Segoe UI" panose="020B0502040204020203" pitchFamily="34" charset="0"/>
                <a:ea typeface="Arial"/>
                <a:cs typeface="Segoe UI" panose="020B0502040204020203" pitchFamily="34" charset="0"/>
              </a:rPr>
              <a:t>BÁO CÁO </a:t>
            </a:r>
            <a:r>
              <a:rPr lang="en-US" sz="2000" b="1" noProof="1">
                <a:solidFill>
                  <a:srgbClr val="F6E7BD"/>
                </a:solidFill>
                <a:latin typeface="Segoe UI" panose="020B0502040204020203" pitchFamily="34" charset="0"/>
                <a:ea typeface="Arial"/>
                <a:cs typeface="Segoe UI" panose="020B0502040204020203" pitchFamily="34" charset="0"/>
              </a:rPr>
              <a:t>MÔN ĐỒ ÁN CƠ SỞ NGÀNH</a:t>
            </a:r>
            <a:endParaRPr lang="vi-VN" sz="2000" noProof="1">
              <a:latin typeface="Segoe UI" panose="020B0502040204020203" pitchFamily="34" charset="0"/>
              <a:cs typeface="Segoe UI" panose="020B0502040204020203" pitchFamily="34" charset="0"/>
            </a:endParaRPr>
          </a:p>
        </p:txBody>
      </p:sp>
      <p:sp>
        <p:nvSpPr>
          <p:cNvPr id="37544028" name="Text 3"/>
          <p:cNvSpPr/>
          <p:nvPr/>
        </p:nvSpPr>
        <p:spPr bwMode="auto">
          <a:xfrm>
            <a:off x="1444693" y="2979227"/>
            <a:ext cx="9320504" cy="1368194"/>
          </a:xfrm>
          <a:prstGeom prst="rect">
            <a:avLst/>
          </a:prstGeom>
          <a:noFill/>
          <a:ln/>
        </p:spPr>
        <p:txBody>
          <a:bodyPr wrap="square" lIns="0" tIns="0" rIns="0" bIns="0" rtlCol="0" anchor="t"/>
          <a:lstStyle/>
          <a:p>
            <a:pPr marL="0" indent="0" algn="ctr">
              <a:lnSpc>
                <a:spcPct val="30000"/>
              </a:lnSpc>
              <a:spcBef>
                <a:spcPts val="1950"/>
              </a:spcBef>
              <a:spcAft>
                <a:spcPts val="1350"/>
              </a:spcAft>
              <a:buNone/>
              <a:defRPr/>
            </a:pPr>
            <a:r>
              <a:rPr lang="vi-VN" sz="3000" b="1" noProof="1">
                <a:solidFill>
                  <a:srgbClr val="002855"/>
                </a:solidFill>
                <a:latin typeface="Segoe UI" panose="020B0502040204020203" pitchFamily="34" charset="0"/>
                <a:ea typeface="Arial"/>
                <a:cs typeface="Segoe UI" panose="020B0502040204020203" pitchFamily="34" charset="0"/>
              </a:rPr>
              <a:t>Xây dựng Website Truyền thông Công đoàn TDMU</a:t>
            </a:r>
            <a:endParaRPr lang="vi-VN" sz="3000" b="1" noProof="1">
              <a:latin typeface="Segoe UI" panose="020B0502040204020203" pitchFamily="34" charset="0"/>
              <a:cs typeface="Segoe UI" panose="020B0502040204020203" pitchFamily="34" charset="0"/>
            </a:endParaRPr>
          </a:p>
          <a:p>
            <a:pPr marL="0" indent="0" algn="ctr">
              <a:lnSpc>
                <a:spcPct val="30000"/>
              </a:lnSpc>
              <a:spcBef>
                <a:spcPts val="1950"/>
              </a:spcBef>
              <a:spcAft>
                <a:spcPts val="1350"/>
              </a:spcAft>
              <a:buNone/>
              <a:defRPr/>
            </a:pPr>
            <a:r>
              <a:rPr lang="vi-VN" sz="3000" b="1" noProof="1">
                <a:solidFill>
                  <a:srgbClr val="002855"/>
                </a:solidFill>
                <a:latin typeface="Segoe UI" panose="020B0502040204020203" pitchFamily="34" charset="0"/>
                <a:ea typeface="Arial"/>
                <a:cs typeface="Segoe UI" panose="020B0502040204020203" pitchFamily="34" charset="0"/>
              </a:rPr>
              <a:t>tích hợp AI hỗ trợ tạo và đăng tải nội dung</a:t>
            </a:r>
            <a:endParaRPr lang="vi-VN" sz="3000" b="1" noProof="1">
              <a:latin typeface="Segoe UI" panose="020B0502040204020203" pitchFamily="34" charset="0"/>
              <a:cs typeface="Segoe UI" panose="020B0502040204020203" pitchFamily="34" charset="0"/>
            </a:endParaRPr>
          </a:p>
        </p:txBody>
      </p:sp>
      <p:sp>
        <p:nvSpPr>
          <p:cNvPr id="1670694659" name="Text 4"/>
          <p:cNvSpPr/>
          <p:nvPr/>
        </p:nvSpPr>
        <p:spPr bwMode="auto">
          <a:xfrm>
            <a:off x="4725718" y="4003630"/>
            <a:ext cx="2676991" cy="128301"/>
          </a:xfrm>
          <a:prstGeom prst="rect">
            <a:avLst/>
          </a:prstGeom>
          <a:noFill/>
          <a:ln/>
        </p:spPr>
        <p:txBody>
          <a:bodyPr wrap="square" lIns="0" tIns="0" rIns="0" bIns="0" rtlCol="0" anchor="t"/>
          <a:lstStyle/>
          <a:p>
            <a:pPr marL="0" indent="0" algn="ctr">
              <a:buNone/>
              <a:defRPr/>
            </a:pPr>
            <a:r>
              <a:rPr lang="vi-VN" noProof="1">
                <a:solidFill>
                  <a:srgbClr val="31415C"/>
                </a:solidFill>
                <a:latin typeface="Segoe UI" panose="020B0502040204020203" pitchFamily="34" charset="0"/>
                <a:ea typeface="Arial"/>
                <a:cs typeface="Segoe UI" panose="020B0502040204020203" pitchFamily="34" charset="0"/>
              </a:rPr>
              <a:t>Nhóm thực hiện: </a:t>
            </a:r>
            <a:r>
              <a:rPr lang="vi-VN" b="1" noProof="1">
                <a:solidFill>
                  <a:srgbClr val="002855"/>
                </a:solidFill>
                <a:latin typeface="Segoe UI" panose="020B0502040204020203" pitchFamily="34" charset="0"/>
                <a:ea typeface="Arial"/>
                <a:cs typeface="Segoe UI" panose="020B0502040204020203" pitchFamily="34" charset="0"/>
              </a:rPr>
              <a:t>Nhóm 2</a:t>
            </a:r>
            <a:endParaRPr lang="vi-VN" noProof="1">
              <a:latin typeface="Segoe UI" panose="020B0502040204020203" pitchFamily="34" charset="0"/>
              <a:cs typeface="Segoe UI" panose="020B0502040204020203" pitchFamily="34" charset="0"/>
            </a:endParaRPr>
          </a:p>
        </p:txBody>
      </p:sp>
      <p:sp>
        <p:nvSpPr>
          <p:cNvPr id="394878804" name="Text 5"/>
          <p:cNvSpPr/>
          <p:nvPr/>
        </p:nvSpPr>
        <p:spPr bwMode="auto">
          <a:xfrm>
            <a:off x="4055842" y="5097440"/>
            <a:ext cx="4080313" cy="762504"/>
          </a:xfrm>
          <a:prstGeom prst="rect">
            <a:avLst/>
          </a:prstGeom>
          <a:noFill/>
          <a:ln/>
        </p:spPr>
        <p:txBody>
          <a:bodyPr wrap="square" lIns="0" tIns="0" rIns="0" bIns="0" rtlCol="0" anchor="t"/>
          <a:lstStyle/>
          <a:p>
            <a:pPr marL="0" indent="0" algn="l">
              <a:buNone/>
              <a:defRPr/>
            </a:pPr>
            <a:endParaRPr lang="vi-VN" b="0" baseline="-25000" noProof="1">
              <a:latin typeface="Segoe UI" panose="020B0502040204020203" pitchFamily="34" charset="0"/>
              <a:cs typeface="Segoe UI" panose="020B0502040204020203" pitchFamily="34" charset="0"/>
            </a:endParaRPr>
          </a:p>
        </p:txBody>
      </p:sp>
      <p:sp>
        <p:nvSpPr>
          <p:cNvPr id="613455218" name="Text 6"/>
          <p:cNvSpPr/>
          <p:nvPr/>
        </p:nvSpPr>
        <p:spPr bwMode="auto">
          <a:xfrm>
            <a:off x="3208522" y="6108333"/>
            <a:ext cx="5774954" cy="152400"/>
          </a:xfrm>
          <a:prstGeom prst="rect">
            <a:avLst/>
          </a:prstGeom>
          <a:noFill/>
          <a:ln/>
        </p:spPr>
        <p:txBody>
          <a:bodyPr wrap="square" lIns="0" tIns="0" rIns="0" bIns="0" rtlCol="0" anchor="t"/>
          <a:lstStyle/>
          <a:p>
            <a:pPr marL="0" indent="0" algn="ctr">
              <a:spcBef>
                <a:spcPts val="1650"/>
              </a:spcBef>
              <a:spcAft>
                <a:spcPts val="1050"/>
              </a:spcAft>
              <a:buNone/>
              <a:defRPr/>
            </a:pPr>
            <a:r>
              <a:rPr lang="vi-VN" sz="1050" noProof="1">
                <a:solidFill>
                  <a:srgbClr val="8A97AB"/>
                </a:solidFill>
                <a:latin typeface="Segoe UI" panose="020B0502040204020203" pitchFamily="34" charset="0"/>
                <a:ea typeface="Arial"/>
                <a:cs typeface="Segoe UI" panose="020B0502040204020203" pitchFamily="34" charset="0"/>
              </a:rPr>
              <a:t>HỌC PHẦN: ĐỒ ÁN CƠ SỞ NGÀNH · NĂM HỌC 2026–2027 · THÁNG 10/2026</a:t>
            </a:r>
            <a:endParaRPr lang="vi-VN" sz="1050" noProof="1">
              <a:latin typeface="Segoe UI" panose="020B0502040204020203" pitchFamily="34" charset="0"/>
              <a:cs typeface="Segoe UI" panose="020B0502040204020203" pitchFamily="34" charset="0"/>
            </a:endParaRPr>
          </a:p>
        </p:txBody>
      </p:sp>
      <p:sp>
        <p:nvSpPr>
          <p:cNvPr id="2" name="Text 5">
            <a:extLst>
              <a:ext uri="{FF2B5EF4-FFF2-40B4-BE49-F238E27FC236}">
                <a16:creationId xmlns:a16="http://schemas.microsoft.com/office/drawing/2014/main" id="{057AB317-5C80-DBFF-4540-0B877F1E471D}"/>
              </a:ext>
            </a:extLst>
          </p:cNvPr>
          <p:cNvSpPr/>
          <p:nvPr/>
        </p:nvSpPr>
        <p:spPr bwMode="auto">
          <a:xfrm>
            <a:off x="2940385" y="4536564"/>
            <a:ext cx="6247658" cy="762504"/>
          </a:xfrm>
          <a:prstGeom prst="rect">
            <a:avLst/>
          </a:prstGeom>
          <a:noFill/>
          <a:ln/>
        </p:spPr>
        <p:txBody>
          <a:bodyPr wrap="square" lIns="0" tIns="0" rIns="0" bIns="0" rtlCol="0" anchor="t"/>
          <a:lstStyle/>
          <a:p>
            <a:pPr marL="0" indent="0">
              <a:buNone/>
              <a:defRPr/>
            </a:pPr>
            <a:r>
              <a:t>GVHD: ThS. Võ Quốc Lương | Nhóm 2: Nguyễn Bình Dương · Trần Hồng Thanh · Phạm Anh Tuấn</a:t>
            </a:r>
            <a:endParaRPr lang="vi-VN" sz="3200" b="0" baseline="-25000" noProof="1">
              <a:latin typeface="Segoe UI" panose="020B0502040204020203" pitchFamily="34" charset="0"/>
              <a:cs typeface="Segoe UI" panose="020B0502040204020203" pitchFamily="34" charset="0"/>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PhAnim="0">
  <p:cSld name="Slide 2">
    <p:bg>
      <p:bgPr>
        <a:solidFill>
          <a:srgbClr val="F6F8FB"/>
        </a:solidFill>
        <a:effectLst/>
      </p:bgPr>
    </p:bg>
    <p:spTree>
      <p:nvGrpSpPr>
        <p:cNvPr id="1" name=""/>
        <p:cNvGrpSpPr/>
        <p:nvPr/>
      </p:nvGrpSpPr>
      <p:grpSpPr bwMode="auto">
        <a:xfrm>
          <a:off x="0" y="0"/>
          <a:ext cx="0" cy="0"/>
          <a:chOff x="0" y="0"/>
          <a:chExt cx="0" cy="0"/>
        </a:xfrm>
      </p:grpSpPr>
      <p:sp>
        <p:nvSpPr>
          <p:cNvPr id="725398438"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100" b="1" noProof="1">
                <a:solidFill>
                  <a:srgbClr val="B07F12"/>
                </a:solidFill>
                <a:latin typeface="Arial"/>
                <a:ea typeface="Arial"/>
                <a:cs typeface="Arial"/>
              </a:rPr>
              <a:t>1. GIỚI THIỆU ĐỀ TÀI</a:t>
            </a:r>
            <a:endParaRPr lang="vi-VN" sz="1100" noProof="1"/>
          </a:p>
        </p:txBody>
      </p:sp>
      <p:sp>
        <p:nvSpPr>
          <p:cNvPr id="1697951551" name="Text 1"/>
          <p:cNvSpPr/>
          <p:nvPr/>
        </p:nvSpPr>
        <p:spPr bwMode="auto">
          <a:xfrm>
            <a:off x="533400" y="542925"/>
            <a:ext cx="11347704" cy="359569"/>
          </a:xfrm>
          <a:prstGeom prst="rect">
            <a:avLst/>
          </a:prstGeom>
          <a:noFill/>
          <a:ln/>
        </p:spPr>
        <p:txBody>
          <a:bodyPr wrap="square" lIns="0" tIns="0" rIns="0" bIns="0" rtlCol="0" anchor="t"/>
          <a:lstStyle/>
          <a:p>
            <a:pPr>
              <a:lnSpc>
                <a:spcPts val="2832"/>
              </a:lnSpc>
              <a:spcAft>
                <a:spcPts val="600"/>
              </a:spcAft>
              <a:defRPr/>
            </a:pPr>
            <a:r>
              <a:rPr lang="vi-VN" sz="3200" b="1" noProof="1">
                <a:solidFill>
                  <a:srgbClr val="002855"/>
                </a:solidFill>
                <a:latin typeface="Arial"/>
                <a:ea typeface="Arial"/>
                <a:cs typeface="Arial"/>
              </a:rPr>
              <a:t>Bối cảnh </a:t>
            </a:r>
            <a:r>
              <a:rPr lang="vi-VN" sz="3200" b="1" noProof="1">
                <a:solidFill>
                  <a:srgbClr val="002855"/>
                </a:solidFill>
                <a:latin typeface="Arial"/>
              </a:rPr>
              <a:t>và tính cấp thiết của đề tài</a:t>
            </a:r>
            <a:endParaRPr lang="vi-VN" sz="3200" noProof="1"/>
          </a:p>
        </p:txBody>
      </p:sp>
      <p:pic>
        <p:nvPicPr>
          <p:cNvPr id="1625949967" name="Image 0" descr="/var/folders/t4/q0khv7qd1r3dc2yrbwkzmjf00000gn/T/html2pptx-hpn747/html2pptx-bg-1791687637400-35b90b69f14bc8.png"/>
          <p:cNvPicPr>
            <a:picLocks noChangeAspect="1"/>
          </p:cNvPicPr>
          <p:nvPr/>
        </p:nvPicPr>
        <p:blipFill rotWithShape="1">
          <a:blip r:embed="rId3"/>
          <a:stretch/>
        </p:blipFill>
        <p:spPr bwMode="auto">
          <a:xfrm>
            <a:off x="533400" y="978694"/>
            <a:ext cx="1047750" cy="38100"/>
          </a:xfrm>
          <a:prstGeom prst="rect">
            <a:avLst/>
          </a:prstGeom>
        </p:spPr>
      </p:pic>
      <p:sp>
        <p:nvSpPr>
          <p:cNvPr id="229454653" name="Text 2"/>
          <p:cNvSpPr/>
          <p:nvPr/>
        </p:nvSpPr>
        <p:spPr bwMode="auto">
          <a:xfrm>
            <a:off x="533400" y="1245394"/>
            <a:ext cx="4400550" cy="2928938"/>
          </a:xfrm>
          <a:prstGeom prst="roundRect">
            <a:avLst>
              <a:gd name="adj" fmla="val 4553"/>
            </a:avLst>
          </a:prstGeom>
          <a:solidFill>
            <a:srgbClr val="FFFFFF"/>
          </a:solidFill>
          <a:ln w="9525">
            <a:solidFill>
              <a:srgbClr val="E3E9F2"/>
            </a:solidFill>
          </a:ln>
          <a:effectLst>
            <a:outerShdw blurRad="171450" dist="57150" dir="5400000" algn="bl" rotWithShape="0">
              <a:srgbClr val="002855">
                <a:alpha val="6000"/>
              </a:srgbClr>
            </a:outerShdw>
          </a:effectLst>
        </p:spPr>
        <p:txBody>
          <a:bodyPr wrap="square" rtlCol="0" anchor="ctr"/>
          <a:lstStyle/>
          <a:p>
            <a:pPr marL="0" indent="0">
              <a:buNone/>
              <a:defRPr/>
            </a:pPr>
            <a:endParaRPr lang="vi-VN" sz="2400" noProof="1"/>
          </a:p>
        </p:txBody>
      </p:sp>
      <p:sp>
        <p:nvSpPr>
          <p:cNvPr id="1349251627" name="Text 3"/>
          <p:cNvSpPr/>
          <p:nvPr/>
        </p:nvSpPr>
        <p:spPr bwMode="auto">
          <a:xfrm>
            <a:off x="771525" y="1464469"/>
            <a:ext cx="4002786" cy="190500"/>
          </a:xfrm>
          <a:prstGeom prst="rect">
            <a:avLst/>
          </a:prstGeom>
          <a:noFill/>
          <a:ln/>
        </p:spPr>
        <p:txBody>
          <a:bodyPr wrap="square" lIns="0" tIns="0" rIns="0" bIns="0" rtlCol="0" anchor="t"/>
          <a:lstStyle/>
          <a:p>
            <a:pPr marL="0" indent="0" algn="l">
              <a:spcAft>
                <a:spcPts val="1050"/>
              </a:spcAft>
              <a:buNone/>
              <a:defRPr/>
            </a:pPr>
            <a:r>
              <a:rPr lang="vi-VN" sz="1600" b="1" noProof="1">
                <a:solidFill>
                  <a:srgbClr val="002855"/>
                </a:solidFill>
                <a:latin typeface="Arial"/>
                <a:ea typeface="Arial"/>
                <a:cs typeface="Arial"/>
              </a:rPr>
              <a:t>Công đoàn Trường ĐH Thủ Dầu Một</a:t>
            </a:r>
            <a:endParaRPr lang="vi-VN" sz="1600" noProof="1"/>
          </a:p>
        </p:txBody>
      </p:sp>
      <p:sp>
        <p:nvSpPr>
          <p:cNvPr id="1870838840" name="Text 4"/>
          <p:cNvSpPr/>
          <p:nvPr/>
        </p:nvSpPr>
        <p:spPr bwMode="auto">
          <a:xfrm>
            <a:off x="771525" y="1788319"/>
            <a:ext cx="4002786" cy="371475"/>
          </a:xfrm>
          <a:prstGeom prst="rect">
            <a:avLst/>
          </a:prstGeom>
          <a:noFill/>
          <a:ln/>
        </p:spPr>
        <p:txBody>
          <a:bodyPr wrap="square" lIns="0" tIns="0" rIns="0" bIns="0" rtlCol="0" anchor="t"/>
          <a:lstStyle/>
          <a:p>
            <a:pPr marL="0" indent="0" algn="l">
              <a:lnSpc>
                <a:spcPts val="2925"/>
              </a:lnSpc>
              <a:spcAft>
                <a:spcPts val="900"/>
              </a:spcAft>
              <a:buNone/>
              <a:defRPr/>
            </a:pPr>
            <a:r>
              <a:rPr lang="vi-VN" sz="2400" b="1" noProof="1">
                <a:solidFill>
                  <a:srgbClr val="D4A017"/>
                </a:solidFill>
                <a:latin typeface="Arial"/>
                <a:ea typeface="Arial"/>
                <a:cs typeface="Arial"/>
              </a:rPr>
              <a:t>800+ </a:t>
            </a:r>
            <a:r>
              <a:rPr lang="vi-VN" sz="1100" noProof="1">
                <a:solidFill>
                  <a:srgbClr val="40506B"/>
                </a:solidFill>
                <a:latin typeface="Arial"/>
                <a:ea typeface="Arial"/>
                <a:cs typeface="Arial"/>
              </a:rPr>
              <a:t>cán bộ, giảng viên và người lao động</a:t>
            </a:r>
            <a:endParaRPr lang="vi-VN" sz="1100" noProof="1"/>
          </a:p>
        </p:txBody>
      </p:sp>
      <p:sp>
        <p:nvSpPr>
          <p:cNvPr id="1055967817" name="Text 7"/>
          <p:cNvSpPr/>
          <p:nvPr/>
        </p:nvSpPr>
        <p:spPr bwMode="auto">
          <a:xfrm>
            <a:off x="771525" y="2274094"/>
            <a:ext cx="280990" cy="371475"/>
          </a:xfrm>
          <a:prstGeom prst="rect">
            <a:avLst/>
          </a:prstGeom>
          <a:noFill/>
          <a:ln/>
        </p:spPr>
        <p:txBody>
          <a:bodyPr wrap="square" lIns="0" tIns="0" rIns="0" bIns="0" rtlCol="0" anchor="t"/>
          <a:lstStyle/>
          <a:p>
            <a:pPr marL="0" indent="0" algn="l">
              <a:lnSpc>
                <a:spcPts val="2925"/>
              </a:lnSpc>
              <a:buNone/>
              <a:defRPr/>
            </a:pPr>
            <a:endParaRPr lang="vi-VN" sz="2400" noProof="1"/>
          </a:p>
        </p:txBody>
      </p:sp>
      <p:sp>
        <p:nvSpPr>
          <p:cNvPr id="1097968427" name="Text 9"/>
          <p:cNvSpPr/>
          <p:nvPr/>
        </p:nvSpPr>
        <p:spPr bwMode="auto">
          <a:xfrm>
            <a:off x="771525" y="2893219"/>
            <a:ext cx="4002786" cy="192881"/>
          </a:xfrm>
          <a:prstGeom prst="rect">
            <a:avLst/>
          </a:prstGeom>
          <a:noFill/>
          <a:ln/>
        </p:spPr>
        <p:txBody>
          <a:bodyPr wrap="square" lIns="0" tIns="0" rIns="0" bIns="0" rtlCol="0" anchor="t"/>
          <a:lstStyle/>
          <a:p>
            <a:pPr marL="0" indent="0" algn="l">
              <a:lnSpc>
                <a:spcPts val="1519"/>
              </a:lnSpc>
              <a:spcAft>
                <a:spcPts val="900"/>
              </a:spcAft>
              <a:buNone/>
              <a:defRPr/>
            </a:pPr>
            <a:r>
              <a:rPr lang="vi-VN" sz="1100" noProof="1">
                <a:solidFill>
                  <a:srgbClr val="8A97AB"/>
                </a:solidFill>
                <a:latin typeface="Arial"/>
                <a:ea typeface="Arial"/>
                <a:cs typeface="Arial"/>
              </a:rPr>
              <a:t>Kênh hiện tại:</a:t>
            </a:r>
            <a:endParaRPr lang="vi-VN" sz="1100" noProof="1"/>
          </a:p>
        </p:txBody>
      </p:sp>
      <p:sp>
        <p:nvSpPr>
          <p:cNvPr id="1624888564" name="Text 10"/>
          <p:cNvSpPr/>
          <p:nvPr/>
        </p:nvSpPr>
        <p:spPr bwMode="auto">
          <a:xfrm>
            <a:off x="771525" y="3200400"/>
            <a:ext cx="4002786" cy="192881"/>
          </a:xfrm>
          <a:prstGeom prst="rect">
            <a:avLst/>
          </a:prstGeom>
          <a:noFill/>
          <a:ln/>
        </p:spPr>
        <p:txBody>
          <a:bodyPr wrap="square" lIns="0" tIns="0" rIns="0" bIns="0" rtlCol="0" anchor="t"/>
          <a:lstStyle/>
          <a:p>
            <a:pPr marL="0" indent="0" algn="l">
              <a:lnSpc>
                <a:spcPts val="1519"/>
              </a:lnSpc>
              <a:spcAft>
                <a:spcPts val="900"/>
              </a:spcAft>
              <a:buNone/>
              <a:defRPr/>
            </a:pPr>
            <a:r>
              <a:rPr lang="vi-VN" sz="1100" noProof="1">
                <a:solidFill>
                  <a:srgbClr val="40506B"/>
                </a:solidFill>
                <a:latin typeface="Arial"/>
                <a:ea typeface="Arial"/>
                <a:cs typeface="Arial"/>
              </a:rPr>
              <a:t>Mục tin trên Website trường · Fanpage Facebook · nhóm Zalo</a:t>
            </a:r>
            <a:endParaRPr lang="vi-VN" sz="1100" noProof="1"/>
          </a:p>
        </p:txBody>
      </p:sp>
      <p:sp>
        <p:nvSpPr>
          <p:cNvPr id="1888100889" name="Text 11"/>
          <p:cNvSpPr/>
          <p:nvPr/>
        </p:nvSpPr>
        <p:spPr bwMode="auto">
          <a:xfrm>
            <a:off x="771525" y="3507581"/>
            <a:ext cx="4002786" cy="371475"/>
          </a:xfrm>
          <a:prstGeom prst="rect">
            <a:avLst/>
          </a:prstGeom>
          <a:noFill/>
          <a:ln/>
        </p:spPr>
        <p:txBody>
          <a:bodyPr wrap="square" lIns="0" tIns="0" rIns="0" bIns="0" rtlCol="0" anchor="t"/>
          <a:lstStyle/>
          <a:p>
            <a:pPr marL="0" indent="0" algn="l">
              <a:lnSpc>
                <a:spcPts val="2925"/>
              </a:lnSpc>
              <a:spcAft>
                <a:spcPts val="900"/>
              </a:spcAft>
              <a:buNone/>
              <a:defRPr/>
            </a:pPr>
            <a:r>
              <a:rPr lang="vi-VN" sz="1100" noProof="1">
                <a:solidFill>
                  <a:srgbClr val="40506B"/>
                </a:solidFill>
                <a:latin typeface="Arial"/>
                <a:ea typeface="Arial"/>
                <a:cs typeface="Arial"/>
              </a:rPr>
              <a:t>Đội ngũ truyền thông hoạt động </a:t>
            </a:r>
            <a:r>
              <a:rPr lang="vi-VN" b="1" noProof="1">
                <a:solidFill>
                  <a:srgbClr val="D4A017"/>
                </a:solidFill>
                <a:latin typeface="Arial"/>
                <a:ea typeface="Arial"/>
                <a:cs typeface="Arial"/>
              </a:rPr>
              <a:t>kiêm nhiệm </a:t>
            </a:r>
            <a:endParaRPr lang="vi-VN" sz="1100" noProof="1"/>
          </a:p>
        </p:txBody>
      </p:sp>
      <p:sp>
        <p:nvSpPr>
          <p:cNvPr id="1902858871" name="Text 12"/>
          <p:cNvSpPr/>
          <p:nvPr/>
        </p:nvSpPr>
        <p:spPr bwMode="auto">
          <a:xfrm>
            <a:off x="5219700" y="1245394"/>
            <a:ext cx="6438899" cy="627162"/>
          </a:xfrm>
          <a:prstGeom prst="roundRect">
            <a:avLst>
              <a:gd name="adj" fmla="val 18225"/>
            </a:avLst>
          </a:prstGeom>
          <a:solidFill>
            <a:srgbClr val="FFFFFF"/>
          </a:solidFill>
          <a:ln w="9525">
            <a:solidFill>
              <a:srgbClr val="E3E9F2"/>
            </a:solidFill>
          </a:ln>
          <a:effectLst>
            <a:outerShdw blurRad="114300" dist="38100" dir="5400000" algn="bl" rotWithShape="0">
              <a:srgbClr val="002855">
                <a:alpha val="5000"/>
              </a:srgbClr>
            </a:outerShdw>
          </a:effectLst>
        </p:spPr>
        <p:txBody>
          <a:bodyPr wrap="square" rtlCol="0" anchor="ctr"/>
          <a:lstStyle/>
          <a:p>
            <a:pPr marL="0" indent="0">
              <a:buNone/>
              <a:defRPr/>
            </a:pPr>
            <a:endParaRPr lang="vi-VN" sz="2400" noProof="1"/>
          </a:p>
        </p:txBody>
      </p:sp>
      <p:sp>
        <p:nvSpPr>
          <p:cNvPr id="1563338913" name="Text 13"/>
          <p:cNvSpPr/>
          <p:nvPr/>
        </p:nvSpPr>
        <p:spPr bwMode="auto">
          <a:xfrm>
            <a:off x="5381625" y="1369218"/>
            <a:ext cx="361950" cy="361950"/>
          </a:xfrm>
          <a:prstGeom prst="roundRect">
            <a:avLst>
              <a:gd name="adj" fmla="val 26316"/>
            </a:avLst>
          </a:prstGeom>
          <a:solidFill>
            <a:srgbClr val="002855"/>
          </a:solidFill>
          <a:ln/>
        </p:spPr>
        <p:txBody>
          <a:bodyPr wrap="square" rtlCol="0" anchor="ctr"/>
          <a:lstStyle/>
          <a:p>
            <a:pPr marL="0" indent="0">
              <a:buNone/>
              <a:defRPr/>
            </a:pPr>
            <a:endParaRPr lang="vi-VN" sz="2400" noProof="1"/>
          </a:p>
        </p:txBody>
      </p:sp>
      <p:sp>
        <p:nvSpPr>
          <p:cNvPr id="1547095410" name="Text 14"/>
          <p:cNvSpPr/>
          <p:nvPr/>
        </p:nvSpPr>
        <p:spPr bwMode="auto">
          <a:xfrm>
            <a:off x="5378006" y="1369218"/>
            <a:ext cx="369189" cy="361950"/>
          </a:xfrm>
          <a:prstGeom prst="rect">
            <a:avLst/>
          </a:prstGeom>
          <a:noFill/>
          <a:ln/>
        </p:spPr>
        <p:txBody>
          <a:bodyPr wrap="square" lIns="0" tIns="0" rIns="0" bIns="0" rtlCol="0" anchor="ctr"/>
          <a:lstStyle/>
          <a:p>
            <a:pPr marL="0" indent="0" algn="ctr">
              <a:buNone/>
              <a:defRPr/>
            </a:pPr>
            <a:r>
              <a:rPr lang="vi-VN" sz="1600" b="1" noProof="1">
                <a:solidFill>
                  <a:srgbClr val="F6E7BD"/>
                </a:solidFill>
                <a:latin typeface="Arial"/>
                <a:ea typeface="Arial"/>
                <a:cs typeface="Arial"/>
              </a:rPr>
              <a:t>01</a:t>
            </a:r>
            <a:endParaRPr lang="vi-VN" sz="1600" noProof="1"/>
          </a:p>
        </p:txBody>
      </p:sp>
      <p:sp>
        <p:nvSpPr>
          <p:cNvPr id="2036830797" name="Text 15"/>
          <p:cNvSpPr/>
          <p:nvPr/>
        </p:nvSpPr>
        <p:spPr bwMode="auto">
          <a:xfrm>
            <a:off x="5895975" y="1369218"/>
            <a:ext cx="5594610" cy="171450"/>
          </a:xfrm>
          <a:prstGeom prst="rect">
            <a:avLst/>
          </a:prstGeom>
          <a:noFill/>
          <a:ln/>
        </p:spPr>
        <p:txBody>
          <a:bodyPr wrap="square" lIns="0" tIns="0" rIns="0" bIns="0" rtlCol="0" anchor="t"/>
          <a:lstStyle/>
          <a:p>
            <a:pPr marL="0" indent="0" algn="l">
              <a:spcAft>
                <a:spcPts val="225"/>
              </a:spcAft>
              <a:buNone/>
              <a:defRPr/>
            </a:pPr>
            <a:r>
              <a:rPr lang="vi-VN" sz="1400" b="1" noProof="1">
                <a:solidFill>
                  <a:srgbClr val="002855"/>
                </a:solidFill>
                <a:latin typeface="Arial"/>
                <a:ea typeface="Arial"/>
                <a:cs typeface="Arial"/>
              </a:rPr>
              <a:t>Áp lực kiêm nhiệm </a:t>
            </a:r>
            <a:endParaRPr lang="vi-VN" sz="1400" noProof="1"/>
          </a:p>
        </p:txBody>
      </p:sp>
      <p:sp>
        <p:nvSpPr>
          <p:cNvPr id="1217143524" name="Text 16"/>
          <p:cNvSpPr/>
          <p:nvPr/>
        </p:nvSpPr>
        <p:spPr bwMode="auto">
          <a:xfrm>
            <a:off x="5895975" y="1569245"/>
            <a:ext cx="5712714" cy="161924"/>
          </a:xfrm>
          <a:prstGeom prst="rect">
            <a:avLst/>
          </a:prstGeom>
          <a:noFill/>
          <a:ln/>
        </p:spPr>
        <p:txBody>
          <a:bodyPr wrap="square" lIns="0" tIns="0" rIns="0" bIns="0" rtlCol="0" anchor="t"/>
          <a:lstStyle/>
          <a:p>
            <a:pPr marL="0" indent="0" algn="l">
              <a:lnSpc>
                <a:spcPts val="1414"/>
              </a:lnSpc>
              <a:buNone/>
              <a:defRPr/>
            </a:pPr>
            <a:r>
              <a:rPr lang="vi-VN" sz="1100" noProof="1">
                <a:solidFill>
                  <a:srgbClr val="4A5A72"/>
                </a:solidFill>
                <a:latin typeface="Arial"/>
                <a:ea typeface="Arial"/>
                <a:cs typeface="Arial"/>
              </a:rPr>
              <a:t>Cán bộ là giảng viên/chuyên viên kiêm nhiệm; cao điểm giảng dạy khiến tốc độ ra bài chậm</a:t>
            </a:r>
            <a:endParaRPr lang="vi-VN" sz="1100" noProof="1"/>
          </a:p>
        </p:txBody>
      </p:sp>
      <p:sp>
        <p:nvSpPr>
          <p:cNvPr id="889763406" name="Text 17"/>
          <p:cNvSpPr/>
          <p:nvPr/>
        </p:nvSpPr>
        <p:spPr bwMode="auto">
          <a:xfrm>
            <a:off x="5219700" y="1986855"/>
            <a:ext cx="6438899" cy="806648"/>
          </a:xfrm>
          <a:prstGeom prst="roundRect">
            <a:avLst>
              <a:gd name="adj" fmla="val 14170"/>
            </a:avLst>
          </a:prstGeom>
          <a:solidFill>
            <a:srgbClr val="FFFFFF"/>
          </a:solidFill>
          <a:ln w="9525">
            <a:solidFill>
              <a:srgbClr val="E3E9F2"/>
            </a:solidFill>
          </a:ln>
          <a:effectLst>
            <a:outerShdw blurRad="114300" dist="38100" dir="5400000" algn="bl" rotWithShape="0">
              <a:srgbClr val="002855">
                <a:alpha val="5000"/>
              </a:srgbClr>
            </a:outerShdw>
          </a:effectLst>
        </p:spPr>
        <p:txBody>
          <a:bodyPr wrap="square" rtlCol="0" anchor="ctr"/>
          <a:lstStyle/>
          <a:p>
            <a:pPr marL="0" indent="0">
              <a:buNone/>
              <a:defRPr/>
            </a:pPr>
            <a:endParaRPr lang="vi-VN" sz="2400" noProof="1"/>
          </a:p>
        </p:txBody>
      </p:sp>
      <p:sp>
        <p:nvSpPr>
          <p:cNvPr id="1220917906" name="Text 18"/>
          <p:cNvSpPr/>
          <p:nvPr/>
        </p:nvSpPr>
        <p:spPr bwMode="auto">
          <a:xfrm>
            <a:off x="5381625" y="2110680"/>
            <a:ext cx="361950" cy="361950"/>
          </a:xfrm>
          <a:prstGeom prst="roundRect">
            <a:avLst>
              <a:gd name="adj" fmla="val 26316"/>
            </a:avLst>
          </a:prstGeom>
          <a:solidFill>
            <a:srgbClr val="002855"/>
          </a:solidFill>
          <a:ln/>
        </p:spPr>
        <p:txBody>
          <a:bodyPr wrap="square" rtlCol="0" anchor="ctr"/>
          <a:lstStyle/>
          <a:p>
            <a:pPr marL="0" indent="0">
              <a:buNone/>
              <a:defRPr/>
            </a:pPr>
            <a:endParaRPr lang="vi-VN" sz="2400" noProof="1"/>
          </a:p>
        </p:txBody>
      </p:sp>
      <p:sp>
        <p:nvSpPr>
          <p:cNvPr id="327495487" name="Text 19"/>
          <p:cNvSpPr/>
          <p:nvPr/>
        </p:nvSpPr>
        <p:spPr bwMode="auto">
          <a:xfrm>
            <a:off x="5378006" y="2110680"/>
            <a:ext cx="369189" cy="361950"/>
          </a:xfrm>
          <a:prstGeom prst="rect">
            <a:avLst/>
          </a:prstGeom>
          <a:noFill/>
          <a:ln/>
        </p:spPr>
        <p:txBody>
          <a:bodyPr wrap="square" lIns="0" tIns="0" rIns="0" bIns="0" rtlCol="0" anchor="ctr"/>
          <a:lstStyle/>
          <a:p>
            <a:pPr marL="0" indent="0" algn="ctr">
              <a:buNone/>
              <a:defRPr/>
            </a:pPr>
            <a:r>
              <a:rPr lang="vi-VN" sz="1600" b="1" noProof="1">
                <a:solidFill>
                  <a:srgbClr val="F6E7BD"/>
                </a:solidFill>
                <a:latin typeface="Arial"/>
                <a:ea typeface="Arial"/>
                <a:cs typeface="Arial"/>
              </a:rPr>
              <a:t>02</a:t>
            </a:r>
            <a:endParaRPr lang="vi-VN" sz="1600" noProof="1"/>
          </a:p>
        </p:txBody>
      </p:sp>
      <p:sp>
        <p:nvSpPr>
          <p:cNvPr id="693808807" name="Text 20"/>
          <p:cNvSpPr/>
          <p:nvPr/>
        </p:nvSpPr>
        <p:spPr bwMode="auto">
          <a:xfrm>
            <a:off x="5906649" y="2156709"/>
            <a:ext cx="5762625" cy="852000"/>
          </a:xfrm>
          <a:prstGeom prst="rect">
            <a:avLst/>
          </a:prstGeom>
          <a:noFill/>
          <a:ln/>
        </p:spPr>
        <p:txBody>
          <a:bodyPr wrap="square" lIns="0" tIns="0" rIns="0" bIns="0" rtlCol="0" anchor="t"/>
          <a:lstStyle/>
          <a:p>
            <a:r>
              <a:t>Tốn nhiều thời gian khi sáng tạo nội dung: Phải tự lên ý tưởng, viết bài, chuẩn hóa ngữ pháp và chuẩn bị hình ảnh cho từng sự kiện.</a:t>
            </a:r>
          </a:p>
        </p:txBody>
      </p:sp>
      <p:sp>
        <p:nvSpPr>
          <p:cNvPr id="1070267935" name="Text 21"/>
          <p:cNvSpPr/>
          <p:nvPr/>
        </p:nvSpPr>
        <p:spPr bwMode="auto">
          <a:xfrm>
            <a:off x="5895975" y="2310705"/>
            <a:ext cx="5712714" cy="358972"/>
          </a:xfrm>
          <a:prstGeom prst="rect">
            <a:avLst/>
          </a:prstGeom>
          <a:noFill/>
          <a:ln/>
        </p:spPr>
        <p:txBody>
          <a:bodyPr wrap="square" lIns="0" tIns="0" rIns="0" bIns="0" rtlCol="0" anchor="t"/>
          <a:lstStyle/>
          <a:p>
            <a:pPr marL="0" indent="0" algn="l">
              <a:lnSpc>
                <a:spcPts val="1414"/>
              </a:lnSpc>
              <a:buNone/>
              <a:defRPr/>
            </a:pPr>
            <a:endParaRPr lang="vi-VN" sz="1100" noProof="1"/>
          </a:p>
        </p:txBody>
      </p:sp>
      <p:sp>
        <p:nvSpPr>
          <p:cNvPr id="1771249569" name="Text 22"/>
          <p:cNvSpPr/>
          <p:nvPr/>
        </p:nvSpPr>
        <p:spPr bwMode="auto">
          <a:xfrm>
            <a:off x="5219700" y="3507879"/>
            <a:ext cx="6438899" cy="723900"/>
          </a:xfrm>
          <a:prstGeom prst="roundRect">
            <a:avLst>
              <a:gd name="adj" fmla="val 18225"/>
            </a:avLst>
          </a:prstGeom>
          <a:solidFill>
            <a:srgbClr val="FFFFFF"/>
          </a:solidFill>
          <a:ln w="9525">
            <a:solidFill>
              <a:srgbClr val="E3E9F2"/>
            </a:solidFill>
          </a:ln>
          <a:effectLst>
            <a:outerShdw blurRad="114300" dist="38100" dir="5400000" algn="bl" rotWithShape="0">
              <a:srgbClr val="002855">
                <a:alpha val="5000"/>
              </a:srgbClr>
            </a:outerShdw>
          </a:effectLst>
        </p:spPr>
        <p:txBody>
          <a:bodyPr wrap="square" rtlCol="0" anchor="ctr"/>
          <a:lstStyle/>
          <a:p>
            <a:pPr marL="0" indent="0">
              <a:buNone/>
              <a:defRPr/>
            </a:pPr>
            <a:endParaRPr lang="vi-VN" sz="2400" noProof="1"/>
          </a:p>
        </p:txBody>
      </p:sp>
      <p:sp>
        <p:nvSpPr>
          <p:cNvPr id="1650751441" name="Text 23"/>
          <p:cNvSpPr/>
          <p:nvPr/>
        </p:nvSpPr>
        <p:spPr bwMode="auto">
          <a:xfrm>
            <a:off x="5381625" y="3631704"/>
            <a:ext cx="361950" cy="361950"/>
          </a:xfrm>
          <a:prstGeom prst="roundRect">
            <a:avLst>
              <a:gd name="adj" fmla="val 26316"/>
            </a:avLst>
          </a:prstGeom>
          <a:solidFill>
            <a:srgbClr val="002855"/>
          </a:solidFill>
          <a:ln/>
        </p:spPr>
        <p:txBody>
          <a:bodyPr wrap="square" rtlCol="0" anchor="ctr"/>
          <a:lstStyle/>
          <a:p>
            <a:pPr marL="0" indent="0">
              <a:buNone/>
              <a:defRPr/>
            </a:pPr>
            <a:endParaRPr lang="vi-VN" sz="2400" noProof="1"/>
          </a:p>
        </p:txBody>
      </p:sp>
      <p:sp>
        <p:nvSpPr>
          <p:cNvPr id="1106036581" name="Text 24"/>
          <p:cNvSpPr/>
          <p:nvPr/>
        </p:nvSpPr>
        <p:spPr bwMode="auto">
          <a:xfrm>
            <a:off x="5378006" y="3631704"/>
            <a:ext cx="369189" cy="361950"/>
          </a:xfrm>
          <a:prstGeom prst="rect">
            <a:avLst/>
          </a:prstGeom>
          <a:noFill/>
          <a:ln/>
        </p:spPr>
        <p:txBody>
          <a:bodyPr wrap="square" lIns="0" tIns="0" rIns="0" bIns="0" rtlCol="0" anchor="ctr"/>
          <a:lstStyle/>
          <a:p>
            <a:pPr marL="0" indent="0" algn="ctr">
              <a:buNone/>
              <a:defRPr/>
            </a:pPr>
            <a:r>
              <a:rPr lang="vi-VN" sz="1600" b="1" noProof="1">
                <a:solidFill>
                  <a:srgbClr val="F6E7BD"/>
                </a:solidFill>
                <a:latin typeface="Arial"/>
                <a:ea typeface="Arial"/>
                <a:cs typeface="Arial"/>
              </a:rPr>
              <a:t>03</a:t>
            </a:r>
            <a:endParaRPr lang="vi-VN" sz="1600" noProof="1"/>
          </a:p>
        </p:txBody>
      </p:sp>
      <p:sp>
        <p:nvSpPr>
          <p:cNvPr id="845454433" name="Text 25"/>
          <p:cNvSpPr/>
          <p:nvPr/>
        </p:nvSpPr>
        <p:spPr bwMode="auto">
          <a:xfrm>
            <a:off x="5895975" y="3631704"/>
            <a:ext cx="5642125" cy="171450"/>
          </a:xfrm>
          <a:prstGeom prst="rect">
            <a:avLst/>
          </a:prstGeom>
          <a:noFill/>
          <a:ln/>
        </p:spPr>
        <p:txBody>
          <a:bodyPr wrap="square" lIns="0" tIns="0" rIns="0" bIns="0" rtlCol="0" anchor="t"/>
          <a:lstStyle/>
          <a:p>
            <a:pPr marL="0" indent="0" algn="l">
              <a:spcAft>
                <a:spcPts val="225"/>
              </a:spcAft>
              <a:buNone/>
              <a:defRPr/>
            </a:pPr>
            <a:r>
              <a:rPr lang="vi-VN" sz="1400" b="1" noProof="1">
                <a:solidFill>
                  <a:srgbClr val="002855"/>
                </a:solidFill>
                <a:latin typeface="Arial"/>
                <a:ea typeface="Arial"/>
                <a:cs typeface="Arial"/>
              </a:rPr>
              <a:t>Đăng tải thủ công, phân tán nhiều kênh</a:t>
            </a:r>
            <a:endParaRPr lang="vi-VN" sz="1400" noProof="1"/>
          </a:p>
        </p:txBody>
      </p:sp>
      <p:sp>
        <p:nvSpPr>
          <p:cNvPr id="2000591319" name="Text 26"/>
          <p:cNvSpPr/>
          <p:nvPr/>
        </p:nvSpPr>
        <p:spPr bwMode="auto">
          <a:xfrm>
            <a:off x="5895975" y="3831730"/>
            <a:ext cx="5762624" cy="171450"/>
          </a:xfrm>
          <a:prstGeom prst="rect">
            <a:avLst/>
          </a:prstGeom>
          <a:noFill/>
          <a:ln/>
        </p:spPr>
        <p:txBody>
          <a:bodyPr wrap="square" lIns="0" tIns="0" rIns="0" bIns="0" rtlCol="0" anchor="t"/>
          <a:lstStyle/>
          <a:p>
            <a:pPr marL="0" indent="0" algn="l">
              <a:lnSpc>
                <a:spcPts val="1414"/>
              </a:lnSpc>
              <a:buNone/>
              <a:defRPr/>
            </a:pPr>
            <a:r>
              <a:rPr lang="vi-VN" sz="1100" noProof="1">
                <a:solidFill>
                  <a:srgbClr val="4A5A72"/>
                </a:solidFill>
                <a:latin typeface="Arial"/>
                <a:ea typeface="Arial"/>
                <a:cs typeface="Arial"/>
              </a:rPr>
              <a:t>Đăng lại từng nền tảng (Website, Facebook, Zalo), copy-paste nhiều lượt, dễ lệch thông tin giữa các kênh.</a:t>
            </a:r>
            <a:endParaRPr lang="vi-VN" sz="1100" noProof="1"/>
          </a:p>
        </p:txBody>
      </p:sp>
      <p:sp>
        <p:nvSpPr>
          <p:cNvPr id="1184167521" name="Text 27"/>
          <p:cNvSpPr/>
          <p:nvPr/>
        </p:nvSpPr>
        <p:spPr bwMode="auto">
          <a:xfrm>
            <a:off x="5219700" y="4351843"/>
            <a:ext cx="6438899" cy="627162"/>
          </a:xfrm>
          <a:prstGeom prst="roundRect">
            <a:avLst>
              <a:gd name="adj" fmla="val 18225"/>
            </a:avLst>
          </a:prstGeom>
          <a:solidFill>
            <a:srgbClr val="FFFFFF"/>
          </a:solidFill>
          <a:ln w="9525">
            <a:solidFill>
              <a:srgbClr val="E3E9F2"/>
            </a:solidFill>
          </a:ln>
          <a:effectLst>
            <a:outerShdw blurRad="114300" dist="38100" dir="5400000" algn="bl" rotWithShape="0">
              <a:srgbClr val="002855">
                <a:alpha val="5000"/>
              </a:srgbClr>
            </a:outerShdw>
          </a:effectLst>
        </p:spPr>
        <p:txBody>
          <a:bodyPr wrap="square" rtlCol="0" anchor="ctr"/>
          <a:lstStyle/>
          <a:p>
            <a:pPr marL="0" indent="0">
              <a:buNone/>
              <a:defRPr/>
            </a:pPr>
            <a:endParaRPr lang="vi-VN" sz="2400" noProof="1"/>
          </a:p>
        </p:txBody>
      </p:sp>
      <p:sp>
        <p:nvSpPr>
          <p:cNvPr id="649402166" name="Text 28"/>
          <p:cNvSpPr/>
          <p:nvPr/>
        </p:nvSpPr>
        <p:spPr bwMode="auto">
          <a:xfrm>
            <a:off x="5381625" y="4475668"/>
            <a:ext cx="361950" cy="361950"/>
          </a:xfrm>
          <a:prstGeom prst="roundRect">
            <a:avLst>
              <a:gd name="adj" fmla="val 26316"/>
            </a:avLst>
          </a:prstGeom>
          <a:solidFill>
            <a:srgbClr val="002855"/>
          </a:solidFill>
          <a:ln/>
        </p:spPr>
        <p:txBody>
          <a:bodyPr wrap="square" rtlCol="0" anchor="ctr"/>
          <a:lstStyle/>
          <a:p>
            <a:pPr marL="0" indent="0">
              <a:buNone/>
              <a:defRPr/>
            </a:pPr>
            <a:endParaRPr lang="vi-VN" sz="2400" noProof="1"/>
          </a:p>
        </p:txBody>
      </p:sp>
      <p:sp>
        <p:nvSpPr>
          <p:cNvPr id="1392645965" name="Text 29"/>
          <p:cNvSpPr/>
          <p:nvPr/>
        </p:nvSpPr>
        <p:spPr bwMode="auto">
          <a:xfrm>
            <a:off x="5378006" y="4475668"/>
            <a:ext cx="369189" cy="361950"/>
          </a:xfrm>
          <a:prstGeom prst="rect">
            <a:avLst/>
          </a:prstGeom>
          <a:noFill/>
          <a:ln/>
        </p:spPr>
        <p:txBody>
          <a:bodyPr wrap="square" lIns="0" tIns="0" rIns="0" bIns="0" rtlCol="0" anchor="ctr"/>
          <a:lstStyle/>
          <a:p>
            <a:pPr marL="0" indent="0" algn="ctr">
              <a:buNone/>
              <a:defRPr/>
            </a:pPr>
            <a:r>
              <a:rPr lang="vi-VN" sz="1600" b="1" noProof="1">
                <a:solidFill>
                  <a:srgbClr val="F6E7BD"/>
                </a:solidFill>
                <a:latin typeface="Arial"/>
                <a:ea typeface="Arial"/>
                <a:cs typeface="Arial"/>
              </a:rPr>
              <a:t>04</a:t>
            </a:r>
            <a:endParaRPr lang="vi-VN" sz="1600" noProof="1"/>
          </a:p>
        </p:txBody>
      </p:sp>
      <p:sp>
        <p:nvSpPr>
          <p:cNvPr id="473528342" name="Text 30"/>
          <p:cNvSpPr/>
          <p:nvPr/>
        </p:nvSpPr>
        <p:spPr bwMode="auto">
          <a:xfrm>
            <a:off x="5895975" y="4475668"/>
            <a:ext cx="5388004" cy="171450"/>
          </a:xfrm>
          <a:prstGeom prst="rect">
            <a:avLst/>
          </a:prstGeom>
          <a:noFill/>
          <a:ln/>
        </p:spPr>
        <p:txBody>
          <a:bodyPr wrap="square" lIns="0" tIns="0" rIns="0" bIns="0" rtlCol="0" anchor="t"/>
          <a:lstStyle/>
          <a:p>
            <a:r>
              <a:rPr dirty="0" err="1"/>
              <a:t>Thiếu</a:t>
            </a:r>
            <a:r>
              <a:rPr dirty="0"/>
              <a:t> </a:t>
            </a:r>
            <a:r>
              <a:rPr dirty="0" err="1"/>
              <a:t>lịch</a:t>
            </a:r>
            <a:r>
              <a:rPr dirty="0"/>
              <a:t> </a:t>
            </a:r>
            <a:r>
              <a:rPr dirty="0" err="1"/>
              <a:t>hẹn</a:t>
            </a:r>
            <a:r>
              <a:rPr dirty="0"/>
              <a:t> </a:t>
            </a:r>
            <a:r>
              <a:rPr dirty="0" err="1"/>
              <a:t>giờ</a:t>
            </a:r>
            <a:r>
              <a:rPr dirty="0"/>
              <a:t> </a:t>
            </a:r>
            <a:r>
              <a:rPr dirty="0" err="1"/>
              <a:t>xuất</a:t>
            </a:r>
            <a:r>
              <a:rPr dirty="0"/>
              <a:t> </a:t>
            </a:r>
            <a:r>
              <a:rPr dirty="0" err="1"/>
              <a:t>bản</a:t>
            </a:r>
            <a:r>
              <a:rPr dirty="0"/>
              <a:t>: </a:t>
            </a:r>
            <a:r>
              <a:rPr dirty="0" err="1"/>
              <a:t>Không</a:t>
            </a:r>
            <a:r>
              <a:rPr dirty="0"/>
              <a:t> </a:t>
            </a:r>
            <a:r>
              <a:rPr dirty="0" err="1"/>
              <a:t>thể</a:t>
            </a:r>
            <a:r>
              <a:rPr dirty="0"/>
              <a:t> </a:t>
            </a:r>
            <a:r>
              <a:rPr dirty="0" err="1"/>
              <a:t>chủ</a:t>
            </a:r>
            <a:r>
              <a:rPr dirty="0"/>
              <a:t> </a:t>
            </a:r>
            <a:r>
              <a:rPr dirty="0" err="1"/>
              <a:t>động</a:t>
            </a:r>
            <a:r>
              <a:rPr dirty="0"/>
              <a:t> </a:t>
            </a:r>
            <a:r>
              <a:rPr dirty="0" err="1"/>
              <a:t>đăng</a:t>
            </a:r>
            <a:r>
              <a:rPr dirty="0"/>
              <a:t> tin </a:t>
            </a:r>
            <a:r>
              <a:rPr dirty="0" err="1"/>
              <a:t>vào</a:t>
            </a:r>
            <a:r>
              <a:rPr dirty="0"/>
              <a:t> </a:t>
            </a:r>
            <a:r>
              <a:rPr dirty="0" err="1"/>
              <a:t>các</a:t>
            </a:r>
            <a:r>
              <a:rPr dirty="0"/>
              <a:t> </a:t>
            </a:r>
            <a:r>
              <a:rPr dirty="0" err="1"/>
              <a:t>khung</a:t>
            </a:r>
            <a:r>
              <a:rPr dirty="0"/>
              <a:t> </a:t>
            </a:r>
            <a:r>
              <a:rPr dirty="0" err="1"/>
              <a:t>giờ</a:t>
            </a:r>
            <a:r>
              <a:rPr dirty="0"/>
              <a:t> </a:t>
            </a:r>
            <a:r>
              <a:rPr dirty="0" err="1"/>
              <a:t>vàng</a:t>
            </a:r>
            <a:r>
              <a:rPr dirty="0"/>
              <a:t> </a:t>
            </a:r>
            <a:r>
              <a:rPr dirty="0" err="1"/>
              <a:t>tiếp</a:t>
            </a:r>
            <a:r>
              <a:rPr dirty="0"/>
              <a:t> </a:t>
            </a:r>
            <a:r>
              <a:rPr dirty="0" err="1"/>
              <a:t>cận</a:t>
            </a:r>
            <a:r>
              <a:rPr dirty="0"/>
              <a:t> </a:t>
            </a:r>
            <a:r>
              <a:rPr dirty="0" err="1"/>
              <a:t>đoàn</a:t>
            </a:r>
            <a:r>
              <a:rPr dirty="0"/>
              <a:t> </a:t>
            </a:r>
            <a:r>
              <a:rPr dirty="0" err="1"/>
              <a:t>viên</a:t>
            </a:r>
            <a:r>
              <a:rPr dirty="0"/>
              <a:t> </a:t>
            </a:r>
            <a:r>
              <a:rPr dirty="0" err="1"/>
              <a:t>nếu</a:t>
            </a:r>
            <a:r>
              <a:rPr dirty="0"/>
              <a:t> </a:t>
            </a:r>
            <a:r>
              <a:rPr dirty="0" err="1"/>
              <a:t>không</a:t>
            </a:r>
            <a:r>
              <a:rPr dirty="0"/>
              <a:t> </a:t>
            </a:r>
            <a:r>
              <a:rPr dirty="0" err="1"/>
              <a:t>trực</a:t>
            </a:r>
            <a:r>
              <a:rPr dirty="0"/>
              <a:t> </a:t>
            </a:r>
            <a:r>
              <a:rPr dirty="0" err="1"/>
              <a:t>máy</a:t>
            </a:r>
            <a:r>
              <a:rPr dirty="0"/>
              <a:t>.</a:t>
            </a:r>
          </a:p>
        </p:txBody>
      </p:sp>
      <p:sp>
        <p:nvSpPr>
          <p:cNvPr id="1587790627" name="Text 31"/>
          <p:cNvSpPr/>
          <p:nvPr/>
        </p:nvSpPr>
        <p:spPr bwMode="auto">
          <a:xfrm>
            <a:off x="5895975" y="4675693"/>
            <a:ext cx="5388004" cy="179487"/>
          </a:xfrm>
          <a:prstGeom prst="rect">
            <a:avLst/>
          </a:prstGeom>
          <a:noFill/>
          <a:ln/>
        </p:spPr>
        <p:txBody>
          <a:bodyPr wrap="square" lIns="0" tIns="0" rIns="0" bIns="0" rtlCol="0" anchor="t"/>
          <a:lstStyle/>
          <a:p>
            <a:pPr marL="0" indent="0" algn="l">
              <a:lnSpc>
                <a:spcPts val="1414"/>
              </a:lnSpc>
              <a:buNone/>
              <a:defRPr/>
            </a:pPr>
            <a:endParaRPr lang="vi-VN" sz="1100" noProof="1"/>
          </a:p>
        </p:txBody>
      </p:sp>
      <p:sp>
        <p:nvSpPr>
          <p:cNvPr id="998169476" name="Text 32"/>
          <p:cNvSpPr/>
          <p:nvPr/>
        </p:nvSpPr>
        <p:spPr bwMode="auto">
          <a:xfrm>
            <a:off x="5230375" y="5093304"/>
            <a:ext cx="6438899" cy="627162"/>
          </a:xfrm>
          <a:prstGeom prst="roundRect">
            <a:avLst>
              <a:gd name="adj" fmla="val 18225"/>
            </a:avLst>
          </a:prstGeom>
          <a:solidFill>
            <a:srgbClr val="FFFFFF"/>
          </a:solidFill>
          <a:ln w="9525">
            <a:solidFill>
              <a:srgbClr val="E3E9F2"/>
            </a:solidFill>
          </a:ln>
          <a:effectLst>
            <a:outerShdw blurRad="114300" dist="38100" dir="5400000" algn="bl" rotWithShape="0">
              <a:srgbClr val="002855">
                <a:alpha val="5000"/>
              </a:srgbClr>
            </a:outerShdw>
          </a:effectLst>
        </p:spPr>
        <p:txBody>
          <a:bodyPr wrap="square" rtlCol="0" anchor="ctr"/>
          <a:lstStyle/>
          <a:p>
            <a:pPr marL="0" indent="0">
              <a:buNone/>
              <a:defRPr/>
            </a:pPr>
            <a:endParaRPr lang="vi-VN" sz="2400" noProof="1"/>
          </a:p>
        </p:txBody>
      </p:sp>
      <p:sp>
        <p:nvSpPr>
          <p:cNvPr id="472541620" name="Text 33"/>
          <p:cNvSpPr/>
          <p:nvPr/>
        </p:nvSpPr>
        <p:spPr bwMode="auto">
          <a:xfrm>
            <a:off x="5381625" y="5217129"/>
            <a:ext cx="361950" cy="361950"/>
          </a:xfrm>
          <a:prstGeom prst="roundRect">
            <a:avLst>
              <a:gd name="adj" fmla="val 26316"/>
            </a:avLst>
          </a:prstGeom>
          <a:solidFill>
            <a:srgbClr val="002855"/>
          </a:solidFill>
          <a:ln/>
        </p:spPr>
        <p:txBody>
          <a:bodyPr wrap="square" rtlCol="0" anchor="ctr"/>
          <a:lstStyle/>
          <a:p>
            <a:pPr marL="0" indent="0">
              <a:buNone/>
              <a:defRPr/>
            </a:pPr>
            <a:endParaRPr lang="vi-VN" sz="2400" noProof="1"/>
          </a:p>
        </p:txBody>
      </p:sp>
      <p:sp>
        <p:nvSpPr>
          <p:cNvPr id="648601177" name="Text 34"/>
          <p:cNvSpPr/>
          <p:nvPr/>
        </p:nvSpPr>
        <p:spPr bwMode="auto">
          <a:xfrm>
            <a:off x="5378006" y="5217129"/>
            <a:ext cx="369189" cy="361950"/>
          </a:xfrm>
          <a:prstGeom prst="rect">
            <a:avLst/>
          </a:prstGeom>
          <a:noFill/>
          <a:ln/>
        </p:spPr>
        <p:txBody>
          <a:bodyPr wrap="square" lIns="0" tIns="0" rIns="0" bIns="0" rtlCol="0" anchor="ctr"/>
          <a:lstStyle/>
          <a:p>
            <a:pPr marL="0" indent="0" algn="ctr">
              <a:buNone/>
              <a:defRPr/>
            </a:pPr>
            <a:r>
              <a:rPr lang="vi-VN" sz="1600" b="1" noProof="1">
                <a:solidFill>
                  <a:srgbClr val="F6E7BD"/>
                </a:solidFill>
                <a:latin typeface="Arial"/>
                <a:ea typeface="Arial"/>
                <a:cs typeface="Arial"/>
              </a:rPr>
              <a:t>05</a:t>
            </a:r>
            <a:endParaRPr lang="vi-VN" sz="1600" noProof="1"/>
          </a:p>
        </p:txBody>
      </p:sp>
      <p:sp>
        <p:nvSpPr>
          <p:cNvPr id="1043762863" name="Text 35"/>
          <p:cNvSpPr/>
          <p:nvPr/>
        </p:nvSpPr>
        <p:spPr bwMode="auto">
          <a:xfrm>
            <a:off x="5895975" y="5217129"/>
            <a:ext cx="4737824" cy="171450"/>
          </a:xfrm>
          <a:prstGeom prst="rect">
            <a:avLst/>
          </a:prstGeom>
          <a:noFill/>
          <a:ln/>
        </p:spPr>
        <p:txBody>
          <a:bodyPr wrap="square" lIns="0" tIns="0" rIns="0" bIns="0" rtlCol="0" anchor="t"/>
          <a:lstStyle/>
          <a:p>
            <a:pPr marL="0" indent="0" algn="l">
              <a:spcAft>
                <a:spcPts val="225"/>
              </a:spcAft>
              <a:buNone/>
              <a:defRPr/>
            </a:pPr>
            <a:r>
              <a:rPr lang="vi-VN" sz="1400" b="1" noProof="1">
                <a:solidFill>
                  <a:srgbClr val="002855"/>
                </a:solidFill>
                <a:latin typeface="Arial"/>
                <a:ea typeface="Arial"/>
                <a:cs typeface="Arial"/>
              </a:rPr>
              <a:t>Không có công cụ đo lường, thống kê tập trung</a:t>
            </a:r>
            <a:endParaRPr lang="vi-VN" sz="1400" noProof="1"/>
          </a:p>
        </p:txBody>
      </p:sp>
      <p:sp>
        <p:nvSpPr>
          <p:cNvPr id="1335701097" name="Text 36"/>
          <p:cNvSpPr/>
          <p:nvPr/>
        </p:nvSpPr>
        <p:spPr bwMode="auto">
          <a:xfrm>
            <a:off x="5895974" y="5417154"/>
            <a:ext cx="5642126" cy="237909"/>
          </a:xfrm>
          <a:prstGeom prst="rect">
            <a:avLst/>
          </a:prstGeom>
          <a:noFill/>
          <a:ln/>
        </p:spPr>
        <p:txBody>
          <a:bodyPr wrap="square" lIns="0" tIns="0" rIns="0" bIns="0" rtlCol="0" anchor="t"/>
          <a:lstStyle/>
          <a:p>
            <a:pPr marL="0" indent="0" algn="l">
              <a:lnSpc>
                <a:spcPts val="1414"/>
              </a:lnSpc>
              <a:buNone/>
              <a:defRPr/>
            </a:pPr>
            <a:r>
              <a:rPr lang="vi-VN" sz="1100" noProof="1">
                <a:solidFill>
                  <a:srgbClr val="4A5A72"/>
                </a:solidFill>
                <a:latin typeface="Arial"/>
                <a:ea typeface="Arial"/>
                <a:cs typeface="Arial"/>
              </a:rPr>
              <a:t>Chưa biết bài nào đọc nhiều, tương tác ra sao ở nội dung tuyên truyền, thống kê đa kênh</a:t>
            </a:r>
            <a:endParaRPr lang="vi-VN" sz="1100" noProof="1"/>
          </a:p>
        </p:txBody>
      </p:sp>
      <p:sp>
        <p:nvSpPr>
          <p:cNvPr id="1096184557" name="Shape 37"/>
          <p:cNvSpPr/>
          <p:nvPr/>
        </p:nvSpPr>
        <p:spPr bwMode="auto">
          <a:xfrm>
            <a:off x="533400" y="6548438"/>
            <a:ext cx="11125200" cy="0"/>
          </a:xfrm>
          <a:prstGeom prst="line">
            <a:avLst/>
          </a:prstGeom>
          <a:noFill/>
          <a:ln w="9525">
            <a:solidFill>
              <a:srgbClr val="E2E8F0"/>
            </a:solidFill>
            <a:prstDash val="solid"/>
          </a:ln>
        </p:spPr>
        <p:txBody>
          <a:bodyPr/>
          <a:lstStyle/>
          <a:p>
            <a:endParaRPr lang="vi-VN" sz="2400" noProof="1"/>
          </a:p>
        </p:txBody>
      </p:sp>
      <p:sp>
        <p:nvSpPr>
          <p:cNvPr id="1775219853" name="Text 38"/>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1000" noProof="1">
                <a:solidFill>
                  <a:srgbClr val="8A97AB"/>
                </a:solidFill>
                <a:latin typeface="Arial"/>
                <a:ea typeface="Arial"/>
                <a:cs typeface="Arial"/>
              </a:rPr>
              <a:t>Nhóm 2 · Đồ án Cơ sở ngành 2026–2027</a:t>
            </a:r>
            <a:endParaRPr lang="vi-VN" sz="1000" noProof="1"/>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PhAnim="0">
  <p:cSld name="Slide 3">
    <p:bg>
      <p:bgPr>
        <a:solidFill>
          <a:srgbClr val="F6F8FB"/>
        </a:solidFill>
        <a:effectLst/>
      </p:bgPr>
    </p:bg>
    <p:spTree>
      <p:nvGrpSpPr>
        <p:cNvPr id="1" name=""/>
        <p:cNvGrpSpPr/>
        <p:nvPr/>
      </p:nvGrpSpPr>
      <p:grpSpPr bwMode="auto">
        <a:xfrm>
          <a:off x="0" y="0"/>
          <a:ext cx="0" cy="0"/>
          <a:chOff x="0" y="0"/>
          <a:chExt cx="0" cy="0"/>
        </a:xfrm>
      </p:grpSpPr>
      <p:sp>
        <p:nvSpPr>
          <p:cNvPr id="1171304446"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000" b="1" noProof="1">
                <a:solidFill>
                  <a:srgbClr val="B07F12"/>
                </a:solidFill>
                <a:latin typeface="Arial"/>
                <a:ea typeface="Arial"/>
                <a:cs typeface="Arial"/>
              </a:rPr>
              <a:t>1. GIỚI THIỆU ĐỀ TÀI</a:t>
            </a:r>
            <a:endParaRPr lang="vi-VN" sz="1000" noProof="1"/>
          </a:p>
        </p:txBody>
      </p:sp>
      <p:sp>
        <p:nvSpPr>
          <p:cNvPr id="1429121415" name="Text 1"/>
          <p:cNvSpPr/>
          <p:nvPr/>
        </p:nvSpPr>
        <p:spPr bwMode="auto">
          <a:xfrm>
            <a:off x="533400" y="542925"/>
            <a:ext cx="11347704" cy="359569"/>
          </a:xfrm>
          <a:prstGeom prst="rect">
            <a:avLst/>
          </a:prstGeom>
          <a:noFill/>
          <a:ln/>
        </p:spPr>
        <p:txBody>
          <a:bodyPr wrap="square" lIns="0" tIns="0" rIns="0" bIns="0" rtlCol="0" anchor="t"/>
          <a:lstStyle/>
          <a:p>
            <a:pPr marL="0" indent="0" algn="l">
              <a:lnSpc>
                <a:spcPts val="2832"/>
              </a:lnSpc>
              <a:spcAft>
                <a:spcPts val="600"/>
              </a:spcAft>
              <a:buNone/>
              <a:defRPr/>
            </a:pPr>
            <a:r>
              <a:rPr lang="vi-VN" sz="2400" b="1" noProof="1">
                <a:solidFill>
                  <a:srgbClr val="002855"/>
                </a:solidFill>
                <a:latin typeface="Arial"/>
                <a:ea typeface="Arial"/>
                <a:cs typeface="Arial"/>
              </a:rPr>
              <a:t>Mục tiêu &amp; yêu cầu của hệ thống</a:t>
            </a:r>
            <a:endParaRPr lang="vi-VN" sz="2400" noProof="1"/>
          </a:p>
        </p:txBody>
      </p:sp>
      <p:pic>
        <p:nvPicPr>
          <p:cNvPr id="1201039326" name="Image 0" descr="/var/folders/t4/q0khv7qd1r3dc2yrbwkzmjf00000gn/T/html2pptx-BplEkJ/html2pptx-bg-1791687638880-a4641591ea96a8.png"/>
          <p:cNvPicPr>
            <a:picLocks noChangeAspect="1"/>
          </p:cNvPicPr>
          <p:nvPr/>
        </p:nvPicPr>
        <p:blipFill rotWithShape="1">
          <a:blip r:embed="rId3"/>
          <a:stretch/>
        </p:blipFill>
        <p:spPr bwMode="auto">
          <a:xfrm>
            <a:off x="533400" y="978694"/>
            <a:ext cx="1047750" cy="38100"/>
          </a:xfrm>
          <a:prstGeom prst="rect">
            <a:avLst/>
          </a:prstGeom>
        </p:spPr>
      </p:pic>
      <p:sp>
        <p:nvSpPr>
          <p:cNvPr id="1683790642" name="Text 2"/>
          <p:cNvSpPr/>
          <p:nvPr/>
        </p:nvSpPr>
        <p:spPr bwMode="auto">
          <a:xfrm>
            <a:off x="533400" y="1283494"/>
            <a:ext cx="11125200" cy="1733549"/>
          </a:xfrm>
          <a:prstGeom prst="roundRect">
            <a:avLst>
              <a:gd name="adj" fmla="val 4887"/>
            </a:avLst>
          </a:prstGeom>
          <a:solidFill>
            <a:srgbClr val="FFFFFF"/>
          </a:solidFill>
          <a:ln/>
          <a:effectLst>
            <a:outerShdw blurRad="171450" dist="57150" dir="5400000" algn="bl" rotWithShape="0">
              <a:srgbClr val="002855">
                <a:alpha val="6000"/>
              </a:srgbClr>
            </a:outerShdw>
          </a:effectLst>
        </p:spPr>
        <p:txBody>
          <a:bodyPr wrap="square" rtlCol="0" anchor="ctr"/>
          <a:lstStyle/>
          <a:p>
            <a:pPr marL="0" indent="0">
              <a:buNone/>
              <a:defRPr/>
            </a:pPr>
            <a:endParaRPr lang="vi-VN" noProof="1"/>
          </a:p>
        </p:txBody>
      </p:sp>
      <p:sp>
        <p:nvSpPr>
          <p:cNvPr id="1242870066" name="Shape 3"/>
          <p:cNvSpPr/>
          <p:nvPr/>
        </p:nvSpPr>
        <p:spPr bwMode="auto">
          <a:xfrm>
            <a:off x="742950" y="1307306"/>
            <a:ext cx="10677906" cy="0"/>
          </a:xfrm>
          <a:prstGeom prst="line">
            <a:avLst/>
          </a:prstGeom>
          <a:noFill/>
          <a:ln w="47625">
            <a:solidFill>
              <a:srgbClr val="D4A017"/>
            </a:solidFill>
            <a:prstDash val="solid"/>
          </a:ln>
        </p:spPr>
        <p:txBody>
          <a:bodyPr/>
          <a:lstStyle/>
          <a:p>
            <a:endParaRPr lang="vi-VN" noProof="1"/>
          </a:p>
        </p:txBody>
      </p:sp>
      <p:sp>
        <p:nvSpPr>
          <p:cNvPr id="158340560" name="Text 7"/>
          <p:cNvSpPr/>
          <p:nvPr/>
        </p:nvSpPr>
        <p:spPr bwMode="auto">
          <a:xfrm>
            <a:off x="752475" y="1521619"/>
            <a:ext cx="419100" cy="419100"/>
          </a:xfrm>
          <a:prstGeom prst="roundRect">
            <a:avLst>
              <a:gd name="adj" fmla="val 27273"/>
            </a:avLst>
          </a:prstGeom>
          <a:solidFill>
            <a:srgbClr val="EEF3FA"/>
          </a:solidFill>
          <a:ln/>
        </p:spPr>
        <p:txBody>
          <a:bodyPr wrap="square" rtlCol="0" anchor="ctr"/>
          <a:lstStyle/>
          <a:p>
            <a:pPr marL="0" indent="0">
              <a:buNone/>
              <a:defRPr/>
            </a:pPr>
            <a:endParaRPr lang="vi-VN" noProof="1"/>
          </a:p>
        </p:txBody>
      </p:sp>
      <p:sp>
        <p:nvSpPr>
          <p:cNvPr id="1904439579" name="Text 8"/>
          <p:cNvSpPr/>
          <p:nvPr/>
        </p:nvSpPr>
        <p:spPr bwMode="auto">
          <a:xfrm>
            <a:off x="748284" y="1521619"/>
            <a:ext cx="427482" cy="419100"/>
          </a:xfrm>
          <a:prstGeom prst="rect">
            <a:avLst/>
          </a:prstGeom>
          <a:noFill/>
          <a:ln/>
        </p:spPr>
        <p:txBody>
          <a:bodyPr wrap="square" lIns="0" tIns="0" rIns="0" bIns="0" rtlCol="0" anchor="ctr"/>
          <a:lstStyle/>
          <a:p>
            <a:pPr marL="0" indent="0" algn="ctr">
              <a:spcAft>
                <a:spcPts val="900"/>
              </a:spcAft>
              <a:buNone/>
              <a:defRPr/>
            </a:pPr>
            <a:r>
              <a:rPr lang="vi-VN" sz="1600" b="1" noProof="1">
                <a:solidFill>
                  <a:srgbClr val="002855"/>
                </a:solidFill>
                <a:latin typeface="Arial"/>
                <a:ea typeface="Arial"/>
                <a:cs typeface="Arial"/>
              </a:rPr>
              <a:t>01</a:t>
            </a:r>
            <a:endParaRPr lang="vi-VN" sz="1600" noProof="1"/>
          </a:p>
        </p:txBody>
      </p:sp>
      <p:sp>
        <p:nvSpPr>
          <p:cNvPr id="1546982759" name="Text 9"/>
          <p:cNvSpPr/>
          <p:nvPr/>
        </p:nvSpPr>
        <p:spPr bwMode="auto">
          <a:xfrm>
            <a:off x="1278741" y="1581150"/>
            <a:ext cx="3180156" cy="200025"/>
          </a:xfrm>
          <a:prstGeom prst="rect">
            <a:avLst/>
          </a:prstGeom>
          <a:noFill/>
          <a:ln/>
        </p:spPr>
        <p:txBody>
          <a:bodyPr wrap="square" lIns="0" tIns="0" rIns="0" bIns="0" rtlCol="0" anchor="t"/>
          <a:lstStyle/>
          <a:p>
            <a:pPr marL="0" indent="0" algn="l">
              <a:spcAft>
                <a:spcPts val="750"/>
              </a:spcAft>
              <a:buNone/>
              <a:defRPr/>
            </a:pPr>
            <a:r>
              <a:rPr lang="vi-VN" sz="2000" b="1" noProof="1">
                <a:solidFill>
                  <a:srgbClr val="002855"/>
                </a:solidFill>
                <a:latin typeface="Arial"/>
                <a:ea typeface="Arial"/>
                <a:cs typeface="Arial"/>
              </a:rPr>
              <a:t>Mục tiêu đề tài</a:t>
            </a:r>
            <a:endParaRPr lang="vi-VN" sz="2000" noProof="1"/>
          </a:p>
        </p:txBody>
      </p:sp>
      <p:sp>
        <p:nvSpPr>
          <p:cNvPr id="2111694592" name="Text 10"/>
          <p:cNvSpPr/>
          <p:nvPr/>
        </p:nvSpPr>
        <p:spPr bwMode="auto">
          <a:xfrm>
            <a:off x="762001" y="1993392"/>
            <a:ext cx="10896599" cy="965310"/>
          </a:xfrm>
          <a:prstGeom prst="rect">
            <a:avLst/>
          </a:prstGeom>
          <a:noFill/>
          <a:ln/>
        </p:spPr>
        <p:txBody>
          <a:bodyPr wrap="square" lIns="0" tIns="0" rIns="0" bIns="76200" rtlCol="0" anchor="t"/>
          <a:lstStyle/>
          <a:p>
            <a:pPr marL="152400" indent="-152400" algn="l">
              <a:buSzPct val="100000"/>
              <a:buChar char="•"/>
              <a:defRPr/>
            </a:pPr>
            <a:r>
              <a:rPr lang="vi-VN" sz="2000" noProof="1">
                <a:solidFill>
                  <a:srgbClr val="40506B"/>
                </a:solidFill>
                <a:latin typeface="Arial"/>
                <a:ea typeface="Arial"/>
                <a:cs typeface="Arial"/>
              </a:rPr>
              <a:t>Website truyền thông riêng của Công đoàn TDMU, tích hợp AI hỗ trợ tạo &amp; đăng tải nội dung</a:t>
            </a:r>
            <a:endParaRPr lang="vi-VN" sz="2000" noProof="1"/>
          </a:p>
          <a:p>
            <a:pPr marL="152400" indent="-152400" algn="l">
              <a:buSzPct val="100000"/>
              <a:buChar char="•"/>
              <a:defRPr/>
            </a:pPr>
            <a:r>
              <a:rPr lang="vi-VN" sz="2000" noProof="1">
                <a:solidFill>
                  <a:srgbClr val="40506B"/>
                </a:solidFill>
                <a:latin typeface="Arial"/>
                <a:ea typeface="Arial"/>
                <a:cs typeface="Arial"/>
              </a:rPr>
              <a:t>Kiến trúc 3 tầng hiện đại: React SPA – Node.js –MSSQL</a:t>
            </a:r>
            <a:endParaRPr lang="vi-VN" sz="2000" noProof="1"/>
          </a:p>
          <a:p>
            <a:pPr marL="152400" indent="-152400" algn="l">
              <a:buSzPct val="100000"/>
              <a:buChar char="•"/>
              <a:defRPr/>
            </a:pPr>
            <a:r>
              <a:rPr lang="vi-VN" sz="2000" noProof="1">
                <a:solidFill>
                  <a:srgbClr val="40506B"/>
                </a:solidFill>
                <a:latin typeface="Arial"/>
                <a:ea typeface="Arial"/>
                <a:cs typeface="Arial"/>
              </a:rPr>
              <a:t>Thay quy trình thủ công bằng quy trình số hóa khép kín, minh bạch</a:t>
            </a:r>
            <a:endParaRPr lang="vi-VN" sz="2000" noProof="1"/>
          </a:p>
        </p:txBody>
      </p:sp>
      <p:sp>
        <p:nvSpPr>
          <p:cNvPr id="119018652" name="Text 11"/>
          <p:cNvSpPr/>
          <p:nvPr/>
        </p:nvSpPr>
        <p:spPr bwMode="auto">
          <a:xfrm>
            <a:off x="542926" y="3178968"/>
            <a:ext cx="4986782" cy="2819493"/>
          </a:xfrm>
          <a:prstGeom prst="roundRect">
            <a:avLst>
              <a:gd name="adj" fmla="val 4887"/>
            </a:avLst>
          </a:prstGeom>
          <a:solidFill>
            <a:srgbClr val="FFFFFF"/>
          </a:solidFill>
          <a:ln/>
          <a:effectLst>
            <a:outerShdw blurRad="171450" dist="57150" dir="5400000" algn="bl" rotWithShape="0">
              <a:srgbClr val="002855">
                <a:alpha val="6000"/>
              </a:srgbClr>
            </a:outerShdw>
          </a:effectLst>
        </p:spPr>
        <p:txBody>
          <a:bodyPr wrap="square" rtlCol="0" anchor="ctr"/>
          <a:lstStyle/>
          <a:p>
            <a:pPr marL="0" indent="0">
              <a:buNone/>
              <a:defRPr/>
            </a:pPr>
            <a:endParaRPr lang="vi-VN" noProof="1"/>
          </a:p>
        </p:txBody>
      </p:sp>
      <p:sp>
        <p:nvSpPr>
          <p:cNvPr id="872668944" name="Shape 12"/>
          <p:cNvSpPr/>
          <p:nvPr/>
        </p:nvSpPr>
        <p:spPr bwMode="auto">
          <a:xfrm>
            <a:off x="752476" y="3202781"/>
            <a:ext cx="3136850" cy="0"/>
          </a:xfrm>
          <a:prstGeom prst="line">
            <a:avLst/>
          </a:prstGeom>
          <a:noFill/>
          <a:ln w="47625">
            <a:solidFill>
              <a:srgbClr val="002855"/>
            </a:solidFill>
            <a:prstDash val="solid"/>
          </a:ln>
        </p:spPr>
        <p:txBody>
          <a:bodyPr/>
          <a:lstStyle/>
          <a:p>
            <a:endParaRPr lang="vi-VN" noProof="1"/>
          </a:p>
        </p:txBody>
      </p:sp>
      <p:sp>
        <p:nvSpPr>
          <p:cNvPr id="1401385729" name="Shape 14"/>
          <p:cNvSpPr/>
          <p:nvPr/>
        </p:nvSpPr>
        <p:spPr bwMode="auto">
          <a:xfrm>
            <a:off x="752476" y="5907881"/>
            <a:ext cx="3136850" cy="0"/>
          </a:xfrm>
          <a:prstGeom prst="line">
            <a:avLst/>
          </a:prstGeom>
          <a:noFill/>
          <a:ln w="9525">
            <a:solidFill>
              <a:srgbClr val="E3E9F2"/>
            </a:solidFill>
            <a:prstDash val="solid"/>
          </a:ln>
        </p:spPr>
        <p:txBody>
          <a:bodyPr/>
          <a:lstStyle/>
          <a:p>
            <a:endParaRPr lang="vi-VN" noProof="1"/>
          </a:p>
        </p:txBody>
      </p:sp>
      <p:sp>
        <p:nvSpPr>
          <p:cNvPr id="1263682881" name="Shape 15"/>
          <p:cNvSpPr/>
          <p:nvPr/>
        </p:nvSpPr>
        <p:spPr bwMode="auto">
          <a:xfrm>
            <a:off x="547689" y="3369469"/>
            <a:ext cx="0" cy="2347912"/>
          </a:xfrm>
          <a:prstGeom prst="line">
            <a:avLst/>
          </a:prstGeom>
          <a:noFill/>
          <a:ln w="9525">
            <a:solidFill>
              <a:srgbClr val="E3E9F2"/>
            </a:solidFill>
            <a:prstDash val="solid"/>
          </a:ln>
        </p:spPr>
        <p:txBody>
          <a:bodyPr/>
          <a:lstStyle/>
          <a:p>
            <a:endParaRPr lang="vi-VN" noProof="1"/>
          </a:p>
        </p:txBody>
      </p:sp>
      <p:sp>
        <p:nvSpPr>
          <p:cNvPr id="677722008" name="Text 16"/>
          <p:cNvSpPr/>
          <p:nvPr/>
        </p:nvSpPr>
        <p:spPr bwMode="auto">
          <a:xfrm>
            <a:off x="762001" y="3417094"/>
            <a:ext cx="419100" cy="419100"/>
          </a:xfrm>
          <a:prstGeom prst="roundRect">
            <a:avLst>
              <a:gd name="adj" fmla="val 27273"/>
            </a:avLst>
          </a:prstGeom>
          <a:solidFill>
            <a:srgbClr val="EEF3FA"/>
          </a:solidFill>
          <a:ln/>
        </p:spPr>
        <p:txBody>
          <a:bodyPr wrap="square" rtlCol="0" anchor="ctr"/>
          <a:lstStyle/>
          <a:p>
            <a:pPr marL="0" indent="0">
              <a:buNone/>
              <a:defRPr/>
            </a:pPr>
            <a:endParaRPr lang="vi-VN" noProof="1"/>
          </a:p>
        </p:txBody>
      </p:sp>
      <p:sp>
        <p:nvSpPr>
          <p:cNvPr id="1015376251" name="Text 17"/>
          <p:cNvSpPr/>
          <p:nvPr/>
        </p:nvSpPr>
        <p:spPr bwMode="auto">
          <a:xfrm>
            <a:off x="757810" y="3417094"/>
            <a:ext cx="427482" cy="419100"/>
          </a:xfrm>
          <a:prstGeom prst="rect">
            <a:avLst/>
          </a:prstGeom>
          <a:noFill/>
          <a:ln/>
        </p:spPr>
        <p:txBody>
          <a:bodyPr wrap="square" lIns="0" tIns="0" rIns="0" bIns="0" rtlCol="0" anchor="ctr"/>
          <a:lstStyle/>
          <a:p>
            <a:pPr marL="0" indent="0" algn="ctr">
              <a:spcAft>
                <a:spcPts val="900"/>
              </a:spcAft>
              <a:buNone/>
              <a:defRPr/>
            </a:pPr>
            <a:r>
              <a:rPr lang="vi-VN" sz="1600" b="1" noProof="1">
                <a:solidFill>
                  <a:srgbClr val="002855"/>
                </a:solidFill>
                <a:latin typeface="Arial"/>
                <a:ea typeface="Arial"/>
                <a:cs typeface="Arial"/>
              </a:rPr>
              <a:t>02</a:t>
            </a:r>
            <a:endParaRPr lang="vi-VN" sz="1600" noProof="1"/>
          </a:p>
        </p:txBody>
      </p:sp>
      <p:sp>
        <p:nvSpPr>
          <p:cNvPr id="851672837" name="Text 18"/>
          <p:cNvSpPr/>
          <p:nvPr/>
        </p:nvSpPr>
        <p:spPr bwMode="auto">
          <a:xfrm>
            <a:off x="1287648" y="3503679"/>
            <a:ext cx="3180156" cy="200025"/>
          </a:xfrm>
          <a:prstGeom prst="rect">
            <a:avLst/>
          </a:prstGeom>
          <a:noFill/>
          <a:ln/>
        </p:spPr>
        <p:txBody>
          <a:bodyPr wrap="square" lIns="0" tIns="0" rIns="0" bIns="0" rtlCol="0" anchor="t"/>
          <a:lstStyle/>
          <a:p>
            <a:pPr marL="0" indent="0" algn="l">
              <a:spcAft>
                <a:spcPts val="750"/>
              </a:spcAft>
              <a:buNone/>
              <a:defRPr/>
            </a:pPr>
            <a:r>
              <a:rPr lang="vi-VN" sz="2000" b="1" noProof="1">
                <a:solidFill>
                  <a:srgbClr val="002855"/>
                </a:solidFill>
                <a:latin typeface="Arial"/>
                <a:ea typeface="Arial"/>
                <a:cs typeface="Arial"/>
              </a:rPr>
              <a:t>Yêu cầu người dùng</a:t>
            </a:r>
            <a:endParaRPr lang="vi-VN" sz="2000" noProof="1"/>
          </a:p>
        </p:txBody>
      </p:sp>
      <p:sp>
        <p:nvSpPr>
          <p:cNvPr id="1160333943" name="Text 19"/>
          <p:cNvSpPr/>
          <p:nvPr/>
        </p:nvSpPr>
        <p:spPr bwMode="auto">
          <a:xfrm>
            <a:off x="742950" y="4027796"/>
            <a:ext cx="4873675" cy="1269206"/>
          </a:xfrm>
          <a:prstGeom prst="rect">
            <a:avLst/>
          </a:prstGeom>
          <a:noFill/>
          <a:ln/>
        </p:spPr>
        <p:txBody>
          <a:bodyPr wrap="square" lIns="0" tIns="0" rIns="0" bIns="76200" rtlCol="0" anchor="t"/>
          <a:lstStyle/>
          <a:p>
            <a:pPr marL="152400" indent="-152400" algn="l">
              <a:buSzPct val="100000"/>
              <a:buChar char="•"/>
              <a:defRPr/>
            </a:pPr>
            <a:r>
              <a:rPr lang="vi-VN" noProof="1">
                <a:solidFill>
                  <a:srgbClr val="40506B"/>
                </a:solidFill>
                <a:latin typeface="Arial"/>
                <a:ea typeface="Arial"/>
                <a:cs typeface="Arial"/>
              </a:rPr>
              <a:t>Tra cứu tin tức theo chuyên mục, </a:t>
            </a:r>
          </a:p>
          <a:p>
            <a:pPr algn="l">
              <a:buSzPct val="100000"/>
              <a:defRPr/>
            </a:pPr>
            <a:r>
              <a:rPr lang="vi-VN" noProof="1">
                <a:solidFill>
                  <a:srgbClr val="40506B"/>
                </a:solidFill>
                <a:latin typeface="Arial"/>
                <a:ea typeface="Arial"/>
                <a:cs typeface="Arial"/>
              </a:rPr>
              <a:t>   tìm kiếm nâng cao</a:t>
            </a:r>
            <a:endParaRPr lang="vi-VN" noProof="1"/>
          </a:p>
          <a:p>
            <a:pPr marL="152400" indent="-152400" algn="l">
              <a:buSzPct val="100000"/>
              <a:buChar char="•"/>
              <a:defRPr/>
            </a:pPr>
            <a:r>
              <a:rPr lang="vi-VN" noProof="1">
                <a:solidFill>
                  <a:srgbClr val="40506B"/>
                </a:solidFill>
                <a:latin typeface="Arial"/>
                <a:ea typeface="Arial"/>
                <a:cs typeface="Arial"/>
              </a:rPr>
              <a:t>Xem bài viết báo chí</a:t>
            </a:r>
            <a:endParaRPr lang="vi-VN" noProof="1"/>
          </a:p>
          <a:p>
            <a:pPr marL="152400" indent="-152400" algn="l">
              <a:buSzPct val="100000"/>
              <a:buChar char="•"/>
              <a:defRPr/>
            </a:pPr>
            <a:r>
              <a:rPr lang="vi-VN" noProof="1">
                <a:solidFill>
                  <a:srgbClr val="40506B"/>
                </a:solidFill>
                <a:latin typeface="Arial"/>
                <a:ea typeface="Arial"/>
                <a:cs typeface="Arial"/>
              </a:rPr>
              <a:t>Tương tác với bài, chia sẻ Facebook/Zalo</a:t>
            </a:r>
          </a:p>
          <a:p>
            <a:pPr marL="152400" indent="-152400" algn="l">
              <a:buSzPct val="100000"/>
              <a:buChar char="•"/>
              <a:defRPr/>
            </a:pPr>
            <a:r>
              <a:rPr lang="vi-VN" noProof="1">
                <a:solidFill>
                  <a:srgbClr val="40506B"/>
                </a:solidFill>
                <a:latin typeface="Arial"/>
                <a:ea typeface="Arial"/>
                <a:cs typeface="Arial"/>
              </a:rPr>
              <a:t>Giao diện tối ưu trên PC, Tablet, Smartphone</a:t>
            </a:r>
            <a:endParaRPr lang="vi-VN" noProof="1"/>
          </a:p>
        </p:txBody>
      </p:sp>
      <p:sp>
        <p:nvSpPr>
          <p:cNvPr id="1597045743" name="Text 20"/>
          <p:cNvSpPr/>
          <p:nvPr/>
        </p:nvSpPr>
        <p:spPr bwMode="auto">
          <a:xfrm>
            <a:off x="6158180" y="3175397"/>
            <a:ext cx="5486131" cy="2819493"/>
          </a:xfrm>
          <a:prstGeom prst="roundRect">
            <a:avLst>
              <a:gd name="adj" fmla="val 4887"/>
            </a:avLst>
          </a:prstGeom>
          <a:solidFill>
            <a:srgbClr val="FFFFFF"/>
          </a:solidFill>
          <a:ln/>
          <a:effectLst>
            <a:outerShdw blurRad="171450" dist="57150" dir="5400000" algn="bl" rotWithShape="0">
              <a:srgbClr val="002855">
                <a:alpha val="6000"/>
              </a:srgbClr>
            </a:outerShdw>
          </a:effectLst>
        </p:spPr>
        <p:txBody>
          <a:bodyPr wrap="square" rtlCol="0" anchor="ctr"/>
          <a:lstStyle/>
          <a:p>
            <a:pPr marL="0" indent="0">
              <a:buNone/>
              <a:defRPr/>
            </a:pPr>
            <a:endParaRPr lang="vi-VN" noProof="1"/>
          </a:p>
        </p:txBody>
      </p:sp>
      <p:sp>
        <p:nvSpPr>
          <p:cNvPr id="1454527346" name="Shape 21"/>
          <p:cNvSpPr/>
          <p:nvPr/>
        </p:nvSpPr>
        <p:spPr bwMode="auto">
          <a:xfrm>
            <a:off x="6367730" y="3199209"/>
            <a:ext cx="3136999" cy="0"/>
          </a:xfrm>
          <a:prstGeom prst="line">
            <a:avLst/>
          </a:prstGeom>
          <a:noFill/>
          <a:ln w="47625">
            <a:solidFill>
              <a:srgbClr val="002855"/>
            </a:solidFill>
            <a:prstDash val="solid"/>
          </a:ln>
        </p:spPr>
        <p:txBody>
          <a:bodyPr/>
          <a:lstStyle/>
          <a:p>
            <a:endParaRPr lang="vi-VN" noProof="1"/>
          </a:p>
        </p:txBody>
      </p:sp>
      <p:sp>
        <p:nvSpPr>
          <p:cNvPr id="508585135" name="Shape 23"/>
          <p:cNvSpPr/>
          <p:nvPr/>
        </p:nvSpPr>
        <p:spPr bwMode="auto">
          <a:xfrm>
            <a:off x="6367730" y="5904309"/>
            <a:ext cx="3136999" cy="0"/>
          </a:xfrm>
          <a:prstGeom prst="line">
            <a:avLst/>
          </a:prstGeom>
          <a:noFill/>
          <a:ln w="9525">
            <a:solidFill>
              <a:srgbClr val="E3E9F2"/>
            </a:solidFill>
            <a:prstDash val="solid"/>
          </a:ln>
        </p:spPr>
        <p:txBody>
          <a:bodyPr/>
          <a:lstStyle/>
          <a:p>
            <a:endParaRPr lang="vi-VN" noProof="1"/>
          </a:p>
        </p:txBody>
      </p:sp>
      <p:sp>
        <p:nvSpPr>
          <p:cNvPr id="1054193073" name="Shape 24"/>
          <p:cNvSpPr/>
          <p:nvPr/>
        </p:nvSpPr>
        <p:spPr bwMode="auto">
          <a:xfrm>
            <a:off x="6162942" y="3365897"/>
            <a:ext cx="0" cy="2347912"/>
          </a:xfrm>
          <a:prstGeom prst="line">
            <a:avLst/>
          </a:prstGeom>
          <a:noFill/>
          <a:ln w="9525">
            <a:solidFill>
              <a:srgbClr val="E3E9F2"/>
            </a:solidFill>
            <a:prstDash val="solid"/>
          </a:ln>
        </p:spPr>
        <p:txBody>
          <a:bodyPr/>
          <a:lstStyle/>
          <a:p>
            <a:endParaRPr lang="vi-VN" noProof="1"/>
          </a:p>
        </p:txBody>
      </p:sp>
      <p:sp>
        <p:nvSpPr>
          <p:cNvPr id="38648754" name="Text 25"/>
          <p:cNvSpPr/>
          <p:nvPr/>
        </p:nvSpPr>
        <p:spPr bwMode="auto">
          <a:xfrm>
            <a:off x="6377255" y="3413522"/>
            <a:ext cx="419100" cy="419100"/>
          </a:xfrm>
          <a:prstGeom prst="roundRect">
            <a:avLst>
              <a:gd name="adj" fmla="val 27273"/>
            </a:avLst>
          </a:prstGeom>
          <a:solidFill>
            <a:srgbClr val="EEF3FA"/>
          </a:solidFill>
          <a:ln/>
        </p:spPr>
        <p:txBody>
          <a:bodyPr wrap="square" rtlCol="0" anchor="ctr"/>
          <a:lstStyle/>
          <a:p>
            <a:pPr marL="0" indent="0">
              <a:buNone/>
              <a:defRPr/>
            </a:pPr>
            <a:endParaRPr lang="vi-VN" noProof="1"/>
          </a:p>
        </p:txBody>
      </p:sp>
      <p:sp>
        <p:nvSpPr>
          <p:cNvPr id="1783980578" name="Text 26"/>
          <p:cNvSpPr/>
          <p:nvPr/>
        </p:nvSpPr>
        <p:spPr bwMode="auto">
          <a:xfrm>
            <a:off x="6373064" y="3413522"/>
            <a:ext cx="427482" cy="419100"/>
          </a:xfrm>
          <a:prstGeom prst="rect">
            <a:avLst/>
          </a:prstGeom>
          <a:noFill/>
          <a:ln/>
        </p:spPr>
        <p:txBody>
          <a:bodyPr wrap="square" lIns="0" tIns="0" rIns="0" bIns="0" rtlCol="0" anchor="ctr"/>
          <a:lstStyle/>
          <a:p>
            <a:pPr marL="0" indent="0" algn="ctr">
              <a:spcAft>
                <a:spcPts val="900"/>
              </a:spcAft>
              <a:buNone/>
              <a:defRPr/>
            </a:pPr>
            <a:r>
              <a:rPr lang="vi-VN" sz="1600" b="1" noProof="1">
                <a:solidFill>
                  <a:srgbClr val="002855"/>
                </a:solidFill>
                <a:latin typeface="Arial"/>
                <a:ea typeface="Arial"/>
                <a:cs typeface="Arial"/>
              </a:rPr>
              <a:t>03</a:t>
            </a:r>
            <a:endParaRPr lang="vi-VN" sz="1600" noProof="1"/>
          </a:p>
        </p:txBody>
      </p:sp>
      <p:sp>
        <p:nvSpPr>
          <p:cNvPr id="735394977" name="Text 27"/>
          <p:cNvSpPr/>
          <p:nvPr/>
        </p:nvSpPr>
        <p:spPr bwMode="auto">
          <a:xfrm>
            <a:off x="6875945" y="3493387"/>
            <a:ext cx="3180308" cy="200025"/>
          </a:xfrm>
          <a:prstGeom prst="rect">
            <a:avLst/>
          </a:prstGeom>
          <a:noFill/>
          <a:ln/>
        </p:spPr>
        <p:txBody>
          <a:bodyPr wrap="square" lIns="0" tIns="0" rIns="0" bIns="0" rtlCol="0" anchor="t"/>
          <a:lstStyle/>
          <a:p>
            <a:pPr marL="0" indent="0" algn="l">
              <a:spcAft>
                <a:spcPts val="750"/>
              </a:spcAft>
              <a:buNone/>
              <a:defRPr/>
            </a:pPr>
            <a:r>
              <a:rPr lang="vi-VN" sz="2000" b="1" noProof="1">
                <a:solidFill>
                  <a:srgbClr val="002855"/>
                </a:solidFill>
                <a:latin typeface="Arial"/>
                <a:ea typeface="Arial"/>
                <a:cs typeface="Arial"/>
              </a:rPr>
              <a:t>Yêu cầu quản lý</a:t>
            </a:r>
            <a:endParaRPr lang="vi-VN" sz="2000" noProof="1"/>
          </a:p>
        </p:txBody>
      </p:sp>
      <p:sp>
        <p:nvSpPr>
          <p:cNvPr id="2001075406" name="Text 28"/>
          <p:cNvSpPr/>
          <p:nvPr/>
        </p:nvSpPr>
        <p:spPr bwMode="auto">
          <a:xfrm>
            <a:off x="6367730" y="3908914"/>
            <a:ext cx="5052745" cy="1462088"/>
          </a:xfrm>
          <a:prstGeom prst="rect">
            <a:avLst/>
          </a:prstGeom>
          <a:noFill/>
          <a:ln/>
        </p:spPr>
        <p:txBody>
          <a:bodyPr wrap="square" lIns="0" tIns="0" rIns="0" bIns="76200" rtlCol="0" anchor="t"/>
          <a:lstStyle/>
          <a:p>
            <a:pPr marL="152400" indent="-152400" algn="l">
              <a:buSzPct val="100000"/>
              <a:buChar char="•"/>
              <a:defRPr/>
            </a:pPr>
            <a:r>
              <a:rPr lang="vi-VN" noProof="1">
                <a:solidFill>
                  <a:srgbClr val="40506B"/>
                </a:solidFill>
                <a:latin typeface="Arial"/>
                <a:ea typeface="Arial"/>
                <a:cs typeface="Arial"/>
              </a:rPr>
              <a:t>Phân quyền RBAC: Admin / Editor / Contributor</a:t>
            </a:r>
            <a:endParaRPr lang="vi-VN" noProof="1"/>
          </a:p>
          <a:p>
            <a:pPr marL="152400" indent="-152400" algn="l">
              <a:buSzPct val="100000"/>
              <a:buChar char="•"/>
              <a:defRPr/>
            </a:pPr>
            <a:r>
              <a:rPr lang="vi-VN" noProof="1">
                <a:solidFill>
                  <a:srgbClr val="40506B"/>
                </a:solidFill>
                <a:latin typeface="Arial"/>
                <a:ea typeface="Arial"/>
                <a:cs typeface="Arial"/>
              </a:rPr>
              <a:t>Kiểm duyệt 4 bước: Nháp → Chờ duyệt → Duyệt → Xuất bản</a:t>
            </a:r>
            <a:endParaRPr lang="vi-VN" noProof="1"/>
          </a:p>
          <a:p>
            <a:pPr marL="152400" indent="-152400" algn="l">
              <a:buSzPct val="100000"/>
              <a:buChar char="•"/>
              <a:defRPr/>
            </a:pPr>
            <a:r>
              <a:rPr lang="vi-VN" noProof="1">
                <a:solidFill>
                  <a:srgbClr val="40506B"/>
                </a:solidFill>
                <a:latin typeface="Arial"/>
                <a:ea typeface="Arial"/>
                <a:cs typeface="Arial"/>
              </a:rPr>
              <a:t>AI Studio hỗ trợ sinh bài, gợi ý tiêu đề, tóm tắt</a:t>
            </a:r>
            <a:endParaRPr lang="vi-VN" noProof="1"/>
          </a:p>
          <a:p>
            <a:pPr marL="152400" indent="-152400" algn="l">
              <a:buSzPct val="100000"/>
              <a:buChar char="•"/>
              <a:defRPr/>
            </a:pPr>
            <a:r>
              <a:rPr lang="vi-VN" noProof="1">
                <a:solidFill>
                  <a:srgbClr val="40506B"/>
                </a:solidFill>
                <a:latin typeface="Arial"/>
                <a:ea typeface="Arial"/>
                <a:cs typeface="Arial"/>
              </a:rPr>
              <a:t>Hẹn giờ xuất bản, đồng bộ Fanpage, Dashboard thống kê</a:t>
            </a:r>
            <a:endParaRPr lang="vi-VN" noProof="1"/>
          </a:p>
        </p:txBody>
      </p:sp>
      <p:sp>
        <p:nvSpPr>
          <p:cNvPr id="1465018155" name="Shape 31"/>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42990271" name="Text 32"/>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PhAnim="0">
  <p:cSld name="Slide 4">
    <p:bg>
      <p:bgPr>
        <a:solidFill>
          <a:srgbClr val="F6F8FB"/>
        </a:solidFill>
        <a:effectLst/>
      </p:bgPr>
    </p:bg>
    <p:spTree>
      <p:nvGrpSpPr>
        <p:cNvPr id="1" name=""/>
        <p:cNvGrpSpPr/>
        <p:nvPr/>
      </p:nvGrpSpPr>
      <p:grpSpPr bwMode="auto">
        <a:xfrm>
          <a:off x="0" y="0"/>
          <a:ext cx="0" cy="0"/>
          <a:chOff x="0" y="0"/>
          <a:chExt cx="0" cy="0"/>
        </a:xfrm>
      </p:grpSpPr>
      <p:sp>
        <p:nvSpPr>
          <p:cNvPr id="1074498975"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000" b="1" noProof="1">
                <a:solidFill>
                  <a:srgbClr val="B07F12"/>
                </a:solidFill>
                <a:latin typeface="Arial"/>
                <a:ea typeface="Arial"/>
                <a:cs typeface="Arial"/>
              </a:rPr>
              <a:t>2. PHÂN TÍCH YÊU CẦU</a:t>
            </a:r>
            <a:endParaRPr lang="vi-VN" sz="1000" noProof="1"/>
          </a:p>
        </p:txBody>
      </p:sp>
      <p:sp>
        <p:nvSpPr>
          <p:cNvPr id="1059015700" name="Text 1"/>
          <p:cNvSpPr/>
          <p:nvPr/>
        </p:nvSpPr>
        <p:spPr bwMode="auto">
          <a:xfrm>
            <a:off x="533400" y="542925"/>
            <a:ext cx="11347704" cy="359569"/>
          </a:xfrm>
          <a:prstGeom prst="rect">
            <a:avLst/>
          </a:prstGeom>
          <a:noFill/>
          <a:ln/>
        </p:spPr>
        <p:txBody>
          <a:bodyPr wrap="square" lIns="0" tIns="0" rIns="0" bIns="0" rtlCol="0" anchor="t"/>
          <a:lstStyle/>
          <a:p>
            <a:pPr marL="0" indent="0" algn="l">
              <a:lnSpc>
                <a:spcPts val="2832"/>
              </a:lnSpc>
              <a:spcAft>
                <a:spcPts val="600"/>
              </a:spcAft>
              <a:buNone/>
              <a:defRPr/>
            </a:pPr>
            <a:r>
              <a:rPr lang="vi-VN" sz="2400" b="1" noProof="1">
                <a:solidFill>
                  <a:srgbClr val="002855"/>
                </a:solidFill>
                <a:latin typeface="Arial"/>
                <a:ea typeface="Arial"/>
                <a:cs typeface="Arial"/>
              </a:rPr>
              <a:t>Các chức năng chính — Cổng thông tin công chúng &amp; đoàn viên</a:t>
            </a:r>
            <a:endParaRPr lang="vi-VN" sz="2400" noProof="1"/>
          </a:p>
        </p:txBody>
      </p:sp>
      <p:pic>
        <p:nvPicPr>
          <p:cNvPr id="1209397928" name="Image 0" descr="/var/folders/t4/q0khv7qd1r3dc2yrbwkzmjf00000gn/T/html2pptx-nqhyar/html2pptx-bg-1791687640399-666125c3823468.png"/>
          <p:cNvPicPr>
            <a:picLocks noChangeAspect="1"/>
          </p:cNvPicPr>
          <p:nvPr/>
        </p:nvPicPr>
        <p:blipFill rotWithShape="1">
          <a:blip r:embed="rId3"/>
          <a:stretch/>
        </p:blipFill>
        <p:spPr bwMode="auto">
          <a:xfrm>
            <a:off x="533400" y="978694"/>
            <a:ext cx="1047750" cy="38100"/>
          </a:xfrm>
          <a:prstGeom prst="rect">
            <a:avLst/>
          </a:prstGeom>
        </p:spPr>
      </p:pic>
      <p:sp>
        <p:nvSpPr>
          <p:cNvPr id="678543229" name="Text 2"/>
          <p:cNvSpPr/>
          <p:nvPr/>
        </p:nvSpPr>
        <p:spPr bwMode="auto">
          <a:xfrm>
            <a:off x="533399" y="1264444"/>
            <a:ext cx="5016551" cy="2152650"/>
          </a:xfrm>
          <a:prstGeom prst="roundRect">
            <a:avLst>
              <a:gd name="adj" fmla="val 6195"/>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sz="2400" noProof="1"/>
          </a:p>
        </p:txBody>
      </p:sp>
      <p:sp>
        <p:nvSpPr>
          <p:cNvPr id="1316152353" name="Text 3"/>
          <p:cNvSpPr/>
          <p:nvPr/>
        </p:nvSpPr>
        <p:spPr bwMode="auto">
          <a:xfrm>
            <a:off x="733424" y="1426369"/>
            <a:ext cx="340348" cy="323850"/>
          </a:xfrm>
          <a:prstGeom prst="roundRect">
            <a:avLst>
              <a:gd name="adj" fmla="val 26471"/>
            </a:avLst>
          </a:prstGeom>
          <a:solidFill>
            <a:srgbClr val="002855"/>
          </a:solidFill>
          <a:ln/>
        </p:spPr>
        <p:txBody>
          <a:bodyPr wrap="square" rtlCol="0" anchor="ctr"/>
          <a:lstStyle/>
          <a:p>
            <a:pPr marL="0" indent="0">
              <a:buNone/>
              <a:defRPr/>
            </a:pPr>
            <a:endParaRPr lang="vi-VN" sz="2400" noProof="1"/>
          </a:p>
        </p:txBody>
      </p:sp>
      <p:sp>
        <p:nvSpPr>
          <p:cNvPr id="1300277468" name="Text 4"/>
          <p:cNvSpPr/>
          <p:nvPr/>
        </p:nvSpPr>
        <p:spPr bwMode="auto">
          <a:xfrm>
            <a:off x="730187" y="1426369"/>
            <a:ext cx="347155" cy="323850"/>
          </a:xfrm>
          <a:prstGeom prst="rect">
            <a:avLst/>
          </a:prstGeom>
          <a:noFill/>
          <a:ln/>
        </p:spPr>
        <p:txBody>
          <a:bodyPr wrap="square" lIns="0" tIns="0" rIns="0" bIns="0" rtlCol="0" anchor="ctr"/>
          <a:lstStyle/>
          <a:p>
            <a:pPr marL="0" indent="0" algn="ctr">
              <a:buNone/>
              <a:defRPr/>
            </a:pPr>
            <a:r>
              <a:rPr lang="vi-VN" sz="1400" b="1" noProof="1">
                <a:solidFill>
                  <a:srgbClr val="F6E7BD"/>
                </a:solidFill>
                <a:latin typeface="Arial"/>
                <a:ea typeface="Arial"/>
                <a:cs typeface="Arial"/>
              </a:rPr>
              <a:t>01</a:t>
            </a:r>
            <a:endParaRPr lang="vi-VN" sz="1400" noProof="1"/>
          </a:p>
        </p:txBody>
      </p:sp>
      <p:sp>
        <p:nvSpPr>
          <p:cNvPr id="503144253" name="Text 5"/>
          <p:cNvSpPr/>
          <p:nvPr/>
        </p:nvSpPr>
        <p:spPr bwMode="auto">
          <a:xfrm>
            <a:off x="1172997" y="1447802"/>
            <a:ext cx="4112121" cy="247650"/>
          </a:xfrm>
          <a:prstGeom prst="rect">
            <a:avLst/>
          </a:prstGeom>
          <a:noFill/>
          <a:ln/>
        </p:spPr>
        <p:txBody>
          <a:bodyPr wrap="square" lIns="0" tIns="0" rIns="0" bIns="0" rtlCol="0" anchor="t"/>
          <a:lstStyle/>
          <a:p>
            <a:pPr marL="0" indent="0" algn="l">
              <a:buNone/>
              <a:defRPr/>
            </a:pPr>
            <a:r>
              <a:rPr lang="vi-VN" sz="2000" b="1" noProof="1">
                <a:solidFill>
                  <a:srgbClr val="002855"/>
                </a:solidFill>
                <a:latin typeface="Arial"/>
                <a:ea typeface="Arial"/>
                <a:cs typeface="Arial"/>
              </a:rPr>
              <a:t>Tin tức &amp; tìm kiếm nâng cao</a:t>
            </a:r>
            <a:endParaRPr lang="vi-VN" sz="2000" noProof="1"/>
          </a:p>
        </p:txBody>
      </p:sp>
      <p:sp>
        <p:nvSpPr>
          <p:cNvPr id="962317796" name="Text 6"/>
          <p:cNvSpPr/>
          <p:nvPr/>
        </p:nvSpPr>
        <p:spPr bwMode="auto">
          <a:xfrm>
            <a:off x="733423" y="1826419"/>
            <a:ext cx="3423849" cy="371475"/>
          </a:xfrm>
          <a:prstGeom prst="rect">
            <a:avLst/>
          </a:prstGeom>
          <a:noFill/>
          <a:ln/>
        </p:spPr>
        <p:txBody>
          <a:bodyPr wrap="square" lIns="0" tIns="0" rIns="0" bIns="0" rtlCol="0" anchor="t"/>
          <a:lstStyle/>
          <a:p>
            <a:pPr marL="0" indent="0" algn="l">
              <a:lnSpc>
                <a:spcPts val="1463"/>
              </a:lnSpc>
              <a:buNone/>
              <a:defRPr/>
            </a:pPr>
            <a:r>
              <a:rPr lang="vi-VN" sz="1100" noProof="1">
                <a:solidFill>
                  <a:srgbClr val="4A5A72"/>
                </a:solidFill>
                <a:latin typeface="Arial"/>
                <a:ea typeface="Arial"/>
                <a:cs typeface="Arial"/>
              </a:rPr>
              <a:t>Lọc theo 5 chuyên mục · tìm kiếm toàn văn theo từ khóa, tác giả, thời gian · danh sách chia trang.</a:t>
            </a:r>
            <a:endParaRPr lang="vi-VN" sz="1100" noProof="1"/>
          </a:p>
        </p:txBody>
      </p:sp>
      <p:sp>
        <p:nvSpPr>
          <p:cNvPr id="2126577439" name="Text 7"/>
          <p:cNvSpPr/>
          <p:nvPr/>
        </p:nvSpPr>
        <p:spPr bwMode="auto">
          <a:xfrm>
            <a:off x="6442024" y="1269208"/>
            <a:ext cx="5016551" cy="2152650"/>
          </a:xfrm>
          <a:prstGeom prst="roundRect">
            <a:avLst>
              <a:gd name="adj" fmla="val 6195"/>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sz="2400" noProof="1"/>
          </a:p>
        </p:txBody>
      </p:sp>
      <p:sp>
        <p:nvSpPr>
          <p:cNvPr id="2073135920" name="Text 8"/>
          <p:cNvSpPr/>
          <p:nvPr/>
        </p:nvSpPr>
        <p:spPr bwMode="auto">
          <a:xfrm>
            <a:off x="6642050" y="1431133"/>
            <a:ext cx="340348" cy="323850"/>
          </a:xfrm>
          <a:prstGeom prst="roundRect">
            <a:avLst>
              <a:gd name="adj" fmla="val 26471"/>
            </a:avLst>
          </a:prstGeom>
          <a:solidFill>
            <a:srgbClr val="002855"/>
          </a:solidFill>
          <a:ln/>
        </p:spPr>
        <p:txBody>
          <a:bodyPr wrap="square" rtlCol="0" anchor="ctr"/>
          <a:lstStyle/>
          <a:p>
            <a:pPr marL="0" indent="0">
              <a:buNone/>
              <a:defRPr/>
            </a:pPr>
            <a:endParaRPr lang="vi-VN" sz="2400" noProof="1"/>
          </a:p>
        </p:txBody>
      </p:sp>
      <p:sp>
        <p:nvSpPr>
          <p:cNvPr id="408462836" name="Text 9"/>
          <p:cNvSpPr/>
          <p:nvPr/>
        </p:nvSpPr>
        <p:spPr bwMode="auto">
          <a:xfrm>
            <a:off x="6638812" y="1431133"/>
            <a:ext cx="347155" cy="323850"/>
          </a:xfrm>
          <a:prstGeom prst="rect">
            <a:avLst/>
          </a:prstGeom>
          <a:noFill/>
          <a:ln/>
        </p:spPr>
        <p:txBody>
          <a:bodyPr wrap="square" lIns="0" tIns="0" rIns="0" bIns="0" rtlCol="0" anchor="ctr"/>
          <a:lstStyle/>
          <a:p>
            <a:pPr marL="0" indent="0" algn="ctr">
              <a:buNone/>
              <a:defRPr/>
            </a:pPr>
            <a:r>
              <a:rPr lang="vi-VN" sz="1400" b="1" noProof="1">
                <a:solidFill>
                  <a:srgbClr val="F6E7BD"/>
                </a:solidFill>
                <a:latin typeface="Arial"/>
                <a:ea typeface="Arial"/>
                <a:cs typeface="Arial"/>
              </a:rPr>
              <a:t>02</a:t>
            </a:r>
            <a:endParaRPr lang="vi-VN" sz="1400" noProof="1"/>
          </a:p>
        </p:txBody>
      </p:sp>
      <p:sp>
        <p:nvSpPr>
          <p:cNvPr id="95561688" name="Text 10"/>
          <p:cNvSpPr/>
          <p:nvPr/>
        </p:nvSpPr>
        <p:spPr bwMode="auto">
          <a:xfrm>
            <a:off x="7081622" y="1452566"/>
            <a:ext cx="3978325" cy="247650"/>
          </a:xfrm>
          <a:prstGeom prst="rect">
            <a:avLst/>
          </a:prstGeom>
          <a:noFill/>
          <a:ln/>
        </p:spPr>
        <p:txBody>
          <a:bodyPr wrap="square" lIns="0" tIns="0" rIns="0" bIns="0" rtlCol="0" anchor="t"/>
          <a:lstStyle/>
          <a:p>
            <a:pPr marL="0" indent="0" algn="l">
              <a:buNone/>
              <a:defRPr/>
            </a:pPr>
            <a:r>
              <a:rPr lang="vi-VN" sz="2000" b="1" noProof="1">
                <a:solidFill>
                  <a:srgbClr val="002855"/>
                </a:solidFill>
                <a:latin typeface="Arial"/>
                <a:ea typeface="Arial"/>
                <a:cs typeface="Arial"/>
              </a:rPr>
              <a:t>Xem bài viết đa phương tiện</a:t>
            </a:r>
            <a:endParaRPr lang="vi-VN" sz="2000" noProof="1"/>
          </a:p>
        </p:txBody>
      </p:sp>
      <p:sp>
        <p:nvSpPr>
          <p:cNvPr id="1756118230" name="Text 11"/>
          <p:cNvSpPr/>
          <p:nvPr/>
        </p:nvSpPr>
        <p:spPr bwMode="auto">
          <a:xfrm>
            <a:off x="6642049" y="1831183"/>
            <a:ext cx="3423849" cy="371475"/>
          </a:xfrm>
          <a:prstGeom prst="rect">
            <a:avLst/>
          </a:prstGeom>
          <a:noFill/>
          <a:ln/>
        </p:spPr>
        <p:txBody>
          <a:bodyPr wrap="square" lIns="0" tIns="0" rIns="0" bIns="0" rtlCol="0" anchor="t"/>
          <a:lstStyle/>
          <a:p>
            <a:pPr marL="0" indent="0" algn="l">
              <a:lnSpc>
                <a:spcPts val="1463"/>
              </a:lnSpc>
              <a:buNone/>
              <a:defRPr/>
            </a:pPr>
            <a:r>
              <a:rPr lang="vi-VN" sz="1100" noProof="1">
                <a:solidFill>
                  <a:srgbClr val="4A5A72"/>
                </a:solidFill>
                <a:latin typeface="Arial"/>
                <a:ea typeface="Arial"/>
                <a:cs typeface="Arial"/>
              </a:rPr>
              <a:t>Giao diện chuẩn báo chí (Headline–Sapo–Body), album ảnh độ phân giải cao, video nhúng, văn bản đính kèm.</a:t>
            </a:r>
            <a:endParaRPr lang="vi-VN" sz="1100" noProof="1"/>
          </a:p>
        </p:txBody>
      </p:sp>
      <p:sp>
        <p:nvSpPr>
          <p:cNvPr id="180671454" name="Text 12"/>
          <p:cNvSpPr/>
          <p:nvPr/>
        </p:nvSpPr>
        <p:spPr bwMode="auto">
          <a:xfrm>
            <a:off x="553873" y="3655219"/>
            <a:ext cx="5016760" cy="2152650"/>
          </a:xfrm>
          <a:prstGeom prst="roundRect">
            <a:avLst>
              <a:gd name="adj" fmla="val 6195"/>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sz="2400" noProof="1"/>
          </a:p>
        </p:txBody>
      </p:sp>
      <p:sp>
        <p:nvSpPr>
          <p:cNvPr id="941840615" name="Text 13"/>
          <p:cNvSpPr/>
          <p:nvPr/>
        </p:nvSpPr>
        <p:spPr bwMode="auto">
          <a:xfrm>
            <a:off x="753898" y="3817144"/>
            <a:ext cx="340348" cy="323850"/>
          </a:xfrm>
          <a:prstGeom prst="roundRect">
            <a:avLst>
              <a:gd name="adj" fmla="val 26471"/>
            </a:avLst>
          </a:prstGeom>
          <a:solidFill>
            <a:srgbClr val="002855"/>
          </a:solidFill>
          <a:ln/>
        </p:spPr>
        <p:txBody>
          <a:bodyPr wrap="square" rtlCol="0" anchor="ctr"/>
          <a:lstStyle/>
          <a:p>
            <a:pPr marL="0" indent="0">
              <a:buNone/>
              <a:defRPr/>
            </a:pPr>
            <a:endParaRPr lang="vi-VN" sz="2400" noProof="1"/>
          </a:p>
        </p:txBody>
      </p:sp>
      <p:sp>
        <p:nvSpPr>
          <p:cNvPr id="974009373" name="Text 14"/>
          <p:cNvSpPr/>
          <p:nvPr/>
        </p:nvSpPr>
        <p:spPr bwMode="auto">
          <a:xfrm>
            <a:off x="750659" y="3817144"/>
            <a:ext cx="347155" cy="323850"/>
          </a:xfrm>
          <a:prstGeom prst="rect">
            <a:avLst/>
          </a:prstGeom>
          <a:noFill/>
          <a:ln/>
        </p:spPr>
        <p:txBody>
          <a:bodyPr wrap="square" lIns="0" tIns="0" rIns="0" bIns="0" rtlCol="0" anchor="ctr"/>
          <a:lstStyle/>
          <a:p>
            <a:pPr marL="0" indent="0" algn="ctr">
              <a:buNone/>
              <a:defRPr/>
            </a:pPr>
            <a:r>
              <a:rPr lang="vi-VN" sz="1400" b="1" noProof="1">
                <a:solidFill>
                  <a:srgbClr val="F6E7BD"/>
                </a:solidFill>
                <a:latin typeface="Arial"/>
                <a:ea typeface="Arial"/>
                <a:cs typeface="Arial"/>
              </a:rPr>
              <a:t>03</a:t>
            </a:r>
            <a:endParaRPr lang="vi-VN" sz="1400" noProof="1"/>
          </a:p>
        </p:txBody>
      </p:sp>
      <p:sp>
        <p:nvSpPr>
          <p:cNvPr id="708537714" name="Text 15"/>
          <p:cNvSpPr/>
          <p:nvPr/>
        </p:nvSpPr>
        <p:spPr bwMode="auto">
          <a:xfrm>
            <a:off x="1193469" y="3838576"/>
            <a:ext cx="3008214" cy="220133"/>
          </a:xfrm>
          <a:prstGeom prst="rect">
            <a:avLst/>
          </a:prstGeom>
          <a:noFill/>
          <a:ln/>
        </p:spPr>
        <p:txBody>
          <a:bodyPr wrap="square" lIns="0" tIns="0" rIns="0" bIns="0" rtlCol="0" anchor="t"/>
          <a:lstStyle/>
          <a:p>
            <a:pPr marL="0" indent="0" algn="l">
              <a:buNone/>
              <a:defRPr/>
            </a:pPr>
            <a:r>
              <a:rPr lang="vi-VN" sz="2000" b="1" noProof="1">
                <a:solidFill>
                  <a:srgbClr val="002855"/>
                </a:solidFill>
                <a:latin typeface="Arial"/>
                <a:ea typeface="Arial"/>
                <a:cs typeface="Arial"/>
              </a:rPr>
              <a:t>Tương tác độc giả</a:t>
            </a:r>
            <a:endParaRPr lang="vi-VN" sz="2000" noProof="1"/>
          </a:p>
        </p:txBody>
      </p:sp>
      <p:sp>
        <p:nvSpPr>
          <p:cNvPr id="508787004" name="Text 16"/>
          <p:cNvSpPr/>
          <p:nvPr/>
        </p:nvSpPr>
        <p:spPr bwMode="auto">
          <a:xfrm>
            <a:off x="753898" y="4217194"/>
            <a:ext cx="3424008" cy="371475"/>
          </a:xfrm>
          <a:prstGeom prst="rect">
            <a:avLst/>
          </a:prstGeom>
          <a:noFill/>
          <a:ln/>
        </p:spPr>
        <p:txBody>
          <a:bodyPr wrap="square" lIns="0" tIns="0" rIns="0" bIns="0" rtlCol="0" anchor="t"/>
          <a:lstStyle/>
          <a:p>
            <a:pPr marL="0" indent="0" algn="l">
              <a:lnSpc>
                <a:spcPts val="1463"/>
              </a:lnSpc>
              <a:buNone/>
              <a:defRPr/>
            </a:pPr>
            <a:r>
              <a:rPr lang="vi-VN" sz="1100" noProof="1">
                <a:solidFill>
                  <a:srgbClr val="4A5A72"/>
                </a:solidFill>
                <a:latin typeface="Arial"/>
                <a:ea typeface="Arial"/>
                <a:cs typeface="Arial"/>
              </a:rPr>
              <a:t>Thích (Like) · bình luận · chia sẻ nhanh Facebook/Zalo.</a:t>
            </a:r>
            <a:endParaRPr lang="vi-VN" sz="1100" noProof="1"/>
          </a:p>
        </p:txBody>
      </p:sp>
      <p:sp>
        <p:nvSpPr>
          <p:cNvPr id="1677464714" name="Text 17"/>
          <p:cNvSpPr/>
          <p:nvPr/>
        </p:nvSpPr>
        <p:spPr bwMode="auto">
          <a:xfrm>
            <a:off x="6438787" y="3581402"/>
            <a:ext cx="5016551" cy="2152650"/>
          </a:xfrm>
          <a:prstGeom prst="roundRect">
            <a:avLst>
              <a:gd name="adj" fmla="val 6195"/>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sz="2400" noProof="1"/>
          </a:p>
        </p:txBody>
      </p:sp>
      <p:sp>
        <p:nvSpPr>
          <p:cNvPr id="1866628196" name="Text 18"/>
          <p:cNvSpPr/>
          <p:nvPr/>
        </p:nvSpPr>
        <p:spPr bwMode="auto">
          <a:xfrm>
            <a:off x="6638812" y="3743327"/>
            <a:ext cx="340348" cy="323850"/>
          </a:xfrm>
          <a:prstGeom prst="roundRect">
            <a:avLst>
              <a:gd name="adj" fmla="val 26471"/>
            </a:avLst>
          </a:prstGeom>
          <a:solidFill>
            <a:srgbClr val="002855"/>
          </a:solidFill>
          <a:ln/>
        </p:spPr>
        <p:txBody>
          <a:bodyPr wrap="square" rtlCol="0" anchor="ctr"/>
          <a:lstStyle/>
          <a:p>
            <a:pPr marL="0" indent="0">
              <a:buNone/>
              <a:defRPr/>
            </a:pPr>
            <a:endParaRPr lang="vi-VN" sz="2400" noProof="1"/>
          </a:p>
        </p:txBody>
      </p:sp>
      <p:sp>
        <p:nvSpPr>
          <p:cNvPr id="1092766351" name="Text 19"/>
          <p:cNvSpPr/>
          <p:nvPr/>
        </p:nvSpPr>
        <p:spPr bwMode="auto">
          <a:xfrm>
            <a:off x="6635575" y="3743327"/>
            <a:ext cx="347155" cy="323850"/>
          </a:xfrm>
          <a:prstGeom prst="rect">
            <a:avLst/>
          </a:prstGeom>
          <a:noFill/>
          <a:ln/>
        </p:spPr>
        <p:txBody>
          <a:bodyPr wrap="square" lIns="0" tIns="0" rIns="0" bIns="0" rtlCol="0" anchor="ctr"/>
          <a:lstStyle/>
          <a:p>
            <a:pPr marL="0" indent="0" algn="ctr">
              <a:buNone/>
              <a:defRPr/>
            </a:pPr>
            <a:r>
              <a:rPr lang="vi-VN" sz="1400" b="1" noProof="1">
                <a:solidFill>
                  <a:srgbClr val="F6E7BD"/>
                </a:solidFill>
                <a:latin typeface="Arial"/>
                <a:ea typeface="Arial"/>
                <a:cs typeface="Arial"/>
              </a:rPr>
              <a:t>04</a:t>
            </a:r>
            <a:endParaRPr lang="vi-VN" sz="1400" noProof="1"/>
          </a:p>
        </p:txBody>
      </p:sp>
      <p:sp>
        <p:nvSpPr>
          <p:cNvPr id="1615161333" name="Text 20"/>
          <p:cNvSpPr/>
          <p:nvPr/>
        </p:nvSpPr>
        <p:spPr bwMode="auto">
          <a:xfrm>
            <a:off x="7078384" y="3764760"/>
            <a:ext cx="3800280" cy="247650"/>
          </a:xfrm>
          <a:prstGeom prst="rect">
            <a:avLst/>
          </a:prstGeom>
          <a:noFill/>
          <a:ln/>
        </p:spPr>
        <p:txBody>
          <a:bodyPr wrap="square" lIns="0" tIns="0" rIns="0" bIns="0" rtlCol="0" anchor="t"/>
          <a:lstStyle/>
          <a:p>
            <a:pPr marL="0" indent="0" algn="l">
              <a:buNone/>
              <a:defRPr/>
            </a:pPr>
            <a:r>
              <a:rPr lang="vi-VN" sz="2000" b="1" noProof="1">
                <a:solidFill>
                  <a:srgbClr val="002855"/>
                </a:solidFill>
                <a:latin typeface="Arial"/>
                <a:ea typeface="Arial"/>
                <a:cs typeface="Arial"/>
              </a:rPr>
              <a:t>Kho văn bản &amp; biểu mẫu</a:t>
            </a:r>
            <a:endParaRPr lang="vi-VN" sz="2000" noProof="1"/>
          </a:p>
        </p:txBody>
      </p:sp>
      <p:sp>
        <p:nvSpPr>
          <p:cNvPr id="805853147" name="Text 21"/>
          <p:cNvSpPr/>
          <p:nvPr/>
        </p:nvSpPr>
        <p:spPr bwMode="auto">
          <a:xfrm>
            <a:off x="6638811" y="4143377"/>
            <a:ext cx="3423849" cy="371475"/>
          </a:xfrm>
          <a:prstGeom prst="rect">
            <a:avLst/>
          </a:prstGeom>
          <a:noFill/>
          <a:ln/>
        </p:spPr>
        <p:txBody>
          <a:bodyPr wrap="square" lIns="0" tIns="0" rIns="0" bIns="0" rtlCol="0" anchor="t"/>
          <a:lstStyle/>
          <a:p>
            <a:pPr marL="0" indent="0" algn="l">
              <a:lnSpc>
                <a:spcPts val="1463"/>
              </a:lnSpc>
              <a:buNone/>
              <a:defRPr/>
            </a:pPr>
            <a:r>
              <a:rPr lang="vi-VN" sz="1100" noProof="1">
                <a:solidFill>
                  <a:srgbClr val="4A5A72"/>
                </a:solidFill>
                <a:latin typeface="Arial"/>
                <a:ea typeface="Arial"/>
                <a:cs typeface="Arial"/>
              </a:rPr>
              <a:t>Tra cứu văn bản pháp quy, tải PDF scan; mẫu đơn điện tử chuẩn hóa tải về Word/PDF.</a:t>
            </a:r>
            <a:endParaRPr lang="vi-VN" sz="1100" noProof="1"/>
          </a:p>
        </p:txBody>
      </p:sp>
      <p:sp>
        <p:nvSpPr>
          <p:cNvPr id="1863185046" name="Shape 32"/>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361689658" name="Text 33"/>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PhAnim="0">
  <p:cSld name="Slide 5">
    <p:bg>
      <p:bgPr>
        <a:solidFill>
          <a:srgbClr val="F6F8FB"/>
        </a:solidFill>
        <a:effectLst/>
      </p:bgPr>
    </p:bg>
    <p:spTree>
      <p:nvGrpSpPr>
        <p:cNvPr id="1" name=""/>
        <p:cNvGrpSpPr/>
        <p:nvPr/>
      </p:nvGrpSpPr>
      <p:grpSpPr bwMode="auto">
        <a:xfrm>
          <a:off x="0" y="0"/>
          <a:ext cx="0" cy="0"/>
          <a:chOff x="0" y="0"/>
          <a:chExt cx="0" cy="0"/>
        </a:xfrm>
      </p:grpSpPr>
      <p:sp>
        <p:nvSpPr>
          <p:cNvPr id="1402422897"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000" b="1" noProof="1">
                <a:solidFill>
                  <a:srgbClr val="B07F12"/>
                </a:solidFill>
                <a:latin typeface="Arial"/>
                <a:ea typeface="Arial"/>
                <a:cs typeface="Arial"/>
              </a:rPr>
              <a:t>2. PHÂN TÍCH YÊU CẦU</a:t>
            </a:r>
            <a:endParaRPr lang="vi-VN" sz="1000" noProof="1"/>
          </a:p>
        </p:txBody>
      </p:sp>
      <p:sp>
        <p:nvSpPr>
          <p:cNvPr id="959888522" name="Text 1"/>
          <p:cNvSpPr/>
          <p:nvPr/>
        </p:nvSpPr>
        <p:spPr bwMode="auto">
          <a:xfrm>
            <a:off x="533400" y="542925"/>
            <a:ext cx="11347704" cy="359569"/>
          </a:xfrm>
          <a:prstGeom prst="rect">
            <a:avLst/>
          </a:prstGeom>
          <a:noFill/>
          <a:ln/>
        </p:spPr>
        <p:txBody>
          <a:bodyPr wrap="square" lIns="0" tIns="0" rIns="0" bIns="0" rtlCol="0" anchor="t"/>
          <a:lstStyle/>
          <a:p>
            <a:pPr marL="0" indent="0" algn="l">
              <a:lnSpc>
                <a:spcPts val="2832"/>
              </a:lnSpc>
              <a:spcAft>
                <a:spcPts val="600"/>
              </a:spcAft>
              <a:buNone/>
              <a:defRPr/>
            </a:pPr>
            <a:r>
              <a:rPr lang="vi-VN" sz="2400" b="1" noProof="1">
                <a:solidFill>
                  <a:srgbClr val="002855"/>
                </a:solidFill>
                <a:latin typeface="Arial"/>
                <a:ea typeface="Arial"/>
                <a:cs typeface="Arial"/>
              </a:rPr>
              <a:t>Các chức năng chính — Phân hệ Quản trị CMS &amp; AI Studio</a:t>
            </a:r>
            <a:endParaRPr lang="vi-VN" sz="2400" noProof="1"/>
          </a:p>
        </p:txBody>
      </p:sp>
      <p:pic>
        <p:nvPicPr>
          <p:cNvPr id="310296203" name="Image 0" descr="/var/folders/t4/q0khv7qd1r3dc2yrbwkzmjf00000gn/T/html2pptx-MFhxpT/html2pptx-bg-1791687641636-59e5fcf0fe2bd.png"/>
          <p:cNvPicPr>
            <a:picLocks noChangeAspect="1"/>
          </p:cNvPicPr>
          <p:nvPr/>
        </p:nvPicPr>
        <p:blipFill rotWithShape="1">
          <a:blip r:embed="rId3"/>
          <a:stretch/>
        </p:blipFill>
        <p:spPr bwMode="auto">
          <a:xfrm>
            <a:off x="533400" y="978694"/>
            <a:ext cx="1047750" cy="38100"/>
          </a:xfrm>
          <a:prstGeom prst="rect">
            <a:avLst/>
          </a:prstGeom>
        </p:spPr>
      </p:pic>
      <p:sp>
        <p:nvSpPr>
          <p:cNvPr id="348523205" name="Text 2"/>
          <p:cNvSpPr/>
          <p:nvPr/>
        </p:nvSpPr>
        <p:spPr bwMode="auto">
          <a:xfrm>
            <a:off x="533400" y="1264444"/>
            <a:ext cx="2667000" cy="2162175"/>
          </a:xfrm>
          <a:prstGeom prst="roundRect">
            <a:avLst>
              <a:gd name="adj" fmla="val 6167"/>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34365386" name="Text 3"/>
          <p:cNvSpPr/>
          <p:nvPr/>
        </p:nvSpPr>
        <p:spPr bwMode="auto">
          <a:xfrm>
            <a:off x="695325" y="1407319"/>
            <a:ext cx="285750" cy="285750"/>
          </a:xfrm>
          <a:prstGeom prst="roundRect">
            <a:avLst>
              <a:gd name="adj" fmla="val 26667"/>
            </a:avLst>
          </a:prstGeom>
          <a:solidFill>
            <a:srgbClr val="D4A017"/>
          </a:solidFill>
          <a:ln/>
        </p:spPr>
        <p:txBody>
          <a:bodyPr wrap="square" rtlCol="0" anchor="ctr"/>
          <a:lstStyle/>
          <a:p>
            <a:pPr marL="0" indent="0">
              <a:buNone/>
              <a:defRPr/>
            </a:pPr>
            <a:endParaRPr lang="vi-VN" noProof="1"/>
          </a:p>
        </p:txBody>
      </p:sp>
      <p:sp>
        <p:nvSpPr>
          <p:cNvPr id="2132093590" name="Text 4"/>
          <p:cNvSpPr/>
          <p:nvPr/>
        </p:nvSpPr>
        <p:spPr bwMode="auto">
          <a:xfrm>
            <a:off x="692467" y="1407319"/>
            <a:ext cx="291465" cy="285750"/>
          </a:xfrm>
          <a:prstGeom prst="rect">
            <a:avLst/>
          </a:prstGeom>
          <a:noFill/>
          <a:ln/>
        </p:spPr>
        <p:txBody>
          <a:bodyPr wrap="square" lIns="0" tIns="0" rIns="0" bIns="0" rtlCol="0" anchor="ctr"/>
          <a:lstStyle/>
          <a:p>
            <a:pPr marL="0" indent="0" algn="ctr">
              <a:spcAft>
                <a:spcPts val="675"/>
              </a:spcAft>
              <a:buNone/>
              <a:defRPr/>
            </a:pPr>
            <a:r>
              <a:rPr lang="vi-VN" sz="1000" b="1" noProof="1">
                <a:solidFill>
                  <a:srgbClr val="002855"/>
                </a:solidFill>
                <a:latin typeface="Arial"/>
                <a:ea typeface="Arial"/>
                <a:cs typeface="Arial"/>
              </a:rPr>
              <a:t>01</a:t>
            </a:r>
            <a:endParaRPr lang="vi-VN" sz="1000" noProof="1"/>
          </a:p>
        </p:txBody>
      </p:sp>
      <p:sp>
        <p:nvSpPr>
          <p:cNvPr id="1476022496" name="Text 5"/>
          <p:cNvSpPr/>
          <p:nvPr/>
        </p:nvSpPr>
        <p:spPr bwMode="auto">
          <a:xfrm>
            <a:off x="695325" y="1778794"/>
            <a:ext cx="2390013" cy="161925"/>
          </a:xfrm>
          <a:prstGeom prst="rect">
            <a:avLst/>
          </a:prstGeom>
          <a:noFill/>
          <a:ln/>
        </p:spPr>
        <p:txBody>
          <a:bodyPr wrap="square" lIns="0" tIns="0" rIns="0" bIns="0" rtlCol="0" anchor="t"/>
          <a:lstStyle/>
          <a:p>
            <a:pPr marL="0" indent="0" algn="l">
              <a:spcAft>
                <a:spcPts val="375"/>
              </a:spcAft>
              <a:buNone/>
              <a:defRPr/>
            </a:pPr>
            <a:r>
              <a:rPr lang="vi-VN" sz="1150" b="1" noProof="1">
                <a:solidFill>
                  <a:srgbClr val="002855"/>
                </a:solidFill>
                <a:latin typeface="Arial"/>
                <a:ea typeface="Arial"/>
                <a:cs typeface="Arial"/>
              </a:rPr>
              <a:t>Quản trị &amp; phân quyền RBAC</a:t>
            </a:r>
            <a:endParaRPr lang="vi-VN" sz="1150" noProof="1"/>
          </a:p>
        </p:txBody>
      </p:sp>
      <p:sp>
        <p:nvSpPr>
          <p:cNvPr id="1359344306" name="Text 6"/>
          <p:cNvSpPr/>
          <p:nvPr/>
        </p:nvSpPr>
        <p:spPr bwMode="auto">
          <a:xfrm>
            <a:off x="695325" y="1988344"/>
            <a:ext cx="2505075" cy="517922"/>
          </a:xfrm>
          <a:prstGeom prst="rect">
            <a:avLst/>
          </a:prstGeom>
          <a:noFill/>
          <a:ln/>
        </p:spPr>
        <p:txBody>
          <a:bodyPr wrap="square" lIns="0" tIns="0" rIns="0" bIns="0" rtlCol="0" anchor="t"/>
          <a:lstStyle/>
          <a:p>
            <a:pPr marL="0" indent="0" algn="l">
              <a:lnSpc>
                <a:spcPts val="1359"/>
              </a:lnSpc>
              <a:buNone/>
              <a:defRPr/>
            </a:pPr>
            <a:r>
              <a:rPr lang="vi-VN" sz="950" noProof="1">
                <a:solidFill>
                  <a:srgbClr val="4A5A72"/>
                </a:solidFill>
                <a:latin typeface="Arial"/>
                <a:ea typeface="Arial"/>
                <a:cs typeface="Arial"/>
              </a:rPr>
              <a:t>Admin / Editor / Contributor / Member</a:t>
            </a:r>
            <a:r>
              <a:rPr lang="en-US" sz="950" noProof="1">
                <a:solidFill>
                  <a:srgbClr val="4A5A72"/>
                </a:solidFill>
                <a:latin typeface="Arial"/>
                <a:ea typeface="Arial"/>
                <a:cs typeface="Arial"/>
              </a:rPr>
              <a:t>/ Guest</a:t>
            </a:r>
            <a:r>
              <a:rPr lang="vi-VN" sz="950" noProof="1">
                <a:solidFill>
                  <a:srgbClr val="4A5A72"/>
                </a:solidFill>
                <a:latin typeface="Arial"/>
                <a:ea typeface="Arial"/>
                <a:cs typeface="Arial"/>
              </a:rPr>
              <a:t>; mỗi tài khoản gán đúng</a:t>
            </a:r>
            <a:r>
              <a:rPr lang="en-US" sz="950" noProof="1">
                <a:solidFill>
                  <a:srgbClr val="4A5A72"/>
                </a:solidFill>
                <a:latin typeface="Arial"/>
                <a:ea typeface="Arial"/>
                <a:cs typeface="Arial"/>
              </a:rPr>
              <a:t> với chức danh và chức năng trong</a:t>
            </a:r>
            <a:r>
              <a:rPr lang="vi-VN" sz="950" noProof="1">
                <a:solidFill>
                  <a:srgbClr val="4A5A72"/>
                </a:solidFill>
                <a:latin typeface="Arial"/>
                <a:ea typeface="Arial"/>
                <a:cs typeface="Arial"/>
              </a:rPr>
              <a:t> Tổ công đoàn trực thuộc.</a:t>
            </a:r>
            <a:endParaRPr lang="vi-VN" sz="950" noProof="1"/>
          </a:p>
        </p:txBody>
      </p:sp>
      <p:sp>
        <p:nvSpPr>
          <p:cNvPr id="1965999113" name="Text 7"/>
          <p:cNvSpPr/>
          <p:nvPr/>
        </p:nvSpPr>
        <p:spPr bwMode="auto">
          <a:xfrm>
            <a:off x="3352800" y="1264444"/>
            <a:ext cx="2667000" cy="2162175"/>
          </a:xfrm>
          <a:prstGeom prst="roundRect">
            <a:avLst>
              <a:gd name="adj" fmla="val 6167"/>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868855104" name="Text 8"/>
          <p:cNvSpPr/>
          <p:nvPr/>
        </p:nvSpPr>
        <p:spPr bwMode="auto">
          <a:xfrm>
            <a:off x="3514725" y="1407319"/>
            <a:ext cx="285750" cy="285750"/>
          </a:xfrm>
          <a:prstGeom prst="roundRect">
            <a:avLst>
              <a:gd name="adj" fmla="val 26667"/>
            </a:avLst>
          </a:prstGeom>
          <a:solidFill>
            <a:srgbClr val="D4A017"/>
          </a:solidFill>
          <a:ln/>
        </p:spPr>
        <p:txBody>
          <a:bodyPr wrap="square" rtlCol="0" anchor="ctr"/>
          <a:lstStyle/>
          <a:p>
            <a:pPr marL="0" indent="0">
              <a:buNone/>
              <a:defRPr/>
            </a:pPr>
            <a:endParaRPr lang="vi-VN" noProof="1"/>
          </a:p>
        </p:txBody>
      </p:sp>
      <p:sp>
        <p:nvSpPr>
          <p:cNvPr id="515993690" name="Text 9"/>
          <p:cNvSpPr/>
          <p:nvPr/>
        </p:nvSpPr>
        <p:spPr bwMode="auto">
          <a:xfrm>
            <a:off x="3511868" y="1407319"/>
            <a:ext cx="291465" cy="285750"/>
          </a:xfrm>
          <a:prstGeom prst="rect">
            <a:avLst/>
          </a:prstGeom>
          <a:noFill/>
          <a:ln/>
        </p:spPr>
        <p:txBody>
          <a:bodyPr wrap="square" lIns="0" tIns="0" rIns="0" bIns="0" rtlCol="0" anchor="ctr"/>
          <a:lstStyle/>
          <a:p>
            <a:pPr marL="0" indent="0" algn="ctr">
              <a:spcAft>
                <a:spcPts val="675"/>
              </a:spcAft>
              <a:buNone/>
              <a:defRPr/>
            </a:pPr>
            <a:r>
              <a:rPr lang="vi-VN" sz="1000" b="1" noProof="1">
                <a:solidFill>
                  <a:srgbClr val="002855"/>
                </a:solidFill>
                <a:latin typeface="Arial"/>
                <a:ea typeface="Arial"/>
                <a:cs typeface="Arial"/>
              </a:rPr>
              <a:t>02</a:t>
            </a:r>
            <a:endParaRPr lang="vi-VN" sz="1000" noProof="1"/>
          </a:p>
        </p:txBody>
      </p:sp>
      <p:sp>
        <p:nvSpPr>
          <p:cNvPr id="1827806591" name="Text 10"/>
          <p:cNvSpPr/>
          <p:nvPr/>
        </p:nvSpPr>
        <p:spPr bwMode="auto">
          <a:xfrm>
            <a:off x="3514725" y="1778794"/>
            <a:ext cx="2390013" cy="161925"/>
          </a:xfrm>
          <a:prstGeom prst="rect">
            <a:avLst/>
          </a:prstGeom>
          <a:noFill/>
          <a:ln/>
        </p:spPr>
        <p:txBody>
          <a:bodyPr wrap="square" lIns="0" tIns="0" rIns="0" bIns="0" rtlCol="0" anchor="t"/>
          <a:lstStyle/>
          <a:p>
            <a:pPr marL="0" indent="0" algn="l">
              <a:spcAft>
                <a:spcPts val="375"/>
              </a:spcAft>
              <a:buNone/>
              <a:defRPr/>
            </a:pPr>
            <a:r>
              <a:rPr lang="vi-VN" sz="1150" b="1" noProof="1">
                <a:solidFill>
                  <a:srgbClr val="002855"/>
                </a:solidFill>
                <a:latin typeface="Arial"/>
                <a:ea typeface="Arial"/>
                <a:cs typeface="Arial"/>
              </a:rPr>
              <a:t>Soạn thảo bài viết (CMS)</a:t>
            </a:r>
            <a:endParaRPr lang="vi-VN" sz="1150" noProof="1"/>
          </a:p>
        </p:txBody>
      </p:sp>
      <p:sp>
        <p:nvSpPr>
          <p:cNvPr id="39333245" name="Text 11"/>
          <p:cNvSpPr/>
          <p:nvPr/>
        </p:nvSpPr>
        <p:spPr bwMode="auto">
          <a:xfrm>
            <a:off x="3514725" y="1988344"/>
            <a:ext cx="2390013" cy="517922"/>
          </a:xfrm>
          <a:prstGeom prst="rect">
            <a:avLst/>
          </a:prstGeom>
          <a:noFill/>
          <a:ln/>
        </p:spPr>
        <p:txBody>
          <a:bodyPr wrap="square" lIns="0" tIns="0" rIns="0" bIns="0" rtlCol="0" anchor="t"/>
          <a:lstStyle/>
          <a:p>
            <a:pPr marL="0" indent="0" algn="l">
              <a:lnSpc>
                <a:spcPts val="1359"/>
              </a:lnSpc>
              <a:buNone/>
              <a:defRPr/>
            </a:pPr>
            <a:r>
              <a:rPr lang="vi-VN" sz="950" noProof="1">
                <a:solidFill>
                  <a:srgbClr val="4A5A72"/>
                </a:solidFill>
                <a:latin typeface="Arial"/>
                <a:ea typeface="Arial"/>
                <a:cs typeface="Arial"/>
              </a:rPr>
              <a:t>Trình soạn thảo CKEditor 5 : </a:t>
            </a:r>
            <a:r>
              <a:rPr lang="en-US" sz="950" noProof="1">
                <a:solidFill>
                  <a:srgbClr val="4A5A72"/>
                </a:solidFill>
                <a:latin typeface="Arial"/>
                <a:ea typeface="Arial"/>
                <a:cs typeface="Arial"/>
              </a:rPr>
              <a:t>Viết bài ,</a:t>
            </a:r>
            <a:r>
              <a:rPr lang="vi-VN" sz="950" noProof="1">
                <a:solidFill>
                  <a:srgbClr val="4A5A72"/>
                </a:solidFill>
                <a:latin typeface="Arial"/>
                <a:ea typeface="Arial"/>
                <a:cs typeface="Arial"/>
              </a:rPr>
              <a:t>chèn bảng, media</a:t>
            </a:r>
            <a:r>
              <a:rPr lang="en-US" sz="950" noProof="1">
                <a:solidFill>
                  <a:srgbClr val="4A5A72"/>
                </a:solidFill>
                <a:latin typeface="Arial"/>
                <a:ea typeface="Arial"/>
                <a:cs typeface="Arial"/>
              </a:rPr>
              <a:t>.</a:t>
            </a:r>
            <a:r>
              <a:rPr lang="vi-VN" sz="950" noProof="1">
                <a:solidFill>
                  <a:srgbClr val="4A5A72"/>
                </a:solidFill>
                <a:latin typeface="Arial"/>
                <a:ea typeface="Arial"/>
                <a:cs typeface="Arial"/>
              </a:rPr>
              <a:t>.</a:t>
            </a:r>
            <a:endParaRPr lang="vi-VN" sz="950" noProof="1"/>
          </a:p>
        </p:txBody>
      </p:sp>
      <p:sp>
        <p:nvSpPr>
          <p:cNvPr id="641261385" name="Text 12"/>
          <p:cNvSpPr/>
          <p:nvPr/>
        </p:nvSpPr>
        <p:spPr bwMode="auto">
          <a:xfrm>
            <a:off x="6172200" y="1264444"/>
            <a:ext cx="2667000" cy="2162175"/>
          </a:xfrm>
          <a:prstGeom prst="roundRect">
            <a:avLst>
              <a:gd name="adj" fmla="val 6167"/>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442133264" name="Text 13"/>
          <p:cNvSpPr/>
          <p:nvPr/>
        </p:nvSpPr>
        <p:spPr bwMode="auto">
          <a:xfrm>
            <a:off x="6334125" y="1407319"/>
            <a:ext cx="285750" cy="285750"/>
          </a:xfrm>
          <a:prstGeom prst="roundRect">
            <a:avLst>
              <a:gd name="adj" fmla="val 26667"/>
            </a:avLst>
          </a:prstGeom>
          <a:solidFill>
            <a:srgbClr val="D4A017"/>
          </a:solidFill>
          <a:ln/>
        </p:spPr>
        <p:txBody>
          <a:bodyPr wrap="square" rtlCol="0" anchor="ctr"/>
          <a:lstStyle/>
          <a:p>
            <a:pPr marL="0" indent="0">
              <a:buNone/>
              <a:defRPr/>
            </a:pPr>
            <a:endParaRPr lang="vi-VN" noProof="1"/>
          </a:p>
        </p:txBody>
      </p:sp>
      <p:sp>
        <p:nvSpPr>
          <p:cNvPr id="705281429" name="Text 14"/>
          <p:cNvSpPr/>
          <p:nvPr/>
        </p:nvSpPr>
        <p:spPr bwMode="auto">
          <a:xfrm>
            <a:off x="6331268" y="1407319"/>
            <a:ext cx="291465" cy="285750"/>
          </a:xfrm>
          <a:prstGeom prst="rect">
            <a:avLst/>
          </a:prstGeom>
          <a:noFill/>
          <a:ln/>
        </p:spPr>
        <p:txBody>
          <a:bodyPr wrap="square" lIns="0" tIns="0" rIns="0" bIns="0" rtlCol="0" anchor="ctr"/>
          <a:lstStyle/>
          <a:p>
            <a:pPr marL="0" indent="0" algn="ctr">
              <a:spcAft>
                <a:spcPts val="675"/>
              </a:spcAft>
              <a:buNone/>
              <a:defRPr/>
            </a:pPr>
            <a:r>
              <a:rPr lang="vi-VN" sz="1000" b="1" noProof="1">
                <a:solidFill>
                  <a:srgbClr val="002855"/>
                </a:solidFill>
                <a:latin typeface="Arial"/>
                <a:ea typeface="Arial"/>
                <a:cs typeface="Arial"/>
              </a:rPr>
              <a:t>03</a:t>
            </a:r>
            <a:endParaRPr lang="vi-VN" sz="1000" noProof="1"/>
          </a:p>
        </p:txBody>
      </p:sp>
      <p:sp>
        <p:nvSpPr>
          <p:cNvPr id="1984289581" name="Text 15"/>
          <p:cNvSpPr/>
          <p:nvPr/>
        </p:nvSpPr>
        <p:spPr bwMode="auto">
          <a:xfrm>
            <a:off x="6334125" y="1778794"/>
            <a:ext cx="2390013" cy="161925"/>
          </a:xfrm>
          <a:prstGeom prst="rect">
            <a:avLst/>
          </a:prstGeom>
          <a:noFill/>
          <a:ln/>
        </p:spPr>
        <p:txBody>
          <a:bodyPr wrap="square" lIns="0" tIns="0" rIns="0" bIns="0" rtlCol="0" anchor="t"/>
          <a:lstStyle/>
          <a:p>
            <a:pPr marL="0" indent="0" algn="l">
              <a:spcAft>
                <a:spcPts val="375"/>
              </a:spcAft>
              <a:buNone/>
              <a:defRPr/>
            </a:pPr>
            <a:r>
              <a:rPr lang="vi-VN" sz="1150" b="1" noProof="1">
                <a:solidFill>
                  <a:srgbClr val="002855"/>
                </a:solidFill>
                <a:latin typeface="Arial"/>
                <a:ea typeface="Arial"/>
                <a:cs typeface="Arial"/>
              </a:rPr>
              <a:t>Kiểm duyệt 4 bước</a:t>
            </a:r>
            <a:endParaRPr lang="vi-VN" sz="1150" noProof="1"/>
          </a:p>
        </p:txBody>
      </p:sp>
      <p:sp>
        <p:nvSpPr>
          <p:cNvPr id="1002533493" name="Text 16"/>
          <p:cNvSpPr/>
          <p:nvPr/>
        </p:nvSpPr>
        <p:spPr bwMode="auto">
          <a:xfrm>
            <a:off x="6334125" y="1988344"/>
            <a:ext cx="2390013" cy="517922"/>
          </a:xfrm>
          <a:prstGeom prst="rect">
            <a:avLst/>
          </a:prstGeom>
          <a:noFill/>
          <a:ln/>
        </p:spPr>
        <p:txBody>
          <a:bodyPr wrap="square" lIns="0" tIns="0" rIns="0" bIns="0" rtlCol="0" anchor="t"/>
          <a:lstStyle/>
          <a:p>
            <a:pPr marL="0" indent="0" algn="l">
              <a:lnSpc>
                <a:spcPts val="1359"/>
              </a:lnSpc>
              <a:buNone/>
              <a:defRPr/>
            </a:pPr>
            <a:r>
              <a:rPr lang="vi-VN" sz="950" noProof="1">
                <a:solidFill>
                  <a:srgbClr val="4A5A72"/>
                </a:solidFill>
                <a:latin typeface="Arial"/>
                <a:ea typeface="Arial"/>
                <a:cs typeface="Arial"/>
              </a:rPr>
              <a:t>Draft → Chờ duyệt → Đã duyệt → Xuất bản / Hẹn lịch; xem trước Live Preview, duyệt</a:t>
            </a:r>
            <a:r>
              <a:rPr lang="en-US" sz="950" noProof="1">
                <a:solidFill>
                  <a:srgbClr val="4A5A72"/>
                </a:solidFill>
                <a:latin typeface="Arial"/>
                <a:ea typeface="Arial"/>
                <a:cs typeface="Arial"/>
              </a:rPr>
              <a:t> bằng 1 click đơn giản.</a:t>
            </a:r>
            <a:endParaRPr lang="vi-VN" sz="950" noProof="1"/>
          </a:p>
        </p:txBody>
      </p:sp>
      <p:sp>
        <p:nvSpPr>
          <p:cNvPr id="1632029538" name="Text 17"/>
          <p:cNvSpPr/>
          <p:nvPr/>
        </p:nvSpPr>
        <p:spPr bwMode="auto">
          <a:xfrm>
            <a:off x="8991600" y="1264444"/>
            <a:ext cx="2667000" cy="2162175"/>
          </a:xfrm>
          <a:prstGeom prst="roundRect">
            <a:avLst>
              <a:gd name="adj" fmla="val 6167"/>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802780343" name="Text 18"/>
          <p:cNvSpPr/>
          <p:nvPr/>
        </p:nvSpPr>
        <p:spPr bwMode="auto">
          <a:xfrm>
            <a:off x="9153525" y="1407319"/>
            <a:ext cx="285750" cy="285750"/>
          </a:xfrm>
          <a:prstGeom prst="roundRect">
            <a:avLst>
              <a:gd name="adj" fmla="val 26667"/>
            </a:avLst>
          </a:prstGeom>
          <a:solidFill>
            <a:srgbClr val="D4A017"/>
          </a:solidFill>
          <a:ln/>
        </p:spPr>
        <p:txBody>
          <a:bodyPr wrap="square" rtlCol="0" anchor="ctr"/>
          <a:lstStyle/>
          <a:p>
            <a:pPr marL="0" indent="0">
              <a:buNone/>
              <a:defRPr/>
            </a:pPr>
            <a:endParaRPr lang="vi-VN" noProof="1"/>
          </a:p>
        </p:txBody>
      </p:sp>
      <p:sp>
        <p:nvSpPr>
          <p:cNvPr id="1624976401" name="Text 19"/>
          <p:cNvSpPr/>
          <p:nvPr/>
        </p:nvSpPr>
        <p:spPr bwMode="auto">
          <a:xfrm>
            <a:off x="9150667" y="1407319"/>
            <a:ext cx="291465" cy="285750"/>
          </a:xfrm>
          <a:prstGeom prst="rect">
            <a:avLst/>
          </a:prstGeom>
          <a:noFill/>
          <a:ln/>
        </p:spPr>
        <p:txBody>
          <a:bodyPr wrap="square" lIns="0" tIns="0" rIns="0" bIns="0" rtlCol="0" anchor="ctr"/>
          <a:lstStyle/>
          <a:p>
            <a:pPr marL="0" indent="0" algn="ctr">
              <a:spcAft>
                <a:spcPts val="675"/>
              </a:spcAft>
              <a:buNone/>
              <a:defRPr/>
            </a:pPr>
            <a:r>
              <a:rPr lang="vi-VN" sz="1000" b="1" noProof="1">
                <a:solidFill>
                  <a:srgbClr val="002855"/>
                </a:solidFill>
                <a:latin typeface="Arial"/>
                <a:ea typeface="Arial"/>
                <a:cs typeface="Arial"/>
              </a:rPr>
              <a:t>04</a:t>
            </a:r>
            <a:endParaRPr lang="vi-VN" sz="1000" noProof="1"/>
          </a:p>
        </p:txBody>
      </p:sp>
      <p:sp>
        <p:nvSpPr>
          <p:cNvPr id="1386990661" name="Text 20"/>
          <p:cNvSpPr/>
          <p:nvPr/>
        </p:nvSpPr>
        <p:spPr bwMode="auto">
          <a:xfrm>
            <a:off x="9153525" y="1778794"/>
            <a:ext cx="2390013" cy="161925"/>
          </a:xfrm>
          <a:prstGeom prst="rect">
            <a:avLst/>
          </a:prstGeom>
          <a:noFill/>
          <a:ln/>
        </p:spPr>
        <p:txBody>
          <a:bodyPr wrap="square" lIns="0" tIns="0" rIns="0" bIns="0" rtlCol="0" anchor="t"/>
          <a:lstStyle/>
          <a:p>
            <a:pPr marL="0" indent="0" algn="l">
              <a:spcAft>
                <a:spcPts val="375"/>
              </a:spcAft>
              <a:buNone/>
              <a:defRPr/>
            </a:pPr>
            <a:r>
              <a:rPr lang="vi-VN" sz="1150" b="1" noProof="1">
                <a:solidFill>
                  <a:srgbClr val="002855"/>
                </a:solidFill>
                <a:latin typeface="Arial"/>
                <a:ea typeface="Arial"/>
                <a:cs typeface="Arial"/>
              </a:rPr>
              <a:t>Hẹn giờ xuất bản</a:t>
            </a:r>
            <a:endParaRPr lang="vi-VN" sz="1150" noProof="1"/>
          </a:p>
        </p:txBody>
      </p:sp>
      <p:sp>
        <p:nvSpPr>
          <p:cNvPr id="1862772748" name="Text 21"/>
          <p:cNvSpPr/>
          <p:nvPr/>
        </p:nvSpPr>
        <p:spPr bwMode="auto">
          <a:xfrm>
            <a:off x="9153525" y="1988344"/>
            <a:ext cx="2390013" cy="517922"/>
          </a:xfrm>
          <a:prstGeom prst="rect">
            <a:avLst/>
          </a:prstGeom>
          <a:noFill/>
          <a:ln/>
        </p:spPr>
        <p:txBody>
          <a:bodyPr wrap="square" lIns="0" tIns="0" rIns="0" bIns="0" rtlCol="0" anchor="t"/>
          <a:lstStyle/>
          <a:p>
            <a:pPr marL="0" indent="0" algn="l">
              <a:lnSpc>
                <a:spcPts val="1359"/>
              </a:lnSpc>
              <a:buNone/>
              <a:defRPr/>
            </a:pPr>
            <a:r>
              <a:rPr lang="en-US" sz="950" noProof="1">
                <a:solidFill>
                  <a:srgbClr val="4A5A72"/>
                </a:solidFill>
                <a:latin typeface="Arial"/>
                <a:ea typeface="Arial"/>
                <a:cs typeface="Arial"/>
              </a:rPr>
              <a:t>T</a:t>
            </a:r>
            <a:r>
              <a:rPr lang="vi-VN" sz="950" noProof="1">
                <a:solidFill>
                  <a:srgbClr val="4A5A72"/>
                </a:solidFill>
                <a:latin typeface="Arial"/>
                <a:ea typeface="Arial"/>
                <a:cs typeface="Arial"/>
              </a:rPr>
              <a:t>ự động đăng vào khung giờ </a:t>
            </a:r>
            <a:r>
              <a:rPr lang="en-US" sz="950" noProof="1">
                <a:solidFill>
                  <a:srgbClr val="4A5A72"/>
                </a:solidFill>
                <a:latin typeface="Arial"/>
                <a:ea typeface="Arial"/>
                <a:cs typeface="Arial"/>
              </a:rPr>
              <a:t>bất kì mà </a:t>
            </a:r>
            <a:r>
              <a:rPr lang="vi-VN" sz="950" noProof="1">
                <a:solidFill>
                  <a:srgbClr val="4A5A72"/>
                </a:solidFill>
                <a:latin typeface="Arial"/>
                <a:ea typeface="Arial"/>
                <a:cs typeface="Arial"/>
              </a:rPr>
              <a:t>không cần trực máy.</a:t>
            </a:r>
            <a:endParaRPr lang="vi-VN" sz="950" noProof="1"/>
          </a:p>
        </p:txBody>
      </p:sp>
      <p:sp>
        <p:nvSpPr>
          <p:cNvPr id="876809556" name="Text 22"/>
          <p:cNvSpPr/>
          <p:nvPr/>
        </p:nvSpPr>
        <p:spPr bwMode="auto">
          <a:xfrm>
            <a:off x="533400" y="3579019"/>
            <a:ext cx="2667000" cy="2162175"/>
          </a:xfrm>
          <a:prstGeom prst="roundRect">
            <a:avLst>
              <a:gd name="adj" fmla="val 6167"/>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455290549" name="Text 23"/>
          <p:cNvSpPr/>
          <p:nvPr/>
        </p:nvSpPr>
        <p:spPr bwMode="auto">
          <a:xfrm>
            <a:off x="695325" y="3721894"/>
            <a:ext cx="285750" cy="285750"/>
          </a:xfrm>
          <a:prstGeom prst="roundRect">
            <a:avLst>
              <a:gd name="adj" fmla="val 26667"/>
            </a:avLst>
          </a:prstGeom>
          <a:solidFill>
            <a:srgbClr val="D4A017"/>
          </a:solidFill>
          <a:ln/>
        </p:spPr>
        <p:txBody>
          <a:bodyPr wrap="square" rtlCol="0" anchor="ctr"/>
          <a:lstStyle/>
          <a:p>
            <a:pPr marL="0" indent="0">
              <a:buNone/>
              <a:defRPr/>
            </a:pPr>
            <a:endParaRPr lang="vi-VN" noProof="1"/>
          </a:p>
        </p:txBody>
      </p:sp>
      <p:sp>
        <p:nvSpPr>
          <p:cNvPr id="1093135243" name="Text 24"/>
          <p:cNvSpPr/>
          <p:nvPr/>
        </p:nvSpPr>
        <p:spPr bwMode="auto">
          <a:xfrm>
            <a:off x="692467" y="3721894"/>
            <a:ext cx="291465" cy="285750"/>
          </a:xfrm>
          <a:prstGeom prst="rect">
            <a:avLst/>
          </a:prstGeom>
          <a:noFill/>
          <a:ln/>
        </p:spPr>
        <p:txBody>
          <a:bodyPr wrap="square" lIns="0" tIns="0" rIns="0" bIns="0" rtlCol="0" anchor="ctr"/>
          <a:lstStyle/>
          <a:p>
            <a:pPr marL="0" indent="0" algn="ctr">
              <a:spcAft>
                <a:spcPts val="675"/>
              </a:spcAft>
              <a:buNone/>
              <a:defRPr/>
            </a:pPr>
            <a:r>
              <a:rPr lang="vi-VN" sz="1000" b="1" noProof="1">
                <a:solidFill>
                  <a:srgbClr val="002855"/>
                </a:solidFill>
                <a:latin typeface="Arial"/>
                <a:ea typeface="Arial"/>
                <a:cs typeface="Arial"/>
              </a:rPr>
              <a:t>05</a:t>
            </a:r>
            <a:endParaRPr lang="vi-VN" sz="1000" noProof="1"/>
          </a:p>
        </p:txBody>
      </p:sp>
      <p:sp>
        <p:nvSpPr>
          <p:cNvPr id="1088127334" name="Text 25"/>
          <p:cNvSpPr/>
          <p:nvPr/>
        </p:nvSpPr>
        <p:spPr bwMode="auto">
          <a:xfrm>
            <a:off x="695325" y="4093369"/>
            <a:ext cx="2390013" cy="161925"/>
          </a:xfrm>
          <a:prstGeom prst="rect">
            <a:avLst/>
          </a:prstGeom>
          <a:noFill/>
          <a:ln/>
        </p:spPr>
        <p:txBody>
          <a:bodyPr wrap="square" lIns="0" tIns="0" rIns="0" bIns="0" rtlCol="0" anchor="t"/>
          <a:lstStyle/>
          <a:p>
            <a:pPr marL="0" indent="0" algn="l">
              <a:spcAft>
                <a:spcPts val="375"/>
              </a:spcAft>
              <a:buNone/>
              <a:defRPr/>
            </a:pPr>
            <a:r>
              <a:rPr lang="vi-VN" sz="1150" b="1" noProof="1">
                <a:solidFill>
                  <a:srgbClr val="002855"/>
                </a:solidFill>
                <a:latin typeface="Arial"/>
                <a:ea typeface="Arial"/>
                <a:cs typeface="Arial"/>
              </a:rPr>
              <a:t>Đồng bộ Fanpage Facebook</a:t>
            </a:r>
            <a:endParaRPr lang="vi-VN" sz="1150" noProof="1"/>
          </a:p>
        </p:txBody>
      </p:sp>
      <p:sp>
        <p:nvSpPr>
          <p:cNvPr id="2006869768" name="Text 26"/>
          <p:cNvSpPr/>
          <p:nvPr/>
        </p:nvSpPr>
        <p:spPr bwMode="auto">
          <a:xfrm>
            <a:off x="695325" y="4302919"/>
            <a:ext cx="2390013" cy="517922"/>
          </a:xfrm>
          <a:prstGeom prst="rect">
            <a:avLst/>
          </a:prstGeom>
          <a:noFill/>
          <a:ln/>
        </p:spPr>
        <p:txBody>
          <a:bodyPr wrap="square" lIns="0" tIns="0" rIns="0" bIns="0" rtlCol="0" anchor="t"/>
          <a:lstStyle/>
          <a:p>
            <a:pPr marL="0" indent="0" algn="l">
              <a:lnSpc>
                <a:spcPts val="1359"/>
              </a:lnSpc>
              <a:buNone/>
              <a:defRPr/>
            </a:pPr>
            <a:r>
              <a:rPr lang="vi-VN" sz="950" noProof="1">
                <a:solidFill>
                  <a:srgbClr val="4A5A72"/>
                </a:solidFill>
                <a:latin typeface="Arial"/>
                <a:ea typeface="Arial"/>
                <a:cs typeface="Arial"/>
              </a:rPr>
              <a:t>Tích hợp Meta Graph API v19: đăng bài kèm ảnh, link lên Fanpage Công đoàn chỉ với 1 click.</a:t>
            </a:r>
            <a:endParaRPr lang="vi-VN" sz="950" noProof="1"/>
          </a:p>
        </p:txBody>
      </p:sp>
      <p:sp>
        <p:nvSpPr>
          <p:cNvPr id="131671412" name="Text 27"/>
          <p:cNvSpPr/>
          <p:nvPr/>
        </p:nvSpPr>
        <p:spPr bwMode="auto">
          <a:xfrm>
            <a:off x="3352800" y="3579019"/>
            <a:ext cx="2667000" cy="2162175"/>
          </a:xfrm>
          <a:prstGeom prst="roundRect">
            <a:avLst>
              <a:gd name="adj" fmla="val 6167"/>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425332783" name="Text 28"/>
          <p:cNvSpPr/>
          <p:nvPr/>
        </p:nvSpPr>
        <p:spPr bwMode="auto">
          <a:xfrm>
            <a:off x="3514725" y="3721894"/>
            <a:ext cx="285750" cy="285750"/>
          </a:xfrm>
          <a:prstGeom prst="roundRect">
            <a:avLst>
              <a:gd name="adj" fmla="val 26667"/>
            </a:avLst>
          </a:prstGeom>
          <a:solidFill>
            <a:srgbClr val="D4A017"/>
          </a:solidFill>
          <a:ln/>
        </p:spPr>
        <p:txBody>
          <a:bodyPr wrap="square" rtlCol="0" anchor="ctr"/>
          <a:lstStyle/>
          <a:p>
            <a:pPr marL="0" indent="0">
              <a:buNone/>
              <a:defRPr/>
            </a:pPr>
            <a:endParaRPr lang="vi-VN" noProof="1"/>
          </a:p>
        </p:txBody>
      </p:sp>
      <p:sp>
        <p:nvSpPr>
          <p:cNvPr id="1054262772" name="Text 29"/>
          <p:cNvSpPr/>
          <p:nvPr/>
        </p:nvSpPr>
        <p:spPr bwMode="auto">
          <a:xfrm>
            <a:off x="3511868" y="3721894"/>
            <a:ext cx="291465" cy="285750"/>
          </a:xfrm>
          <a:prstGeom prst="rect">
            <a:avLst/>
          </a:prstGeom>
          <a:noFill/>
          <a:ln/>
        </p:spPr>
        <p:txBody>
          <a:bodyPr wrap="square" lIns="0" tIns="0" rIns="0" bIns="0" rtlCol="0" anchor="ctr"/>
          <a:lstStyle/>
          <a:p>
            <a:pPr marL="0" indent="0" algn="ctr">
              <a:spcAft>
                <a:spcPts val="675"/>
              </a:spcAft>
              <a:buNone/>
              <a:defRPr/>
            </a:pPr>
            <a:r>
              <a:rPr lang="vi-VN" sz="1000" b="1" noProof="1">
                <a:solidFill>
                  <a:srgbClr val="002855"/>
                </a:solidFill>
                <a:latin typeface="Arial"/>
                <a:ea typeface="Arial"/>
                <a:cs typeface="Arial"/>
              </a:rPr>
              <a:t>06</a:t>
            </a:r>
            <a:endParaRPr lang="vi-VN" sz="1000" noProof="1"/>
          </a:p>
        </p:txBody>
      </p:sp>
      <p:sp>
        <p:nvSpPr>
          <p:cNvPr id="656601929" name="Text 30"/>
          <p:cNvSpPr/>
          <p:nvPr/>
        </p:nvSpPr>
        <p:spPr bwMode="auto">
          <a:xfrm>
            <a:off x="3514725" y="4093369"/>
            <a:ext cx="2390013" cy="161925"/>
          </a:xfrm>
          <a:prstGeom prst="rect">
            <a:avLst/>
          </a:prstGeom>
          <a:noFill/>
          <a:ln/>
        </p:spPr>
        <p:txBody>
          <a:bodyPr wrap="square" lIns="0" tIns="0" rIns="0" bIns="0" rtlCol="0" anchor="t"/>
          <a:lstStyle/>
          <a:p>
            <a:pPr marL="0" indent="0" algn="l">
              <a:spcAft>
                <a:spcPts val="375"/>
              </a:spcAft>
              <a:buNone/>
              <a:defRPr/>
            </a:pPr>
            <a:r>
              <a:rPr lang="vi-VN" sz="1150" b="1" noProof="1">
                <a:solidFill>
                  <a:srgbClr val="002855"/>
                </a:solidFill>
                <a:latin typeface="Arial"/>
                <a:ea typeface="Arial"/>
                <a:cs typeface="Arial"/>
              </a:rPr>
              <a:t>Dashboard đo lường</a:t>
            </a:r>
            <a:endParaRPr lang="vi-VN" sz="1150" noProof="1"/>
          </a:p>
        </p:txBody>
      </p:sp>
      <p:sp>
        <p:nvSpPr>
          <p:cNvPr id="1468801247" name="Text 31"/>
          <p:cNvSpPr/>
          <p:nvPr/>
        </p:nvSpPr>
        <p:spPr bwMode="auto">
          <a:xfrm>
            <a:off x="3514725" y="4302919"/>
            <a:ext cx="2390013" cy="517922"/>
          </a:xfrm>
          <a:prstGeom prst="rect">
            <a:avLst/>
          </a:prstGeom>
          <a:noFill/>
          <a:ln/>
        </p:spPr>
        <p:txBody>
          <a:bodyPr wrap="square" lIns="0" tIns="0" rIns="0" bIns="0" rtlCol="0" anchor="t"/>
          <a:lstStyle/>
          <a:p>
            <a:pPr marL="0" indent="0" algn="l">
              <a:lnSpc>
                <a:spcPts val="1359"/>
              </a:lnSpc>
              <a:buNone/>
              <a:defRPr/>
            </a:pPr>
            <a:r>
              <a:rPr lang="vi-VN" sz="950" noProof="1">
                <a:solidFill>
                  <a:srgbClr val="4A5A72"/>
                </a:solidFill>
                <a:latin typeface="Arial"/>
                <a:ea typeface="Arial"/>
                <a:cs typeface="Arial"/>
              </a:rPr>
              <a:t>KPI lượt xem, like, bình luận, chia sẻ; biểu đồ độ phủ sóng Website–Facebook theo tháng.</a:t>
            </a:r>
            <a:endParaRPr lang="vi-VN" sz="950" noProof="1"/>
          </a:p>
        </p:txBody>
      </p:sp>
      <p:sp>
        <p:nvSpPr>
          <p:cNvPr id="1875312712" name="Text 32"/>
          <p:cNvSpPr/>
          <p:nvPr/>
        </p:nvSpPr>
        <p:spPr bwMode="auto">
          <a:xfrm>
            <a:off x="6172200" y="3579019"/>
            <a:ext cx="2667000" cy="2162175"/>
          </a:xfrm>
          <a:prstGeom prst="roundRect">
            <a:avLst>
              <a:gd name="adj" fmla="val 6167"/>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908477655" name="Text 33"/>
          <p:cNvSpPr/>
          <p:nvPr/>
        </p:nvSpPr>
        <p:spPr bwMode="auto">
          <a:xfrm>
            <a:off x="6334125" y="3721894"/>
            <a:ext cx="285750" cy="285750"/>
          </a:xfrm>
          <a:prstGeom prst="roundRect">
            <a:avLst>
              <a:gd name="adj" fmla="val 26667"/>
            </a:avLst>
          </a:prstGeom>
          <a:solidFill>
            <a:srgbClr val="D4A017"/>
          </a:solidFill>
          <a:ln/>
        </p:spPr>
        <p:txBody>
          <a:bodyPr wrap="square" rtlCol="0" anchor="ctr"/>
          <a:lstStyle/>
          <a:p>
            <a:pPr marL="0" indent="0">
              <a:buNone/>
              <a:defRPr/>
            </a:pPr>
            <a:endParaRPr lang="vi-VN" noProof="1"/>
          </a:p>
        </p:txBody>
      </p:sp>
      <p:sp>
        <p:nvSpPr>
          <p:cNvPr id="800509021" name="Text 34"/>
          <p:cNvSpPr/>
          <p:nvPr/>
        </p:nvSpPr>
        <p:spPr bwMode="auto">
          <a:xfrm>
            <a:off x="6331268" y="3721894"/>
            <a:ext cx="291465" cy="285750"/>
          </a:xfrm>
          <a:prstGeom prst="rect">
            <a:avLst/>
          </a:prstGeom>
          <a:noFill/>
          <a:ln/>
        </p:spPr>
        <p:txBody>
          <a:bodyPr wrap="square" lIns="0" tIns="0" rIns="0" bIns="0" rtlCol="0" anchor="ctr"/>
          <a:lstStyle/>
          <a:p>
            <a:pPr marL="0" indent="0" algn="ctr">
              <a:spcAft>
                <a:spcPts val="675"/>
              </a:spcAft>
              <a:buNone/>
              <a:defRPr/>
            </a:pPr>
            <a:r>
              <a:rPr lang="vi-VN" sz="1000" b="1" noProof="1">
                <a:solidFill>
                  <a:srgbClr val="002855"/>
                </a:solidFill>
                <a:latin typeface="Arial"/>
                <a:ea typeface="Arial"/>
                <a:cs typeface="Arial"/>
              </a:rPr>
              <a:t>07</a:t>
            </a:r>
            <a:endParaRPr lang="vi-VN" sz="1000" noProof="1"/>
          </a:p>
        </p:txBody>
      </p:sp>
      <p:sp>
        <p:nvSpPr>
          <p:cNvPr id="1239723103" name="Text 35"/>
          <p:cNvSpPr/>
          <p:nvPr/>
        </p:nvSpPr>
        <p:spPr bwMode="auto">
          <a:xfrm>
            <a:off x="6334125" y="4093369"/>
            <a:ext cx="2390013" cy="161925"/>
          </a:xfrm>
          <a:prstGeom prst="rect">
            <a:avLst/>
          </a:prstGeom>
          <a:noFill/>
          <a:ln/>
        </p:spPr>
        <p:txBody>
          <a:bodyPr wrap="square" lIns="0" tIns="0" rIns="0" bIns="0" rtlCol="0" anchor="t"/>
          <a:lstStyle/>
          <a:p>
            <a:pPr marL="0" indent="0" algn="l">
              <a:spcAft>
                <a:spcPts val="375"/>
              </a:spcAft>
              <a:buNone/>
              <a:defRPr/>
            </a:pPr>
            <a:r>
              <a:rPr lang="vi-VN" sz="1150" b="1" noProof="1">
                <a:solidFill>
                  <a:srgbClr val="002855"/>
                </a:solidFill>
                <a:latin typeface="Arial"/>
                <a:ea typeface="Arial"/>
                <a:cs typeface="Arial"/>
              </a:rPr>
              <a:t>Kho văn bản &amp; biểu mẫu</a:t>
            </a:r>
            <a:endParaRPr lang="vi-VN" sz="1150" noProof="1"/>
          </a:p>
        </p:txBody>
      </p:sp>
      <p:sp>
        <p:nvSpPr>
          <p:cNvPr id="1577619318" name="Text 36"/>
          <p:cNvSpPr/>
          <p:nvPr/>
        </p:nvSpPr>
        <p:spPr bwMode="auto">
          <a:xfrm>
            <a:off x="6334125" y="4302919"/>
            <a:ext cx="2390013" cy="345281"/>
          </a:xfrm>
          <a:prstGeom prst="rect">
            <a:avLst/>
          </a:prstGeom>
          <a:noFill/>
          <a:ln/>
        </p:spPr>
        <p:txBody>
          <a:bodyPr wrap="square" lIns="0" tIns="0" rIns="0" bIns="0" rtlCol="0" anchor="t"/>
          <a:lstStyle/>
          <a:p>
            <a:pPr marL="0" indent="0" algn="l">
              <a:lnSpc>
                <a:spcPts val="1359"/>
              </a:lnSpc>
              <a:buNone/>
              <a:defRPr/>
            </a:pPr>
            <a:r>
              <a:rPr lang="vi-VN" sz="950" noProof="1">
                <a:solidFill>
                  <a:srgbClr val="4A5A72"/>
                </a:solidFill>
                <a:latin typeface="Arial"/>
                <a:ea typeface="Arial"/>
                <a:cs typeface="Arial"/>
              </a:rPr>
              <a:t>Thêm/sửa số hiệu văn bản, trích yếu, tải PDF scan; quản lý mẫu đơn theo danh mục.</a:t>
            </a:r>
            <a:endParaRPr lang="vi-VN" sz="950" noProof="1"/>
          </a:p>
        </p:txBody>
      </p:sp>
      <p:sp>
        <p:nvSpPr>
          <p:cNvPr id="101279089" name="Text 37"/>
          <p:cNvSpPr/>
          <p:nvPr/>
        </p:nvSpPr>
        <p:spPr bwMode="auto">
          <a:xfrm>
            <a:off x="8991600" y="3579019"/>
            <a:ext cx="2667000" cy="2162175"/>
          </a:xfrm>
          <a:prstGeom prst="roundRect">
            <a:avLst>
              <a:gd name="adj" fmla="val 6167"/>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978225723" name="Text 38"/>
          <p:cNvSpPr/>
          <p:nvPr/>
        </p:nvSpPr>
        <p:spPr bwMode="auto">
          <a:xfrm>
            <a:off x="9153525" y="3721894"/>
            <a:ext cx="285750" cy="285750"/>
          </a:xfrm>
          <a:prstGeom prst="roundRect">
            <a:avLst>
              <a:gd name="adj" fmla="val 26667"/>
            </a:avLst>
          </a:prstGeom>
          <a:solidFill>
            <a:srgbClr val="D4A017"/>
          </a:solidFill>
          <a:ln/>
        </p:spPr>
        <p:txBody>
          <a:bodyPr wrap="square" rtlCol="0" anchor="ctr"/>
          <a:lstStyle/>
          <a:p>
            <a:pPr marL="0" indent="0">
              <a:buNone/>
              <a:defRPr/>
            </a:pPr>
            <a:endParaRPr lang="vi-VN" noProof="1"/>
          </a:p>
        </p:txBody>
      </p:sp>
      <p:sp>
        <p:nvSpPr>
          <p:cNvPr id="2122408399" name="Text 39"/>
          <p:cNvSpPr/>
          <p:nvPr/>
        </p:nvSpPr>
        <p:spPr bwMode="auto">
          <a:xfrm>
            <a:off x="9150667" y="3721894"/>
            <a:ext cx="291465" cy="285750"/>
          </a:xfrm>
          <a:prstGeom prst="rect">
            <a:avLst/>
          </a:prstGeom>
          <a:noFill/>
          <a:ln/>
        </p:spPr>
        <p:txBody>
          <a:bodyPr wrap="square" lIns="0" tIns="0" rIns="0" bIns="0" rtlCol="0" anchor="ctr"/>
          <a:lstStyle/>
          <a:p>
            <a:pPr marL="0" indent="0" algn="ctr">
              <a:spcAft>
                <a:spcPts val="675"/>
              </a:spcAft>
              <a:buNone/>
              <a:defRPr/>
            </a:pPr>
            <a:r>
              <a:rPr lang="vi-VN" sz="1000" b="1" noProof="1">
                <a:solidFill>
                  <a:srgbClr val="002855"/>
                </a:solidFill>
                <a:latin typeface="Arial"/>
                <a:ea typeface="Arial"/>
                <a:cs typeface="Arial"/>
              </a:rPr>
              <a:t>08</a:t>
            </a:r>
            <a:endParaRPr lang="vi-VN" sz="1000" noProof="1"/>
          </a:p>
        </p:txBody>
      </p:sp>
      <p:sp>
        <p:nvSpPr>
          <p:cNvPr id="1592274018" name="Text 40"/>
          <p:cNvSpPr/>
          <p:nvPr/>
        </p:nvSpPr>
        <p:spPr bwMode="auto">
          <a:xfrm>
            <a:off x="9153525" y="4093369"/>
            <a:ext cx="2390013" cy="161925"/>
          </a:xfrm>
          <a:prstGeom prst="rect">
            <a:avLst/>
          </a:prstGeom>
          <a:noFill/>
          <a:ln/>
        </p:spPr>
        <p:txBody>
          <a:bodyPr wrap="square" lIns="0" tIns="0" rIns="0" bIns="0" rtlCol="0" anchor="t"/>
          <a:lstStyle/>
          <a:p>
            <a:pPr marL="0" indent="0" algn="l">
              <a:spcAft>
                <a:spcPts val="375"/>
              </a:spcAft>
              <a:buNone/>
              <a:defRPr/>
            </a:pPr>
            <a:r>
              <a:rPr lang="vi-VN" sz="1150" b="1" noProof="1">
                <a:solidFill>
                  <a:srgbClr val="002855"/>
                </a:solidFill>
                <a:latin typeface="Arial"/>
                <a:ea typeface="Arial"/>
                <a:cs typeface="Arial"/>
              </a:rPr>
              <a:t>Audit &amp; cấu hình hệ thống</a:t>
            </a:r>
            <a:endParaRPr lang="vi-VN" sz="1150" noProof="1"/>
          </a:p>
        </p:txBody>
      </p:sp>
      <p:sp>
        <p:nvSpPr>
          <p:cNvPr id="172883449" name="Text 41"/>
          <p:cNvSpPr/>
          <p:nvPr/>
        </p:nvSpPr>
        <p:spPr bwMode="auto">
          <a:xfrm>
            <a:off x="9153525" y="4302919"/>
            <a:ext cx="2390013" cy="517922"/>
          </a:xfrm>
          <a:prstGeom prst="rect">
            <a:avLst/>
          </a:prstGeom>
          <a:noFill/>
          <a:ln/>
        </p:spPr>
        <p:txBody>
          <a:bodyPr wrap="square" lIns="0" tIns="0" rIns="0" bIns="0" rtlCol="0" anchor="t"/>
          <a:lstStyle/>
          <a:p>
            <a:pPr marL="0" indent="0" algn="l">
              <a:lnSpc>
                <a:spcPts val="1359"/>
              </a:lnSpc>
              <a:buNone/>
              <a:defRPr/>
            </a:pPr>
            <a:r>
              <a:rPr lang="vi-VN" sz="950" noProof="1">
                <a:solidFill>
                  <a:srgbClr val="4A5A72"/>
                </a:solidFill>
                <a:latin typeface="Arial"/>
                <a:ea typeface="Arial"/>
                <a:cs typeface="Arial"/>
              </a:rPr>
              <a:t>Nhật ký kiểm toán mọi thao tác; cấu hình khóa Gemini API, Facebook, SMTP; định mức Token AI.</a:t>
            </a:r>
            <a:endParaRPr lang="vi-VN" sz="950" noProof="1"/>
          </a:p>
        </p:txBody>
      </p:sp>
      <p:sp>
        <p:nvSpPr>
          <p:cNvPr id="738599549" name="Shape 42"/>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403495935" name="Text 43"/>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PhAnim="0">
  <p:cSld name="Slide 6">
    <p:bg>
      <p:bgPr>
        <a:solidFill>
          <a:srgbClr val="F6F8FB"/>
        </a:solidFill>
        <a:effectLst/>
      </p:bgPr>
    </p:bg>
    <p:spTree>
      <p:nvGrpSpPr>
        <p:cNvPr id="1" name=""/>
        <p:cNvGrpSpPr/>
        <p:nvPr/>
      </p:nvGrpSpPr>
      <p:grpSpPr bwMode="auto">
        <a:xfrm>
          <a:off x="0" y="0"/>
          <a:ext cx="0" cy="0"/>
          <a:chOff x="0" y="0"/>
          <a:chExt cx="0" cy="0"/>
        </a:xfrm>
      </p:grpSpPr>
      <p:sp>
        <p:nvSpPr>
          <p:cNvPr id="988663049"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000" b="1" noProof="1">
                <a:solidFill>
                  <a:srgbClr val="B07F12"/>
                </a:solidFill>
                <a:latin typeface="Arial"/>
                <a:ea typeface="Arial"/>
                <a:cs typeface="Arial"/>
              </a:rPr>
              <a:t>2. PHÂN TÍCH YÊU CẦU</a:t>
            </a:r>
            <a:endParaRPr lang="vi-VN" sz="1000" noProof="1"/>
          </a:p>
        </p:txBody>
      </p:sp>
      <p:sp>
        <p:nvSpPr>
          <p:cNvPr id="1364667650" name="Text 1"/>
          <p:cNvSpPr/>
          <p:nvPr/>
        </p:nvSpPr>
        <p:spPr bwMode="auto">
          <a:xfrm>
            <a:off x="533400" y="542925"/>
            <a:ext cx="11347704" cy="359569"/>
          </a:xfrm>
          <a:prstGeom prst="rect">
            <a:avLst/>
          </a:prstGeom>
          <a:noFill/>
          <a:ln/>
        </p:spPr>
        <p:txBody>
          <a:bodyPr wrap="square" lIns="0" tIns="0" rIns="0" bIns="0" rtlCol="0" anchor="t"/>
          <a:lstStyle/>
          <a:p>
            <a:pPr marL="0" indent="0" algn="l">
              <a:lnSpc>
                <a:spcPts val="2832"/>
              </a:lnSpc>
              <a:spcAft>
                <a:spcPts val="600"/>
              </a:spcAft>
              <a:buNone/>
              <a:defRPr/>
            </a:pPr>
            <a:r>
              <a:rPr lang="vi-VN" sz="2400" b="1" noProof="1">
                <a:solidFill>
                  <a:srgbClr val="002855"/>
                </a:solidFill>
                <a:latin typeface="Arial"/>
                <a:ea typeface="Arial"/>
                <a:cs typeface="Arial"/>
              </a:rPr>
              <a:t>Trợ lý AI Copilot — điểm đột phá</a:t>
            </a:r>
            <a:endParaRPr lang="vi-VN" sz="2400" noProof="1"/>
          </a:p>
        </p:txBody>
      </p:sp>
      <p:pic>
        <p:nvPicPr>
          <p:cNvPr id="1372264076" name="Image 0" descr="/var/folders/t4/q0khv7qd1r3dc2yrbwkzmjf00000gn/T/html2pptx-3PyRvM/html2pptx-bg-1791687642797-ab2105bbbd9cb8.png"/>
          <p:cNvPicPr>
            <a:picLocks noChangeAspect="1"/>
          </p:cNvPicPr>
          <p:nvPr/>
        </p:nvPicPr>
        <p:blipFill rotWithShape="1">
          <a:blip r:embed="rId3"/>
          <a:stretch/>
        </p:blipFill>
        <p:spPr bwMode="auto">
          <a:xfrm>
            <a:off x="533400" y="978694"/>
            <a:ext cx="1047750" cy="38100"/>
          </a:xfrm>
          <a:prstGeom prst="rect">
            <a:avLst/>
          </a:prstGeom>
        </p:spPr>
      </p:pic>
      <p:sp>
        <p:nvSpPr>
          <p:cNvPr id="1141313944" name="Text 2"/>
          <p:cNvSpPr/>
          <p:nvPr/>
        </p:nvSpPr>
        <p:spPr bwMode="auto">
          <a:xfrm>
            <a:off x="533400" y="1150144"/>
            <a:ext cx="10881360" cy="214015"/>
          </a:xfrm>
          <a:prstGeom prst="rect">
            <a:avLst/>
          </a:prstGeom>
          <a:noFill/>
          <a:ln/>
        </p:spPr>
        <p:txBody>
          <a:bodyPr wrap="square" lIns="0" tIns="0" rIns="0" bIns="0" rtlCol="0" anchor="t"/>
          <a:lstStyle/>
          <a:p>
            <a:pPr marL="0" indent="0" algn="l">
              <a:lnSpc>
                <a:spcPts val="1686"/>
              </a:lnSpc>
              <a:spcBef>
                <a:spcPts val="1050"/>
              </a:spcBef>
              <a:buNone/>
              <a:defRPr/>
            </a:pPr>
            <a:r>
              <a:rPr lang="vi-VN" sz="1100" noProof="1">
                <a:solidFill>
                  <a:srgbClr val="40506B"/>
                </a:solidFill>
                <a:latin typeface="Arial"/>
                <a:ea typeface="Arial"/>
                <a:cs typeface="Arial"/>
              </a:rPr>
              <a:t>Đề tài ứng dụng </a:t>
            </a:r>
            <a:r>
              <a:rPr lang="vi-VN" sz="1100" b="1" noProof="1">
                <a:solidFill>
                  <a:srgbClr val="002855"/>
                </a:solidFill>
                <a:latin typeface="Arial"/>
                <a:ea typeface="Arial"/>
                <a:cs typeface="Arial"/>
              </a:rPr>
              <a:t>GenAI</a:t>
            </a:r>
            <a:r>
              <a:rPr lang="vi-VN" sz="1100" noProof="1">
                <a:solidFill>
                  <a:srgbClr val="40506B"/>
                </a:solidFill>
                <a:latin typeface="Arial"/>
                <a:ea typeface="Arial"/>
                <a:cs typeface="Arial"/>
              </a:rPr>
              <a:t> giải quyết bài toán thiếu nhân lực biên tập: sinh bài hoàn chỉnh từ tài liệu thô, gợi ý tiêu đề, tóm tắt tin, chuẩn hóa văn phong báo chí công đoàn.</a:t>
            </a:r>
            <a:endParaRPr lang="vi-VN" sz="1100" noProof="1"/>
          </a:p>
        </p:txBody>
      </p:sp>
      <p:sp>
        <p:nvSpPr>
          <p:cNvPr id="1364353431" name="Text 3"/>
          <p:cNvSpPr/>
          <p:nvPr/>
        </p:nvSpPr>
        <p:spPr bwMode="auto">
          <a:xfrm>
            <a:off x="533400" y="1573709"/>
            <a:ext cx="3606701" cy="1828800"/>
          </a:xfrm>
          <a:prstGeom prst="roundRect">
            <a:avLst>
              <a:gd name="adj" fmla="val 7292"/>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282954407" name="Text 4"/>
          <p:cNvSpPr/>
          <p:nvPr/>
        </p:nvSpPr>
        <p:spPr bwMode="auto">
          <a:xfrm>
            <a:off x="714375" y="1726109"/>
            <a:ext cx="304800" cy="304800"/>
          </a:xfrm>
          <a:prstGeom prst="roundRect">
            <a:avLst>
              <a:gd name="adj" fmla="val 28125"/>
            </a:avLst>
          </a:prstGeom>
          <a:solidFill>
            <a:srgbClr val="002855"/>
          </a:solidFill>
          <a:ln/>
        </p:spPr>
        <p:txBody>
          <a:bodyPr wrap="square" rtlCol="0" anchor="ctr"/>
          <a:lstStyle/>
          <a:p>
            <a:pPr marL="0" indent="0">
              <a:buNone/>
              <a:defRPr/>
            </a:pPr>
            <a:endParaRPr lang="vi-VN" noProof="1"/>
          </a:p>
        </p:txBody>
      </p:sp>
      <p:sp>
        <p:nvSpPr>
          <p:cNvPr id="1845100964" name="Text 5"/>
          <p:cNvSpPr/>
          <p:nvPr/>
        </p:nvSpPr>
        <p:spPr bwMode="auto">
          <a:xfrm>
            <a:off x="711327" y="1726109"/>
            <a:ext cx="310896" cy="304800"/>
          </a:xfrm>
          <a:prstGeom prst="rect">
            <a:avLst/>
          </a:prstGeom>
          <a:noFill/>
          <a:ln/>
        </p:spPr>
        <p:txBody>
          <a:bodyPr wrap="square" lIns="0" tIns="0" rIns="0" bIns="0" rtlCol="0" anchor="ctr"/>
          <a:lstStyle/>
          <a:p>
            <a:pPr marL="0" indent="0" algn="ctr">
              <a:buNone/>
              <a:defRPr/>
            </a:pPr>
            <a:r>
              <a:rPr lang="vi-VN" sz="1050" b="1" noProof="1">
                <a:solidFill>
                  <a:srgbClr val="F6C945"/>
                </a:solidFill>
                <a:latin typeface="Arial"/>
                <a:ea typeface="Arial"/>
                <a:cs typeface="Arial"/>
              </a:rPr>
              <a:t>01</a:t>
            </a:r>
            <a:endParaRPr lang="vi-VN" sz="1050" noProof="1"/>
          </a:p>
        </p:txBody>
      </p:sp>
      <p:sp>
        <p:nvSpPr>
          <p:cNvPr id="1016852456" name="Text 6"/>
          <p:cNvSpPr/>
          <p:nvPr/>
        </p:nvSpPr>
        <p:spPr bwMode="auto">
          <a:xfrm>
            <a:off x="1114425" y="1792784"/>
            <a:ext cx="1681692" cy="171450"/>
          </a:xfrm>
          <a:prstGeom prst="rect">
            <a:avLst/>
          </a:prstGeom>
          <a:noFill/>
          <a:ln/>
        </p:spPr>
        <p:txBody>
          <a:bodyPr wrap="square" lIns="0" tIns="0" rIns="0" bIns="0" rtlCol="0" anchor="t"/>
          <a:lstStyle/>
          <a:p>
            <a:pPr marL="0" indent="0" algn="l">
              <a:buNone/>
              <a:defRPr/>
            </a:pPr>
            <a:r>
              <a:rPr lang="vi-VN" sz="1150" b="1" noProof="1">
                <a:solidFill>
                  <a:srgbClr val="002855"/>
                </a:solidFill>
                <a:latin typeface="Arial"/>
                <a:ea typeface="Arial"/>
                <a:cs typeface="Arial"/>
              </a:rPr>
              <a:t>Autopilot viết</a:t>
            </a:r>
            <a:r>
              <a:rPr lang="en-US" sz="1150" b="1" noProof="1">
                <a:solidFill>
                  <a:srgbClr val="002855"/>
                </a:solidFill>
                <a:latin typeface="Arial"/>
                <a:ea typeface="Arial"/>
                <a:cs typeface="Arial"/>
              </a:rPr>
              <a:t> bài</a:t>
            </a:r>
            <a:endParaRPr lang="vi-VN" sz="1150" noProof="1"/>
          </a:p>
        </p:txBody>
      </p:sp>
      <p:sp>
        <p:nvSpPr>
          <p:cNvPr id="72998157" name="Text 7"/>
          <p:cNvSpPr/>
          <p:nvPr/>
        </p:nvSpPr>
        <p:spPr bwMode="auto">
          <a:xfrm>
            <a:off x="714375" y="2107109"/>
            <a:ext cx="3309646" cy="535781"/>
          </a:xfrm>
          <a:prstGeom prst="rect">
            <a:avLst/>
          </a:prstGeom>
          <a:noFill/>
          <a:ln/>
        </p:spPr>
        <p:txBody>
          <a:bodyPr wrap="square" lIns="0" tIns="0" rIns="0" bIns="0" rtlCol="0" anchor="t"/>
          <a:lstStyle/>
          <a:p>
            <a:pPr marL="0" indent="0" algn="l">
              <a:lnSpc>
                <a:spcPts val="1405"/>
              </a:lnSpc>
              <a:buNone/>
              <a:defRPr/>
            </a:pPr>
            <a:r>
              <a:rPr lang="vi-VN" sz="950" noProof="1">
                <a:solidFill>
                  <a:srgbClr val="4A5A72"/>
                </a:solidFill>
                <a:latin typeface="Arial"/>
                <a:ea typeface="Arial"/>
                <a:cs typeface="Arial"/>
              </a:rPr>
              <a:t>Phân tích hồ sơ sự kiện (DOCX, PPTX, PDF, ảnh…) để chấp bút bài báo hoàn chỉnh theo chuẩn Who–What–Where–When–Why–How.</a:t>
            </a:r>
            <a:endParaRPr lang="vi-VN" sz="950" noProof="1"/>
          </a:p>
        </p:txBody>
      </p:sp>
      <p:sp>
        <p:nvSpPr>
          <p:cNvPr id="149157382" name="Text 8"/>
          <p:cNvSpPr/>
          <p:nvPr/>
        </p:nvSpPr>
        <p:spPr bwMode="auto">
          <a:xfrm>
            <a:off x="4292501" y="1573709"/>
            <a:ext cx="3606850" cy="1828800"/>
          </a:xfrm>
          <a:prstGeom prst="roundRect">
            <a:avLst>
              <a:gd name="adj" fmla="val 7292"/>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2023426606" name="Text 9"/>
          <p:cNvSpPr/>
          <p:nvPr/>
        </p:nvSpPr>
        <p:spPr bwMode="auto">
          <a:xfrm>
            <a:off x="4473476" y="1726109"/>
            <a:ext cx="304800" cy="304800"/>
          </a:xfrm>
          <a:prstGeom prst="roundRect">
            <a:avLst>
              <a:gd name="adj" fmla="val 28125"/>
            </a:avLst>
          </a:prstGeom>
          <a:solidFill>
            <a:srgbClr val="002855"/>
          </a:solidFill>
          <a:ln/>
        </p:spPr>
        <p:txBody>
          <a:bodyPr wrap="square" rtlCol="0" anchor="ctr"/>
          <a:lstStyle/>
          <a:p>
            <a:pPr marL="0" indent="0">
              <a:buNone/>
              <a:defRPr/>
            </a:pPr>
            <a:endParaRPr lang="vi-VN" noProof="1"/>
          </a:p>
        </p:txBody>
      </p:sp>
      <p:sp>
        <p:nvSpPr>
          <p:cNvPr id="1894304406" name="Text 10"/>
          <p:cNvSpPr/>
          <p:nvPr/>
        </p:nvSpPr>
        <p:spPr bwMode="auto">
          <a:xfrm>
            <a:off x="4470428" y="1726109"/>
            <a:ext cx="310896" cy="304800"/>
          </a:xfrm>
          <a:prstGeom prst="rect">
            <a:avLst/>
          </a:prstGeom>
          <a:noFill/>
          <a:ln/>
        </p:spPr>
        <p:txBody>
          <a:bodyPr wrap="square" lIns="0" tIns="0" rIns="0" bIns="0" rtlCol="0" anchor="ctr"/>
          <a:lstStyle/>
          <a:p>
            <a:pPr marL="0" indent="0" algn="ctr">
              <a:buNone/>
              <a:defRPr/>
            </a:pPr>
            <a:r>
              <a:rPr lang="vi-VN" sz="1050" b="1" noProof="1">
                <a:solidFill>
                  <a:srgbClr val="F6C945"/>
                </a:solidFill>
                <a:latin typeface="Arial"/>
                <a:ea typeface="Arial"/>
                <a:cs typeface="Arial"/>
              </a:rPr>
              <a:t>02</a:t>
            </a:r>
            <a:endParaRPr lang="vi-VN" sz="1050" noProof="1"/>
          </a:p>
        </p:txBody>
      </p:sp>
      <p:sp>
        <p:nvSpPr>
          <p:cNvPr id="53570159" name="Text 11"/>
          <p:cNvSpPr/>
          <p:nvPr/>
        </p:nvSpPr>
        <p:spPr bwMode="auto">
          <a:xfrm>
            <a:off x="4873525" y="1792784"/>
            <a:ext cx="1397210" cy="171450"/>
          </a:xfrm>
          <a:prstGeom prst="rect">
            <a:avLst/>
          </a:prstGeom>
          <a:noFill/>
          <a:ln/>
        </p:spPr>
        <p:txBody>
          <a:bodyPr wrap="square" lIns="0" tIns="0" rIns="0" bIns="0" rtlCol="0" anchor="t"/>
          <a:lstStyle/>
          <a:p>
            <a:pPr marL="0" indent="0" algn="l">
              <a:buNone/>
              <a:defRPr/>
            </a:pPr>
            <a:r>
              <a:rPr lang="vi-VN" sz="1150" b="1" noProof="1">
                <a:solidFill>
                  <a:srgbClr val="002855"/>
                </a:solidFill>
                <a:latin typeface="Arial"/>
                <a:ea typeface="Arial"/>
                <a:cs typeface="Arial"/>
              </a:rPr>
              <a:t>Lead / Sapo thu hút</a:t>
            </a:r>
            <a:endParaRPr lang="vi-VN" sz="1150" noProof="1"/>
          </a:p>
        </p:txBody>
      </p:sp>
      <p:sp>
        <p:nvSpPr>
          <p:cNvPr id="904769311" name="Text 12"/>
          <p:cNvSpPr/>
          <p:nvPr/>
        </p:nvSpPr>
        <p:spPr bwMode="auto">
          <a:xfrm>
            <a:off x="4473476" y="2107109"/>
            <a:ext cx="3309798" cy="357188"/>
          </a:xfrm>
          <a:prstGeom prst="rect">
            <a:avLst/>
          </a:prstGeom>
          <a:noFill/>
          <a:ln/>
        </p:spPr>
        <p:txBody>
          <a:bodyPr wrap="square" lIns="0" tIns="0" rIns="0" bIns="0" rtlCol="0" anchor="t"/>
          <a:lstStyle/>
          <a:p>
            <a:pPr marL="0" indent="0" algn="l">
              <a:lnSpc>
                <a:spcPts val="1405"/>
              </a:lnSpc>
              <a:buNone/>
              <a:defRPr/>
            </a:pPr>
            <a:r>
              <a:rPr lang="vi-VN" sz="950" noProof="1">
                <a:solidFill>
                  <a:srgbClr val="4A5A72"/>
                </a:solidFill>
                <a:latin typeface="Arial"/>
                <a:ea typeface="Arial"/>
                <a:cs typeface="Arial"/>
              </a:rPr>
              <a:t>Tự động tóm tắt sự kiện thành đoạn mở đầu cô đọng, kích thích độc giả đọc tiếp toàn văn.</a:t>
            </a:r>
            <a:endParaRPr lang="vi-VN" sz="950" noProof="1"/>
          </a:p>
        </p:txBody>
      </p:sp>
      <p:sp>
        <p:nvSpPr>
          <p:cNvPr id="709415554" name="Text 23"/>
          <p:cNvSpPr/>
          <p:nvPr/>
        </p:nvSpPr>
        <p:spPr bwMode="auto">
          <a:xfrm>
            <a:off x="4292501" y="3554909"/>
            <a:ext cx="3606850" cy="1828800"/>
          </a:xfrm>
          <a:prstGeom prst="roundRect">
            <a:avLst>
              <a:gd name="adj" fmla="val 7292"/>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070345396" name="Text 24"/>
          <p:cNvSpPr/>
          <p:nvPr/>
        </p:nvSpPr>
        <p:spPr bwMode="auto">
          <a:xfrm>
            <a:off x="4473476" y="3707309"/>
            <a:ext cx="304800" cy="304800"/>
          </a:xfrm>
          <a:prstGeom prst="roundRect">
            <a:avLst>
              <a:gd name="adj" fmla="val 28125"/>
            </a:avLst>
          </a:prstGeom>
          <a:solidFill>
            <a:srgbClr val="002855"/>
          </a:solidFill>
          <a:ln/>
        </p:spPr>
        <p:txBody>
          <a:bodyPr wrap="square" rtlCol="0" anchor="ctr"/>
          <a:lstStyle/>
          <a:p>
            <a:pPr marL="0" indent="0">
              <a:buNone/>
              <a:defRPr/>
            </a:pPr>
            <a:endParaRPr lang="vi-VN" noProof="1"/>
          </a:p>
        </p:txBody>
      </p:sp>
      <p:sp>
        <p:nvSpPr>
          <p:cNvPr id="1005010649" name="Text 25"/>
          <p:cNvSpPr/>
          <p:nvPr/>
        </p:nvSpPr>
        <p:spPr bwMode="auto">
          <a:xfrm>
            <a:off x="4470428" y="3707309"/>
            <a:ext cx="310896" cy="304800"/>
          </a:xfrm>
          <a:prstGeom prst="rect">
            <a:avLst/>
          </a:prstGeom>
          <a:noFill/>
          <a:ln/>
        </p:spPr>
        <p:txBody>
          <a:bodyPr wrap="square" lIns="0" tIns="0" rIns="0" bIns="0" rtlCol="0" anchor="ctr"/>
          <a:lstStyle/>
          <a:p>
            <a:r>
              <a:t>03</a:t>
            </a:r>
          </a:p>
        </p:txBody>
      </p:sp>
      <p:sp>
        <p:nvSpPr>
          <p:cNvPr id="448043160" name="Text 26"/>
          <p:cNvSpPr/>
          <p:nvPr/>
        </p:nvSpPr>
        <p:spPr bwMode="auto">
          <a:xfrm>
            <a:off x="4873525" y="3773984"/>
            <a:ext cx="1489204" cy="171450"/>
          </a:xfrm>
          <a:prstGeom prst="rect">
            <a:avLst/>
          </a:prstGeom>
          <a:noFill/>
          <a:ln/>
        </p:spPr>
        <p:txBody>
          <a:bodyPr wrap="square" lIns="0" tIns="0" rIns="0" bIns="0" rtlCol="0" anchor="t"/>
          <a:lstStyle/>
          <a:p>
            <a:pPr marL="0" indent="0" algn="l">
              <a:buNone/>
              <a:defRPr/>
            </a:pPr>
            <a:r>
              <a:rPr lang="vi-VN" sz="1150" b="1" noProof="1">
                <a:solidFill>
                  <a:srgbClr val="002855"/>
                </a:solidFill>
                <a:latin typeface="Arial"/>
                <a:ea typeface="Arial"/>
                <a:cs typeface="Arial"/>
              </a:rPr>
              <a:t>Hiệu đính văn phong</a:t>
            </a:r>
            <a:endParaRPr lang="vi-VN" sz="1150" noProof="1"/>
          </a:p>
        </p:txBody>
      </p:sp>
      <p:sp>
        <p:nvSpPr>
          <p:cNvPr id="1489428580" name="Text 27"/>
          <p:cNvSpPr/>
          <p:nvPr/>
        </p:nvSpPr>
        <p:spPr bwMode="auto">
          <a:xfrm>
            <a:off x="4473476" y="4088309"/>
            <a:ext cx="3309798" cy="357188"/>
          </a:xfrm>
          <a:prstGeom prst="rect">
            <a:avLst/>
          </a:prstGeom>
          <a:noFill/>
          <a:ln/>
        </p:spPr>
        <p:txBody>
          <a:bodyPr wrap="square" lIns="0" tIns="0" rIns="0" bIns="0" rtlCol="0" anchor="t"/>
          <a:lstStyle/>
          <a:p>
            <a:pPr marL="0" indent="0" algn="l">
              <a:lnSpc>
                <a:spcPts val="1405"/>
              </a:lnSpc>
              <a:buNone/>
              <a:defRPr/>
            </a:pPr>
            <a:r>
              <a:rPr lang="vi-VN" sz="950" noProof="1">
                <a:solidFill>
                  <a:srgbClr val="4A5A72"/>
                </a:solidFill>
                <a:latin typeface="Arial"/>
                <a:ea typeface="Arial"/>
                <a:cs typeface="Arial"/>
              </a:rPr>
              <a:t>Kiểm tra chính tả tiếng Việt, chuẩn hóa câu từ, điều chỉnh văn phong đoàn thể chính luận.</a:t>
            </a:r>
            <a:endParaRPr lang="vi-VN" sz="950" noProof="1"/>
          </a:p>
        </p:txBody>
      </p:sp>
      <p:sp>
        <p:nvSpPr>
          <p:cNvPr id="244178056" name="Text 28"/>
          <p:cNvSpPr/>
          <p:nvPr/>
        </p:nvSpPr>
        <p:spPr bwMode="auto">
          <a:xfrm>
            <a:off x="8051750" y="3554909"/>
            <a:ext cx="3606701" cy="1828800"/>
          </a:xfrm>
          <a:prstGeom prst="roundRect">
            <a:avLst>
              <a:gd name="adj" fmla="val 7292"/>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635074082" name="Text 29"/>
          <p:cNvSpPr/>
          <p:nvPr/>
        </p:nvSpPr>
        <p:spPr bwMode="auto">
          <a:xfrm>
            <a:off x="8232725" y="3707309"/>
            <a:ext cx="304800" cy="304800"/>
          </a:xfrm>
          <a:prstGeom prst="roundRect">
            <a:avLst>
              <a:gd name="adj" fmla="val 28125"/>
            </a:avLst>
          </a:prstGeom>
          <a:solidFill>
            <a:srgbClr val="002855"/>
          </a:solidFill>
          <a:ln/>
        </p:spPr>
        <p:txBody>
          <a:bodyPr wrap="square" rtlCol="0" anchor="ctr"/>
          <a:lstStyle/>
          <a:p>
            <a:pPr marL="0" indent="0">
              <a:buNone/>
              <a:defRPr/>
            </a:pPr>
            <a:endParaRPr lang="vi-VN" noProof="1"/>
          </a:p>
        </p:txBody>
      </p:sp>
      <p:sp>
        <p:nvSpPr>
          <p:cNvPr id="264002214" name="Text 30"/>
          <p:cNvSpPr/>
          <p:nvPr/>
        </p:nvSpPr>
        <p:spPr bwMode="auto">
          <a:xfrm>
            <a:off x="8229677" y="3707309"/>
            <a:ext cx="310896" cy="304800"/>
          </a:xfrm>
          <a:prstGeom prst="rect">
            <a:avLst/>
          </a:prstGeom>
          <a:noFill/>
          <a:ln/>
        </p:spPr>
        <p:txBody>
          <a:bodyPr wrap="square" lIns="0" tIns="0" rIns="0" bIns="0" rtlCol="0" anchor="ctr"/>
          <a:lstStyle/>
          <a:p>
            <a:r>
              <a:t>04</a:t>
            </a:r>
          </a:p>
        </p:txBody>
      </p:sp>
      <p:sp>
        <p:nvSpPr>
          <p:cNvPr id="1220310364" name="Text 31"/>
          <p:cNvSpPr/>
          <p:nvPr/>
        </p:nvSpPr>
        <p:spPr bwMode="auto">
          <a:xfrm>
            <a:off x="8632775" y="3773984"/>
            <a:ext cx="1447154" cy="171450"/>
          </a:xfrm>
          <a:prstGeom prst="rect">
            <a:avLst/>
          </a:prstGeom>
          <a:noFill/>
          <a:ln/>
        </p:spPr>
        <p:txBody>
          <a:bodyPr wrap="square" lIns="0" tIns="0" rIns="0" bIns="0" rtlCol="0" anchor="t"/>
          <a:lstStyle/>
          <a:p>
            <a:pPr marL="0" indent="0" algn="l">
              <a:buNone/>
              <a:defRPr/>
            </a:pPr>
            <a:r>
              <a:rPr lang="vi-VN" sz="1150" b="1" noProof="1">
                <a:solidFill>
                  <a:srgbClr val="002855"/>
                </a:solidFill>
                <a:latin typeface="Arial"/>
                <a:ea typeface="Arial"/>
                <a:cs typeface="Arial"/>
              </a:rPr>
              <a:t>Bubble Menu</a:t>
            </a:r>
            <a:endParaRPr lang="vi-VN" sz="1150" noProof="1"/>
          </a:p>
        </p:txBody>
      </p:sp>
      <p:sp>
        <p:nvSpPr>
          <p:cNvPr id="690906954" name="Text 32"/>
          <p:cNvSpPr/>
          <p:nvPr/>
        </p:nvSpPr>
        <p:spPr bwMode="auto">
          <a:xfrm>
            <a:off x="8232725" y="4088309"/>
            <a:ext cx="3309646" cy="357188"/>
          </a:xfrm>
          <a:prstGeom prst="rect">
            <a:avLst/>
          </a:prstGeom>
          <a:noFill/>
          <a:ln/>
        </p:spPr>
        <p:txBody>
          <a:bodyPr wrap="square" lIns="0" tIns="0" rIns="0" bIns="0" rtlCol="0" anchor="t"/>
          <a:lstStyle/>
          <a:p>
            <a:r>
              <a:t>Bôi đen đoạn văn bản → viết lại ngắn gọn, mở rộng hoặc chuyển đổi văn phong tức thì qua cơ chế Streaming thời gian thực.</a:t>
            </a:r>
          </a:p>
        </p:txBody>
      </p:sp>
      <p:sp>
        <p:nvSpPr>
          <p:cNvPr id="2026376871" name="Text 33"/>
          <p:cNvSpPr/>
          <p:nvPr/>
        </p:nvSpPr>
        <p:spPr bwMode="auto">
          <a:xfrm>
            <a:off x="533400" y="5574209"/>
            <a:ext cx="11125200" cy="421481"/>
          </a:xfrm>
          <a:prstGeom prst="roundRect">
            <a:avLst>
              <a:gd name="adj" fmla="val 27119"/>
            </a:avLst>
          </a:prstGeom>
          <a:solidFill>
            <a:srgbClr val="002855"/>
          </a:solidFill>
          <a:ln/>
        </p:spPr>
        <p:txBody>
          <a:bodyPr wrap="square" rtlCol="0" anchor="ctr"/>
          <a:lstStyle/>
          <a:p>
            <a:pPr marL="0" indent="0">
              <a:buNone/>
              <a:defRPr/>
            </a:pPr>
            <a:endParaRPr lang="vi-VN" noProof="1"/>
          </a:p>
        </p:txBody>
      </p:sp>
      <p:sp>
        <p:nvSpPr>
          <p:cNvPr id="1338903763" name="Text 34"/>
          <p:cNvSpPr/>
          <p:nvPr/>
        </p:nvSpPr>
        <p:spPr bwMode="auto">
          <a:xfrm>
            <a:off x="723900" y="5688509"/>
            <a:ext cx="10959084" cy="192881"/>
          </a:xfrm>
          <a:prstGeom prst="rect">
            <a:avLst/>
          </a:prstGeom>
          <a:noFill/>
          <a:ln/>
        </p:spPr>
        <p:txBody>
          <a:bodyPr wrap="square" lIns="0" tIns="0" rIns="0" bIns="0" rtlCol="0" anchor="t"/>
          <a:lstStyle/>
          <a:p>
            <a:pPr marL="0" indent="0" algn="l">
              <a:lnSpc>
                <a:spcPts val="1519"/>
              </a:lnSpc>
              <a:buNone/>
              <a:defRPr/>
            </a:pPr>
            <a:r>
              <a:rPr lang="vi-VN" sz="1000" b="1" noProof="1">
                <a:solidFill>
                  <a:srgbClr val="F6C945"/>
                </a:solidFill>
                <a:latin typeface="Arial"/>
                <a:ea typeface="Arial"/>
                <a:cs typeface="Arial"/>
              </a:rPr>
              <a:t>Hạ tầng AI:</a:t>
            </a:r>
            <a:r>
              <a:rPr lang="vi-VN" sz="1000" noProof="1">
                <a:solidFill>
                  <a:srgbClr val="EAF1FA"/>
                </a:solidFill>
                <a:latin typeface="Arial"/>
                <a:ea typeface="Arial"/>
                <a:cs typeface="Arial"/>
              </a:rPr>
              <a:t> Google Gemini Flash/Pro (SDK @google/genai) · </a:t>
            </a:r>
            <a:r>
              <a:rPr lang="vi-VN" sz="1000" b="1" noProof="1">
                <a:solidFill>
                  <a:srgbClr val="F6C945"/>
                </a:solidFill>
                <a:latin typeface="Arial"/>
                <a:ea typeface="Arial"/>
                <a:cs typeface="Arial"/>
              </a:rPr>
              <a:t>Streaming SSE</a:t>
            </a:r>
            <a:r>
              <a:rPr lang="vi-VN" sz="1000" noProof="1">
                <a:solidFill>
                  <a:srgbClr val="EAF1FA"/>
                </a:solidFill>
                <a:latin typeface="Arial"/>
                <a:ea typeface="Arial"/>
                <a:cs typeface="Arial"/>
              </a:rPr>
              <a:t> phản hồi &lt;1s · Prompt chuẩn ngữ cảnh Công đoàn TDMU · Kiểm soát định mức Token AI theo vai trò.</a:t>
            </a:r>
            <a:endParaRPr lang="vi-VN" sz="1000" noProof="1"/>
          </a:p>
        </p:txBody>
      </p:sp>
      <p:sp>
        <p:nvSpPr>
          <p:cNvPr id="247088338" name="Shape 35"/>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2067949737" name="Text 36"/>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PhAnim="0">
  <p:cSld name="Slide 7">
    <p:bg>
      <p:bgPr>
        <a:solidFill>
          <a:srgbClr val="F6F8FB"/>
        </a:solidFill>
        <a:effectLst/>
      </p:bgPr>
    </p:bg>
    <p:spTree>
      <p:nvGrpSpPr>
        <p:cNvPr id="1" name=""/>
        <p:cNvGrpSpPr/>
        <p:nvPr/>
      </p:nvGrpSpPr>
      <p:grpSpPr bwMode="auto">
        <a:xfrm>
          <a:off x="0" y="0"/>
          <a:ext cx="0" cy="0"/>
          <a:chOff x="0" y="0"/>
          <a:chExt cx="0" cy="0"/>
        </a:xfrm>
      </p:grpSpPr>
      <p:sp>
        <p:nvSpPr>
          <p:cNvPr id="1445726117"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000" b="1" noProof="1">
                <a:solidFill>
                  <a:srgbClr val="B07F12"/>
                </a:solidFill>
                <a:latin typeface="Arial"/>
                <a:ea typeface="Arial"/>
                <a:cs typeface="Arial"/>
              </a:rPr>
              <a:t>3. GIẢI PHÁP CÔNG NGHỆ</a:t>
            </a:r>
            <a:endParaRPr lang="vi-VN" sz="1000" noProof="1"/>
          </a:p>
        </p:txBody>
      </p:sp>
      <p:sp>
        <p:nvSpPr>
          <p:cNvPr id="1250095752" name="Text 1"/>
          <p:cNvSpPr/>
          <p:nvPr/>
        </p:nvSpPr>
        <p:spPr bwMode="auto">
          <a:xfrm>
            <a:off x="533400" y="542925"/>
            <a:ext cx="11347704" cy="359569"/>
          </a:xfrm>
          <a:prstGeom prst="rect">
            <a:avLst/>
          </a:prstGeom>
          <a:noFill/>
          <a:ln/>
        </p:spPr>
        <p:txBody>
          <a:bodyPr wrap="square" lIns="0" tIns="0" rIns="0" bIns="0" rtlCol="0" anchor="t"/>
          <a:lstStyle/>
          <a:p>
            <a:pPr marL="0" indent="0" algn="l">
              <a:lnSpc>
                <a:spcPts val="2832"/>
              </a:lnSpc>
              <a:spcAft>
                <a:spcPts val="600"/>
              </a:spcAft>
              <a:buNone/>
              <a:defRPr/>
            </a:pPr>
            <a:r>
              <a:rPr lang="vi-VN" sz="2400" b="1" noProof="1">
                <a:solidFill>
                  <a:srgbClr val="002855"/>
                </a:solidFill>
                <a:latin typeface="Arial"/>
                <a:ea typeface="Arial"/>
                <a:cs typeface="Arial"/>
              </a:rPr>
              <a:t>Kiến trúc hệ thống — 4 trụ cột công nghệ</a:t>
            </a:r>
            <a:endParaRPr lang="vi-VN" sz="2400" noProof="1"/>
          </a:p>
        </p:txBody>
      </p:sp>
      <p:pic>
        <p:nvPicPr>
          <p:cNvPr id="1938761839" name="Image 0" descr="/var/folders/t4/q0khv7qd1r3dc2yrbwkzmjf00000gn/T/html2pptx-GZNJ0n/html2pptx-bg-1791687643951-6c6bf3bb1a279.png"/>
          <p:cNvPicPr>
            <a:picLocks noChangeAspect="1"/>
          </p:cNvPicPr>
          <p:nvPr/>
        </p:nvPicPr>
        <p:blipFill rotWithShape="1">
          <a:blip r:embed="rId3"/>
          <a:stretch/>
        </p:blipFill>
        <p:spPr bwMode="auto">
          <a:xfrm>
            <a:off x="533400" y="978694"/>
            <a:ext cx="1047750" cy="38100"/>
          </a:xfrm>
          <a:prstGeom prst="rect">
            <a:avLst/>
          </a:prstGeom>
        </p:spPr>
      </p:pic>
      <p:sp>
        <p:nvSpPr>
          <p:cNvPr id="171965350" name="Text 2"/>
          <p:cNvSpPr/>
          <p:nvPr/>
        </p:nvSpPr>
        <p:spPr bwMode="auto">
          <a:xfrm>
            <a:off x="533400" y="1283494"/>
            <a:ext cx="5467350" cy="2166938"/>
          </a:xfrm>
          <a:prstGeom prst="roundRect">
            <a:avLst>
              <a:gd name="adj" fmla="val 6154"/>
            </a:avLst>
          </a:prstGeom>
          <a:solidFill>
            <a:srgbClr val="FFFFFF"/>
          </a:solidFill>
          <a:ln/>
          <a:effectLst>
            <a:outerShdw blurRad="171450" dist="57150" dir="5400000" algn="bl" rotWithShape="0">
              <a:srgbClr val="002855">
                <a:alpha val="6000"/>
              </a:srgbClr>
            </a:outerShdw>
          </a:effectLst>
        </p:spPr>
        <p:txBody>
          <a:bodyPr wrap="square" rtlCol="0" anchor="ctr"/>
          <a:lstStyle/>
          <a:p>
            <a:pPr marL="0" indent="0">
              <a:buNone/>
              <a:defRPr/>
            </a:pPr>
            <a:endParaRPr lang="vi-VN" noProof="1"/>
          </a:p>
        </p:txBody>
      </p:sp>
      <p:sp>
        <p:nvSpPr>
          <p:cNvPr id="1464939221" name="Shape 3"/>
          <p:cNvSpPr/>
          <p:nvPr/>
        </p:nvSpPr>
        <p:spPr bwMode="auto">
          <a:xfrm>
            <a:off x="762000" y="1307306"/>
            <a:ext cx="5010149" cy="0"/>
          </a:xfrm>
          <a:prstGeom prst="line">
            <a:avLst/>
          </a:prstGeom>
          <a:noFill/>
          <a:ln w="47625">
            <a:solidFill>
              <a:srgbClr val="002855"/>
            </a:solidFill>
            <a:prstDash val="solid"/>
          </a:ln>
        </p:spPr>
        <p:txBody>
          <a:bodyPr/>
          <a:lstStyle/>
          <a:p>
            <a:endParaRPr lang="vi-VN" noProof="1"/>
          </a:p>
        </p:txBody>
      </p:sp>
      <p:sp>
        <p:nvSpPr>
          <p:cNvPr id="1174777384" name="Shape 4"/>
          <p:cNvSpPr/>
          <p:nvPr/>
        </p:nvSpPr>
        <p:spPr bwMode="auto">
          <a:xfrm>
            <a:off x="5995988" y="1473994"/>
            <a:ext cx="0" cy="1785937"/>
          </a:xfrm>
          <a:prstGeom prst="line">
            <a:avLst/>
          </a:prstGeom>
          <a:noFill/>
          <a:ln w="9525">
            <a:solidFill>
              <a:srgbClr val="E3E9F2"/>
            </a:solidFill>
            <a:prstDash val="solid"/>
          </a:ln>
        </p:spPr>
        <p:txBody>
          <a:bodyPr/>
          <a:lstStyle/>
          <a:p>
            <a:endParaRPr lang="vi-VN" noProof="1"/>
          </a:p>
        </p:txBody>
      </p:sp>
      <p:sp>
        <p:nvSpPr>
          <p:cNvPr id="635614464" name="Shape 5"/>
          <p:cNvSpPr/>
          <p:nvPr/>
        </p:nvSpPr>
        <p:spPr bwMode="auto">
          <a:xfrm>
            <a:off x="762000" y="3450431"/>
            <a:ext cx="5010149" cy="0"/>
          </a:xfrm>
          <a:prstGeom prst="line">
            <a:avLst/>
          </a:prstGeom>
          <a:noFill/>
          <a:ln w="9525">
            <a:solidFill>
              <a:srgbClr val="E3E9F2"/>
            </a:solidFill>
            <a:prstDash val="solid"/>
          </a:ln>
        </p:spPr>
        <p:txBody>
          <a:bodyPr/>
          <a:lstStyle/>
          <a:p>
            <a:endParaRPr lang="vi-VN" noProof="1"/>
          </a:p>
        </p:txBody>
      </p:sp>
      <p:sp>
        <p:nvSpPr>
          <p:cNvPr id="1371696479" name="Shape 6"/>
          <p:cNvSpPr/>
          <p:nvPr/>
        </p:nvSpPr>
        <p:spPr bwMode="auto">
          <a:xfrm>
            <a:off x="538163" y="1473994"/>
            <a:ext cx="0" cy="1785937"/>
          </a:xfrm>
          <a:prstGeom prst="line">
            <a:avLst/>
          </a:prstGeom>
          <a:noFill/>
          <a:ln w="9525">
            <a:solidFill>
              <a:srgbClr val="E3E9F2"/>
            </a:solidFill>
            <a:prstDash val="solid"/>
          </a:ln>
        </p:spPr>
        <p:txBody>
          <a:bodyPr/>
          <a:lstStyle/>
          <a:p>
            <a:endParaRPr lang="vi-VN" noProof="1"/>
          </a:p>
        </p:txBody>
      </p:sp>
      <p:sp>
        <p:nvSpPr>
          <p:cNvPr id="1833952385" name="Text 7"/>
          <p:cNvSpPr/>
          <p:nvPr/>
        </p:nvSpPr>
        <p:spPr bwMode="auto">
          <a:xfrm>
            <a:off x="771525" y="1521619"/>
            <a:ext cx="809625" cy="209550"/>
          </a:xfrm>
          <a:prstGeom prst="rect">
            <a:avLst/>
          </a:prstGeom>
          <a:noFill/>
          <a:ln/>
        </p:spPr>
        <p:txBody>
          <a:bodyPr wrap="square" lIns="0" tIns="0" rIns="0" bIns="0" rtlCol="0" anchor="t"/>
          <a:lstStyle/>
          <a:p>
            <a:pPr marL="0" indent="0" algn="l">
              <a:buNone/>
              <a:defRPr/>
            </a:pPr>
            <a:r>
              <a:rPr lang="vi-VN" sz="1450" b="1" noProof="1">
                <a:solidFill>
                  <a:srgbClr val="002855"/>
                </a:solidFill>
                <a:latin typeface="Arial"/>
                <a:ea typeface="Arial"/>
                <a:cs typeface="Arial"/>
              </a:rPr>
              <a:t>Frontend</a:t>
            </a:r>
            <a:endParaRPr lang="vi-VN" sz="1450" noProof="1"/>
          </a:p>
        </p:txBody>
      </p:sp>
      <p:sp>
        <p:nvSpPr>
          <p:cNvPr id="1626353813" name="Text 8"/>
          <p:cNvSpPr/>
          <p:nvPr/>
        </p:nvSpPr>
        <p:spPr bwMode="auto">
          <a:xfrm>
            <a:off x="4142333" y="1569244"/>
            <a:ext cx="1652698" cy="114300"/>
          </a:xfrm>
          <a:prstGeom prst="rect">
            <a:avLst/>
          </a:prstGeom>
          <a:noFill/>
          <a:ln/>
        </p:spPr>
        <p:txBody>
          <a:bodyPr wrap="square" lIns="0" tIns="0" rIns="0" bIns="0" rtlCol="0" anchor="t"/>
          <a:lstStyle/>
          <a:p>
            <a:pPr marL="0" indent="0" algn="l">
              <a:buNone/>
              <a:defRPr/>
            </a:pPr>
            <a:r>
              <a:rPr lang="vi-VN" sz="850" b="1" noProof="1">
                <a:solidFill>
                  <a:srgbClr val="B07F12"/>
                </a:solidFill>
                <a:latin typeface="Arial"/>
                <a:ea typeface="Arial"/>
                <a:cs typeface="Arial"/>
              </a:rPr>
              <a:t>GIAO DIỆN NGƯỜI DÙNG</a:t>
            </a:r>
            <a:endParaRPr lang="vi-VN" sz="850" noProof="1"/>
          </a:p>
        </p:txBody>
      </p:sp>
      <p:sp>
        <p:nvSpPr>
          <p:cNvPr id="505768138" name="Text 11"/>
          <p:cNvSpPr/>
          <p:nvPr/>
        </p:nvSpPr>
        <p:spPr bwMode="auto">
          <a:xfrm>
            <a:off x="3157840" y="1845469"/>
            <a:ext cx="1355602" cy="266700"/>
          </a:xfrm>
          <a:prstGeom prst="roundRect">
            <a:avLst>
              <a:gd name="adj" fmla="val 28571"/>
            </a:avLst>
          </a:prstGeom>
          <a:solidFill>
            <a:srgbClr val="EEF3FA"/>
          </a:solidFill>
          <a:ln w="9525">
            <a:solidFill>
              <a:srgbClr val="DBE5F1"/>
            </a:solidFill>
          </a:ln>
        </p:spPr>
        <p:txBody>
          <a:bodyPr wrap="square" lIns="104775" tIns="57150" rIns="104775" bIns="57150" rtlCol="0" anchor="ctr"/>
          <a:lstStyle/>
          <a:p>
            <a:pPr marL="0" indent="0" algn="l">
              <a:buNone/>
              <a:defRPr/>
            </a:pPr>
            <a:r>
              <a:rPr lang="vi-VN" sz="950" b="1" noProof="1">
                <a:solidFill>
                  <a:srgbClr val="24456E"/>
                </a:solidFill>
                <a:latin typeface="Arial"/>
                <a:ea typeface="Arial"/>
                <a:cs typeface="Arial"/>
              </a:rPr>
              <a:t>CKEditor 5 · Tiptap</a:t>
            </a:r>
            <a:endParaRPr lang="vi-VN" sz="950" noProof="1"/>
          </a:p>
        </p:txBody>
      </p:sp>
      <p:sp>
        <p:nvSpPr>
          <p:cNvPr id="1291001063" name="Text 14"/>
          <p:cNvSpPr/>
          <p:nvPr/>
        </p:nvSpPr>
        <p:spPr bwMode="auto">
          <a:xfrm>
            <a:off x="771525" y="2559844"/>
            <a:ext cx="5090922" cy="357188"/>
          </a:xfrm>
          <a:prstGeom prst="rect">
            <a:avLst/>
          </a:prstGeom>
          <a:noFill/>
          <a:ln/>
        </p:spPr>
        <p:txBody>
          <a:bodyPr wrap="square" lIns="0" tIns="0" rIns="0" bIns="0" rtlCol="0" anchor="t"/>
          <a:lstStyle/>
          <a:p>
            <a:pPr marL="0" indent="0" algn="l">
              <a:lnSpc>
                <a:spcPts val="1405"/>
              </a:lnSpc>
              <a:spcBef>
                <a:spcPts val="825"/>
              </a:spcBef>
              <a:buNone/>
              <a:defRPr/>
            </a:pPr>
            <a:r>
              <a:rPr lang="vi-VN" sz="950" noProof="1">
                <a:solidFill>
                  <a:srgbClr val="4A5A72"/>
                </a:solidFill>
                <a:latin typeface="Arial"/>
                <a:ea typeface="Arial"/>
                <a:cs typeface="Arial"/>
              </a:rPr>
              <a:t>Giao diện theo nhận diện thương hiệu TDMU </a:t>
            </a:r>
            <a:r>
              <a:rPr lang="en-US" sz="950" noProof="1">
                <a:solidFill>
                  <a:srgbClr val="4A5A72"/>
                </a:solidFill>
                <a:latin typeface="Arial"/>
                <a:ea typeface="Arial"/>
                <a:cs typeface="Arial"/>
              </a:rPr>
              <a:t>,</a:t>
            </a:r>
            <a:r>
              <a:rPr lang="vi-VN" sz="950" noProof="1">
                <a:solidFill>
                  <a:srgbClr val="4A5A72"/>
                </a:solidFill>
                <a:latin typeface="Arial"/>
                <a:ea typeface="Arial"/>
                <a:cs typeface="Arial"/>
              </a:rPr>
              <a:t>tối ưu màn hình di động.</a:t>
            </a:r>
            <a:endParaRPr lang="vi-VN" sz="950" noProof="1"/>
          </a:p>
        </p:txBody>
      </p:sp>
      <p:sp>
        <p:nvSpPr>
          <p:cNvPr id="1180808459" name="Text 15"/>
          <p:cNvSpPr/>
          <p:nvPr/>
        </p:nvSpPr>
        <p:spPr bwMode="auto">
          <a:xfrm>
            <a:off x="6191250" y="1283494"/>
            <a:ext cx="5467350" cy="2166938"/>
          </a:xfrm>
          <a:prstGeom prst="roundRect">
            <a:avLst>
              <a:gd name="adj" fmla="val 6154"/>
            </a:avLst>
          </a:prstGeom>
          <a:solidFill>
            <a:srgbClr val="FFFFFF"/>
          </a:solidFill>
          <a:ln/>
          <a:effectLst>
            <a:outerShdw blurRad="171450" dist="57150" dir="5400000" algn="bl" rotWithShape="0">
              <a:srgbClr val="002855">
                <a:alpha val="6000"/>
              </a:srgbClr>
            </a:outerShdw>
          </a:effectLst>
        </p:spPr>
        <p:txBody>
          <a:bodyPr wrap="square" rtlCol="0" anchor="ctr"/>
          <a:lstStyle/>
          <a:p>
            <a:pPr marL="0" indent="0">
              <a:buNone/>
              <a:defRPr/>
            </a:pPr>
            <a:endParaRPr lang="vi-VN" noProof="1"/>
          </a:p>
        </p:txBody>
      </p:sp>
      <p:sp>
        <p:nvSpPr>
          <p:cNvPr id="1506713569" name="Shape 16"/>
          <p:cNvSpPr/>
          <p:nvPr/>
        </p:nvSpPr>
        <p:spPr bwMode="auto">
          <a:xfrm>
            <a:off x="6419850" y="1307306"/>
            <a:ext cx="5010149" cy="0"/>
          </a:xfrm>
          <a:prstGeom prst="line">
            <a:avLst/>
          </a:prstGeom>
          <a:noFill/>
          <a:ln w="47625">
            <a:solidFill>
              <a:srgbClr val="D4A017"/>
            </a:solidFill>
            <a:prstDash val="solid"/>
          </a:ln>
        </p:spPr>
        <p:txBody>
          <a:bodyPr/>
          <a:lstStyle/>
          <a:p>
            <a:endParaRPr lang="vi-VN" noProof="1"/>
          </a:p>
        </p:txBody>
      </p:sp>
      <p:sp>
        <p:nvSpPr>
          <p:cNvPr id="1424523302" name="Shape 17"/>
          <p:cNvSpPr/>
          <p:nvPr/>
        </p:nvSpPr>
        <p:spPr bwMode="auto">
          <a:xfrm>
            <a:off x="11653838" y="1473994"/>
            <a:ext cx="0" cy="1785937"/>
          </a:xfrm>
          <a:prstGeom prst="line">
            <a:avLst/>
          </a:prstGeom>
          <a:noFill/>
          <a:ln w="9525">
            <a:solidFill>
              <a:srgbClr val="E3E9F2"/>
            </a:solidFill>
            <a:prstDash val="solid"/>
          </a:ln>
        </p:spPr>
        <p:txBody>
          <a:bodyPr/>
          <a:lstStyle/>
          <a:p>
            <a:endParaRPr lang="vi-VN" noProof="1"/>
          </a:p>
        </p:txBody>
      </p:sp>
      <p:sp>
        <p:nvSpPr>
          <p:cNvPr id="1742842550" name="Shape 18"/>
          <p:cNvSpPr/>
          <p:nvPr/>
        </p:nvSpPr>
        <p:spPr bwMode="auto">
          <a:xfrm>
            <a:off x="6419850" y="3450431"/>
            <a:ext cx="5010149" cy="0"/>
          </a:xfrm>
          <a:prstGeom prst="line">
            <a:avLst/>
          </a:prstGeom>
          <a:noFill/>
          <a:ln w="9525">
            <a:solidFill>
              <a:srgbClr val="E3E9F2"/>
            </a:solidFill>
            <a:prstDash val="solid"/>
          </a:ln>
        </p:spPr>
        <p:txBody>
          <a:bodyPr/>
          <a:lstStyle/>
          <a:p>
            <a:endParaRPr lang="vi-VN" noProof="1"/>
          </a:p>
        </p:txBody>
      </p:sp>
      <p:sp>
        <p:nvSpPr>
          <p:cNvPr id="512448447" name="Shape 19"/>
          <p:cNvSpPr/>
          <p:nvPr/>
        </p:nvSpPr>
        <p:spPr bwMode="auto">
          <a:xfrm>
            <a:off x="6196011" y="1473994"/>
            <a:ext cx="0" cy="1785937"/>
          </a:xfrm>
          <a:prstGeom prst="line">
            <a:avLst/>
          </a:prstGeom>
          <a:noFill/>
          <a:ln w="9525">
            <a:solidFill>
              <a:srgbClr val="E3E9F2"/>
            </a:solidFill>
            <a:prstDash val="solid"/>
          </a:ln>
        </p:spPr>
        <p:txBody>
          <a:bodyPr/>
          <a:lstStyle/>
          <a:p>
            <a:endParaRPr lang="vi-VN" noProof="1"/>
          </a:p>
        </p:txBody>
      </p:sp>
      <p:sp>
        <p:nvSpPr>
          <p:cNvPr id="1771527550" name="Text 20"/>
          <p:cNvSpPr/>
          <p:nvPr/>
        </p:nvSpPr>
        <p:spPr bwMode="auto">
          <a:xfrm>
            <a:off x="6429374" y="1521619"/>
            <a:ext cx="813751" cy="166688"/>
          </a:xfrm>
          <a:prstGeom prst="rect">
            <a:avLst/>
          </a:prstGeom>
          <a:noFill/>
          <a:ln/>
        </p:spPr>
        <p:txBody>
          <a:bodyPr wrap="square" lIns="0" tIns="0" rIns="0" bIns="0" rtlCol="0" anchor="t"/>
          <a:lstStyle/>
          <a:p>
            <a:pPr marL="0" indent="0" algn="l">
              <a:buNone/>
              <a:defRPr/>
            </a:pPr>
            <a:r>
              <a:rPr lang="vi-VN" sz="1450" b="1" noProof="1">
                <a:solidFill>
                  <a:srgbClr val="002855"/>
                </a:solidFill>
                <a:latin typeface="Arial"/>
                <a:ea typeface="Arial"/>
                <a:cs typeface="Arial"/>
              </a:rPr>
              <a:t>Backend</a:t>
            </a:r>
            <a:endParaRPr lang="vi-VN" sz="1450" noProof="1"/>
          </a:p>
        </p:txBody>
      </p:sp>
      <p:sp>
        <p:nvSpPr>
          <p:cNvPr id="1680971027" name="Text 21"/>
          <p:cNvSpPr/>
          <p:nvPr/>
        </p:nvSpPr>
        <p:spPr bwMode="auto">
          <a:xfrm>
            <a:off x="10240714" y="1569244"/>
            <a:ext cx="1203355" cy="114300"/>
          </a:xfrm>
          <a:prstGeom prst="rect">
            <a:avLst/>
          </a:prstGeom>
          <a:noFill/>
          <a:ln/>
        </p:spPr>
        <p:txBody>
          <a:bodyPr wrap="square" lIns="0" tIns="0" rIns="0" bIns="0" rtlCol="0" anchor="t"/>
          <a:lstStyle/>
          <a:p>
            <a:pPr marL="0" indent="0" algn="l">
              <a:buNone/>
              <a:defRPr/>
            </a:pPr>
            <a:r>
              <a:rPr lang="vi-VN" sz="850" b="1" noProof="1">
                <a:solidFill>
                  <a:srgbClr val="B07F12"/>
                </a:solidFill>
                <a:latin typeface="Arial"/>
                <a:ea typeface="Arial"/>
                <a:cs typeface="Arial"/>
              </a:rPr>
              <a:t>XỬ LÝ NGHIỆP VỤ</a:t>
            </a:r>
            <a:endParaRPr lang="vi-VN" sz="850" noProof="1"/>
          </a:p>
        </p:txBody>
      </p:sp>
      <p:sp>
        <p:nvSpPr>
          <p:cNvPr id="1547685258" name="Text 22"/>
          <p:cNvSpPr/>
          <p:nvPr/>
        </p:nvSpPr>
        <p:spPr bwMode="auto">
          <a:xfrm>
            <a:off x="6429375" y="1845469"/>
            <a:ext cx="952352" cy="266700"/>
          </a:xfrm>
          <a:prstGeom prst="roundRect">
            <a:avLst>
              <a:gd name="adj" fmla="val 28571"/>
            </a:avLst>
          </a:prstGeom>
          <a:solidFill>
            <a:srgbClr val="EEF3FA"/>
          </a:solidFill>
          <a:ln w="9525">
            <a:solidFill>
              <a:srgbClr val="DBE5F1"/>
            </a:solidFill>
          </a:ln>
        </p:spPr>
        <p:txBody>
          <a:bodyPr wrap="square" lIns="104775" tIns="57150" rIns="104775" bIns="57150" rtlCol="0" anchor="ctr"/>
          <a:lstStyle/>
          <a:p>
            <a:pPr marL="0" indent="0" algn="l">
              <a:buNone/>
              <a:defRPr/>
            </a:pPr>
            <a:r>
              <a:rPr lang="vi-VN" sz="950" b="1" noProof="1">
                <a:solidFill>
                  <a:srgbClr val="24456E"/>
                </a:solidFill>
                <a:latin typeface="Arial"/>
                <a:ea typeface="Arial"/>
                <a:cs typeface="Arial"/>
              </a:rPr>
              <a:t>Node.js 18+</a:t>
            </a:r>
            <a:endParaRPr lang="vi-VN" sz="950" noProof="1"/>
          </a:p>
        </p:txBody>
      </p:sp>
      <p:sp>
        <p:nvSpPr>
          <p:cNvPr id="338024935" name="Text 24"/>
          <p:cNvSpPr/>
          <p:nvPr/>
        </p:nvSpPr>
        <p:spPr bwMode="auto">
          <a:xfrm>
            <a:off x="8670765" y="1845469"/>
            <a:ext cx="1017599" cy="266700"/>
          </a:xfrm>
          <a:prstGeom prst="roundRect">
            <a:avLst>
              <a:gd name="adj" fmla="val 28571"/>
            </a:avLst>
          </a:prstGeom>
          <a:solidFill>
            <a:srgbClr val="EEF3FA"/>
          </a:solidFill>
          <a:ln w="9525">
            <a:solidFill>
              <a:srgbClr val="DBE5F1"/>
            </a:solidFill>
          </a:ln>
        </p:spPr>
        <p:txBody>
          <a:bodyPr wrap="square" lIns="104775" tIns="57150" rIns="104775" bIns="57150" rtlCol="0" anchor="ctr"/>
          <a:lstStyle/>
          <a:p>
            <a:pPr marL="0" indent="0" algn="l">
              <a:buNone/>
              <a:defRPr/>
            </a:pPr>
            <a:r>
              <a:rPr lang="vi-VN" sz="950" b="1" noProof="1">
                <a:solidFill>
                  <a:srgbClr val="24456E"/>
                </a:solidFill>
                <a:latin typeface="Arial"/>
                <a:ea typeface="Arial"/>
                <a:cs typeface="Arial"/>
              </a:rPr>
              <a:t>RESTful API</a:t>
            </a:r>
            <a:endParaRPr lang="vi-VN" sz="950" noProof="1"/>
          </a:p>
        </p:txBody>
      </p:sp>
      <p:sp>
        <p:nvSpPr>
          <p:cNvPr id="921318234" name="Text 28"/>
          <p:cNvSpPr/>
          <p:nvPr/>
        </p:nvSpPr>
        <p:spPr bwMode="auto">
          <a:xfrm>
            <a:off x="8921609" y="2188369"/>
            <a:ext cx="1095565" cy="266700"/>
          </a:xfrm>
          <a:prstGeom prst="roundRect">
            <a:avLst>
              <a:gd name="adj" fmla="val 28571"/>
            </a:avLst>
          </a:prstGeom>
          <a:solidFill>
            <a:srgbClr val="EEF3FA"/>
          </a:solidFill>
          <a:ln w="9525">
            <a:solidFill>
              <a:srgbClr val="DBE5F1"/>
            </a:solidFill>
          </a:ln>
        </p:spPr>
        <p:txBody>
          <a:bodyPr wrap="square" lIns="104775" tIns="57150" rIns="104775" bIns="57150" rtlCol="0" anchor="ctr"/>
          <a:lstStyle/>
          <a:p>
            <a:pPr marL="0" indent="0" algn="l">
              <a:buNone/>
              <a:defRPr/>
            </a:pPr>
            <a:r>
              <a:rPr lang="vi-VN" sz="950" b="1" noProof="1">
                <a:solidFill>
                  <a:srgbClr val="24456E"/>
                </a:solidFill>
                <a:latin typeface="Arial"/>
                <a:ea typeface="Arial"/>
                <a:cs typeface="Arial"/>
              </a:rPr>
              <a:t>Graph API v19</a:t>
            </a:r>
            <a:endParaRPr lang="vi-VN" sz="950" noProof="1"/>
          </a:p>
        </p:txBody>
      </p:sp>
      <p:sp>
        <p:nvSpPr>
          <p:cNvPr id="2106201389" name="Text 29"/>
          <p:cNvSpPr/>
          <p:nvPr/>
        </p:nvSpPr>
        <p:spPr bwMode="auto">
          <a:xfrm>
            <a:off x="6429375" y="2559844"/>
            <a:ext cx="5090922" cy="357188"/>
          </a:xfrm>
          <a:prstGeom prst="rect">
            <a:avLst/>
          </a:prstGeom>
          <a:noFill/>
          <a:ln/>
        </p:spPr>
        <p:txBody>
          <a:bodyPr wrap="square" lIns="0" tIns="0" rIns="0" bIns="0" rtlCol="0" anchor="t"/>
          <a:lstStyle/>
          <a:p>
            <a:pPr marL="0" indent="0" algn="l">
              <a:lnSpc>
                <a:spcPts val="1405"/>
              </a:lnSpc>
              <a:spcBef>
                <a:spcPts val="825"/>
              </a:spcBef>
              <a:buNone/>
              <a:defRPr/>
            </a:pPr>
            <a:r>
              <a:rPr lang="vi-VN" sz="950" noProof="1">
                <a:solidFill>
                  <a:srgbClr val="4A5A72"/>
                </a:solidFill>
                <a:latin typeface="Arial"/>
                <a:ea typeface="Arial"/>
                <a:cs typeface="Arial"/>
              </a:rPr>
              <a:t>Xác thực phi trạng thái JWT, mã hóa mật khẩu Bcrypt; tự động hóa xuất bản đúng giờ và đồng bộ bài viết lên Fanpage Facebook.</a:t>
            </a:r>
            <a:endParaRPr lang="vi-VN" sz="950" noProof="1"/>
          </a:p>
        </p:txBody>
      </p:sp>
      <p:sp>
        <p:nvSpPr>
          <p:cNvPr id="598612279" name="Text 30"/>
          <p:cNvSpPr/>
          <p:nvPr/>
        </p:nvSpPr>
        <p:spPr bwMode="auto">
          <a:xfrm>
            <a:off x="533400" y="3640931"/>
            <a:ext cx="5467350" cy="2166938"/>
          </a:xfrm>
          <a:prstGeom prst="roundRect">
            <a:avLst>
              <a:gd name="adj" fmla="val 6154"/>
            </a:avLst>
          </a:prstGeom>
          <a:solidFill>
            <a:srgbClr val="FFFFFF"/>
          </a:solidFill>
          <a:ln/>
          <a:effectLst>
            <a:outerShdw blurRad="171450" dist="57150" dir="5400000" algn="bl" rotWithShape="0">
              <a:srgbClr val="002855">
                <a:alpha val="6000"/>
              </a:srgbClr>
            </a:outerShdw>
          </a:effectLst>
        </p:spPr>
        <p:txBody>
          <a:bodyPr wrap="square" rtlCol="0" anchor="ctr"/>
          <a:lstStyle/>
          <a:p>
            <a:pPr marL="0" indent="0">
              <a:buNone/>
              <a:defRPr/>
            </a:pPr>
            <a:endParaRPr lang="vi-VN" noProof="1"/>
          </a:p>
        </p:txBody>
      </p:sp>
      <p:sp>
        <p:nvSpPr>
          <p:cNvPr id="534172165" name="Shape 31"/>
          <p:cNvSpPr/>
          <p:nvPr/>
        </p:nvSpPr>
        <p:spPr bwMode="auto">
          <a:xfrm>
            <a:off x="762000" y="3664744"/>
            <a:ext cx="5010149" cy="0"/>
          </a:xfrm>
          <a:prstGeom prst="line">
            <a:avLst/>
          </a:prstGeom>
          <a:noFill/>
          <a:ln w="47625">
            <a:solidFill>
              <a:srgbClr val="D4A017"/>
            </a:solidFill>
            <a:prstDash val="solid"/>
          </a:ln>
        </p:spPr>
        <p:txBody>
          <a:bodyPr/>
          <a:lstStyle/>
          <a:p>
            <a:endParaRPr lang="vi-VN" noProof="1"/>
          </a:p>
        </p:txBody>
      </p:sp>
      <p:sp>
        <p:nvSpPr>
          <p:cNvPr id="1074409641" name="Shape 32"/>
          <p:cNvSpPr/>
          <p:nvPr/>
        </p:nvSpPr>
        <p:spPr bwMode="auto">
          <a:xfrm>
            <a:off x="5995988" y="3831431"/>
            <a:ext cx="0" cy="1785938"/>
          </a:xfrm>
          <a:prstGeom prst="line">
            <a:avLst/>
          </a:prstGeom>
          <a:noFill/>
          <a:ln w="9525">
            <a:solidFill>
              <a:srgbClr val="E3E9F2"/>
            </a:solidFill>
            <a:prstDash val="solid"/>
          </a:ln>
        </p:spPr>
        <p:txBody>
          <a:bodyPr/>
          <a:lstStyle/>
          <a:p>
            <a:endParaRPr lang="vi-VN" noProof="1"/>
          </a:p>
        </p:txBody>
      </p:sp>
      <p:sp>
        <p:nvSpPr>
          <p:cNvPr id="52658828" name="Shape 33"/>
          <p:cNvSpPr/>
          <p:nvPr/>
        </p:nvSpPr>
        <p:spPr bwMode="auto">
          <a:xfrm>
            <a:off x="762000" y="5807869"/>
            <a:ext cx="5010149" cy="0"/>
          </a:xfrm>
          <a:prstGeom prst="line">
            <a:avLst/>
          </a:prstGeom>
          <a:noFill/>
          <a:ln w="9525">
            <a:solidFill>
              <a:srgbClr val="E3E9F2"/>
            </a:solidFill>
            <a:prstDash val="solid"/>
          </a:ln>
        </p:spPr>
        <p:txBody>
          <a:bodyPr/>
          <a:lstStyle/>
          <a:p>
            <a:endParaRPr lang="vi-VN" noProof="1"/>
          </a:p>
        </p:txBody>
      </p:sp>
      <p:sp>
        <p:nvSpPr>
          <p:cNvPr id="2125115662" name="Shape 34"/>
          <p:cNvSpPr/>
          <p:nvPr/>
        </p:nvSpPr>
        <p:spPr bwMode="auto">
          <a:xfrm>
            <a:off x="538163" y="3831431"/>
            <a:ext cx="0" cy="1785938"/>
          </a:xfrm>
          <a:prstGeom prst="line">
            <a:avLst/>
          </a:prstGeom>
          <a:noFill/>
          <a:ln w="9525">
            <a:solidFill>
              <a:srgbClr val="E3E9F2"/>
            </a:solidFill>
            <a:prstDash val="solid"/>
          </a:ln>
        </p:spPr>
        <p:txBody>
          <a:bodyPr/>
          <a:lstStyle/>
          <a:p>
            <a:endParaRPr lang="vi-VN" noProof="1"/>
          </a:p>
        </p:txBody>
      </p:sp>
      <p:sp>
        <p:nvSpPr>
          <p:cNvPr id="362813722" name="Text 35"/>
          <p:cNvSpPr/>
          <p:nvPr/>
        </p:nvSpPr>
        <p:spPr bwMode="auto">
          <a:xfrm>
            <a:off x="771525" y="3879056"/>
            <a:ext cx="1216866" cy="209550"/>
          </a:xfrm>
          <a:prstGeom prst="rect">
            <a:avLst/>
          </a:prstGeom>
          <a:noFill/>
          <a:ln/>
        </p:spPr>
        <p:txBody>
          <a:bodyPr wrap="square" lIns="0" tIns="0" rIns="0" bIns="0" rtlCol="0" anchor="t"/>
          <a:lstStyle/>
          <a:p>
            <a:pPr marL="0" indent="0" algn="l">
              <a:buNone/>
              <a:defRPr/>
            </a:pPr>
            <a:r>
              <a:rPr lang="vi-VN" sz="1450" b="1" noProof="1">
                <a:solidFill>
                  <a:srgbClr val="002855"/>
                </a:solidFill>
                <a:latin typeface="Arial"/>
                <a:ea typeface="Arial"/>
                <a:cs typeface="Arial"/>
              </a:rPr>
              <a:t>Cơ sở dữ liệu</a:t>
            </a:r>
            <a:endParaRPr lang="vi-VN" sz="1450" noProof="1"/>
          </a:p>
        </p:txBody>
      </p:sp>
      <p:sp>
        <p:nvSpPr>
          <p:cNvPr id="250328946" name="Text 36"/>
          <p:cNvSpPr/>
          <p:nvPr/>
        </p:nvSpPr>
        <p:spPr bwMode="auto">
          <a:xfrm>
            <a:off x="4297263" y="3926681"/>
            <a:ext cx="1494669" cy="114300"/>
          </a:xfrm>
          <a:prstGeom prst="rect">
            <a:avLst/>
          </a:prstGeom>
          <a:noFill/>
          <a:ln/>
        </p:spPr>
        <p:txBody>
          <a:bodyPr wrap="square" lIns="0" tIns="0" rIns="0" bIns="0" rtlCol="0" anchor="t"/>
          <a:lstStyle/>
          <a:p>
            <a:pPr marL="0" indent="0" algn="l">
              <a:buNone/>
              <a:defRPr/>
            </a:pPr>
            <a:r>
              <a:rPr lang="vi-VN" sz="850" b="1" noProof="1">
                <a:solidFill>
                  <a:srgbClr val="B07F12"/>
                </a:solidFill>
                <a:latin typeface="Arial"/>
                <a:ea typeface="Arial"/>
                <a:cs typeface="Arial"/>
              </a:rPr>
              <a:t>LƯU TRỮ &amp; TOÀN VẸN</a:t>
            </a:r>
            <a:endParaRPr lang="vi-VN" sz="850" noProof="1"/>
          </a:p>
        </p:txBody>
      </p:sp>
      <p:sp>
        <p:nvSpPr>
          <p:cNvPr id="116544063" name="Text 37"/>
          <p:cNvSpPr/>
          <p:nvPr/>
        </p:nvSpPr>
        <p:spPr bwMode="auto">
          <a:xfrm>
            <a:off x="771524" y="4202906"/>
            <a:ext cx="1515369" cy="266700"/>
          </a:xfrm>
          <a:prstGeom prst="roundRect">
            <a:avLst>
              <a:gd name="adj" fmla="val 28571"/>
            </a:avLst>
          </a:prstGeom>
          <a:solidFill>
            <a:srgbClr val="EEF3FA"/>
          </a:solidFill>
          <a:ln w="9525">
            <a:solidFill>
              <a:srgbClr val="DBE5F1"/>
            </a:solidFill>
          </a:ln>
        </p:spPr>
        <p:txBody>
          <a:bodyPr wrap="square" lIns="104775" tIns="57150" rIns="104775" bIns="57150" rtlCol="0" anchor="ctr"/>
          <a:lstStyle/>
          <a:p>
            <a:pPr marL="0" indent="0" algn="l">
              <a:buNone/>
              <a:defRPr/>
            </a:pPr>
            <a:r>
              <a:rPr lang="vi-VN" sz="950" b="1" noProof="1">
                <a:solidFill>
                  <a:srgbClr val="24456E"/>
                </a:solidFill>
                <a:latin typeface="Arial"/>
                <a:ea typeface="Arial"/>
                <a:cs typeface="Arial"/>
              </a:rPr>
              <a:t>Microsoft SQL Server</a:t>
            </a:r>
            <a:endParaRPr lang="vi-VN" sz="950" noProof="1"/>
          </a:p>
        </p:txBody>
      </p:sp>
      <p:sp>
        <p:nvSpPr>
          <p:cNvPr id="1539446823" name="Text 42"/>
          <p:cNvSpPr/>
          <p:nvPr/>
        </p:nvSpPr>
        <p:spPr bwMode="auto">
          <a:xfrm>
            <a:off x="771525" y="4917281"/>
            <a:ext cx="5090922" cy="357188"/>
          </a:xfrm>
          <a:prstGeom prst="rect">
            <a:avLst/>
          </a:prstGeom>
          <a:noFill/>
          <a:ln/>
        </p:spPr>
        <p:txBody>
          <a:bodyPr wrap="square" lIns="0" tIns="0" rIns="0" bIns="0" rtlCol="0" anchor="t"/>
          <a:lstStyle/>
          <a:p>
            <a:pPr marL="0" indent="0" algn="l">
              <a:lnSpc>
                <a:spcPts val="1405"/>
              </a:lnSpc>
              <a:spcBef>
                <a:spcPts val="825"/>
              </a:spcBef>
              <a:buNone/>
              <a:defRPr/>
            </a:pPr>
            <a:r>
              <a:rPr lang="vi-VN" sz="950" noProof="1">
                <a:solidFill>
                  <a:srgbClr val="4A5A72"/>
                </a:solidFill>
                <a:latin typeface="Arial"/>
                <a:ea typeface="Arial"/>
                <a:cs typeface="Arial"/>
              </a:rPr>
              <a:t>Khóa chính/ngoại ràng </a:t>
            </a:r>
            <a:r>
              <a:rPr lang="en-US" sz="950" noProof="1">
                <a:solidFill>
                  <a:srgbClr val="4A5A72"/>
                </a:solidFill>
                <a:latin typeface="Arial"/>
                <a:ea typeface="Arial"/>
                <a:cs typeface="Arial"/>
              </a:rPr>
              <a:t>buộc</a:t>
            </a:r>
            <a:r>
              <a:rPr lang="vi-VN" sz="950" noProof="1">
                <a:solidFill>
                  <a:srgbClr val="4A5A72"/>
                </a:solidFill>
                <a:latin typeface="Arial"/>
                <a:ea typeface="Arial"/>
                <a:cs typeface="Arial"/>
              </a:rPr>
              <a:t>, Cascade thích hợp; chỉ mục trên slug, chuyên mục, trạng thá</a:t>
            </a:r>
            <a:r>
              <a:rPr lang="en-US" sz="950" noProof="1">
                <a:solidFill>
                  <a:srgbClr val="4A5A72"/>
                </a:solidFill>
                <a:latin typeface="Arial"/>
                <a:ea typeface="Arial"/>
                <a:cs typeface="Arial"/>
              </a:rPr>
              <a:t>i.</a:t>
            </a:r>
            <a:endParaRPr lang="vi-VN" sz="950" noProof="1"/>
          </a:p>
        </p:txBody>
      </p:sp>
      <p:sp>
        <p:nvSpPr>
          <p:cNvPr id="1850102576" name="Text 43"/>
          <p:cNvSpPr/>
          <p:nvPr/>
        </p:nvSpPr>
        <p:spPr bwMode="auto">
          <a:xfrm>
            <a:off x="6191250" y="3640931"/>
            <a:ext cx="5467350" cy="2166938"/>
          </a:xfrm>
          <a:prstGeom prst="roundRect">
            <a:avLst>
              <a:gd name="adj" fmla="val 6154"/>
            </a:avLst>
          </a:prstGeom>
          <a:solidFill>
            <a:srgbClr val="FFFFFF"/>
          </a:solidFill>
          <a:ln/>
          <a:effectLst>
            <a:outerShdw blurRad="171450" dist="57150" dir="5400000" algn="bl" rotWithShape="0">
              <a:srgbClr val="002855">
                <a:alpha val="6000"/>
              </a:srgbClr>
            </a:outerShdw>
          </a:effectLst>
        </p:spPr>
        <p:txBody>
          <a:bodyPr wrap="square" rtlCol="0" anchor="ctr"/>
          <a:lstStyle/>
          <a:p>
            <a:pPr marL="0" indent="0">
              <a:buNone/>
              <a:defRPr/>
            </a:pPr>
            <a:endParaRPr lang="vi-VN" noProof="1"/>
          </a:p>
        </p:txBody>
      </p:sp>
      <p:sp>
        <p:nvSpPr>
          <p:cNvPr id="95764774" name="Shape 44"/>
          <p:cNvSpPr/>
          <p:nvPr/>
        </p:nvSpPr>
        <p:spPr bwMode="auto">
          <a:xfrm>
            <a:off x="6419850" y="3664744"/>
            <a:ext cx="5010149" cy="0"/>
          </a:xfrm>
          <a:prstGeom prst="line">
            <a:avLst/>
          </a:prstGeom>
          <a:noFill/>
          <a:ln w="47625">
            <a:solidFill>
              <a:srgbClr val="002855"/>
            </a:solidFill>
            <a:prstDash val="solid"/>
          </a:ln>
        </p:spPr>
        <p:txBody>
          <a:bodyPr/>
          <a:lstStyle/>
          <a:p>
            <a:endParaRPr lang="vi-VN" noProof="1"/>
          </a:p>
        </p:txBody>
      </p:sp>
      <p:sp>
        <p:nvSpPr>
          <p:cNvPr id="696939686" name="Shape 45"/>
          <p:cNvSpPr/>
          <p:nvPr/>
        </p:nvSpPr>
        <p:spPr bwMode="auto">
          <a:xfrm>
            <a:off x="11653838" y="3831431"/>
            <a:ext cx="0" cy="1785938"/>
          </a:xfrm>
          <a:prstGeom prst="line">
            <a:avLst/>
          </a:prstGeom>
          <a:noFill/>
          <a:ln w="9525">
            <a:solidFill>
              <a:srgbClr val="E3E9F2"/>
            </a:solidFill>
            <a:prstDash val="solid"/>
          </a:ln>
        </p:spPr>
        <p:txBody>
          <a:bodyPr/>
          <a:lstStyle/>
          <a:p>
            <a:endParaRPr lang="vi-VN" noProof="1"/>
          </a:p>
        </p:txBody>
      </p:sp>
      <p:sp>
        <p:nvSpPr>
          <p:cNvPr id="906554245" name="Shape 46"/>
          <p:cNvSpPr/>
          <p:nvPr/>
        </p:nvSpPr>
        <p:spPr bwMode="auto">
          <a:xfrm>
            <a:off x="6419850" y="5807869"/>
            <a:ext cx="5010149" cy="0"/>
          </a:xfrm>
          <a:prstGeom prst="line">
            <a:avLst/>
          </a:prstGeom>
          <a:noFill/>
          <a:ln w="9525">
            <a:solidFill>
              <a:srgbClr val="E3E9F2"/>
            </a:solidFill>
            <a:prstDash val="solid"/>
          </a:ln>
        </p:spPr>
        <p:txBody>
          <a:bodyPr/>
          <a:lstStyle/>
          <a:p>
            <a:endParaRPr lang="vi-VN" noProof="1"/>
          </a:p>
        </p:txBody>
      </p:sp>
      <p:sp>
        <p:nvSpPr>
          <p:cNvPr id="737937530" name="Shape 47"/>
          <p:cNvSpPr/>
          <p:nvPr/>
        </p:nvSpPr>
        <p:spPr bwMode="auto">
          <a:xfrm>
            <a:off x="6196011" y="3831431"/>
            <a:ext cx="0" cy="1785938"/>
          </a:xfrm>
          <a:prstGeom prst="line">
            <a:avLst/>
          </a:prstGeom>
          <a:noFill/>
          <a:ln w="9525">
            <a:solidFill>
              <a:srgbClr val="E3E9F2"/>
            </a:solidFill>
            <a:prstDash val="solid"/>
          </a:ln>
        </p:spPr>
        <p:txBody>
          <a:bodyPr/>
          <a:lstStyle/>
          <a:p>
            <a:endParaRPr lang="vi-VN" noProof="1"/>
          </a:p>
        </p:txBody>
      </p:sp>
      <p:sp>
        <p:nvSpPr>
          <p:cNvPr id="1685917915" name="Text 48"/>
          <p:cNvSpPr/>
          <p:nvPr/>
        </p:nvSpPr>
        <p:spPr bwMode="auto">
          <a:xfrm>
            <a:off x="6429374" y="3879056"/>
            <a:ext cx="1507435" cy="161925"/>
          </a:xfrm>
          <a:prstGeom prst="rect">
            <a:avLst/>
          </a:prstGeom>
          <a:noFill/>
          <a:ln/>
        </p:spPr>
        <p:txBody>
          <a:bodyPr wrap="square" lIns="0" tIns="0" rIns="0" bIns="0" rtlCol="0" anchor="t"/>
          <a:lstStyle/>
          <a:p>
            <a:pPr marL="0" indent="0" algn="l">
              <a:buNone/>
              <a:defRPr/>
            </a:pPr>
            <a:r>
              <a:rPr lang="vi-VN" sz="1450" b="1" noProof="1">
                <a:solidFill>
                  <a:srgbClr val="002855"/>
                </a:solidFill>
                <a:latin typeface="Arial"/>
                <a:ea typeface="Arial"/>
                <a:cs typeface="Arial"/>
              </a:rPr>
              <a:t>Trí tuệ nhân tạo</a:t>
            </a:r>
            <a:endParaRPr lang="vi-VN" sz="1450" noProof="1"/>
          </a:p>
        </p:txBody>
      </p:sp>
      <p:sp>
        <p:nvSpPr>
          <p:cNvPr id="508664859" name="Text 49"/>
          <p:cNvSpPr/>
          <p:nvPr/>
        </p:nvSpPr>
        <p:spPr bwMode="auto">
          <a:xfrm>
            <a:off x="10021342" y="3926681"/>
            <a:ext cx="1427116" cy="114300"/>
          </a:xfrm>
          <a:prstGeom prst="rect">
            <a:avLst/>
          </a:prstGeom>
          <a:noFill/>
          <a:ln/>
        </p:spPr>
        <p:txBody>
          <a:bodyPr wrap="square" lIns="0" tIns="0" rIns="0" bIns="0" rtlCol="0" anchor="t"/>
          <a:lstStyle/>
          <a:p>
            <a:pPr marL="0" indent="0" algn="l">
              <a:buNone/>
              <a:defRPr/>
            </a:pPr>
            <a:r>
              <a:rPr lang="vi-VN" sz="850" b="1" noProof="1">
                <a:solidFill>
                  <a:srgbClr val="B07F12"/>
                </a:solidFill>
                <a:latin typeface="Arial"/>
                <a:ea typeface="Arial"/>
                <a:cs typeface="Arial"/>
              </a:rPr>
              <a:t>SÁNG TẠO NỘI DUNG</a:t>
            </a:r>
            <a:endParaRPr lang="vi-VN" sz="850" noProof="1"/>
          </a:p>
        </p:txBody>
      </p:sp>
      <p:sp>
        <p:nvSpPr>
          <p:cNvPr id="774944240" name="Text 50"/>
          <p:cNvSpPr/>
          <p:nvPr/>
        </p:nvSpPr>
        <p:spPr bwMode="auto">
          <a:xfrm>
            <a:off x="6429375" y="4202906"/>
            <a:ext cx="1284089" cy="266700"/>
          </a:xfrm>
          <a:prstGeom prst="roundRect">
            <a:avLst>
              <a:gd name="adj" fmla="val 28571"/>
            </a:avLst>
          </a:prstGeom>
          <a:solidFill>
            <a:srgbClr val="EEF3FA"/>
          </a:solidFill>
          <a:ln w="9525">
            <a:solidFill>
              <a:srgbClr val="DBE5F1"/>
            </a:solidFill>
          </a:ln>
        </p:spPr>
        <p:txBody>
          <a:bodyPr wrap="square" lIns="104775" tIns="57150" rIns="104775" bIns="57150" rtlCol="0" anchor="ctr"/>
          <a:lstStyle/>
          <a:p>
            <a:pPr marL="0" indent="0" algn="l">
              <a:buNone/>
              <a:defRPr/>
            </a:pPr>
            <a:r>
              <a:rPr lang="vi-VN" sz="950" b="1" noProof="1">
                <a:solidFill>
                  <a:srgbClr val="24456E"/>
                </a:solidFill>
                <a:latin typeface="Arial"/>
                <a:ea typeface="Arial"/>
                <a:cs typeface="Arial"/>
              </a:rPr>
              <a:t>Gemini Flash/Pro</a:t>
            </a:r>
            <a:endParaRPr lang="vi-VN" sz="950" noProof="1"/>
          </a:p>
        </p:txBody>
      </p:sp>
      <p:sp>
        <p:nvSpPr>
          <p:cNvPr id="1784093668" name="Text 53"/>
          <p:cNvSpPr/>
          <p:nvPr/>
        </p:nvSpPr>
        <p:spPr bwMode="auto">
          <a:xfrm>
            <a:off x="7898561" y="4193382"/>
            <a:ext cx="1399330" cy="266700"/>
          </a:xfrm>
          <a:prstGeom prst="roundRect">
            <a:avLst>
              <a:gd name="adj" fmla="val 28571"/>
            </a:avLst>
          </a:prstGeom>
          <a:solidFill>
            <a:srgbClr val="EEF3FA"/>
          </a:solidFill>
          <a:ln w="9525">
            <a:solidFill>
              <a:srgbClr val="DBE5F1"/>
            </a:solidFill>
          </a:ln>
        </p:spPr>
        <p:txBody>
          <a:bodyPr wrap="square" lIns="104775" tIns="57150" rIns="104775" bIns="57150" rtlCol="0" anchor="ctr"/>
          <a:lstStyle/>
          <a:p>
            <a:pPr marL="0" indent="0" algn="l">
              <a:buNone/>
              <a:defRPr/>
            </a:pPr>
            <a:r>
              <a:rPr lang="vi-VN" sz="950" b="1" noProof="1">
                <a:solidFill>
                  <a:srgbClr val="24456E"/>
                </a:solidFill>
                <a:latin typeface="Arial"/>
                <a:ea typeface="Arial"/>
                <a:cs typeface="Arial"/>
              </a:rPr>
              <a:t>Groq (Qwen/Llama)</a:t>
            </a:r>
            <a:endParaRPr lang="vi-VN" sz="950" noProof="1"/>
          </a:p>
        </p:txBody>
      </p:sp>
      <p:sp>
        <p:nvSpPr>
          <p:cNvPr id="1599644895" name="Text 54"/>
          <p:cNvSpPr/>
          <p:nvPr/>
        </p:nvSpPr>
        <p:spPr bwMode="auto">
          <a:xfrm>
            <a:off x="6429375" y="4917281"/>
            <a:ext cx="5090922" cy="357188"/>
          </a:xfrm>
          <a:prstGeom prst="rect">
            <a:avLst/>
          </a:prstGeom>
          <a:noFill/>
          <a:ln/>
        </p:spPr>
        <p:txBody>
          <a:bodyPr wrap="square" lIns="0" tIns="0" rIns="0" bIns="0" rtlCol="0" anchor="t"/>
          <a:lstStyle/>
          <a:p>
            <a:pPr marL="0" indent="0" algn="l">
              <a:lnSpc>
                <a:spcPts val="1405"/>
              </a:lnSpc>
              <a:spcBef>
                <a:spcPts val="825"/>
              </a:spcBef>
              <a:buNone/>
              <a:defRPr/>
            </a:pPr>
            <a:r>
              <a:rPr lang="vi-VN" sz="950" noProof="1">
                <a:solidFill>
                  <a:srgbClr val="4A5A72"/>
                </a:solidFill>
                <a:latin typeface="Arial"/>
                <a:ea typeface="Arial"/>
                <a:cs typeface="Arial"/>
              </a:rPr>
              <a:t>AI sinh nội dung theo thời gian thực; bộ prompt chuẩn ngữ cảnh Công đoàn đúng điều lệ và văn phong báo chí.</a:t>
            </a:r>
            <a:endParaRPr lang="vi-VN" sz="950" noProof="1"/>
          </a:p>
        </p:txBody>
      </p:sp>
      <p:sp>
        <p:nvSpPr>
          <p:cNvPr id="1648780674" name="Shape 55"/>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1035627763" name="Text 56"/>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PhAnim="0">
  <p:cSld name="Slide 8">
    <p:bg>
      <p:bgPr>
        <a:solidFill>
          <a:srgbClr val="F6F8FB"/>
        </a:solidFill>
        <a:effectLst/>
      </p:bgPr>
    </p:bg>
    <p:spTree>
      <p:nvGrpSpPr>
        <p:cNvPr id="1" name=""/>
        <p:cNvGrpSpPr/>
        <p:nvPr/>
      </p:nvGrpSpPr>
      <p:grpSpPr bwMode="auto">
        <a:xfrm>
          <a:off x="0" y="0"/>
          <a:ext cx="0" cy="0"/>
          <a:chOff x="0" y="0"/>
          <a:chExt cx="0" cy="0"/>
        </a:xfrm>
      </p:grpSpPr>
      <p:sp>
        <p:nvSpPr>
          <p:cNvPr id="10650005"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000" b="1" noProof="1">
                <a:solidFill>
                  <a:srgbClr val="B07F12"/>
                </a:solidFill>
                <a:latin typeface="Arial"/>
                <a:ea typeface="Arial"/>
                <a:cs typeface="Arial"/>
              </a:rPr>
              <a:t>4. PHÂN TÍCH &amp; THIẾT KẾ HỆ THỐNG</a:t>
            </a:r>
            <a:endParaRPr lang="vi-VN" sz="1000" noProof="1"/>
          </a:p>
        </p:txBody>
      </p:sp>
      <p:sp>
        <p:nvSpPr>
          <p:cNvPr id="498466913" name="Text 1"/>
          <p:cNvSpPr/>
          <p:nvPr/>
        </p:nvSpPr>
        <p:spPr bwMode="auto">
          <a:xfrm>
            <a:off x="533400" y="542925"/>
            <a:ext cx="11347704" cy="359569"/>
          </a:xfrm>
          <a:prstGeom prst="rect">
            <a:avLst/>
          </a:prstGeom>
          <a:noFill/>
          <a:ln/>
        </p:spPr>
        <p:txBody>
          <a:bodyPr wrap="square" lIns="0" tIns="0" rIns="0" bIns="0" rtlCol="0" anchor="t"/>
          <a:lstStyle/>
          <a:p>
            <a:pPr marL="0" indent="0" algn="l">
              <a:lnSpc>
                <a:spcPts val="2832"/>
              </a:lnSpc>
              <a:spcAft>
                <a:spcPts val="600"/>
              </a:spcAft>
              <a:buNone/>
              <a:defRPr/>
            </a:pPr>
            <a:r>
              <a:rPr lang="vi-VN" sz="2400" b="1" noProof="1">
                <a:solidFill>
                  <a:srgbClr val="002855"/>
                </a:solidFill>
                <a:latin typeface="Arial"/>
                <a:ea typeface="Arial"/>
                <a:cs typeface="Arial"/>
              </a:rPr>
              <a:t>Use Case tổng quan — tác nhân &amp; phân hệ chức năng</a:t>
            </a:r>
            <a:endParaRPr lang="vi-VN" sz="2400" noProof="1"/>
          </a:p>
        </p:txBody>
      </p:sp>
      <p:pic>
        <p:nvPicPr>
          <p:cNvPr id="1507799084" name="Image 0" descr="/var/folders/t4/q0khv7qd1r3dc2yrbwkzmjf00000gn/T/html2pptx-MbMXpX/html2pptx-bg-1791687645085-30dbbe03d212c.png"/>
          <p:cNvPicPr>
            <a:picLocks noChangeAspect="1"/>
          </p:cNvPicPr>
          <p:nvPr/>
        </p:nvPicPr>
        <p:blipFill rotWithShape="1">
          <a:blip r:embed="rId3"/>
          <a:stretch/>
        </p:blipFill>
        <p:spPr bwMode="auto">
          <a:xfrm>
            <a:off x="533400" y="978694"/>
            <a:ext cx="1047750" cy="38100"/>
          </a:xfrm>
          <a:prstGeom prst="rect">
            <a:avLst/>
          </a:prstGeom>
        </p:spPr>
      </p:pic>
      <p:sp>
        <p:nvSpPr>
          <p:cNvPr id="296639830" name="Text 2"/>
          <p:cNvSpPr/>
          <p:nvPr/>
        </p:nvSpPr>
        <p:spPr bwMode="auto">
          <a:xfrm>
            <a:off x="533400" y="1245394"/>
            <a:ext cx="6004179" cy="142875"/>
          </a:xfrm>
          <a:prstGeom prst="rect">
            <a:avLst/>
          </a:prstGeom>
          <a:noFill/>
          <a:ln/>
        </p:spPr>
        <p:txBody>
          <a:bodyPr wrap="square" lIns="0" tIns="0" rIns="0" bIns="0" rtlCol="0" anchor="t"/>
          <a:lstStyle/>
          <a:p>
            <a:pPr marL="0" indent="0" algn="l">
              <a:spcAft>
                <a:spcPts val="750"/>
              </a:spcAft>
              <a:buNone/>
              <a:defRPr/>
            </a:pPr>
            <a:r>
              <a:rPr lang="vi-VN" sz="1000" b="1" noProof="1">
                <a:solidFill>
                  <a:srgbClr val="7A1F2D"/>
                </a:solidFill>
                <a:latin typeface="Arial"/>
                <a:ea typeface="Arial"/>
                <a:cs typeface="Arial"/>
              </a:rPr>
              <a:t>4 NHÓM TÁC NHÂN (ACTOR)</a:t>
            </a:r>
            <a:endParaRPr lang="vi-VN" sz="1000" noProof="1"/>
          </a:p>
        </p:txBody>
      </p:sp>
      <p:sp>
        <p:nvSpPr>
          <p:cNvPr id="2015982658" name="Text 3"/>
          <p:cNvSpPr/>
          <p:nvPr/>
        </p:nvSpPr>
        <p:spPr bwMode="auto">
          <a:xfrm>
            <a:off x="533400" y="1483519"/>
            <a:ext cx="1655755" cy="295274"/>
          </a:xfrm>
          <a:prstGeom prst="roundRect">
            <a:avLst>
              <a:gd name="adj" fmla="val 3222581"/>
            </a:avLst>
          </a:prstGeom>
          <a:solidFill>
            <a:srgbClr val="002855"/>
          </a:solidFill>
          <a:ln/>
        </p:spPr>
        <p:txBody>
          <a:bodyPr wrap="square" lIns="133350" tIns="76200" rIns="133350" bIns="76200" rtlCol="0" anchor="ctr"/>
          <a:lstStyle/>
          <a:p>
            <a:pPr marL="0" indent="0" algn="l">
              <a:buNone/>
              <a:defRPr/>
            </a:pPr>
            <a:r>
              <a:rPr lang="vi-VN" sz="1000" b="1" noProof="1">
                <a:solidFill>
                  <a:srgbClr val="EAF1FA"/>
                </a:solidFill>
                <a:latin typeface="Arial"/>
                <a:ea typeface="Arial"/>
                <a:cs typeface="Arial"/>
              </a:rPr>
              <a:t>Quản trị viên (Admin)</a:t>
            </a:r>
            <a:endParaRPr lang="vi-VN" sz="1000" noProof="1"/>
          </a:p>
        </p:txBody>
      </p:sp>
      <p:sp>
        <p:nvSpPr>
          <p:cNvPr id="20333978" name="Text 4"/>
          <p:cNvSpPr/>
          <p:nvPr/>
        </p:nvSpPr>
        <p:spPr bwMode="auto">
          <a:xfrm>
            <a:off x="2243207" y="1483519"/>
            <a:ext cx="1655755" cy="295274"/>
          </a:xfrm>
          <a:prstGeom prst="roundRect">
            <a:avLst>
              <a:gd name="adj" fmla="val 3222581"/>
            </a:avLst>
          </a:prstGeom>
          <a:solidFill>
            <a:srgbClr val="002855"/>
          </a:solidFill>
          <a:ln/>
        </p:spPr>
        <p:txBody>
          <a:bodyPr wrap="square" lIns="133350" tIns="76200" rIns="133350" bIns="76200" rtlCol="0" anchor="ctr"/>
          <a:lstStyle/>
          <a:p>
            <a:pPr marL="0" indent="0" algn="l">
              <a:buNone/>
              <a:defRPr/>
            </a:pPr>
            <a:r>
              <a:rPr lang="vi-VN" sz="1000" b="1" noProof="1">
                <a:solidFill>
                  <a:srgbClr val="EAF1FA"/>
                </a:solidFill>
                <a:latin typeface="Arial"/>
                <a:ea typeface="Arial"/>
                <a:cs typeface="Arial"/>
              </a:rPr>
              <a:t>Biên tập viên (Editor)</a:t>
            </a:r>
            <a:endParaRPr lang="vi-VN" sz="1000" noProof="1"/>
          </a:p>
        </p:txBody>
      </p:sp>
      <p:sp>
        <p:nvSpPr>
          <p:cNvPr id="921278382" name="Text 5"/>
          <p:cNvSpPr/>
          <p:nvPr/>
        </p:nvSpPr>
        <p:spPr bwMode="auto">
          <a:xfrm>
            <a:off x="3953014" y="1483519"/>
            <a:ext cx="2037883" cy="295274"/>
          </a:xfrm>
          <a:prstGeom prst="roundRect">
            <a:avLst>
              <a:gd name="adj" fmla="val 3222581"/>
            </a:avLst>
          </a:prstGeom>
          <a:solidFill>
            <a:srgbClr val="002855"/>
          </a:solidFill>
          <a:ln/>
        </p:spPr>
        <p:txBody>
          <a:bodyPr wrap="square" lIns="133350" tIns="76200" rIns="133350" bIns="76200" rtlCol="0" anchor="ctr"/>
          <a:lstStyle/>
          <a:p>
            <a:pPr marL="0" indent="0" algn="l">
              <a:buNone/>
              <a:defRPr/>
            </a:pPr>
            <a:r>
              <a:rPr lang="vi-VN" sz="1000" b="1" noProof="1">
                <a:solidFill>
                  <a:srgbClr val="EAF1FA"/>
                </a:solidFill>
                <a:latin typeface="Arial"/>
                <a:ea typeface="Arial"/>
                <a:cs typeface="Arial"/>
              </a:rPr>
              <a:t>Cộng tác viên (Contributor)</a:t>
            </a:r>
            <a:endParaRPr lang="vi-VN" sz="1000" noProof="1"/>
          </a:p>
        </p:txBody>
      </p:sp>
      <p:sp>
        <p:nvSpPr>
          <p:cNvPr id="1625837095" name="Text 6"/>
          <p:cNvSpPr/>
          <p:nvPr/>
        </p:nvSpPr>
        <p:spPr bwMode="auto">
          <a:xfrm>
            <a:off x="533399" y="1854994"/>
            <a:ext cx="1581151" cy="295274"/>
          </a:xfrm>
          <a:prstGeom prst="roundRect">
            <a:avLst>
              <a:gd name="adj" fmla="val 3222581"/>
            </a:avLst>
          </a:prstGeom>
          <a:solidFill>
            <a:srgbClr val="002855"/>
          </a:solidFill>
          <a:ln/>
        </p:spPr>
        <p:txBody>
          <a:bodyPr wrap="square" lIns="133350" tIns="76200" rIns="133350" bIns="76200" rtlCol="0" anchor="ctr"/>
          <a:lstStyle/>
          <a:p>
            <a:pPr marL="0" indent="0" algn="l">
              <a:buNone/>
              <a:defRPr/>
            </a:pPr>
            <a:r>
              <a:rPr lang="vi-VN" sz="1000" b="1" noProof="1">
                <a:solidFill>
                  <a:srgbClr val="EAF1FA"/>
                </a:solidFill>
                <a:latin typeface="Arial"/>
                <a:ea typeface="Arial"/>
                <a:cs typeface="Arial"/>
              </a:rPr>
              <a:t>Đoàn viên / Độc giả</a:t>
            </a:r>
            <a:endParaRPr lang="vi-VN" sz="1000" noProof="1"/>
          </a:p>
        </p:txBody>
      </p:sp>
      <p:sp>
        <p:nvSpPr>
          <p:cNvPr id="1929487286" name="Text 7"/>
          <p:cNvSpPr/>
          <p:nvPr/>
        </p:nvSpPr>
        <p:spPr bwMode="auto">
          <a:xfrm>
            <a:off x="533400" y="2321719"/>
            <a:ext cx="6004179" cy="142875"/>
          </a:xfrm>
          <a:prstGeom prst="rect">
            <a:avLst/>
          </a:prstGeom>
          <a:noFill/>
          <a:ln/>
        </p:spPr>
        <p:txBody>
          <a:bodyPr wrap="square" lIns="0" tIns="0" rIns="0" bIns="0" rtlCol="0" anchor="t"/>
          <a:lstStyle/>
          <a:p>
            <a:r>
              <a:t>5 PHÂN HỆ CHỨC NĂNG CỐT LÕI</a:t>
            </a:r>
          </a:p>
        </p:txBody>
      </p:sp>
      <p:sp>
        <p:nvSpPr>
          <p:cNvPr id="1702895364" name="Text 8"/>
          <p:cNvSpPr/>
          <p:nvPr/>
        </p:nvSpPr>
        <p:spPr bwMode="auto">
          <a:xfrm>
            <a:off x="533400" y="2559844"/>
            <a:ext cx="5886450" cy="2137172"/>
          </a:xfrm>
          <a:prstGeom prst="roundRect">
            <a:avLst>
              <a:gd name="adj" fmla="val 6240"/>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606367627" name="Shape 9"/>
          <p:cNvSpPr/>
          <p:nvPr/>
        </p:nvSpPr>
        <p:spPr bwMode="auto">
          <a:xfrm>
            <a:off x="714375" y="3012281"/>
            <a:ext cx="5524500" cy="0"/>
          </a:xfrm>
          <a:prstGeom prst="line">
            <a:avLst/>
          </a:prstGeom>
          <a:noFill/>
          <a:ln w="9525">
            <a:solidFill>
              <a:srgbClr val="E3E9F2"/>
            </a:solidFill>
            <a:prstDash val="dash"/>
          </a:ln>
        </p:spPr>
        <p:txBody>
          <a:bodyPr/>
          <a:lstStyle/>
          <a:p>
            <a:endParaRPr lang="vi-VN" noProof="1"/>
          </a:p>
        </p:txBody>
      </p:sp>
      <p:sp>
        <p:nvSpPr>
          <p:cNvPr id="315121726" name="Text 10"/>
          <p:cNvSpPr/>
          <p:nvPr/>
        </p:nvSpPr>
        <p:spPr bwMode="auto">
          <a:xfrm>
            <a:off x="714375" y="2759869"/>
            <a:ext cx="213741" cy="186333"/>
          </a:xfrm>
          <a:prstGeom prst="rect">
            <a:avLst/>
          </a:prstGeom>
          <a:noFill/>
          <a:ln/>
        </p:spPr>
        <p:txBody>
          <a:bodyPr wrap="square" lIns="0" tIns="0" rIns="0" bIns="0" rtlCol="0" anchor="t"/>
          <a:lstStyle/>
          <a:p>
            <a:pPr marL="0" indent="0" algn="l">
              <a:lnSpc>
                <a:spcPts val="1468"/>
              </a:lnSpc>
              <a:buNone/>
              <a:defRPr/>
            </a:pPr>
            <a:r>
              <a:rPr lang="vi-VN" sz="1000" b="1" noProof="1">
                <a:solidFill>
                  <a:srgbClr val="D4A017"/>
                </a:solidFill>
                <a:latin typeface="Arial"/>
                <a:ea typeface="Arial"/>
                <a:cs typeface="Arial"/>
              </a:rPr>
              <a:t>1</a:t>
            </a:r>
            <a:endParaRPr lang="vi-VN" sz="1000" noProof="1"/>
          </a:p>
        </p:txBody>
      </p:sp>
      <p:sp>
        <p:nvSpPr>
          <p:cNvPr id="541046798" name="Text 11"/>
          <p:cNvSpPr/>
          <p:nvPr/>
        </p:nvSpPr>
        <p:spPr bwMode="auto">
          <a:xfrm>
            <a:off x="1019174" y="2759869"/>
            <a:ext cx="4687577" cy="186333"/>
          </a:xfrm>
          <a:prstGeom prst="rect">
            <a:avLst/>
          </a:prstGeom>
          <a:noFill/>
          <a:ln/>
        </p:spPr>
        <p:txBody>
          <a:bodyPr wrap="square" lIns="0" tIns="0" rIns="0" bIns="0" rtlCol="0" anchor="t"/>
          <a:lstStyle/>
          <a:p>
            <a:pPr marL="0" indent="0" algn="l">
              <a:lnSpc>
                <a:spcPts val="1468"/>
              </a:lnSpc>
              <a:buNone/>
              <a:defRPr/>
            </a:pPr>
            <a:r>
              <a:rPr lang="vi-VN" sz="1000" b="1" noProof="1">
                <a:solidFill>
                  <a:srgbClr val="002855"/>
                </a:solidFill>
                <a:latin typeface="Arial"/>
                <a:ea typeface="Arial"/>
                <a:cs typeface="Arial"/>
              </a:rPr>
              <a:t>Quản lý bài viết &amp; nội dung</a:t>
            </a:r>
            <a:r>
              <a:rPr lang="vi-VN" sz="1000" noProof="1">
                <a:solidFill>
                  <a:srgbClr val="40506B"/>
                </a:solidFill>
                <a:latin typeface="Arial"/>
                <a:ea typeface="Arial"/>
                <a:cs typeface="Arial"/>
              </a:rPr>
              <a:t> — soạn thảo, media, autosave, phân quyền tác giả</a:t>
            </a:r>
            <a:endParaRPr lang="vi-VN" sz="1000" noProof="1"/>
          </a:p>
        </p:txBody>
      </p:sp>
      <p:sp>
        <p:nvSpPr>
          <p:cNvPr id="108056505" name="Shape 12"/>
          <p:cNvSpPr/>
          <p:nvPr/>
        </p:nvSpPr>
        <p:spPr bwMode="auto">
          <a:xfrm>
            <a:off x="714375" y="3322439"/>
            <a:ext cx="5524500" cy="0"/>
          </a:xfrm>
          <a:prstGeom prst="line">
            <a:avLst/>
          </a:prstGeom>
          <a:noFill/>
          <a:ln w="9525">
            <a:solidFill>
              <a:srgbClr val="E3E9F2"/>
            </a:solidFill>
            <a:prstDash val="dash"/>
          </a:ln>
        </p:spPr>
        <p:txBody>
          <a:bodyPr/>
          <a:lstStyle/>
          <a:p>
            <a:endParaRPr lang="vi-VN" noProof="1"/>
          </a:p>
        </p:txBody>
      </p:sp>
      <p:sp>
        <p:nvSpPr>
          <p:cNvPr id="2072824464" name="Text 13"/>
          <p:cNvSpPr/>
          <p:nvPr/>
        </p:nvSpPr>
        <p:spPr bwMode="auto">
          <a:xfrm>
            <a:off x="714375" y="3070027"/>
            <a:ext cx="213741" cy="186333"/>
          </a:xfrm>
          <a:prstGeom prst="rect">
            <a:avLst/>
          </a:prstGeom>
          <a:noFill/>
          <a:ln/>
        </p:spPr>
        <p:txBody>
          <a:bodyPr wrap="square" lIns="0" tIns="0" rIns="0" bIns="0" rtlCol="0" anchor="t"/>
          <a:lstStyle/>
          <a:p>
            <a:pPr marL="0" indent="0" algn="l">
              <a:lnSpc>
                <a:spcPts val="1468"/>
              </a:lnSpc>
              <a:buNone/>
              <a:defRPr/>
            </a:pPr>
            <a:r>
              <a:rPr lang="vi-VN" sz="1000" b="1" noProof="1">
                <a:solidFill>
                  <a:srgbClr val="D4A017"/>
                </a:solidFill>
                <a:latin typeface="Arial"/>
                <a:ea typeface="Arial"/>
                <a:cs typeface="Arial"/>
              </a:rPr>
              <a:t>2</a:t>
            </a:r>
            <a:endParaRPr lang="vi-VN" sz="1000" noProof="1"/>
          </a:p>
        </p:txBody>
      </p:sp>
      <p:sp>
        <p:nvSpPr>
          <p:cNvPr id="22886867" name="Text 14"/>
          <p:cNvSpPr/>
          <p:nvPr/>
        </p:nvSpPr>
        <p:spPr bwMode="auto">
          <a:xfrm>
            <a:off x="1019174" y="3070027"/>
            <a:ext cx="3386763" cy="186333"/>
          </a:xfrm>
          <a:prstGeom prst="rect">
            <a:avLst/>
          </a:prstGeom>
          <a:noFill/>
          <a:ln/>
        </p:spPr>
        <p:txBody>
          <a:bodyPr wrap="square" lIns="0" tIns="0" rIns="0" bIns="0" rtlCol="0" anchor="t"/>
          <a:lstStyle/>
          <a:p>
            <a:pPr marL="0" indent="0" algn="l">
              <a:lnSpc>
                <a:spcPts val="1468"/>
              </a:lnSpc>
              <a:buNone/>
              <a:defRPr/>
            </a:pPr>
            <a:r>
              <a:rPr lang="vi-VN" sz="1000" b="1" noProof="1">
                <a:solidFill>
                  <a:srgbClr val="002855"/>
                </a:solidFill>
                <a:latin typeface="Arial"/>
                <a:ea typeface="Arial"/>
                <a:cs typeface="Arial"/>
              </a:rPr>
              <a:t>Trợ lý AI Copilot</a:t>
            </a:r>
            <a:r>
              <a:rPr lang="vi-VN" sz="1000" noProof="1">
                <a:solidFill>
                  <a:srgbClr val="40506B"/>
                </a:solidFill>
                <a:latin typeface="Arial"/>
                <a:ea typeface="Arial"/>
                <a:cs typeface="Arial"/>
              </a:rPr>
              <a:t> — sinh bài, gợi ý tiêu đề, kiểm tra Token</a:t>
            </a:r>
            <a:endParaRPr lang="vi-VN" sz="1000" noProof="1"/>
          </a:p>
        </p:txBody>
      </p:sp>
      <p:sp>
        <p:nvSpPr>
          <p:cNvPr id="41581989" name="Shape 15"/>
          <p:cNvSpPr/>
          <p:nvPr/>
        </p:nvSpPr>
        <p:spPr bwMode="auto">
          <a:xfrm>
            <a:off x="714375" y="3632596"/>
            <a:ext cx="5524500" cy="0"/>
          </a:xfrm>
          <a:prstGeom prst="line">
            <a:avLst/>
          </a:prstGeom>
          <a:noFill/>
          <a:ln w="9525">
            <a:solidFill>
              <a:srgbClr val="E3E9F2"/>
            </a:solidFill>
            <a:prstDash val="dash"/>
          </a:ln>
        </p:spPr>
        <p:txBody>
          <a:bodyPr/>
          <a:lstStyle/>
          <a:p>
            <a:endParaRPr lang="vi-VN" noProof="1"/>
          </a:p>
        </p:txBody>
      </p:sp>
      <p:sp>
        <p:nvSpPr>
          <p:cNvPr id="1673367991" name="Text 16"/>
          <p:cNvSpPr/>
          <p:nvPr/>
        </p:nvSpPr>
        <p:spPr bwMode="auto">
          <a:xfrm>
            <a:off x="714375" y="3380184"/>
            <a:ext cx="213741" cy="186333"/>
          </a:xfrm>
          <a:prstGeom prst="rect">
            <a:avLst/>
          </a:prstGeom>
          <a:noFill/>
          <a:ln/>
        </p:spPr>
        <p:txBody>
          <a:bodyPr wrap="square" lIns="0" tIns="0" rIns="0" bIns="0" rtlCol="0" anchor="t"/>
          <a:lstStyle/>
          <a:p>
            <a:pPr marL="0" indent="0" algn="l">
              <a:lnSpc>
                <a:spcPts val="1468"/>
              </a:lnSpc>
              <a:buNone/>
              <a:defRPr/>
            </a:pPr>
            <a:r>
              <a:rPr lang="vi-VN" sz="1000" b="1" noProof="1">
                <a:solidFill>
                  <a:srgbClr val="D4A017"/>
                </a:solidFill>
                <a:latin typeface="Arial"/>
                <a:ea typeface="Arial"/>
                <a:cs typeface="Arial"/>
              </a:rPr>
              <a:t>3</a:t>
            </a:r>
            <a:endParaRPr lang="vi-VN" sz="1000" noProof="1"/>
          </a:p>
        </p:txBody>
      </p:sp>
      <p:sp>
        <p:nvSpPr>
          <p:cNvPr id="925502246" name="Text 17"/>
          <p:cNvSpPr/>
          <p:nvPr/>
        </p:nvSpPr>
        <p:spPr bwMode="auto">
          <a:xfrm>
            <a:off x="1019174" y="3380184"/>
            <a:ext cx="4270418" cy="186333"/>
          </a:xfrm>
          <a:prstGeom prst="rect">
            <a:avLst/>
          </a:prstGeom>
          <a:noFill/>
          <a:ln/>
        </p:spPr>
        <p:txBody>
          <a:bodyPr wrap="square" lIns="0" tIns="0" rIns="0" bIns="0" rtlCol="0" anchor="t"/>
          <a:lstStyle/>
          <a:p>
            <a:pPr marL="0" indent="0" algn="l">
              <a:lnSpc>
                <a:spcPts val="1468"/>
              </a:lnSpc>
              <a:buNone/>
              <a:defRPr/>
            </a:pPr>
            <a:r>
              <a:rPr lang="vi-VN" sz="1000" b="1" noProof="1">
                <a:solidFill>
                  <a:srgbClr val="002855"/>
                </a:solidFill>
                <a:latin typeface="Arial"/>
                <a:ea typeface="Arial"/>
                <a:cs typeface="Arial"/>
              </a:rPr>
              <a:t>Kiểm duyệt &amp; xuất bản đa kênh</a:t>
            </a:r>
            <a:r>
              <a:rPr lang="vi-VN" sz="1000" noProof="1">
                <a:solidFill>
                  <a:srgbClr val="40506B"/>
                </a:solidFill>
                <a:latin typeface="Arial"/>
                <a:ea typeface="Arial"/>
                <a:cs typeface="Arial"/>
              </a:rPr>
              <a:t> — preview, hẹn giờ, đồng bộ Facebook</a:t>
            </a:r>
            <a:endParaRPr lang="vi-VN" sz="1000" noProof="1"/>
          </a:p>
        </p:txBody>
      </p:sp>
      <p:sp>
        <p:nvSpPr>
          <p:cNvPr id="457755770" name="Shape 18"/>
          <p:cNvSpPr/>
          <p:nvPr/>
        </p:nvSpPr>
        <p:spPr bwMode="auto">
          <a:xfrm>
            <a:off x="714375" y="3942755"/>
            <a:ext cx="5524500" cy="0"/>
          </a:xfrm>
          <a:prstGeom prst="line">
            <a:avLst/>
          </a:prstGeom>
          <a:noFill/>
          <a:ln w="9525">
            <a:solidFill>
              <a:srgbClr val="E3E9F2"/>
            </a:solidFill>
            <a:prstDash val="dash"/>
          </a:ln>
        </p:spPr>
        <p:txBody>
          <a:bodyPr/>
          <a:lstStyle/>
          <a:p>
            <a:endParaRPr lang="vi-VN" noProof="1"/>
          </a:p>
        </p:txBody>
      </p:sp>
      <p:sp>
        <p:nvSpPr>
          <p:cNvPr id="1588957073" name="Text 19"/>
          <p:cNvSpPr/>
          <p:nvPr/>
        </p:nvSpPr>
        <p:spPr bwMode="auto">
          <a:xfrm>
            <a:off x="714375" y="3690342"/>
            <a:ext cx="213741" cy="186333"/>
          </a:xfrm>
          <a:prstGeom prst="rect">
            <a:avLst/>
          </a:prstGeom>
          <a:noFill/>
          <a:ln/>
        </p:spPr>
        <p:txBody>
          <a:bodyPr wrap="square" lIns="0" tIns="0" rIns="0" bIns="0" rtlCol="0" anchor="t"/>
          <a:lstStyle/>
          <a:p>
            <a:pPr marL="0" indent="0" algn="l">
              <a:lnSpc>
                <a:spcPts val="1468"/>
              </a:lnSpc>
              <a:buNone/>
              <a:defRPr/>
            </a:pPr>
            <a:r>
              <a:rPr lang="vi-VN" sz="1000" b="1" noProof="1">
                <a:solidFill>
                  <a:srgbClr val="D4A017"/>
                </a:solidFill>
                <a:latin typeface="Arial"/>
                <a:ea typeface="Arial"/>
                <a:cs typeface="Arial"/>
              </a:rPr>
              <a:t>4</a:t>
            </a:r>
            <a:endParaRPr lang="vi-VN" sz="1000" noProof="1"/>
          </a:p>
        </p:txBody>
      </p:sp>
      <p:sp>
        <p:nvSpPr>
          <p:cNvPr id="2144642820" name="Shape 21"/>
          <p:cNvSpPr/>
          <p:nvPr/>
        </p:nvSpPr>
        <p:spPr bwMode="auto">
          <a:xfrm>
            <a:off x="714375" y="4252913"/>
            <a:ext cx="5524500" cy="0"/>
          </a:xfrm>
          <a:prstGeom prst="line">
            <a:avLst/>
          </a:prstGeom>
          <a:noFill/>
          <a:ln w="9525">
            <a:solidFill>
              <a:srgbClr val="E3E9F2"/>
            </a:solidFill>
            <a:prstDash val="dash"/>
          </a:ln>
        </p:spPr>
        <p:txBody>
          <a:bodyPr/>
          <a:lstStyle/>
          <a:p>
            <a:endParaRPr lang="vi-VN" noProof="1"/>
          </a:p>
        </p:txBody>
      </p:sp>
      <p:sp>
        <p:nvSpPr>
          <p:cNvPr id="151893184" name="Text 22"/>
          <p:cNvSpPr/>
          <p:nvPr/>
        </p:nvSpPr>
        <p:spPr bwMode="auto">
          <a:xfrm>
            <a:off x="714375" y="4000500"/>
            <a:ext cx="213741" cy="186333"/>
          </a:xfrm>
          <a:prstGeom prst="rect">
            <a:avLst/>
          </a:prstGeom>
          <a:noFill/>
          <a:ln/>
        </p:spPr>
        <p:txBody>
          <a:bodyPr wrap="square" lIns="0" tIns="0" rIns="0" bIns="0" rtlCol="0" anchor="t"/>
          <a:lstStyle/>
          <a:p>
            <a:pPr marL="0" indent="0" algn="l">
              <a:lnSpc>
                <a:spcPts val="1468"/>
              </a:lnSpc>
              <a:buNone/>
              <a:defRPr/>
            </a:pPr>
            <a:r>
              <a:rPr lang="vi-VN" sz="1000" b="1" noProof="1">
                <a:solidFill>
                  <a:srgbClr val="D4A017"/>
                </a:solidFill>
                <a:latin typeface="Arial"/>
                <a:ea typeface="Arial"/>
                <a:cs typeface="Arial"/>
              </a:rPr>
              <a:t>5</a:t>
            </a:r>
            <a:endParaRPr lang="vi-VN" sz="1000" noProof="1"/>
          </a:p>
        </p:txBody>
      </p:sp>
      <p:sp>
        <p:nvSpPr>
          <p:cNvPr id="474285615" name="Text 23"/>
          <p:cNvSpPr/>
          <p:nvPr/>
        </p:nvSpPr>
        <p:spPr bwMode="auto">
          <a:xfrm>
            <a:off x="1019174" y="3689449"/>
            <a:ext cx="3853714" cy="186333"/>
          </a:xfrm>
          <a:prstGeom prst="rect">
            <a:avLst/>
          </a:prstGeom>
          <a:noFill/>
          <a:ln/>
        </p:spPr>
        <p:txBody>
          <a:bodyPr wrap="square" lIns="0" tIns="0" rIns="0" bIns="0" rtlCol="0" anchor="t"/>
          <a:lstStyle/>
          <a:p>
            <a:r>
              <a:t>Tra cứu thông tin, Phúc lợi &amp; Tương tác — tin tức, văn bản, trợ cấp, hòm thư góp ý</a:t>
            </a:r>
          </a:p>
        </p:txBody>
      </p:sp>
      <p:sp>
        <p:nvSpPr>
          <p:cNvPr id="1499707221" name="Text 24"/>
          <p:cNvSpPr/>
          <p:nvPr/>
        </p:nvSpPr>
        <p:spPr bwMode="auto">
          <a:xfrm>
            <a:off x="714375" y="4310658"/>
            <a:ext cx="213741" cy="186333"/>
          </a:xfrm>
          <a:prstGeom prst="rect">
            <a:avLst/>
          </a:prstGeom>
          <a:noFill/>
          <a:ln/>
        </p:spPr>
        <p:txBody>
          <a:bodyPr wrap="square" lIns="0" tIns="0" rIns="0" bIns="0" rtlCol="0" anchor="t"/>
          <a:lstStyle/>
          <a:p>
            <a:pPr marL="0" indent="0" algn="l">
              <a:lnSpc>
                <a:spcPts val="1468"/>
              </a:lnSpc>
              <a:buNone/>
              <a:defRPr/>
            </a:pPr>
            <a:endParaRPr lang="vi-VN" sz="1000" noProof="1"/>
          </a:p>
        </p:txBody>
      </p:sp>
      <p:sp>
        <p:nvSpPr>
          <p:cNvPr id="1616624030" name="Text 25"/>
          <p:cNvSpPr/>
          <p:nvPr/>
        </p:nvSpPr>
        <p:spPr bwMode="auto">
          <a:xfrm>
            <a:off x="1019174" y="3999607"/>
            <a:ext cx="3623274" cy="186333"/>
          </a:xfrm>
          <a:prstGeom prst="rect">
            <a:avLst/>
          </a:prstGeom>
          <a:noFill/>
          <a:ln/>
        </p:spPr>
        <p:txBody>
          <a:bodyPr wrap="square" lIns="0" tIns="0" rIns="0" bIns="0" rtlCol="0" anchor="t"/>
          <a:lstStyle/>
          <a:p>
            <a:r>
              <a:t>Quản trị hệ thống &amp; Người dùng — RBAC 4 vai trò, cấu hình API, token AI, audit logs</a:t>
            </a:r>
          </a:p>
        </p:txBody>
      </p:sp>
      <p:sp>
        <p:nvSpPr>
          <p:cNvPr id="265859507" name="Text 26"/>
          <p:cNvSpPr/>
          <p:nvPr/>
        </p:nvSpPr>
        <p:spPr bwMode="auto">
          <a:xfrm>
            <a:off x="533400" y="4830365"/>
            <a:ext cx="5886450" cy="619125"/>
          </a:xfrm>
          <a:prstGeom prst="roundRect">
            <a:avLst>
              <a:gd name="adj" fmla="val 18462"/>
            </a:avLst>
          </a:prstGeom>
          <a:solidFill>
            <a:srgbClr val="EEF3FA"/>
          </a:solidFill>
          <a:ln w="9525">
            <a:solidFill>
              <a:srgbClr val="DBE5F1"/>
            </a:solidFill>
          </a:ln>
        </p:spPr>
        <p:txBody>
          <a:bodyPr wrap="square" rtlCol="0" anchor="ctr"/>
          <a:lstStyle/>
          <a:p>
            <a:pPr marL="0" indent="0">
              <a:buNone/>
              <a:defRPr/>
            </a:pPr>
            <a:endParaRPr lang="vi-VN" noProof="1"/>
          </a:p>
        </p:txBody>
      </p:sp>
      <p:sp>
        <p:nvSpPr>
          <p:cNvPr id="180938056" name="Text 27"/>
          <p:cNvSpPr/>
          <p:nvPr/>
        </p:nvSpPr>
        <p:spPr bwMode="auto">
          <a:xfrm>
            <a:off x="695325" y="4954191"/>
            <a:ext cx="5673852" cy="371475"/>
          </a:xfrm>
          <a:prstGeom prst="rect">
            <a:avLst/>
          </a:prstGeom>
          <a:noFill/>
          <a:ln/>
        </p:spPr>
        <p:txBody>
          <a:bodyPr wrap="square" lIns="0" tIns="0" rIns="0" bIns="0" rtlCol="0" anchor="t"/>
          <a:lstStyle/>
          <a:p>
            <a:pPr marL="0" indent="0" algn="l">
              <a:lnSpc>
                <a:spcPts val="1463"/>
              </a:lnSpc>
              <a:buNone/>
              <a:defRPr/>
            </a:pPr>
            <a:r>
              <a:rPr lang="vi-VN" sz="1000" b="1" noProof="1">
                <a:solidFill>
                  <a:srgbClr val="002855"/>
                </a:solidFill>
                <a:latin typeface="Arial"/>
                <a:ea typeface="Arial"/>
                <a:cs typeface="Arial"/>
              </a:rPr>
              <a:t>26 use case</a:t>
            </a:r>
            <a:r>
              <a:rPr lang="vi-VN" sz="1000" noProof="1">
                <a:solidFill>
                  <a:srgbClr val="24456E"/>
                </a:solidFill>
                <a:latin typeface="Arial"/>
                <a:ea typeface="Arial"/>
                <a:cs typeface="Arial"/>
              </a:rPr>
              <a:t> được phân rã theo chuẩn UML với đầy đủ quan h</a:t>
            </a:r>
            <a:r>
              <a:rPr lang="en-US" sz="1000" noProof="1">
                <a:solidFill>
                  <a:srgbClr val="24456E"/>
                </a:solidFill>
                <a:latin typeface="Arial"/>
                <a:ea typeface="Arial"/>
                <a:cs typeface="Arial"/>
              </a:rPr>
              <a:t>ệ</a:t>
            </a:r>
            <a:r>
              <a:rPr lang="vi-VN" sz="1000" noProof="1">
                <a:solidFill>
                  <a:srgbClr val="24456E"/>
                </a:solidFill>
                <a:latin typeface="Arial"/>
                <a:ea typeface="Arial"/>
                <a:cs typeface="Arial"/>
              </a:rPr>
              <a:t>, luồng sự kiện chính, thay thế và ngoại lệ.</a:t>
            </a:r>
            <a:endParaRPr lang="vi-VN" sz="1000" noProof="1"/>
          </a:p>
        </p:txBody>
      </p:sp>
      <p:sp>
        <p:nvSpPr>
          <p:cNvPr id="900242687" name="Text 28"/>
          <p:cNvSpPr/>
          <p:nvPr/>
        </p:nvSpPr>
        <p:spPr bwMode="auto">
          <a:xfrm>
            <a:off x="6667500" y="1245394"/>
            <a:ext cx="4991100" cy="5334000"/>
          </a:xfrm>
          <a:prstGeom prst="roundRect">
            <a:avLst>
              <a:gd name="adj" fmla="val 2672"/>
            </a:avLst>
          </a:prstGeom>
          <a:solidFill>
            <a:srgbClr val="FFFFFF"/>
          </a:solidFill>
          <a:ln w="9525">
            <a:solidFill>
              <a:srgbClr val="E3E9F2"/>
            </a:solidFill>
          </a:ln>
          <a:effectLst>
            <a:outerShdw blurRad="171450" dist="57150" dir="5400000" algn="bl" rotWithShape="0">
              <a:srgbClr val="002855">
                <a:alpha val="7000"/>
              </a:srgbClr>
            </a:outerShdw>
          </a:effectLst>
        </p:spPr>
        <p:txBody>
          <a:bodyPr wrap="square" rtlCol="0" anchor="ctr"/>
          <a:lstStyle/>
          <a:p>
            <a:pPr marL="0" indent="0">
              <a:buNone/>
              <a:defRPr/>
            </a:pPr>
            <a:endParaRPr lang="vi-VN" noProof="1"/>
          </a:p>
        </p:txBody>
      </p:sp>
      <p:pic>
        <p:nvPicPr>
          <p:cNvPr id="77667814" name="Image 1"/>
          <p:cNvPicPr>
            <a:picLocks noChangeAspect="1"/>
          </p:cNvPicPr>
          <p:nvPr/>
        </p:nvPicPr>
        <p:blipFill>
          <a:blip r:embed="rId4"/>
          <a:srcRect/>
          <a:stretch/>
        </p:blipFill>
        <p:spPr bwMode="auto">
          <a:xfrm>
            <a:off x="6810375" y="1399372"/>
            <a:ext cx="4705350" cy="5119062"/>
          </a:xfrm>
          <a:prstGeom prst="rect">
            <a:avLst/>
          </a:prstGeom>
        </p:spPr>
      </p:pic>
      <p:sp>
        <p:nvSpPr>
          <p:cNvPr id="2114610084" name="Text 29"/>
          <p:cNvSpPr/>
          <p:nvPr/>
        </p:nvSpPr>
        <p:spPr bwMode="auto">
          <a:xfrm>
            <a:off x="6763322" y="6624785"/>
            <a:ext cx="4799457" cy="133350"/>
          </a:xfrm>
          <a:prstGeom prst="rect">
            <a:avLst/>
          </a:prstGeom>
          <a:noFill/>
          <a:ln/>
        </p:spPr>
        <p:txBody>
          <a:bodyPr wrap="square" lIns="0" tIns="0" rIns="0" bIns="0" rtlCol="0" anchor="t"/>
          <a:lstStyle/>
          <a:p>
            <a:pPr marL="0" indent="0" algn="ctr">
              <a:spcBef>
                <a:spcPts val="750"/>
              </a:spcBef>
              <a:buNone/>
              <a:defRPr/>
            </a:pPr>
            <a:r>
              <a:rPr lang="vi-VN" sz="900" noProof="1">
                <a:solidFill>
                  <a:srgbClr val="8A97AB"/>
                </a:solidFill>
                <a:latin typeface="Arial"/>
                <a:ea typeface="Arial"/>
                <a:cs typeface="Arial"/>
              </a:rPr>
              <a:t>Biểu đồ Use Case tổng quát hệ thống</a:t>
            </a:r>
            <a:endParaRPr lang="vi-VN" sz="900" noProof="1"/>
          </a:p>
        </p:txBody>
      </p:sp>
      <p:sp>
        <p:nvSpPr>
          <p:cNvPr id="407911527" name="Shape 30"/>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1612392569" name="Text 31"/>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
        <p:nvSpPr>
          <p:cNvPr id="33997073" name="Shape 32"/>
          <p:cNvSpPr/>
          <p:nvPr/>
        </p:nvSpPr>
        <p:spPr bwMode="auto">
          <a:xfrm>
            <a:off x="6810375" y="1393031"/>
            <a:ext cx="4705350" cy="0"/>
          </a:xfrm>
          <a:prstGeom prst="line">
            <a:avLst/>
          </a:prstGeom>
          <a:noFill/>
          <a:ln w="9525">
            <a:solidFill>
              <a:srgbClr val="EDF1F7"/>
            </a:solidFill>
            <a:prstDash val="solid"/>
          </a:ln>
        </p:spPr>
        <p:txBody>
          <a:bodyPr/>
          <a:lstStyle/>
          <a:p>
            <a:endParaRPr lang="vi-VN" noProof="1"/>
          </a:p>
        </p:txBody>
      </p:sp>
      <p:sp>
        <p:nvSpPr>
          <p:cNvPr id="244372080" name="Shape 33"/>
          <p:cNvSpPr/>
          <p:nvPr/>
        </p:nvSpPr>
        <p:spPr bwMode="auto">
          <a:xfrm>
            <a:off x="11510963" y="1388269"/>
            <a:ext cx="0" cy="5141268"/>
          </a:xfrm>
          <a:prstGeom prst="line">
            <a:avLst/>
          </a:prstGeom>
          <a:noFill/>
          <a:ln w="9525">
            <a:solidFill>
              <a:srgbClr val="EDF1F7"/>
            </a:solidFill>
            <a:prstDash val="solid"/>
          </a:ln>
        </p:spPr>
        <p:txBody>
          <a:bodyPr/>
          <a:lstStyle/>
          <a:p>
            <a:endParaRPr lang="vi-VN" noProof="1"/>
          </a:p>
        </p:txBody>
      </p:sp>
      <p:sp>
        <p:nvSpPr>
          <p:cNvPr id="834499497" name="Shape 34"/>
          <p:cNvSpPr/>
          <p:nvPr/>
        </p:nvSpPr>
        <p:spPr bwMode="auto">
          <a:xfrm>
            <a:off x="6810375" y="6524774"/>
            <a:ext cx="4705350" cy="0"/>
          </a:xfrm>
          <a:prstGeom prst="line">
            <a:avLst/>
          </a:prstGeom>
          <a:noFill/>
          <a:ln w="9525">
            <a:solidFill>
              <a:srgbClr val="EDF1F7"/>
            </a:solidFill>
            <a:prstDash val="solid"/>
          </a:ln>
        </p:spPr>
        <p:txBody>
          <a:bodyPr/>
          <a:lstStyle/>
          <a:p>
            <a:endParaRPr lang="vi-VN" noProof="1"/>
          </a:p>
        </p:txBody>
      </p:sp>
      <p:sp>
        <p:nvSpPr>
          <p:cNvPr id="786633352" name="Shape 35"/>
          <p:cNvSpPr/>
          <p:nvPr/>
        </p:nvSpPr>
        <p:spPr bwMode="auto">
          <a:xfrm>
            <a:off x="6815138" y="1388269"/>
            <a:ext cx="0" cy="5141268"/>
          </a:xfrm>
          <a:prstGeom prst="line">
            <a:avLst/>
          </a:prstGeom>
          <a:noFill/>
          <a:ln w="9525">
            <a:solidFill>
              <a:srgbClr val="EDF1F7"/>
            </a:solidFill>
            <a:prstDash val="solid"/>
          </a:ln>
        </p:spPr>
        <p:txBody>
          <a:bodyPr/>
          <a:lstStyle/>
          <a:p>
            <a:endParaRPr lang="vi-VN" noProof="1"/>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PhAnim="0">
  <p:cSld name="Slide 9">
    <p:bg>
      <p:bgPr>
        <a:solidFill>
          <a:srgbClr val="F6F8FB"/>
        </a:solidFill>
        <a:effectLst/>
      </p:bgPr>
    </p:bg>
    <p:spTree>
      <p:nvGrpSpPr>
        <p:cNvPr id="1" name=""/>
        <p:cNvGrpSpPr/>
        <p:nvPr/>
      </p:nvGrpSpPr>
      <p:grpSpPr bwMode="auto">
        <a:xfrm>
          <a:off x="0" y="0"/>
          <a:ext cx="0" cy="0"/>
          <a:chOff x="0" y="0"/>
          <a:chExt cx="0" cy="0"/>
        </a:xfrm>
      </p:grpSpPr>
      <p:sp>
        <p:nvSpPr>
          <p:cNvPr id="1778504505"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000" b="1" noProof="1">
                <a:solidFill>
                  <a:srgbClr val="B07F12"/>
                </a:solidFill>
                <a:latin typeface="Arial"/>
                <a:ea typeface="Arial"/>
                <a:cs typeface="Arial"/>
              </a:rPr>
              <a:t>4. PHÂN TÍCH &amp; THIẾT KẾ HỆ THỐNG</a:t>
            </a:r>
            <a:endParaRPr lang="vi-VN" sz="1000" noProof="1"/>
          </a:p>
        </p:txBody>
      </p:sp>
      <p:sp>
        <p:nvSpPr>
          <p:cNvPr id="1516662613" name="Text 1"/>
          <p:cNvSpPr/>
          <p:nvPr/>
        </p:nvSpPr>
        <p:spPr bwMode="auto">
          <a:xfrm>
            <a:off x="533400" y="542925"/>
            <a:ext cx="11347704" cy="359569"/>
          </a:xfrm>
          <a:prstGeom prst="rect">
            <a:avLst/>
          </a:prstGeom>
          <a:noFill/>
          <a:ln/>
        </p:spPr>
        <p:txBody>
          <a:bodyPr wrap="square" lIns="0" tIns="0" rIns="0" bIns="0" rtlCol="0" anchor="t"/>
          <a:lstStyle/>
          <a:p>
            <a:pPr marL="0" indent="0" algn="l">
              <a:lnSpc>
                <a:spcPts val="2832"/>
              </a:lnSpc>
              <a:spcAft>
                <a:spcPts val="600"/>
              </a:spcAft>
              <a:buNone/>
              <a:defRPr/>
            </a:pPr>
            <a:r>
              <a:rPr lang="vi-VN" sz="2400" b="1" noProof="1">
                <a:solidFill>
                  <a:srgbClr val="002855"/>
                </a:solidFill>
                <a:latin typeface="Arial"/>
                <a:ea typeface="Arial"/>
                <a:cs typeface="Arial"/>
              </a:rPr>
              <a:t>Thiết kế cơ sở dữ liệu</a:t>
            </a:r>
            <a:endParaRPr lang="vi-VN" sz="2400" noProof="1"/>
          </a:p>
        </p:txBody>
      </p:sp>
      <p:pic>
        <p:nvPicPr>
          <p:cNvPr id="536241311" name="Image 0" descr="/var/folders/t4/q0khv7qd1r3dc2yrbwkzmjf00000gn/T/html2pptx-3ey5sh/html2pptx-bg-1791687646699-ce072b8ac0a458.png"/>
          <p:cNvPicPr>
            <a:picLocks noChangeAspect="1"/>
          </p:cNvPicPr>
          <p:nvPr/>
        </p:nvPicPr>
        <p:blipFill rotWithShape="1">
          <a:blip r:embed="rId3"/>
          <a:stretch/>
        </p:blipFill>
        <p:spPr bwMode="auto">
          <a:xfrm>
            <a:off x="533400" y="978694"/>
            <a:ext cx="1047750" cy="38100"/>
          </a:xfrm>
          <a:prstGeom prst="rect">
            <a:avLst/>
          </a:prstGeom>
        </p:spPr>
      </p:pic>
      <p:sp>
        <p:nvSpPr>
          <p:cNvPr id="1162282214" name="Text 2"/>
          <p:cNvSpPr/>
          <p:nvPr/>
        </p:nvSpPr>
        <p:spPr bwMode="auto">
          <a:xfrm>
            <a:off x="533400" y="1264444"/>
            <a:ext cx="5857875" cy="1785938"/>
          </a:xfrm>
          <a:prstGeom prst="roundRect">
            <a:avLst>
              <a:gd name="adj" fmla="val 7467"/>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224472586" name="Text 3"/>
          <p:cNvSpPr/>
          <p:nvPr/>
        </p:nvSpPr>
        <p:spPr bwMode="auto">
          <a:xfrm>
            <a:off x="714375" y="1407319"/>
            <a:ext cx="5605844" cy="161925"/>
          </a:xfrm>
          <a:prstGeom prst="rect">
            <a:avLst/>
          </a:prstGeom>
          <a:noFill/>
          <a:ln/>
        </p:spPr>
        <p:txBody>
          <a:bodyPr wrap="square" lIns="0" tIns="0" rIns="0" bIns="0" rtlCol="0" anchor="t"/>
          <a:lstStyle/>
          <a:p>
            <a:pPr marL="0" indent="0" algn="l">
              <a:spcAft>
                <a:spcPts val="600"/>
              </a:spcAft>
              <a:buNone/>
              <a:defRPr/>
            </a:pPr>
            <a:r>
              <a:rPr lang="vi-VN" sz="1150" b="1" noProof="1">
                <a:solidFill>
                  <a:srgbClr val="002855"/>
                </a:solidFill>
                <a:latin typeface="Arial"/>
                <a:ea typeface="Arial"/>
                <a:cs typeface="Arial"/>
              </a:rPr>
              <a:t>Hệ quản trị &amp; mô hình</a:t>
            </a:r>
            <a:endParaRPr lang="vi-VN" sz="1150" noProof="1"/>
          </a:p>
        </p:txBody>
      </p:sp>
      <p:sp>
        <p:nvSpPr>
          <p:cNvPr id="1967574883" name="Text 4"/>
          <p:cNvSpPr/>
          <p:nvPr/>
        </p:nvSpPr>
        <p:spPr bwMode="auto">
          <a:xfrm>
            <a:off x="714375" y="1645444"/>
            <a:ext cx="5495925" cy="1262063"/>
          </a:xfrm>
          <a:prstGeom prst="rect">
            <a:avLst/>
          </a:prstGeom>
          <a:noFill/>
          <a:ln/>
        </p:spPr>
        <p:txBody>
          <a:bodyPr wrap="square" lIns="152400" tIns="0" rIns="0" bIns="66675" rtlCol="0" anchor="t"/>
          <a:lstStyle/>
          <a:p>
            <a:r>
              <a:t>Microsoft SQL Server + Connection Pool tối ưu kết nối , chuẩn hóa dữ liệu 3NF, loại bỏ dư thừa, đảm bảo nhất quán</a:t>
            </a:r>
          </a:p>
          <a:p>
            <a:r>
              <a:t>Giao dịch ACID — bảo đảm toàn vẹn và nhất quán dữ liệu</a:t>
            </a:r>
          </a:p>
          <a:p>
            <a:r>
              <a:t>Khóa PK/FK ràng buộc toàn vẹn tham chiếu, Cascade thích hợp</a:t>
            </a:r>
          </a:p>
          <a:p>
            <a:r>
              <a:t>Đánh chỉ mục (Index) trên slug, chuyên mục, trạng thái giúp tối ưu truy vấn</a:t>
            </a:r>
          </a:p>
        </p:txBody>
      </p:sp>
      <p:sp>
        <p:nvSpPr>
          <p:cNvPr id="380914844" name="Text 5"/>
          <p:cNvSpPr/>
          <p:nvPr/>
        </p:nvSpPr>
        <p:spPr bwMode="auto">
          <a:xfrm>
            <a:off x="533400" y="3164681"/>
            <a:ext cx="5857875" cy="1714500"/>
          </a:xfrm>
          <a:prstGeom prst="roundRect">
            <a:avLst>
              <a:gd name="adj" fmla="val 7778"/>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769482477" name="Text 6"/>
          <p:cNvSpPr/>
          <p:nvPr/>
        </p:nvSpPr>
        <p:spPr bwMode="auto">
          <a:xfrm>
            <a:off x="714375" y="3307556"/>
            <a:ext cx="5605844" cy="161925"/>
          </a:xfrm>
          <a:prstGeom prst="rect">
            <a:avLst/>
          </a:prstGeom>
          <a:noFill/>
          <a:ln/>
        </p:spPr>
        <p:txBody>
          <a:bodyPr wrap="square" lIns="0" tIns="0" rIns="0" bIns="0" rtlCol="0" anchor="t"/>
          <a:lstStyle/>
          <a:p>
            <a:pPr marL="0" indent="0" algn="l">
              <a:spcAft>
                <a:spcPts val="600"/>
              </a:spcAft>
              <a:buNone/>
              <a:defRPr/>
            </a:pPr>
            <a:r>
              <a:rPr lang="vi-VN" sz="1150" b="1" noProof="1">
                <a:solidFill>
                  <a:srgbClr val="002855"/>
                </a:solidFill>
                <a:latin typeface="Arial"/>
                <a:ea typeface="Arial"/>
                <a:cs typeface="Arial"/>
              </a:rPr>
              <a:t>15 bảng nghiệp vụ chính</a:t>
            </a:r>
            <a:endParaRPr lang="vi-VN" sz="1150" noProof="1"/>
          </a:p>
        </p:txBody>
      </p:sp>
      <p:sp>
        <p:nvSpPr>
          <p:cNvPr id="1608541823" name="Text 7"/>
          <p:cNvSpPr/>
          <p:nvPr/>
        </p:nvSpPr>
        <p:spPr bwMode="auto">
          <a:xfrm>
            <a:off x="714375" y="3545681"/>
            <a:ext cx="1221880"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ctr">
              <a:buNone/>
              <a:defRPr/>
            </a:pPr>
            <a:r>
              <a:rPr lang="vi-VN" sz="900" b="1" noProof="1">
                <a:solidFill>
                  <a:srgbClr val="24456E"/>
                </a:solidFill>
                <a:latin typeface="Arial"/>
                <a:ea typeface="Arial"/>
                <a:cs typeface="Arial"/>
              </a:rPr>
              <a:t>ORGANIZATIONS</a:t>
            </a:r>
            <a:endParaRPr lang="vi-VN" sz="900" noProof="1"/>
          </a:p>
        </p:txBody>
      </p:sp>
      <p:sp>
        <p:nvSpPr>
          <p:cNvPr id="1553966374" name="Text 8"/>
          <p:cNvSpPr/>
          <p:nvPr/>
        </p:nvSpPr>
        <p:spPr bwMode="auto">
          <a:xfrm>
            <a:off x="1984623" y="3545681"/>
            <a:ext cx="1393702"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ctr">
              <a:buNone/>
              <a:defRPr/>
            </a:pPr>
            <a:r>
              <a:rPr lang="vi-VN" sz="900" b="1" noProof="1">
                <a:solidFill>
                  <a:srgbClr val="24456E"/>
                </a:solidFill>
                <a:latin typeface="Arial"/>
                <a:ea typeface="Arial"/>
                <a:cs typeface="Arial"/>
              </a:rPr>
              <a:t>UNION_BRANCHES</a:t>
            </a:r>
            <a:endParaRPr lang="vi-VN" sz="900" noProof="1"/>
          </a:p>
        </p:txBody>
      </p:sp>
      <p:sp>
        <p:nvSpPr>
          <p:cNvPr id="1555805195" name="Text 9"/>
          <p:cNvSpPr/>
          <p:nvPr/>
        </p:nvSpPr>
        <p:spPr bwMode="auto">
          <a:xfrm>
            <a:off x="3426693" y="3545681"/>
            <a:ext cx="825492"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ctr">
              <a:buNone/>
              <a:defRPr/>
            </a:pPr>
            <a:r>
              <a:rPr lang="vi-VN" sz="900" b="1" noProof="1">
                <a:solidFill>
                  <a:srgbClr val="24456E"/>
                </a:solidFill>
                <a:latin typeface="Arial"/>
                <a:ea typeface="Arial"/>
                <a:cs typeface="Arial"/>
              </a:rPr>
              <a:t>MEMBERS</a:t>
            </a:r>
            <a:endParaRPr lang="vi-VN" sz="900" noProof="1"/>
          </a:p>
        </p:txBody>
      </p:sp>
      <p:sp>
        <p:nvSpPr>
          <p:cNvPr id="14697596" name="Text 10"/>
          <p:cNvSpPr/>
          <p:nvPr/>
        </p:nvSpPr>
        <p:spPr bwMode="auto">
          <a:xfrm>
            <a:off x="4300553" y="3545681"/>
            <a:ext cx="654324"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ctr">
              <a:buNone/>
              <a:defRPr/>
            </a:pPr>
            <a:r>
              <a:rPr lang="vi-VN" sz="900" b="1" noProof="1">
                <a:solidFill>
                  <a:srgbClr val="24456E"/>
                </a:solidFill>
                <a:latin typeface="Arial"/>
                <a:ea typeface="Arial"/>
                <a:cs typeface="Arial"/>
              </a:rPr>
              <a:t>USERS</a:t>
            </a:r>
            <a:endParaRPr lang="vi-VN" sz="900" noProof="1"/>
          </a:p>
        </p:txBody>
      </p:sp>
      <p:sp>
        <p:nvSpPr>
          <p:cNvPr id="1060775627" name="Text 11"/>
          <p:cNvSpPr/>
          <p:nvPr/>
        </p:nvSpPr>
        <p:spPr bwMode="auto">
          <a:xfrm>
            <a:off x="5003245" y="3545681"/>
            <a:ext cx="996660"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ctr">
              <a:buNone/>
              <a:defRPr/>
            </a:pPr>
            <a:r>
              <a:rPr lang="vi-VN" sz="900" b="1" noProof="1">
                <a:solidFill>
                  <a:srgbClr val="24456E"/>
                </a:solidFill>
                <a:latin typeface="Arial"/>
                <a:ea typeface="Arial"/>
                <a:cs typeface="Arial"/>
              </a:rPr>
              <a:t>CATEGORIES</a:t>
            </a:r>
            <a:endParaRPr lang="vi-VN" sz="900" noProof="1"/>
          </a:p>
        </p:txBody>
      </p:sp>
      <p:sp>
        <p:nvSpPr>
          <p:cNvPr id="1730038241" name="Text 12"/>
          <p:cNvSpPr/>
          <p:nvPr/>
        </p:nvSpPr>
        <p:spPr bwMode="auto">
          <a:xfrm>
            <a:off x="714374" y="3860006"/>
            <a:ext cx="881042"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ctr">
              <a:buNone/>
              <a:defRPr/>
            </a:pPr>
            <a:r>
              <a:rPr lang="vi-VN" sz="900" b="1" noProof="1">
                <a:solidFill>
                  <a:srgbClr val="24456E"/>
                </a:solidFill>
                <a:latin typeface="Arial"/>
                <a:ea typeface="Arial"/>
                <a:cs typeface="Arial"/>
              </a:rPr>
              <a:t>ARTICLES</a:t>
            </a:r>
            <a:endParaRPr lang="vi-VN" sz="900" noProof="1"/>
          </a:p>
        </p:txBody>
      </p:sp>
      <p:sp>
        <p:nvSpPr>
          <p:cNvPr id="1362803006" name="Text 13"/>
          <p:cNvSpPr/>
          <p:nvPr/>
        </p:nvSpPr>
        <p:spPr bwMode="auto">
          <a:xfrm>
            <a:off x="1641928" y="3860006"/>
            <a:ext cx="1247938"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ctr">
              <a:buNone/>
              <a:defRPr/>
            </a:pPr>
            <a:r>
              <a:rPr lang="vi-VN" sz="900" b="1" noProof="1">
                <a:solidFill>
                  <a:srgbClr val="24456E"/>
                </a:solidFill>
                <a:latin typeface="Arial"/>
                <a:ea typeface="Arial"/>
                <a:cs typeface="Arial"/>
              </a:rPr>
              <a:t>ARTICLE_AUDITS</a:t>
            </a:r>
            <a:endParaRPr lang="vi-VN" sz="900" noProof="1"/>
          </a:p>
        </p:txBody>
      </p:sp>
      <p:sp>
        <p:nvSpPr>
          <p:cNvPr id="127377906" name="Text 14"/>
          <p:cNvSpPr/>
          <p:nvPr/>
        </p:nvSpPr>
        <p:spPr bwMode="auto">
          <a:xfrm>
            <a:off x="2936378" y="3860006"/>
            <a:ext cx="914549"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ctr">
              <a:buNone/>
              <a:defRPr/>
            </a:pPr>
            <a:r>
              <a:rPr lang="vi-VN" sz="900" b="1" noProof="1">
                <a:solidFill>
                  <a:srgbClr val="24456E"/>
                </a:solidFill>
                <a:latin typeface="Arial"/>
                <a:ea typeface="Arial"/>
                <a:cs typeface="Arial"/>
              </a:rPr>
              <a:t>COMMENTS</a:t>
            </a:r>
            <a:endParaRPr lang="vi-VN" sz="900" noProof="1"/>
          </a:p>
        </p:txBody>
      </p:sp>
      <p:sp>
        <p:nvSpPr>
          <p:cNvPr id="1620711932" name="Text 15"/>
          <p:cNvSpPr/>
          <p:nvPr/>
        </p:nvSpPr>
        <p:spPr bwMode="auto">
          <a:xfrm>
            <a:off x="3897439" y="3860006"/>
            <a:ext cx="1021402"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l">
              <a:buNone/>
              <a:defRPr/>
            </a:pPr>
            <a:r>
              <a:rPr lang="vi-VN" sz="900" b="1" noProof="1">
                <a:solidFill>
                  <a:srgbClr val="24456E"/>
                </a:solidFill>
                <a:latin typeface="Arial"/>
                <a:ea typeface="Arial"/>
                <a:cs typeface="Arial"/>
              </a:rPr>
              <a:t>BOOKMARKS</a:t>
            </a:r>
            <a:endParaRPr lang="vi-VN" sz="900" noProof="1"/>
          </a:p>
        </p:txBody>
      </p:sp>
      <p:sp>
        <p:nvSpPr>
          <p:cNvPr id="1165322204" name="Text 16"/>
          <p:cNvSpPr/>
          <p:nvPr/>
        </p:nvSpPr>
        <p:spPr bwMode="auto">
          <a:xfrm>
            <a:off x="4965352" y="3860006"/>
            <a:ext cx="1010927"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ctr">
              <a:buNone/>
              <a:defRPr/>
            </a:pPr>
            <a:r>
              <a:rPr lang="vi-VN" sz="900" b="1" noProof="1">
                <a:solidFill>
                  <a:srgbClr val="24456E"/>
                </a:solidFill>
                <a:latin typeface="Arial"/>
                <a:ea typeface="Arial"/>
                <a:cs typeface="Arial"/>
              </a:rPr>
              <a:t>DOCUMENTS</a:t>
            </a:r>
            <a:endParaRPr lang="vi-VN" sz="900" noProof="1"/>
          </a:p>
        </p:txBody>
      </p:sp>
      <p:sp>
        <p:nvSpPr>
          <p:cNvPr id="97641124" name="Text 18"/>
          <p:cNvSpPr/>
          <p:nvPr/>
        </p:nvSpPr>
        <p:spPr bwMode="auto">
          <a:xfrm>
            <a:off x="2223196" y="4174331"/>
            <a:ext cx="983961"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ctr">
              <a:buNone/>
              <a:defRPr/>
            </a:pPr>
            <a:r>
              <a:rPr lang="vi-VN" sz="900" b="1" noProof="1">
                <a:solidFill>
                  <a:srgbClr val="24456E"/>
                </a:solidFill>
                <a:latin typeface="Arial"/>
                <a:ea typeface="Arial"/>
                <a:cs typeface="Arial"/>
              </a:rPr>
              <a:t>SCHEDULES</a:t>
            </a:r>
            <a:endParaRPr lang="vi-VN" sz="900" noProof="1"/>
          </a:p>
        </p:txBody>
      </p:sp>
      <p:sp>
        <p:nvSpPr>
          <p:cNvPr id="1931732471" name="Text 19"/>
          <p:cNvSpPr/>
          <p:nvPr/>
        </p:nvSpPr>
        <p:spPr bwMode="auto">
          <a:xfrm>
            <a:off x="3273832" y="4174331"/>
            <a:ext cx="1554921"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ctr">
              <a:buNone/>
              <a:defRPr/>
            </a:pPr>
            <a:r>
              <a:rPr lang="vi-VN" sz="900" b="1" noProof="1">
                <a:solidFill>
                  <a:srgbClr val="24456E"/>
                </a:solidFill>
                <a:latin typeface="Arial"/>
                <a:ea typeface="Arial"/>
                <a:cs typeface="Arial"/>
              </a:rPr>
              <a:t>WELFARE_PROGRAMS</a:t>
            </a:r>
            <a:endParaRPr lang="vi-VN" sz="900" noProof="1"/>
          </a:p>
        </p:txBody>
      </p:sp>
      <p:sp>
        <p:nvSpPr>
          <p:cNvPr id="1567713886" name="Text 20"/>
          <p:cNvSpPr/>
          <p:nvPr/>
        </p:nvSpPr>
        <p:spPr bwMode="auto">
          <a:xfrm>
            <a:off x="4895427" y="4174331"/>
            <a:ext cx="1167539"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ctr">
              <a:buNone/>
              <a:defRPr/>
            </a:pPr>
            <a:r>
              <a:rPr lang="vi-VN" sz="900" b="1" noProof="1">
                <a:solidFill>
                  <a:srgbClr val="24456E"/>
                </a:solidFill>
                <a:latin typeface="Arial"/>
                <a:ea typeface="Arial"/>
                <a:cs typeface="Arial"/>
              </a:rPr>
              <a:t>AID_REQUESTS</a:t>
            </a:r>
            <a:endParaRPr lang="vi-VN" sz="900" noProof="1"/>
          </a:p>
        </p:txBody>
      </p:sp>
      <p:sp>
        <p:nvSpPr>
          <p:cNvPr id="1848429268" name="Text 21"/>
          <p:cNvSpPr/>
          <p:nvPr/>
        </p:nvSpPr>
        <p:spPr bwMode="auto">
          <a:xfrm>
            <a:off x="714375" y="4488656"/>
            <a:ext cx="1343026"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ctr">
              <a:buNone/>
              <a:defRPr/>
            </a:pPr>
            <a:r>
              <a:rPr lang="vi-VN" sz="900" b="1" noProof="1">
                <a:solidFill>
                  <a:srgbClr val="24456E"/>
                </a:solidFill>
                <a:latin typeface="Arial"/>
                <a:ea typeface="Arial"/>
                <a:cs typeface="Arial"/>
              </a:rPr>
              <a:t>INBOX_FEEDBACK</a:t>
            </a:r>
            <a:endParaRPr lang="vi-VN" sz="900" noProof="1"/>
          </a:p>
        </p:txBody>
      </p:sp>
      <p:sp>
        <p:nvSpPr>
          <p:cNvPr id="1898289275" name="Text 22"/>
          <p:cNvSpPr/>
          <p:nvPr/>
        </p:nvSpPr>
        <p:spPr bwMode="auto">
          <a:xfrm>
            <a:off x="6638925" y="1264444"/>
            <a:ext cx="5019675" cy="5334000"/>
          </a:xfrm>
          <a:prstGeom prst="roundRect">
            <a:avLst>
              <a:gd name="adj" fmla="val 2657"/>
            </a:avLst>
          </a:prstGeom>
          <a:solidFill>
            <a:srgbClr val="FFFFFF"/>
          </a:solidFill>
          <a:ln w="9525">
            <a:solidFill>
              <a:srgbClr val="E3E9F2"/>
            </a:solidFill>
          </a:ln>
          <a:effectLst>
            <a:outerShdw blurRad="171450" dist="57150" dir="5400000" algn="bl" rotWithShape="0">
              <a:srgbClr val="002855">
                <a:alpha val="7000"/>
              </a:srgbClr>
            </a:outerShdw>
          </a:effectLst>
        </p:spPr>
        <p:txBody>
          <a:bodyPr wrap="square" rtlCol="0" anchor="ctr"/>
          <a:lstStyle/>
          <a:p>
            <a:pPr marL="0" indent="0">
              <a:buNone/>
              <a:defRPr/>
            </a:pPr>
            <a:endParaRPr lang="vi-VN" noProof="1"/>
          </a:p>
        </p:txBody>
      </p:sp>
      <p:pic>
        <p:nvPicPr>
          <p:cNvPr id="1246624806" name="Image 1"/>
          <p:cNvPicPr>
            <a:picLocks noChangeAspect="1"/>
          </p:cNvPicPr>
          <p:nvPr/>
        </p:nvPicPr>
        <p:blipFill>
          <a:blip r:embed="rId4"/>
          <a:srcRect/>
          <a:stretch/>
        </p:blipFill>
        <p:spPr bwMode="auto">
          <a:xfrm>
            <a:off x="6781800" y="1409781"/>
            <a:ext cx="4733925" cy="3661903"/>
          </a:xfrm>
          <a:prstGeom prst="rect">
            <a:avLst/>
          </a:prstGeom>
        </p:spPr>
      </p:pic>
      <p:sp>
        <p:nvSpPr>
          <p:cNvPr id="517730841" name="Text 23"/>
          <p:cNvSpPr/>
          <p:nvPr/>
        </p:nvSpPr>
        <p:spPr bwMode="auto">
          <a:xfrm>
            <a:off x="6734461" y="5169396"/>
            <a:ext cx="4828604" cy="133350"/>
          </a:xfrm>
          <a:prstGeom prst="rect">
            <a:avLst/>
          </a:prstGeom>
          <a:noFill/>
          <a:ln/>
        </p:spPr>
        <p:txBody>
          <a:bodyPr wrap="square" lIns="0" tIns="0" rIns="0" bIns="0" rtlCol="0" anchor="t"/>
          <a:lstStyle/>
          <a:p>
            <a:pPr marL="0" indent="0" algn="ctr">
              <a:spcBef>
                <a:spcPts val="750"/>
              </a:spcBef>
              <a:buNone/>
              <a:defRPr/>
            </a:pPr>
            <a:r>
              <a:rPr lang="vi-VN" sz="900" noProof="1">
                <a:solidFill>
                  <a:srgbClr val="8A97AB"/>
                </a:solidFill>
                <a:latin typeface="Arial"/>
                <a:ea typeface="Arial"/>
                <a:cs typeface="Arial"/>
              </a:rPr>
              <a:t>Sơ đồ quan hệ trong cơ sở dữ liệu</a:t>
            </a:r>
            <a:endParaRPr lang="vi-VN" sz="900" noProof="1"/>
          </a:p>
        </p:txBody>
      </p:sp>
      <p:sp>
        <p:nvSpPr>
          <p:cNvPr id="1875844736" name="Shape 24"/>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506202728" name="Text 25"/>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
        <p:nvSpPr>
          <p:cNvPr id="1611640450" name="Shape 26"/>
          <p:cNvSpPr/>
          <p:nvPr/>
        </p:nvSpPr>
        <p:spPr bwMode="auto">
          <a:xfrm>
            <a:off x="6781800" y="1412081"/>
            <a:ext cx="4733925" cy="0"/>
          </a:xfrm>
          <a:prstGeom prst="line">
            <a:avLst/>
          </a:prstGeom>
          <a:noFill/>
          <a:ln w="9525">
            <a:solidFill>
              <a:srgbClr val="EDF1F7"/>
            </a:solidFill>
            <a:prstDash val="solid"/>
          </a:ln>
        </p:spPr>
        <p:txBody>
          <a:bodyPr/>
          <a:lstStyle/>
          <a:p>
            <a:endParaRPr lang="vi-VN" noProof="1"/>
          </a:p>
        </p:txBody>
      </p:sp>
      <p:sp>
        <p:nvSpPr>
          <p:cNvPr id="1776745191" name="Shape 27"/>
          <p:cNvSpPr/>
          <p:nvPr/>
        </p:nvSpPr>
        <p:spPr bwMode="auto">
          <a:xfrm>
            <a:off x="11510963" y="1407319"/>
            <a:ext cx="0" cy="3666827"/>
          </a:xfrm>
          <a:prstGeom prst="line">
            <a:avLst/>
          </a:prstGeom>
          <a:noFill/>
          <a:ln w="9525">
            <a:solidFill>
              <a:srgbClr val="EDF1F7"/>
            </a:solidFill>
            <a:prstDash val="solid"/>
          </a:ln>
        </p:spPr>
        <p:txBody>
          <a:bodyPr/>
          <a:lstStyle/>
          <a:p>
            <a:endParaRPr lang="vi-VN" noProof="1"/>
          </a:p>
        </p:txBody>
      </p:sp>
      <p:sp>
        <p:nvSpPr>
          <p:cNvPr id="1627594382" name="Shape 28"/>
          <p:cNvSpPr/>
          <p:nvPr/>
        </p:nvSpPr>
        <p:spPr bwMode="auto">
          <a:xfrm>
            <a:off x="6781800" y="5069384"/>
            <a:ext cx="4733925" cy="0"/>
          </a:xfrm>
          <a:prstGeom prst="line">
            <a:avLst/>
          </a:prstGeom>
          <a:noFill/>
          <a:ln w="9525">
            <a:solidFill>
              <a:srgbClr val="EDF1F7"/>
            </a:solidFill>
            <a:prstDash val="solid"/>
          </a:ln>
        </p:spPr>
        <p:txBody>
          <a:bodyPr/>
          <a:lstStyle/>
          <a:p>
            <a:endParaRPr lang="vi-VN" noProof="1"/>
          </a:p>
        </p:txBody>
      </p:sp>
      <p:sp>
        <p:nvSpPr>
          <p:cNvPr id="2108835123" name="Shape 29"/>
          <p:cNvSpPr/>
          <p:nvPr/>
        </p:nvSpPr>
        <p:spPr bwMode="auto">
          <a:xfrm>
            <a:off x="6786563" y="1407319"/>
            <a:ext cx="0" cy="3666827"/>
          </a:xfrm>
          <a:prstGeom prst="line">
            <a:avLst/>
          </a:prstGeom>
          <a:noFill/>
          <a:ln w="9525">
            <a:solidFill>
              <a:srgbClr val="EDF1F7"/>
            </a:solidFill>
            <a:prstDash val="solid"/>
          </a:ln>
        </p:spPr>
        <p:txBody>
          <a:bodyPr/>
          <a:lstStyle/>
          <a:p>
            <a:endParaRPr lang="vi-VN" noProof="1"/>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PhAnim="0">
  <p:cSld name="Slide 10">
    <p:bg>
      <p:bgPr>
        <a:solidFill>
          <a:srgbClr val="F6F8FB"/>
        </a:solidFill>
        <a:effectLst/>
      </p:bgPr>
    </p:bg>
    <p:spTree>
      <p:nvGrpSpPr>
        <p:cNvPr id="1" name=""/>
        <p:cNvGrpSpPr/>
        <p:nvPr/>
      </p:nvGrpSpPr>
      <p:grpSpPr bwMode="auto">
        <a:xfrm>
          <a:off x="0" y="0"/>
          <a:ext cx="0" cy="0"/>
          <a:chOff x="0" y="0"/>
          <a:chExt cx="0" cy="0"/>
        </a:xfrm>
      </p:grpSpPr>
      <p:sp>
        <p:nvSpPr>
          <p:cNvPr id="335525789"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000" b="1" noProof="1">
                <a:solidFill>
                  <a:srgbClr val="B07F12"/>
                </a:solidFill>
                <a:latin typeface="Arial"/>
                <a:ea typeface="Arial"/>
                <a:cs typeface="Arial"/>
              </a:rPr>
              <a:t>5. DEMO KẾT QUẢ</a:t>
            </a:r>
            <a:endParaRPr lang="vi-VN" sz="1000" noProof="1"/>
          </a:p>
        </p:txBody>
      </p:sp>
      <p:sp>
        <p:nvSpPr>
          <p:cNvPr id="2108582936" name="Text 1"/>
          <p:cNvSpPr/>
          <p:nvPr/>
        </p:nvSpPr>
        <p:spPr bwMode="auto">
          <a:xfrm>
            <a:off x="533400" y="542925"/>
            <a:ext cx="11347704" cy="359569"/>
          </a:xfrm>
          <a:prstGeom prst="rect">
            <a:avLst/>
          </a:prstGeom>
          <a:noFill/>
          <a:ln/>
        </p:spPr>
        <p:txBody>
          <a:bodyPr wrap="square" lIns="0" tIns="0" rIns="0" bIns="0" rtlCol="0" anchor="t"/>
          <a:lstStyle/>
          <a:p>
            <a:pPr marL="0" indent="0" algn="l">
              <a:lnSpc>
                <a:spcPts val="2832"/>
              </a:lnSpc>
              <a:spcAft>
                <a:spcPts val="600"/>
              </a:spcAft>
              <a:buNone/>
              <a:defRPr/>
            </a:pPr>
            <a:r>
              <a:rPr lang="vi-VN" sz="2400" b="1" noProof="1">
                <a:solidFill>
                  <a:srgbClr val="002855"/>
                </a:solidFill>
                <a:latin typeface="Arial"/>
                <a:ea typeface="Arial"/>
                <a:cs typeface="Arial"/>
              </a:rPr>
              <a:t>Giao diện Cổng thông tin công chúng &amp; đoàn viên</a:t>
            </a:r>
            <a:endParaRPr lang="vi-VN" sz="2400" noProof="1"/>
          </a:p>
        </p:txBody>
      </p:sp>
      <p:pic>
        <p:nvPicPr>
          <p:cNvPr id="845500851" name="Image 0" descr="/var/folders/t4/q0khv7qd1r3dc2yrbwkzmjf00000gn/T/html2pptx-DrXSpt/html2pptx-bg-1791687647929-93161aae6e2868.png"/>
          <p:cNvPicPr>
            <a:picLocks noChangeAspect="1"/>
          </p:cNvPicPr>
          <p:nvPr/>
        </p:nvPicPr>
        <p:blipFill rotWithShape="1">
          <a:blip r:embed="rId3"/>
          <a:stretch/>
        </p:blipFill>
        <p:spPr bwMode="auto">
          <a:xfrm>
            <a:off x="533400" y="978694"/>
            <a:ext cx="1047750" cy="38100"/>
          </a:xfrm>
          <a:prstGeom prst="rect">
            <a:avLst/>
          </a:prstGeom>
        </p:spPr>
      </p:pic>
      <p:sp>
        <p:nvSpPr>
          <p:cNvPr id="999737400" name="Text 2"/>
          <p:cNvSpPr/>
          <p:nvPr/>
        </p:nvSpPr>
        <p:spPr bwMode="auto">
          <a:xfrm>
            <a:off x="533400" y="1169194"/>
            <a:ext cx="2688916" cy="142875"/>
          </a:xfrm>
          <a:prstGeom prst="rect">
            <a:avLst/>
          </a:prstGeom>
          <a:noFill/>
          <a:ln/>
        </p:spPr>
        <p:txBody>
          <a:bodyPr wrap="square" lIns="152400" tIns="0" rIns="0" bIns="0" rtlCol="0" anchor="t"/>
          <a:lstStyle/>
          <a:p>
            <a:pPr marL="0" indent="0" algn="l">
              <a:buNone/>
              <a:defRPr/>
            </a:pPr>
            <a:r>
              <a:rPr lang="vi-VN" sz="1000" noProof="1">
                <a:solidFill>
                  <a:srgbClr val="40506B"/>
                </a:solidFill>
                <a:latin typeface="Arial"/>
                <a:ea typeface="Arial"/>
                <a:cs typeface="Arial"/>
              </a:rPr>
              <a:t>Nhận diện thương hiệu TDMU</a:t>
            </a:r>
            <a:endParaRPr lang="vi-VN" sz="1000" noProof="1"/>
          </a:p>
        </p:txBody>
      </p:sp>
      <p:sp>
        <p:nvSpPr>
          <p:cNvPr id="1975321100" name="Text 3"/>
          <p:cNvSpPr/>
          <p:nvPr/>
        </p:nvSpPr>
        <p:spPr bwMode="auto">
          <a:xfrm>
            <a:off x="533400" y="1226343"/>
            <a:ext cx="152400" cy="76200"/>
          </a:xfrm>
          <a:prstGeom prst="roundRect">
            <a:avLst>
              <a:gd name="adj" fmla="val 25000"/>
            </a:avLst>
          </a:prstGeom>
          <a:solidFill>
            <a:srgbClr val="D4A017"/>
          </a:solidFill>
          <a:ln/>
        </p:spPr>
        <p:txBody>
          <a:bodyPr wrap="square" rtlCol="0" anchor="ctr"/>
          <a:lstStyle/>
          <a:p>
            <a:pPr marL="0" indent="0">
              <a:buNone/>
              <a:defRPr/>
            </a:pPr>
            <a:endParaRPr lang="vi-VN" noProof="1"/>
          </a:p>
        </p:txBody>
      </p:sp>
      <p:sp>
        <p:nvSpPr>
          <p:cNvPr id="2017389275" name="Text 4"/>
          <p:cNvSpPr/>
          <p:nvPr/>
        </p:nvSpPr>
        <p:spPr bwMode="auto">
          <a:xfrm>
            <a:off x="3417243" y="1169194"/>
            <a:ext cx="3161333" cy="142875"/>
          </a:xfrm>
          <a:prstGeom prst="rect">
            <a:avLst/>
          </a:prstGeom>
          <a:noFill/>
          <a:ln/>
        </p:spPr>
        <p:txBody>
          <a:bodyPr wrap="square" lIns="152400" tIns="0" rIns="0" bIns="0" rtlCol="0" anchor="t"/>
          <a:lstStyle/>
          <a:p>
            <a:r>
              <a:t>Kho Văn bản &amp; Phúc lợi đoàn viên số hóa</a:t>
            </a:r>
          </a:p>
        </p:txBody>
      </p:sp>
      <p:sp>
        <p:nvSpPr>
          <p:cNvPr id="1533198457" name="Text 5"/>
          <p:cNvSpPr/>
          <p:nvPr/>
        </p:nvSpPr>
        <p:spPr bwMode="auto">
          <a:xfrm>
            <a:off x="3417243" y="1226343"/>
            <a:ext cx="152400" cy="76200"/>
          </a:xfrm>
          <a:prstGeom prst="roundRect">
            <a:avLst>
              <a:gd name="adj" fmla="val 25000"/>
            </a:avLst>
          </a:prstGeom>
          <a:solidFill>
            <a:srgbClr val="D4A017"/>
          </a:solidFill>
          <a:ln/>
        </p:spPr>
        <p:txBody>
          <a:bodyPr wrap="square" rtlCol="0" anchor="ctr"/>
          <a:lstStyle/>
          <a:p>
            <a:pPr marL="0" indent="0">
              <a:buNone/>
              <a:defRPr/>
            </a:pPr>
            <a:endParaRPr lang="vi-VN" noProof="1"/>
          </a:p>
        </p:txBody>
      </p:sp>
      <p:sp>
        <p:nvSpPr>
          <p:cNvPr id="2062761761" name="Text 6"/>
          <p:cNvSpPr/>
          <p:nvPr/>
        </p:nvSpPr>
        <p:spPr bwMode="auto">
          <a:xfrm>
            <a:off x="6764238" y="1169194"/>
            <a:ext cx="3049604" cy="142875"/>
          </a:xfrm>
          <a:prstGeom prst="rect">
            <a:avLst/>
          </a:prstGeom>
          <a:noFill/>
          <a:ln/>
        </p:spPr>
        <p:txBody>
          <a:bodyPr wrap="square" lIns="152400" tIns="0" rIns="0" bIns="0" rtlCol="0" anchor="t"/>
          <a:lstStyle/>
          <a:p>
            <a:pPr marL="0" indent="0" algn="l">
              <a:buNone/>
              <a:defRPr/>
            </a:pPr>
            <a:r>
              <a:rPr lang="vi-VN" sz="1000" noProof="1">
                <a:solidFill>
                  <a:srgbClr val="40506B"/>
                </a:solidFill>
                <a:latin typeface="Arial"/>
                <a:ea typeface="Arial"/>
                <a:cs typeface="Arial"/>
              </a:rPr>
              <a:t>Quick Preview Modal xem bài ngay trên trang chủ</a:t>
            </a:r>
            <a:endParaRPr lang="vi-VN" sz="1000" noProof="1"/>
          </a:p>
        </p:txBody>
      </p:sp>
      <p:sp>
        <p:nvSpPr>
          <p:cNvPr id="1001416523" name="Text 7"/>
          <p:cNvSpPr/>
          <p:nvPr/>
        </p:nvSpPr>
        <p:spPr bwMode="auto">
          <a:xfrm>
            <a:off x="6764238" y="1226343"/>
            <a:ext cx="152400" cy="76200"/>
          </a:xfrm>
          <a:prstGeom prst="roundRect">
            <a:avLst>
              <a:gd name="adj" fmla="val 25000"/>
            </a:avLst>
          </a:prstGeom>
          <a:solidFill>
            <a:srgbClr val="D4A017"/>
          </a:solidFill>
          <a:ln/>
        </p:spPr>
        <p:txBody>
          <a:bodyPr wrap="square" rtlCol="0" anchor="ctr"/>
          <a:lstStyle/>
          <a:p>
            <a:pPr marL="0" indent="0">
              <a:buNone/>
              <a:defRPr/>
            </a:pPr>
            <a:endParaRPr lang="vi-VN" noProof="1"/>
          </a:p>
        </p:txBody>
      </p:sp>
      <p:sp>
        <p:nvSpPr>
          <p:cNvPr id="187719301" name="Text 8"/>
          <p:cNvSpPr/>
          <p:nvPr/>
        </p:nvSpPr>
        <p:spPr bwMode="auto">
          <a:xfrm>
            <a:off x="533400" y="1407319"/>
            <a:ext cx="2340525" cy="142875"/>
          </a:xfrm>
          <a:prstGeom prst="rect">
            <a:avLst/>
          </a:prstGeom>
          <a:noFill/>
          <a:ln/>
        </p:spPr>
        <p:txBody>
          <a:bodyPr wrap="square" lIns="152400" tIns="0" rIns="0" bIns="0" rtlCol="0" anchor="t"/>
          <a:lstStyle/>
          <a:p>
            <a:pPr marL="0" indent="0" algn="l">
              <a:buNone/>
              <a:defRPr/>
            </a:pPr>
            <a:r>
              <a:rPr lang="vi-VN" sz="1000" noProof="1">
                <a:solidFill>
                  <a:srgbClr val="40506B"/>
                </a:solidFill>
                <a:latin typeface="Arial"/>
                <a:ea typeface="Arial"/>
                <a:cs typeface="Arial"/>
              </a:rPr>
              <a:t>Tối ưu trên Desktop – Tablet – Mobile</a:t>
            </a:r>
            <a:endParaRPr lang="vi-VN" sz="1000" noProof="1"/>
          </a:p>
        </p:txBody>
      </p:sp>
      <p:sp>
        <p:nvSpPr>
          <p:cNvPr id="616865855" name="Text 9"/>
          <p:cNvSpPr/>
          <p:nvPr/>
        </p:nvSpPr>
        <p:spPr bwMode="auto">
          <a:xfrm>
            <a:off x="533400" y="1464469"/>
            <a:ext cx="152400" cy="76200"/>
          </a:xfrm>
          <a:prstGeom prst="roundRect">
            <a:avLst>
              <a:gd name="adj" fmla="val 25000"/>
            </a:avLst>
          </a:prstGeom>
          <a:solidFill>
            <a:srgbClr val="D4A017"/>
          </a:solidFill>
          <a:ln/>
        </p:spPr>
        <p:txBody>
          <a:bodyPr wrap="square" rtlCol="0" anchor="ctr"/>
          <a:lstStyle/>
          <a:p>
            <a:pPr marL="0" indent="0">
              <a:buNone/>
              <a:defRPr/>
            </a:pPr>
            <a:endParaRPr lang="vi-VN" noProof="1"/>
          </a:p>
        </p:txBody>
      </p:sp>
      <p:sp>
        <p:nvSpPr>
          <p:cNvPr id="1614992802" name="Text 10"/>
          <p:cNvSpPr/>
          <p:nvPr/>
        </p:nvSpPr>
        <p:spPr bwMode="auto">
          <a:xfrm>
            <a:off x="533400" y="1702594"/>
            <a:ext cx="5457825" cy="4191000"/>
          </a:xfrm>
          <a:prstGeom prst="roundRect">
            <a:avLst>
              <a:gd name="adj" fmla="val 3182"/>
            </a:avLst>
          </a:prstGeom>
          <a:solidFill>
            <a:srgbClr val="FFFFFF"/>
          </a:solidFill>
          <a:ln w="9525">
            <a:solidFill>
              <a:srgbClr val="E3E9F2"/>
            </a:solidFill>
          </a:ln>
          <a:effectLst>
            <a:outerShdw blurRad="171450" dist="57150" dir="5400000" algn="bl" rotWithShape="0">
              <a:srgbClr val="002855">
                <a:alpha val="7000"/>
              </a:srgbClr>
            </a:outerShdw>
          </a:effectLst>
        </p:spPr>
        <p:txBody>
          <a:bodyPr wrap="square" rtlCol="0" anchor="ctr"/>
          <a:lstStyle/>
          <a:p>
            <a:pPr marL="0" indent="0">
              <a:buNone/>
              <a:defRPr/>
            </a:pPr>
            <a:endParaRPr lang="vi-VN" noProof="1"/>
          </a:p>
        </p:txBody>
      </p:sp>
      <p:pic>
        <p:nvPicPr>
          <p:cNvPr id="1059608118" name="Image 1"/>
          <p:cNvPicPr>
            <a:picLocks noChangeAspect="1"/>
          </p:cNvPicPr>
          <p:nvPr/>
        </p:nvPicPr>
        <p:blipFill>
          <a:blip r:embed="rId4"/>
          <a:srcRect/>
          <a:stretch/>
        </p:blipFill>
        <p:spPr bwMode="auto">
          <a:xfrm>
            <a:off x="657225" y="1831804"/>
            <a:ext cx="5210175" cy="2738681"/>
          </a:xfrm>
          <a:prstGeom prst="rect">
            <a:avLst/>
          </a:prstGeom>
        </p:spPr>
      </p:pic>
      <p:sp>
        <p:nvSpPr>
          <p:cNvPr id="1357707864" name="Text 11"/>
          <p:cNvSpPr/>
          <p:nvPr/>
        </p:nvSpPr>
        <p:spPr bwMode="auto">
          <a:xfrm>
            <a:off x="695325" y="4671120"/>
            <a:ext cx="5236654" cy="216682"/>
          </a:xfrm>
          <a:prstGeom prst="rect">
            <a:avLst/>
          </a:prstGeom>
          <a:noFill/>
          <a:ln/>
        </p:spPr>
        <p:txBody>
          <a:bodyPr wrap="square" lIns="0" tIns="0" rIns="0" bIns="0" rtlCol="0" anchor="t"/>
          <a:lstStyle/>
          <a:p>
            <a:pPr marL="0" indent="0" algn="ctr">
              <a:lnSpc>
                <a:spcPts val="1414"/>
              </a:lnSpc>
              <a:buNone/>
              <a:defRPr/>
            </a:pPr>
            <a:r>
              <a:rPr lang="vi-VN" sz="1000" i="1" noProof="1">
                <a:solidFill>
                  <a:srgbClr val="31415C"/>
                </a:solidFill>
                <a:latin typeface="Arial"/>
                <a:ea typeface="Arial"/>
                <a:cs typeface="Arial"/>
              </a:rPr>
              <a:t>Trang chủ Cổng thông tin</a:t>
            </a:r>
          </a:p>
        </p:txBody>
      </p:sp>
      <p:sp>
        <p:nvSpPr>
          <p:cNvPr id="1345049996" name="Text 12"/>
          <p:cNvSpPr/>
          <p:nvPr/>
        </p:nvSpPr>
        <p:spPr bwMode="auto">
          <a:xfrm>
            <a:off x="695325" y="4894518"/>
            <a:ext cx="5236654" cy="358972"/>
          </a:xfrm>
          <a:prstGeom prst="rect">
            <a:avLst/>
          </a:prstGeom>
          <a:noFill/>
          <a:ln/>
        </p:spPr>
        <p:txBody>
          <a:bodyPr wrap="square" lIns="0" tIns="0" rIns="0" bIns="0" rtlCol="0" anchor="t"/>
          <a:lstStyle/>
          <a:p>
            <a:pPr marL="0" indent="0" algn="l">
              <a:lnSpc>
                <a:spcPts val="1414"/>
              </a:lnSpc>
              <a:spcBef>
                <a:spcPts val="150"/>
              </a:spcBef>
              <a:buNone/>
              <a:defRPr/>
            </a:pPr>
            <a:r>
              <a:rPr lang="vi-VN" sz="1200" noProof="1">
                <a:latin typeface="Arial"/>
                <a:ea typeface="Arial"/>
                <a:cs typeface="Arial"/>
              </a:rPr>
              <a:t>Header nhận diện thương hiệu, menu 8 chuyên mục, Slider sự kiện phong trào &amp; điểm tin nóng</a:t>
            </a:r>
            <a:endParaRPr lang="vi-VN" sz="1200" noProof="1"/>
          </a:p>
        </p:txBody>
      </p:sp>
      <p:sp>
        <p:nvSpPr>
          <p:cNvPr id="2109461479" name="Text 13"/>
          <p:cNvSpPr/>
          <p:nvPr/>
        </p:nvSpPr>
        <p:spPr bwMode="auto">
          <a:xfrm>
            <a:off x="6200775" y="1702594"/>
            <a:ext cx="5457825" cy="4191000"/>
          </a:xfrm>
          <a:prstGeom prst="roundRect">
            <a:avLst>
              <a:gd name="adj" fmla="val 3182"/>
            </a:avLst>
          </a:prstGeom>
          <a:solidFill>
            <a:srgbClr val="FFFFFF"/>
          </a:solidFill>
          <a:ln w="9525">
            <a:solidFill>
              <a:srgbClr val="E3E9F2"/>
            </a:solidFill>
          </a:ln>
          <a:effectLst>
            <a:outerShdw blurRad="171450" dist="57150" dir="5400000" algn="bl" rotWithShape="0">
              <a:srgbClr val="002855">
                <a:alpha val="7000"/>
              </a:srgbClr>
            </a:outerShdw>
          </a:effectLst>
        </p:spPr>
        <p:txBody>
          <a:bodyPr wrap="square" rtlCol="0" anchor="ctr"/>
          <a:lstStyle/>
          <a:p>
            <a:pPr marL="0" indent="0">
              <a:buNone/>
              <a:defRPr/>
            </a:pPr>
            <a:endParaRPr lang="vi-VN" noProof="1"/>
          </a:p>
        </p:txBody>
      </p:sp>
      <p:pic>
        <p:nvPicPr>
          <p:cNvPr id="1006755031" name="Image 2"/>
          <p:cNvPicPr>
            <a:picLocks noChangeAspect="1"/>
          </p:cNvPicPr>
          <p:nvPr/>
        </p:nvPicPr>
        <p:blipFill>
          <a:blip r:embed="rId5"/>
          <a:srcRect/>
          <a:stretch/>
        </p:blipFill>
        <p:spPr bwMode="auto">
          <a:xfrm>
            <a:off x="6324600" y="1831804"/>
            <a:ext cx="5210175" cy="2738681"/>
          </a:xfrm>
          <a:prstGeom prst="rect">
            <a:avLst/>
          </a:prstGeom>
        </p:spPr>
      </p:pic>
      <p:sp>
        <p:nvSpPr>
          <p:cNvPr id="1693096689" name="Text 14"/>
          <p:cNvSpPr/>
          <p:nvPr/>
        </p:nvSpPr>
        <p:spPr bwMode="auto">
          <a:xfrm>
            <a:off x="6362700" y="4671120"/>
            <a:ext cx="5236654" cy="216681"/>
          </a:xfrm>
          <a:prstGeom prst="rect">
            <a:avLst/>
          </a:prstGeom>
          <a:noFill/>
          <a:ln/>
        </p:spPr>
        <p:txBody>
          <a:bodyPr wrap="square" lIns="0" tIns="0" rIns="0" bIns="0" rtlCol="0" anchor="t"/>
          <a:lstStyle/>
          <a:p>
            <a:pPr marL="0" indent="0" algn="ctr">
              <a:lnSpc>
                <a:spcPts val="1414"/>
              </a:lnSpc>
              <a:buNone/>
              <a:defRPr/>
            </a:pPr>
            <a:r>
              <a:rPr lang="vi-VN" sz="1000" i="1" noProof="1">
                <a:solidFill>
                  <a:srgbClr val="31415C"/>
                </a:solidFill>
                <a:latin typeface="Arial"/>
                <a:cs typeface="Arial"/>
              </a:rPr>
              <a:t>Trang chi tiết bài viết &amp; tương tác độc giả</a:t>
            </a:r>
          </a:p>
        </p:txBody>
      </p:sp>
      <p:sp>
        <p:nvSpPr>
          <p:cNvPr id="110564237" name="Text 15"/>
          <p:cNvSpPr/>
          <p:nvPr/>
        </p:nvSpPr>
        <p:spPr bwMode="auto">
          <a:xfrm>
            <a:off x="6362700" y="4894518"/>
            <a:ext cx="5236654" cy="569360"/>
          </a:xfrm>
          <a:prstGeom prst="rect">
            <a:avLst/>
          </a:prstGeom>
          <a:noFill/>
          <a:ln/>
        </p:spPr>
        <p:txBody>
          <a:bodyPr wrap="square" lIns="0" tIns="0" rIns="0" bIns="0" rtlCol="0" anchor="t"/>
          <a:lstStyle/>
          <a:p>
            <a:pPr marL="0" indent="0" algn="l">
              <a:lnSpc>
                <a:spcPts val="1414"/>
              </a:lnSpc>
              <a:spcBef>
                <a:spcPts val="150"/>
              </a:spcBef>
              <a:buNone/>
              <a:defRPr/>
            </a:pPr>
            <a:r>
              <a:rPr lang="vi-VN" sz="1200" noProof="1">
                <a:latin typeface="Arial"/>
                <a:ea typeface="Arial"/>
                <a:cs typeface="Arial"/>
              </a:rPr>
              <a:t>Hiển thị toàn văn tin tức chính luận với phông chữ chuẩn báo chí, tích hợp album hình ảnh sự kiện độ phân giải cao và danh sách các tệp văn bản pháp quy đính kèm</a:t>
            </a:r>
            <a:endParaRPr lang="vi-VN" sz="1200" noProof="1"/>
          </a:p>
        </p:txBody>
      </p:sp>
      <p:sp>
        <p:nvSpPr>
          <p:cNvPr id="862187831" name="Shape 16"/>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84807338" name="Text 17"/>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
        <p:nvSpPr>
          <p:cNvPr id="1481413502" name="Shape 18"/>
          <p:cNvSpPr/>
          <p:nvPr/>
        </p:nvSpPr>
        <p:spPr bwMode="auto">
          <a:xfrm>
            <a:off x="657225" y="1831181"/>
            <a:ext cx="5210175" cy="0"/>
          </a:xfrm>
          <a:prstGeom prst="line">
            <a:avLst/>
          </a:prstGeom>
          <a:noFill/>
          <a:ln w="9525">
            <a:solidFill>
              <a:srgbClr val="EDF1F7"/>
            </a:solidFill>
            <a:prstDash val="solid"/>
          </a:ln>
        </p:spPr>
        <p:txBody>
          <a:bodyPr/>
          <a:lstStyle/>
          <a:p>
            <a:endParaRPr lang="vi-VN" noProof="1"/>
          </a:p>
        </p:txBody>
      </p:sp>
      <p:sp>
        <p:nvSpPr>
          <p:cNvPr id="1482740072" name="Shape 19"/>
          <p:cNvSpPr/>
          <p:nvPr/>
        </p:nvSpPr>
        <p:spPr bwMode="auto">
          <a:xfrm>
            <a:off x="5862638" y="1826419"/>
            <a:ext cx="0" cy="2749451"/>
          </a:xfrm>
          <a:prstGeom prst="line">
            <a:avLst/>
          </a:prstGeom>
          <a:noFill/>
          <a:ln w="9525">
            <a:solidFill>
              <a:srgbClr val="EDF1F7"/>
            </a:solidFill>
            <a:prstDash val="solid"/>
          </a:ln>
        </p:spPr>
        <p:txBody>
          <a:bodyPr/>
          <a:lstStyle/>
          <a:p>
            <a:endParaRPr lang="vi-VN" noProof="1"/>
          </a:p>
        </p:txBody>
      </p:sp>
      <p:sp>
        <p:nvSpPr>
          <p:cNvPr id="1030329911" name="Shape 20"/>
          <p:cNvSpPr/>
          <p:nvPr/>
        </p:nvSpPr>
        <p:spPr bwMode="auto">
          <a:xfrm>
            <a:off x="657225" y="4571107"/>
            <a:ext cx="5210175" cy="0"/>
          </a:xfrm>
          <a:prstGeom prst="line">
            <a:avLst/>
          </a:prstGeom>
          <a:noFill/>
          <a:ln w="9525">
            <a:solidFill>
              <a:srgbClr val="EDF1F7"/>
            </a:solidFill>
            <a:prstDash val="solid"/>
          </a:ln>
        </p:spPr>
        <p:txBody>
          <a:bodyPr/>
          <a:lstStyle/>
          <a:p>
            <a:endParaRPr lang="vi-VN" noProof="1"/>
          </a:p>
        </p:txBody>
      </p:sp>
      <p:sp>
        <p:nvSpPr>
          <p:cNvPr id="1989211595" name="Shape 21"/>
          <p:cNvSpPr/>
          <p:nvPr/>
        </p:nvSpPr>
        <p:spPr bwMode="auto">
          <a:xfrm>
            <a:off x="661988" y="1826419"/>
            <a:ext cx="0" cy="2749451"/>
          </a:xfrm>
          <a:prstGeom prst="line">
            <a:avLst/>
          </a:prstGeom>
          <a:noFill/>
          <a:ln w="9525">
            <a:solidFill>
              <a:srgbClr val="EDF1F7"/>
            </a:solidFill>
            <a:prstDash val="solid"/>
          </a:ln>
        </p:spPr>
        <p:txBody>
          <a:bodyPr/>
          <a:lstStyle/>
          <a:p>
            <a:endParaRPr lang="vi-VN" noProof="1"/>
          </a:p>
        </p:txBody>
      </p:sp>
      <p:sp>
        <p:nvSpPr>
          <p:cNvPr id="142640582" name="Shape 22"/>
          <p:cNvSpPr/>
          <p:nvPr/>
        </p:nvSpPr>
        <p:spPr bwMode="auto">
          <a:xfrm>
            <a:off x="6324600" y="1831181"/>
            <a:ext cx="5210175" cy="0"/>
          </a:xfrm>
          <a:prstGeom prst="line">
            <a:avLst/>
          </a:prstGeom>
          <a:noFill/>
          <a:ln w="9525">
            <a:solidFill>
              <a:srgbClr val="EDF1F7"/>
            </a:solidFill>
            <a:prstDash val="solid"/>
          </a:ln>
        </p:spPr>
        <p:txBody>
          <a:bodyPr/>
          <a:lstStyle/>
          <a:p>
            <a:endParaRPr lang="vi-VN" noProof="1"/>
          </a:p>
        </p:txBody>
      </p:sp>
      <p:sp>
        <p:nvSpPr>
          <p:cNvPr id="630371208" name="Shape 23"/>
          <p:cNvSpPr/>
          <p:nvPr/>
        </p:nvSpPr>
        <p:spPr bwMode="auto">
          <a:xfrm>
            <a:off x="11530012" y="1826419"/>
            <a:ext cx="0" cy="2749451"/>
          </a:xfrm>
          <a:prstGeom prst="line">
            <a:avLst/>
          </a:prstGeom>
          <a:noFill/>
          <a:ln w="9525">
            <a:solidFill>
              <a:srgbClr val="EDF1F7"/>
            </a:solidFill>
            <a:prstDash val="solid"/>
          </a:ln>
        </p:spPr>
        <p:txBody>
          <a:bodyPr/>
          <a:lstStyle/>
          <a:p>
            <a:endParaRPr lang="vi-VN" noProof="1"/>
          </a:p>
        </p:txBody>
      </p:sp>
      <p:sp>
        <p:nvSpPr>
          <p:cNvPr id="1482762303" name="Shape 24"/>
          <p:cNvSpPr/>
          <p:nvPr/>
        </p:nvSpPr>
        <p:spPr bwMode="auto">
          <a:xfrm>
            <a:off x="6324600" y="4571107"/>
            <a:ext cx="5210175" cy="0"/>
          </a:xfrm>
          <a:prstGeom prst="line">
            <a:avLst/>
          </a:prstGeom>
          <a:noFill/>
          <a:ln w="9525">
            <a:solidFill>
              <a:srgbClr val="EDF1F7"/>
            </a:solidFill>
            <a:prstDash val="solid"/>
          </a:ln>
        </p:spPr>
        <p:txBody>
          <a:bodyPr/>
          <a:lstStyle/>
          <a:p>
            <a:endParaRPr lang="vi-VN" noProof="1"/>
          </a:p>
        </p:txBody>
      </p:sp>
      <p:sp>
        <p:nvSpPr>
          <p:cNvPr id="1731064471" name="Shape 25"/>
          <p:cNvSpPr/>
          <p:nvPr/>
        </p:nvSpPr>
        <p:spPr bwMode="auto">
          <a:xfrm>
            <a:off x="6329363" y="1826419"/>
            <a:ext cx="0" cy="2749451"/>
          </a:xfrm>
          <a:prstGeom prst="line">
            <a:avLst/>
          </a:prstGeom>
          <a:noFill/>
          <a:ln w="9525">
            <a:solidFill>
              <a:srgbClr val="EDF1F7"/>
            </a:solidFill>
            <a:prstDash val="solid"/>
          </a:ln>
        </p:spPr>
        <p:txBody>
          <a:bodyPr/>
          <a:lstStyle/>
          <a:p>
            <a:endParaRPr lang="vi-VN" noProof="1"/>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PhAnim="0">
  <p:cSld name="Slide 11">
    <p:bg>
      <p:bgPr>
        <a:solidFill>
          <a:srgbClr val="F6F8FB"/>
        </a:solidFill>
        <a:effectLst/>
      </p:bgPr>
    </p:bg>
    <p:spTree>
      <p:nvGrpSpPr>
        <p:cNvPr id="1" name=""/>
        <p:cNvGrpSpPr/>
        <p:nvPr/>
      </p:nvGrpSpPr>
      <p:grpSpPr bwMode="auto">
        <a:xfrm>
          <a:off x="0" y="0"/>
          <a:ext cx="0" cy="0"/>
          <a:chOff x="0" y="0"/>
          <a:chExt cx="0" cy="0"/>
        </a:xfrm>
      </p:grpSpPr>
      <p:sp>
        <p:nvSpPr>
          <p:cNvPr id="716076251"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000" b="1" noProof="1">
                <a:solidFill>
                  <a:srgbClr val="B07F12"/>
                </a:solidFill>
                <a:latin typeface="Arial"/>
                <a:ea typeface="Arial"/>
                <a:cs typeface="Arial"/>
              </a:rPr>
              <a:t>5. DEMO KẾT QUẢ</a:t>
            </a:r>
            <a:endParaRPr lang="vi-VN" sz="1000" noProof="1"/>
          </a:p>
        </p:txBody>
      </p:sp>
      <p:sp>
        <p:nvSpPr>
          <p:cNvPr id="388015217" name="Text 1"/>
          <p:cNvSpPr/>
          <p:nvPr/>
        </p:nvSpPr>
        <p:spPr bwMode="auto">
          <a:xfrm>
            <a:off x="533400" y="542925"/>
            <a:ext cx="11347704" cy="359569"/>
          </a:xfrm>
          <a:prstGeom prst="rect">
            <a:avLst/>
          </a:prstGeom>
          <a:noFill/>
          <a:ln/>
        </p:spPr>
        <p:txBody>
          <a:bodyPr wrap="square" lIns="0" tIns="0" rIns="0" bIns="0" rtlCol="0" anchor="t"/>
          <a:lstStyle/>
          <a:p>
            <a:pPr marL="0" indent="0" algn="l">
              <a:lnSpc>
                <a:spcPts val="2832"/>
              </a:lnSpc>
              <a:spcAft>
                <a:spcPts val="600"/>
              </a:spcAft>
              <a:buNone/>
              <a:defRPr/>
            </a:pPr>
            <a:r>
              <a:rPr lang="vi-VN" sz="2400" b="1" noProof="1">
                <a:solidFill>
                  <a:srgbClr val="002855"/>
                </a:solidFill>
                <a:latin typeface="Arial"/>
                <a:ea typeface="Arial"/>
                <a:cs typeface="Arial"/>
              </a:rPr>
              <a:t>Phân hệ Quản trị CMS &amp; AI Studio</a:t>
            </a:r>
            <a:endParaRPr lang="vi-VN" sz="2400" noProof="1"/>
          </a:p>
        </p:txBody>
      </p:sp>
      <p:pic>
        <p:nvPicPr>
          <p:cNvPr id="1494636220" name="Image 0" descr="/var/folders/t4/q0khv7qd1r3dc2yrbwkzmjf00000gn/T/html2pptx-j5AHGl/html2pptx-bg-1791687649333-14213dd336991.png"/>
          <p:cNvPicPr>
            <a:picLocks noChangeAspect="1"/>
          </p:cNvPicPr>
          <p:nvPr/>
        </p:nvPicPr>
        <p:blipFill rotWithShape="1">
          <a:blip r:embed="rId3"/>
          <a:stretch/>
        </p:blipFill>
        <p:spPr bwMode="auto">
          <a:xfrm>
            <a:off x="533400" y="978694"/>
            <a:ext cx="1047750" cy="38100"/>
          </a:xfrm>
          <a:prstGeom prst="rect">
            <a:avLst/>
          </a:prstGeom>
        </p:spPr>
      </p:pic>
      <p:sp>
        <p:nvSpPr>
          <p:cNvPr id="574550244" name="Text 2"/>
          <p:cNvSpPr/>
          <p:nvPr/>
        </p:nvSpPr>
        <p:spPr bwMode="auto">
          <a:xfrm>
            <a:off x="533400" y="1169194"/>
            <a:ext cx="2516770" cy="142875"/>
          </a:xfrm>
          <a:prstGeom prst="rect">
            <a:avLst/>
          </a:prstGeom>
          <a:noFill/>
          <a:ln/>
        </p:spPr>
        <p:txBody>
          <a:bodyPr wrap="square" lIns="152400" tIns="0" rIns="0" bIns="0" rtlCol="0" anchor="t"/>
          <a:lstStyle/>
          <a:p>
            <a:pPr marL="0" indent="0" algn="l">
              <a:buNone/>
              <a:defRPr/>
            </a:pPr>
            <a:r>
              <a:rPr lang="vi-VN" sz="1000" noProof="1">
                <a:solidFill>
                  <a:srgbClr val="40506B"/>
                </a:solidFill>
                <a:latin typeface="Arial"/>
                <a:ea typeface="Arial"/>
                <a:cs typeface="Arial"/>
              </a:rPr>
              <a:t>Bảng điều hành 4 KPI vòng đời nội dung</a:t>
            </a:r>
            <a:endParaRPr lang="vi-VN" sz="1000" noProof="1"/>
          </a:p>
        </p:txBody>
      </p:sp>
      <p:sp>
        <p:nvSpPr>
          <p:cNvPr id="20344709" name="Text 3"/>
          <p:cNvSpPr/>
          <p:nvPr/>
        </p:nvSpPr>
        <p:spPr bwMode="auto">
          <a:xfrm>
            <a:off x="533400" y="1226343"/>
            <a:ext cx="152400" cy="76200"/>
          </a:xfrm>
          <a:prstGeom prst="roundRect">
            <a:avLst>
              <a:gd name="adj" fmla="val 25000"/>
            </a:avLst>
          </a:prstGeom>
          <a:solidFill>
            <a:srgbClr val="D4A017"/>
          </a:solidFill>
          <a:ln/>
        </p:spPr>
        <p:txBody>
          <a:bodyPr wrap="square" rtlCol="0" anchor="ctr"/>
          <a:lstStyle/>
          <a:p>
            <a:pPr marL="0" indent="0">
              <a:buNone/>
              <a:defRPr/>
            </a:pPr>
            <a:endParaRPr lang="vi-VN" noProof="1"/>
          </a:p>
        </p:txBody>
      </p:sp>
      <p:sp>
        <p:nvSpPr>
          <p:cNvPr id="824359032" name="Text 4"/>
          <p:cNvSpPr/>
          <p:nvPr/>
        </p:nvSpPr>
        <p:spPr bwMode="auto">
          <a:xfrm>
            <a:off x="3248471" y="1169194"/>
            <a:ext cx="2880038" cy="142875"/>
          </a:xfrm>
          <a:prstGeom prst="rect">
            <a:avLst/>
          </a:prstGeom>
          <a:noFill/>
          <a:ln/>
        </p:spPr>
        <p:txBody>
          <a:bodyPr wrap="square" lIns="152400" tIns="0" rIns="0" bIns="0" rtlCol="0" anchor="t"/>
          <a:lstStyle/>
          <a:p>
            <a:pPr marL="0" indent="0" algn="l">
              <a:buNone/>
              <a:defRPr/>
            </a:pPr>
            <a:r>
              <a:rPr lang="vi-VN" sz="1000" noProof="1">
                <a:solidFill>
                  <a:srgbClr val="40506B"/>
                </a:solidFill>
                <a:latin typeface="Arial"/>
                <a:ea typeface="Arial"/>
                <a:cs typeface="Arial"/>
              </a:rPr>
              <a:t>Hàng đợi 'Cần xử lý' — duyệt bài nhanh 1 click</a:t>
            </a:r>
            <a:endParaRPr lang="vi-VN" sz="1000" noProof="1"/>
          </a:p>
        </p:txBody>
      </p:sp>
      <p:sp>
        <p:nvSpPr>
          <p:cNvPr id="2031012361" name="Text 5"/>
          <p:cNvSpPr/>
          <p:nvPr/>
        </p:nvSpPr>
        <p:spPr bwMode="auto">
          <a:xfrm>
            <a:off x="3248471" y="1226343"/>
            <a:ext cx="152400" cy="76200"/>
          </a:xfrm>
          <a:prstGeom prst="roundRect">
            <a:avLst>
              <a:gd name="adj" fmla="val 25000"/>
            </a:avLst>
          </a:prstGeom>
          <a:solidFill>
            <a:srgbClr val="D4A017"/>
          </a:solidFill>
          <a:ln/>
        </p:spPr>
        <p:txBody>
          <a:bodyPr wrap="square" rtlCol="0" anchor="ctr"/>
          <a:lstStyle/>
          <a:p>
            <a:pPr marL="0" indent="0">
              <a:buNone/>
              <a:defRPr/>
            </a:pPr>
            <a:endParaRPr lang="vi-VN" noProof="1"/>
          </a:p>
        </p:txBody>
      </p:sp>
      <p:sp>
        <p:nvSpPr>
          <p:cNvPr id="1826344242" name="Text 6"/>
          <p:cNvSpPr/>
          <p:nvPr/>
        </p:nvSpPr>
        <p:spPr bwMode="auto">
          <a:xfrm>
            <a:off x="6319689" y="1169194"/>
            <a:ext cx="3375833" cy="142875"/>
          </a:xfrm>
          <a:prstGeom prst="rect">
            <a:avLst/>
          </a:prstGeom>
          <a:noFill/>
          <a:ln/>
        </p:spPr>
        <p:txBody>
          <a:bodyPr wrap="square" lIns="152400" tIns="0" rIns="0" bIns="0" rtlCol="0" anchor="t"/>
          <a:lstStyle/>
          <a:p>
            <a:pPr marL="0" indent="0" algn="l">
              <a:buNone/>
              <a:defRPr/>
            </a:pPr>
            <a:r>
              <a:rPr lang="vi-VN" sz="1000" noProof="1">
                <a:solidFill>
                  <a:srgbClr val="40506B"/>
                </a:solidFill>
                <a:latin typeface="Arial"/>
                <a:ea typeface="Arial"/>
                <a:cs typeface="Arial"/>
              </a:rPr>
              <a:t>AI Studio 3 vùng: Tủ bản thảo · Canvas 3 tầng · Copilot</a:t>
            </a:r>
            <a:endParaRPr lang="vi-VN" sz="1000" noProof="1"/>
          </a:p>
        </p:txBody>
      </p:sp>
      <p:sp>
        <p:nvSpPr>
          <p:cNvPr id="537125904" name="Text 7"/>
          <p:cNvSpPr/>
          <p:nvPr/>
        </p:nvSpPr>
        <p:spPr bwMode="auto">
          <a:xfrm>
            <a:off x="6319689" y="1226343"/>
            <a:ext cx="152400" cy="76200"/>
          </a:xfrm>
          <a:prstGeom prst="roundRect">
            <a:avLst>
              <a:gd name="adj" fmla="val 25000"/>
            </a:avLst>
          </a:prstGeom>
          <a:solidFill>
            <a:srgbClr val="D4A017"/>
          </a:solidFill>
          <a:ln/>
        </p:spPr>
        <p:txBody>
          <a:bodyPr wrap="square" rtlCol="0" anchor="ctr"/>
          <a:lstStyle/>
          <a:p>
            <a:pPr marL="0" indent="0">
              <a:buNone/>
              <a:defRPr/>
            </a:pPr>
            <a:endParaRPr lang="vi-VN" noProof="1"/>
          </a:p>
        </p:txBody>
      </p:sp>
      <p:sp>
        <p:nvSpPr>
          <p:cNvPr id="1548170870" name="Text 8"/>
          <p:cNvSpPr/>
          <p:nvPr/>
        </p:nvSpPr>
        <p:spPr bwMode="auto">
          <a:xfrm>
            <a:off x="533400" y="1407319"/>
            <a:ext cx="3382816" cy="142875"/>
          </a:xfrm>
          <a:prstGeom prst="rect">
            <a:avLst/>
          </a:prstGeom>
          <a:noFill/>
          <a:ln/>
        </p:spPr>
        <p:txBody>
          <a:bodyPr wrap="square" lIns="152400" tIns="0" rIns="0" bIns="0" rtlCol="0" anchor="t"/>
          <a:lstStyle/>
          <a:p>
            <a:pPr marL="0" indent="0" algn="l">
              <a:buNone/>
              <a:defRPr/>
            </a:pPr>
            <a:r>
              <a:rPr lang="vi-VN" sz="1000" noProof="1">
                <a:solidFill>
                  <a:srgbClr val="40506B"/>
                </a:solidFill>
                <a:latin typeface="Arial"/>
                <a:ea typeface="Arial"/>
                <a:cs typeface="Arial"/>
              </a:rPr>
              <a:t>Tab phát hành: Website / Facebook / Zalo OA / Hẹn lịch</a:t>
            </a:r>
            <a:endParaRPr lang="vi-VN" sz="1000" noProof="1"/>
          </a:p>
        </p:txBody>
      </p:sp>
      <p:sp>
        <p:nvSpPr>
          <p:cNvPr id="1148760331" name="Text 9"/>
          <p:cNvSpPr/>
          <p:nvPr/>
        </p:nvSpPr>
        <p:spPr bwMode="auto">
          <a:xfrm>
            <a:off x="533400" y="1464469"/>
            <a:ext cx="152400" cy="76200"/>
          </a:xfrm>
          <a:prstGeom prst="roundRect">
            <a:avLst>
              <a:gd name="adj" fmla="val 25000"/>
            </a:avLst>
          </a:prstGeom>
          <a:solidFill>
            <a:srgbClr val="D4A017"/>
          </a:solidFill>
          <a:ln/>
        </p:spPr>
        <p:txBody>
          <a:bodyPr wrap="square" rtlCol="0" anchor="ctr"/>
          <a:lstStyle/>
          <a:p>
            <a:pPr marL="0" indent="0">
              <a:buNone/>
              <a:defRPr/>
            </a:pPr>
            <a:endParaRPr lang="vi-VN" noProof="1"/>
          </a:p>
        </p:txBody>
      </p:sp>
      <p:sp>
        <p:nvSpPr>
          <p:cNvPr id="1385779790" name="Text 10"/>
          <p:cNvSpPr/>
          <p:nvPr/>
        </p:nvSpPr>
        <p:spPr bwMode="auto">
          <a:xfrm>
            <a:off x="533400" y="1702594"/>
            <a:ext cx="5457825" cy="4191000"/>
          </a:xfrm>
          <a:prstGeom prst="roundRect">
            <a:avLst>
              <a:gd name="adj" fmla="val 3182"/>
            </a:avLst>
          </a:prstGeom>
          <a:solidFill>
            <a:srgbClr val="FFFFFF"/>
          </a:solidFill>
          <a:ln w="9525">
            <a:solidFill>
              <a:srgbClr val="E3E9F2"/>
            </a:solidFill>
          </a:ln>
          <a:effectLst>
            <a:outerShdw blurRad="171450" dist="57150" dir="5400000" algn="bl" rotWithShape="0">
              <a:srgbClr val="002855">
                <a:alpha val="7000"/>
              </a:srgbClr>
            </a:outerShdw>
          </a:effectLst>
        </p:spPr>
        <p:txBody>
          <a:bodyPr wrap="square" rtlCol="0" anchor="ctr"/>
          <a:lstStyle/>
          <a:p>
            <a:pPr marL="0" indent="0">
              <a:buNone/>
              <a:defRPr/>
            </a:pPr>
            <a:endParaRPr lang="vi-VN" noProof="1"/>
          </a:p>
        </p:txBody>
      </p:sp>
      <p:pic>
        <p:nvPicPr>
          <p:cNvPr id="538594473" name="Image 1"/>
          <p:cNvPicPr>
            <a:picLocks noChangeAspect="1"/>
          </p:cNvPicPr>
          <p:nvPr/>
        </p:nvPicPr>
        <p:blipFill>
          <a:blip r:embed="rId4"/>
          <a:srcRect/>
          <a:stretch/>
        </p:blipFill>
        <p:spPr bwMode="auto">
          <a:xfrm>
            <a:off x="657225" y="1831804"/>
            <a:ext cx="5210175" cy="2738681"/>
          </a:xfrm>
          <a:prstGeom prst="rect">
            <a:avLst/>
          </a:prstGeom>
        </p:spPr>
      </p:pic>
      <p:sp>
        <p:nvSpPr>
          <p:cNvPr id="491609652" name="Text 11"/>
          <p:cNvSpPr/>
          <p:nvPr/>
        </p:nvSpPr>
        <p:spPr bwMode="auto">
          <a:xfrm>
            <a:off x="695325" y="4671120"/>
            <a:ext cx="5236654" cy="378023"/>
          </a:xfrm>
          <a:prstGeom prst="rect">
            <a:avLst/>
          </a:prstGeom>
          <a:noFill/>
          <a:ln/>
        </p:spPr>
        <p:txBody>
          <a:bodyPr wrap="square" lIns="0" tIns="0" rIns="0" bIns="0" rtlCol="0" anchor="t"/>
          <a:lstStyle/>
          <a:p>
            <a:pPr marL="0" indent="0" algn="ctr">
              <a:lnSpc>
                <a:spcPts val="1414"/>
              </a:lnSpc>
              <a:buNone/>
              <a:defRPr/>
            </a:pPr>
            <a:r>
              <a:rPr lang="vi-VN" sz="1000" i="1" noProof="1">
                <a:solidFill>
                  <a:srgbClr val="31415C"/>
                </a:solidFill>
                <a:latin typeface="Arial"/>
                <a:ea typeface="Arial"/>
                <a:cs typeface="Arial"/>
              </a:rPr>
              <a:t>Phòng Biên tập Đa kênh AI Studio</a:t>
            </a:r>
            <a:endParaRPr lang="vi-VN" sz="1000" i="1" noProof="1"/>
          </a:p>
        </p:txBody>
      </p:sp>
      <p:sp>
        <p:nvSpPr>
          <p:cNvPr id="1661774850" name="Text 12"/>
          <p:cNvSpPr/>
          <p:nvPr/>
        </p:nvSpPr>
        <p:spPr bwMode="auto">
          <a:xfrm>
            <a:off x="695325" y="4869656"/>
            <a:ext cx="5236654" cy="378023"/>
          </a:xfrm>
          <a:prstGeom prst="rect">
            <a:avLst/>
          </a:prstGeom>
          <a:noFill/>
          <a:ln/>
        </p:spPr>
        <p:txBody>
          <a:bodyPr wrap="square" lIns="0" tIns="0" rIns="0" bIns="0" rtlCol="0" anchor="t"/>
          <a:lstStyle/>
          <a:p>
            <a:pPr marL="0" indent="0" algn="l">
              <a:lnSpc>
                <a:spcPts val="1414"/>
              </a:lnSpc>
              <a:spcBef>
                <a:spcPts val="150"/>
              </a:spcBef>
              <a:buNone/>
              <a:defRPr/>
            </a:pPr>
            <a:r>
              <a:rPr lang="en-US" sz="1200" noProof="1">
                <a:solidFill>
                  <a:srgbClr val="8A97AB"/>
                </a:solidFill>
                <a:latin typeface="Arial"/>
                <a:ea typeface="Arial"/>
                <a:cs typeface="Arial"/>
              </a:rPr>
              <a:t> Trình </a:t>
            </a:r>
            <a:r>
              <a:rPr lang="vi-VN" sz="1200" noProof="1">
                <a:solidFill>
                  <a:srgbClr val="8A97AB"/>
                </a:solidFill>
                <a:latin typeface="Arial"/>
                <a:ea typeface="Arial"/>
                <a:cs typeface="Arial"/>
              </a:rPr>
              <a:t>soạn thảo </a:t>
            </a:r>
            <a:r>
              <a:rPr lang="en-US" sz="1200" noProof="1">
                <a:solidFill>
                  <a:srgbClr val="8A97AB"/>
                </a:solidFill>
                <a:latin typeface="Arial"/>
                <a:ea typeface="Arial"/>
                <a:cs typeface="Arial"/>
              </a:rPr>
              <a:t>bài viết</a:t>
            </a:r>
            <a:r>
              <a:rPr lang="vi-VN" sz="1200" noProof="1">
                <a:solidFill>
                  <a:srgbClr val="8A97AB"/>
                </a:solidFill>
                <a:latin typeface="Arial"/>
                <a:ea typeface="Arial"/>
                <a:cs typeface="Arial"/>
              </a:rPr>
              <a:t>, tab Facebook</a:t>
            </a:r>
            <a:r>
              <a:rPr lang="en-US" sz="1200" noProof="1">
                <a:solidFill>
                  <a:srgbClr val="8A97AB"/>
                </a:solidFill>
                <a:latin typeface="Arial"/>
                <a:ea typeface="Arial"/>
                <a:cs typeface="Arial"/>
              </a:rPr>
              <a:t> , Zalo</a:t>
            </a:r>
            <a:r>
              <a:rPr lang="vi-VN" sz="1200" noProof="1">
                <a:solidFill>
                  <a:srgbClr val="8A97AB"/>
                </a:solidFill>
                <a:latin typeface="Arial"/>
                <a:ea typeface="Arial"/>
                <a:cs typeface="Arial"/>
              </a:rPr>
              <a:t> &amp; Trợ lý AI sinh nội dung theo thời gian thực</a:t>
            </a:r>
            <a:endParaRPr lang="vi-VN" sz="1200" noProof="1"/>
          </a:p>
        </p:txBody>
      </p:sp>
      <p:sp>
        <p:nvSpPr>
          <p:cNvPr id="377243331" name="Text 13"/>
          <p:cNvSpPr/>
          <p:nvPr/>
        </p:nvSpPr>
        <p:spPr bwMode="auto">
          <a:xfrm>
            <a:off x="6200775" y="1702594"/>
            <a:ext cx="5457825" cy="4191000"/>
          </a:xfrm>
          <a:prstGeom prst="roundRect">
            <a:avLst>
              <a:gd name="adj" fmla="val 3182"/>
            </a:avLst>
          </a:prstGeom>
          <a:solidFill>
            <a:srgbClr val="FFFFFF"/>
          </a:solidFill>
          <a:ln w="9525">
            <a:solidFill>
              <a:srgbClr val="E3E9F2"/>
            </a:solidFill>
          </a:ln>
          <a:effectLst>
            <a:outerShdw blurRad="171450" dist="57150" dir="5400000" algn="bl" rotWithShape="0">
              <a:srgbClr val="002855">
                <a:alpha val="7000"/>
              </a:srgbClr>
            </a:outerShdw>
          </a:effectLst>
        </p:spPr>
        <p:txBody>
          <a:bodyPr wrap="square" rtlCol="0" anchor="ctr"/>
          <a:lstStyle/>
          <a:p>
            <a:pPr marL="0" indent="0">
              <a:buNone/>
              <a:defRPr/>
            </a:pPr>
            <a:endParaRPr lang="vi-VN" noProof="1"/>
          </a:p>
        </p:txBody>
      </p:sp>
      <p:pic>
        <p:nvPicPr>
          <p:cNvPr id="694397265" name="Image 2"/>
          <p:cNvPicPr>
            <a:picLocks noChangeAspect="1"/>
          </p:cNvPicPr>
          <p:nvPr/>
        </p:nvPicPr>
        <p:blipFill>
          <a:blip r:embed="rId5"/>
          <a:srcRect/>
          <a:stretch/>
        </p:blipFill>
        <p:spPr bwMode="auto">
          <a:xfrm>
            <a:off x="6324600" y="1831804"/>
            <a:ext cx="5210175" cy="2738681"/>
          </a:xfrm>
          <a:prstGeom prst="rect">
            <a:avLst/>
          </a:prstGeom>
        </p:spPr>
      </p:pic>
      <p:sp>
        <p:nvSpPr>
          <p:cNvPr id="789861210" name="Text 14"/>
          <p:cNvSpPr/>
          <p:nvPr/>
        </p:nvSpPr>
        <p:spPr bwMode="auto">
          <a:xfrm>
            <a:off x="6362700" y="4671120"/>
            <a:ext cx="5236654" cy="378023"/>
          </a:xfrm>
          <a:prstGeom prst="rect">
            <a:avLst/>
          </a:prstGeom>
          <a:noFill/>
          <a:ln/>
        </p:spPr>
        <p:txBody>
          <a:bodyPr wrap="square" lIns="0" tIns="0" rIns="0" bIns="0" rtlCol="0" anchor="t"/>
          <a:lstStyle/>
          <a:p>
            <a:pPr marL="0" indent="0" algn="ctr">
              <a:lnSpc>
                <a:spcPts val="1414"/>
              </a:lnSpc>
              <a:buNone/>
              <a:defRPr/>
            </a:pPr>
            <a:r>
              <a:rPr lang="vi-VN" sz="1000" i="1" noProof="1">
                <a:solidFill>
                  <a:srgbClr val="31415C"/>
                </a:solidFill>
                <a:latin typeface="Arial"/>
                <a:ea typeface="Arial"/>
                <a:cs typeface="Arial"/>
              </a:rPr>
              <a:t>Bảng Điều Hành (Dashboard)</a:t>
            </a:r>
            <a:endParaRPr lang="vi-VN" sz="1000" i="1" noProof="1"/>
          </a:p>
        </p:txBody>
      </p:sp>
      <p:sp>
        <p:nvSpPr>
          <p:cNvPr id="1373535246" name="Text 15"/>
          <p:cNvSpPr/>
          <p:nvPr/>
        </p:nvSpPr>
        <p:spPr bwMode="auto">
          <a:xfrm>
            <a:off x="6362700" y="4869656"/>
            <a:ext cx="5236654" cy="378023"/>
          </a:xfrm>
          <a:prstGeom prst="rect">
            <a:avLst/>
          </a:prstGeom>
          <a:noFill/>
          <a:ln/>
        </p:spPr>
        <p:txBody>
          <a:bodyPr wrap="square" lIns="0" tIns="0" rIns="0" bIns="0" rtlCol="0" anchor="t"/>
          <a:lstStyle/>
          <a:p>
            <a:pPr marL="0" indent="0" algn="l">
              <a:lnSpc>
                <a:spcPts val="1414"/>
              </a:lnSpc>
              <a:spcBef>
                <a:spcPts val="150"/>
              </a:spcBef>
              <a:buNone/>
              <a:defRPr/>
            </a:pPr>
            <a:r>
              <a:rPr lang="vi-VN" sz="1200" noProof="1">
                <a:solidFill>
                  <a:srgbClr val="8A97AB"/>
                </a:solidFill>
                <a:latin typeface="Arial"/>
                <a:ea typeface="Arial"/>
                <a:cs typeface="Arial"/>
              </a:rPr>
              <a:t>4 KPI thời gian thực, biểu đồ độ phủ sóng Website–Facebook và hàng đợi phê duyệt bài viết</a:t>
            </a:r>
            <a:endParaRPr lang="vi-VN" sz="1200" noProof="1"/>
          </a:p>
        </p:txBody>
      </p:sp>
      <p:sp>
        <p:nvSpPr>
          <p:cNvPr id="1169010671" name="Shape 16"/>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1693167322" name="Text 17"/>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
        <p:nvSpPr>
          <p:cNvPr id="12036410" name="Shape 18"/>
          <p:cNvSpPr/>
          <p:nvPr/>
        </p:nvSpPr>
        <p:spPr bwMode="auto">
          <a:xfrm>
            <a:off x="657225" y="1831181"/>
            <a:ext cx="5210175" cy="0"/>
          </a:xfrm>
          <a:prstGeom prst="line">
            <a:avLst/>
          </a:prstGeom>
          <a:noFill/>
          <a:ln w="9525">
            <a:solidFill>
              <a:srgbClr val="EDF1F7"/>
            </a:solidFill>
            <a:prstDash val="solid"/>
          </a:ln>
        </p:spPr>
        <p:txBody>
          <a:bodyPr/>
          <a:lstStyle/>
          <a:p>
            <a:endParaRPr lang="vi-VN" noProof="1"/>
          </a:p>
        </p:txBody>
      </p:sp>
      <p:sp>
        <p:nvSpPr>
          <p:cNvPr id="357488677" name="Shape 19"/>
          <p:cNvSpPr/>
          <p:nvPr/>
        </p:nvSpPr>
        <p:spPr bwMode="auto">
          <a:xfrm>
            <a:off x="5862638" y="1826419"/>
            <a:ext cx="0" cy="2749451"/>
          </a:xfrm>
          <a:prstGeom prst="line">
            <a:avLst/>
          </a:prstGeom>
          <a:noFill/>
          <a:ln w="9525">
            <a:solidFill>
              <a:srgbClr val="EDF1F7"/>
            </a:solidFill>
            <a:prstDash val="solid"/>
          </a:ln>
        </p:spPr>
        <p:txBody>
          <a:bodyPr/>
          <a:lstStyle/>
          <a:p>
            <a:endParaRPr lang="vi-VN" noProof="1"/>
          </a:p>
        </p:txBody>
      </p:sp>
      <p:sp>
        <p:nvSpPr>
          <p:cNvPr id="302488740" name="Shape 20"/>
          <p:cNvSpPr/>
          <p:nvPr/>
        </p:nvSpPr>
        <p:spPr bwMode="auto">
          <a:xfrm>
            <a:off x="657225" y="4571107"/>
            <a:ext cx="5210175" cy="0"/>
          </a:xfrm>
          <a:prstGeom prst="line">
            <a:avLst/>
          </a:prstGeom>
          <a:noFill/>
          <a:ln w="9525">
            <a:solidFill>
              <a:srgbClr val="EDF1F7"/>
            </a:solidFill>
            <a:prstDash val="solid"/>
          </a:ln>
        </p:spPr>
        <p:txBody>
          <a:bodyPr/>
          <a:lstStyle/>
          <a:p>
            <a:endParaRPr lang="vi-VN" noProof="1"/>
          </a:p>
        </p:txBody>
      </p:sp>
      <p:sp>
        <p:nvSpPr>
          <p:cNvPr id="1950007771" name="Shape 21"/>
          <p:cNvSpPr/>
          <p:nvPr/>
        </p:nvSpPr>
        <p:spPr bwMode="auto">
          <a:xfrm>
            <a:off x="661988" y="1826419"/>
            <a:ext cx="0" cy="2749451"/>
          </a:xfrm>
          <a:prstGeom prst="line">
            <a:avLst/>
          </a:prstGeom>
          <a:noFill/>
          <a:ln w="9525">
            <a:solidFill>
              <a:srgbClr val="EDF1F7"/>
            </a:solidFill>
            <a:prstDash val="solid"/>
          </a:ln>
        </p:spPr>
        <p:txBody>
          <a:bodyPr/>
          <a:lstStyle/>
          <a:p>
            <a:endParaRPr lang="vi-VN" noProof="1"/>
          </a:p>
        </p:txBody>
      </p:sp>
      <p:sp>
        <p:nvSpPr>
          <p:cNvPr id="730205966" name="Shape 22"/>
          <p:cNvSpPr/>
          <p:nvPr/>
        </p:nvSpPr>
        <p:spPr bwMode="auto">
          <a:xfrm>
            <a:off x="6324600" y="1831181"/>
            <a:ext cx="5210175" cy="0"/>
          </a:xfrm>
          <a:prstGeom prst="line">
            <a:avLst/>
          </a:prstGeom>
          <a:noFill/>
          <a:ln w="9525">
            <a:solidFill>
              <a:srgbClr val="EDF1F7"/>
            </a:solidFill>
            <a:prstDash val="solid"/>
          </a:ln>
        </p:spPr>
        <p:txBody>
          <a:bodyPr/>
          <a:lstStyle/>
          <a:p>
            <a:endParaRPr lang="vi-VN" noProof="1"/>
          </a:p>
        </p:txBody>
      </p:sp>
      <p:sp>
        <p:nvSpPr>
          <p:cNvPr id="83419040" name="Shape 23"/>
          <p:cNvSpPr/>
          <p:nvPr/>
        </p:nvSpPr>
        <p:spPr bwMode="auto">
          <a:xfrm>
            <a:off x="11530012" y="1826419"/>
            <a:ext cx="0" cy="2749451"/>
          </a:xfrm>
          <a:prstGeom prst="line">
            <a:avLst/>
          </a:prstGeom>
          <a:noFill/>
          <a:ln w="9525">
            <a:solidFill>
              <a:srgbClr val="EDF1F7"/>
            </a:solidFill>
            <a:prstDash val="solid"/>
          </a:ln>
        </p:spPr>
        <p:txBody>
          <a:bodyPr/>
          <a:lstStyle/>
          <a:p>
            <a:endParaRPr lang="vi-VN" noProof="1"/>
          </a:p>
        </p:txBody>
      </p:sp>
      <p:sp>
        <p:nvSpPr>
          <p:cNvPr id="1895229867" name="Shape 24"/>
          <p:cNvSpPr/>
          <p:nvPr/>
        </p:nvSpPr>
        <p:spPr bwMode="auto">
          <a:xfrm>
            <a:off x="6324600" y="4571107"/>
            <a:ext cx="5210175" cy="0"/>
          </a:xfrm>
          <a:prstGeom prst="line">
            <a:avLst/>
          </a:prstGeom>
          <a:noFill/>
          <a:ln w="9525">
            <a:solidFill>
              <a:srgbClr val="EDF1F7"/>
            </a:solidFill>
            <a:prstDash val="solid"/>
          </a:ln>
        </p:spPr>
        <p:txBody>
          <a:bodyPr/>
          <a:lstStyle/>
          <a:p>
            <a:endParaRPr lang="vi-VN" noProof="1"/>
          </a:p>
        </p:txBody>
      </p:sp>
      <p:sp>
        <p:nvSpPr>
          <p:cNvPr id="1021053175" name="Shape 25"/>
          <p:cNvSpPr/>
          <p:nvPr/>
        </p:nvSpPr>
        <p:spPr bwMode="auto">
          <a:xfrm>
            <a:off x="6329363" y="1826419"/>
            <a:ext cx="0" cy="2749451"/>
          </a:xfrm>
          <a:prstGeom prst="line">
            <a:avLst/>
          </a:prstGeom>
          <a:noFill/>
          <a:ln w="9525">
            <a:solidFill>
              <a:srgbClr val="EDF1F7"/>
            </a:solidFill>
            <a:prstDash val="solid"/>
          </a:ln>
        </p:spPr>
        <p:txBody>
          <a:bodyPr/>
          <a:lstStyle/>
          <a:p>
            <a:endParaRPr lang="vi-VN" noProof="1"/>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PhAnim="0">
  <p:cSld name="Slide 12">
    <p:bg>
      <p:bgPr>
        <a:solidFill>
          <a:srgbClr val="F6F8FB"/>
        </a:solidFill>
        <a:effectLst/>
      </p:bgPr>
    </p:bg>
    <p:spTree>
      <p:nvGrpSpPr>
        <p:cNvPr id="1" name=""/>
        <p:cNvGrpSpPr/>
        <p:nvPr/>
      </p:nvGrpSpPr>
      <p:grpSpPr bwMode="auto">
        <a:xfrm>
          <a:off x="0" y="0"/>
          <a:ext cx="0" cy="0"/>
          <a:chOff x="0" y="0"/>
          <a:chExt cx="0" cy="0"/>
        </a:xfrm>
      </p:grpSpPr>
      <p:sp>
        <p:nvSpPr>
          <p:cNvPr id="1551532279"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000" b="1" noProof="1">
                <a:solidFill>
                  <a:srgbClr val="B07F12"/>
                </a:solidFill>
                <a:latin typeface="Arial"/>
                <a:ea typeface="Arial"/>
                <a:cs typeface="Arial"/>
              </a:rPr>
              <a:t>6. KẾT QUẢ THỰC NGHIỆM</a:t>
            </a:r>
            <a:endParaRPr lang="vi-VN" sz="1000" noProof="1"/>
          </a:p>
        </p:txBody>
      </p:sp>
      <p:sp>
        <p:nvSpPr>
          <p:cNvPr id="1087376138" name="Text 1"/>
          <p:cNvSpPr/>
          <p:nvPr/>
        </p:nvSpPr>
        <p:spPr bwMode="auto">
          <a:xfrm>
            <a:off x="533400" y="542925"/>
            <a:ext cx="11347704" cy="359569"/>
          </a:xfrm>
          <a:prstGeom prst="rect">
            <a:avLst/>
          </a:prstGeom>
          <a:noFill/>
          <a:ln/>
        </p:spPr>
        <p:txBody>
          <a:bodyPr wrap="square" lIns="0" tIns="0" rIns="0" bIns="0" rtlCol="0" anchor="t"/>
          <a:lstStyle/>
          <a:p>
            <a:pPr marL="0" indent="0" algn="l">
              <a:lnSpc>
                <a:spcPts val="2832"/>
              </a:lnSpc>
              <a:spcAft>
                <a:spcPts val="600"/>
              </a:spcAft>
              <a:buNone/>
              <a:defRPr/>
            </a:pPr>
            <a:r>
              <a:rPr lang="vi-VN" sz="2400" b="1" noProof="1">
                <a:solidFill>
                  <a:srgbClr val="002855"/>
                </a:solidFill>
                <a:latin typeface="Arial"/>
                <a:ea typeface="Arial"/>
                <a:cs typeface="Arial"/>
              </a:rPr>
              <a:t>Kết quả thực nghiệm &amp; hướng phát triển</a:t>
            </a:r>
            <a:endParaRPr lang="vi-VN" sz="2400" noProof="1"/>
          </a:p>
        </p:txBody>
      </p:sp>
      <p:pic>
        <p:nvPicPr>
          <p:cNvPr id="1664352587" name="Image 0" descr="/var/folders/t4/q0khv7qd1r3dc2yrbwkzmjf00000gn/T/html2pptx-PSMjzO/html2pptx-bg-1791687650677-c2ccd95290eeb.png"/>
          <p:cNvPicPr>
            <a:picLocks noChangeAspect="1"/>
          </p:cNvPicPr>
          <p:nvPr/>
        </p:nvPicPr>
        <p:blipFill rotWithShape="1">
          <a:blip r:embed="rId3"/>
          <a:stretch/>
        </p:blipFill>
        <p:spPr bwMode="auto">
          <a:xfrm>
            <a:off x="533400" y="978694"/>
            <a:ext cx="1047750" cy="38100"/>
          </a:xfrm>
          <a:prstGeom prst="rect">
            <a:avLst/>
          </a:prstGeom>
        </p:spPr>
      </p:pic>
      <p:sp>
        <p:nvSpPr>
          <p:cNvPr id="1534172061" name="Text 10"/>
          <p:cNvSpPr/>
          <p:nvPr/>
        </p:nvSpPr>
        <p:spPr bwMode="auto">
          <a:xfrm>
            <a:off x="3357563" y="1264444"/>
            <a:ext cx="2652713" cy="1291977"/>
          </a:xfrm>
          <a:prstGeom prst="roundRect">
            <a:avLst>
              <a:gd name="adj" fmla="val 10321"/>
            </a:avLst>
          </a:prstGeom>
          <a:solidFill>
            <a:srgbClr val="FFFFFF"/>
          </a:solidFill>
          <a:ln/>
          <a:effectLst>
            <a:outerShdw blurRad="152400" dist="57150" dir="5400000" algn="bl" rotWithShape="0">
              <a:srgbClr val="002855">
                <a:alpha val="6000"/>
              </a:srgbClr>
            </a:outerShdw>
          </a:effectLst>
        </p:spPr>
        <p:txBody>
          <a:bodyPr wrap="square" rtlCol="0" anchor="ctr"/>
          <a:lstStyle/>
          <a:p>
            <a:pPr marL="0" indent="0">
              <a:buNone/>
              <a:defRPr/>
            </a:pPr>
            <a:endParaRPr lang="vi-VN" noProof="1"/>
          </a:p>
        </p:txBody>
      </p:sp>
      <p:sp>
        <p:nvSpPr>
          <p:cNvPr id="296798508" name="Shape 11"/>
          <p:cNvSpPr/>
          <p:nvPr/>
        </p:nvSpPr>
        <p:spPr bwMode="auto">
          <a:xfrm>
            <a:off x="3509963" y="1288256"/>
            <a:ext cx="2347913" cy="0"/>
          </a:xfrm>
          <a:prstGeom prst="line">
            <a:avLst/>
          </a:prstGeom>
          <a:noFill/>
          <a:ln w="47625">
            <a:solidFill>
              <a:srgbClr val="D4A017"/>
            </a:solidFill>
            <a:prstDash val="solid"/>
          </a:ln>
        </p:spPr>
        <p:txBody>
          <a:bodyPr/>
          <a:lstStyle/>
          <a:p>
            <a:endParaRPr lang="vi-VN" noProof="1"/>
          </a:p>
        </p:txBody>
      </p:sp>
      <p:sp>
        <p:nvSpPr>
          <p:cNvPr id="658754239" name="Shape 12"/>
          <p:cNvSpPr/>
          <p:nvPr/>
        </p:nvSpPr>
        <p:spPr bwMode="auto">
          <a:xfrm>
            <a:off x="6010274" y="1435894"/>
            <a:ext cx="0" cy="987177"/>
          </a:xfrm>
          <a:prstGeom prst="line">
            <a:avLst/>
          </a:prstGeom>
          <a:noFill/>
          <a:ln w="9525">
            <a:solidFill>
              <a:srgbClr val="E3E9F2"/>
            </a:solidFill>
            <a:prstDash val="solid"/>
          </a:ln>
        </p:spPr>
        <p:txBody>
          <a:bodyPr/>
          <a:lstStyle/>
          <a:p>
            <a:endParaRPr lang="vi-VN" noProof="1"/>
          </a:p>
        </p:txBody>
      </p:sp>
      <p:sp>
        <p:nvSpPr>
          <p:cNvPr id="2127443947" name="Shape 13"/>
          <p:cNvSpPr/>
          <p:nvPr/>
        </p:nvSpPr>
        <p:spPr bwMode="auto">
          <a:xfrm>
            <a:off x="3509963" y="2555081"/>
            <a:ext cx="2347913" cy="0"/>
          </a:xfrm>
          <a:prstGeom prst="line">
            <a:avLst/>
          </a:prstGeom>
          <a:noFill/>
          <a:ln w="9525">
            <a:solidFill>
              <a:srgbClr val="E3E9F2"/>
            </a:solidFill>
            <a:prstDash val="solid"/>
          </a:ln>
        </p:spPr>
        <p:txBody>
          <a:bodyPr/>
          <a:lstStyle/>
          <a:p>
            <a:endParaRPr lang="vi-VN" noProof="1"/>
          </a:p>
        </p:txBody>
      </p:sp>
      <p:sp>
        <p:nvSpPr>
          <p:cNvPr id="1569735850" name="Shape 14"/>
          <p:cNvSpPr/>
          <p:nvPr/>
        </p:nvSpPr>
        <p:spPr bwMode="auto">
          <a:xfrm>
            <a:off x="3362324" y="1435894"/>
            <a:ext cx="0" cy="987177"/>
          </a:xfrm>
          <a:prstGeom prst="line">
            <a:avLst/>
          </a:prstGeom>
          <a:noFill/>
          <a:ln w="9525">
            <a:solidFill>
              <a:srgbClr val="E3E9F2"/>
            </a:solidFill>
            <a:prstDash val="solid"/>
          </a:ln>
        </p:spPr>
        <p:txBody>
          <a:bodyPr/>
          <a:lstStyle/>
          <a:p>
            <a:endParaRPr lang="vi-VN" noProof="1"/>
          </a:p>
        </p:txBody>
      </p:sp>
      <p:sp>
        <p:nvSpPr>
          <p:cNvPr id="2140140729" name="Text 15"/>
          <p:cNvSpPr/>
          <p:nvPr/>
        </p:nvSpPr>
        <p:spPr bwMode="auto">
          <a:xfrm>
            <a:off x="3496199" y="1483519"/>
            <a:ext cx="2375440" cy="356146"/>
          </a:xfrm>
          <a:prstGeom prst="rect">
            <a:avLst/>
          </a:prstGeom>
          <a:noFill/>
          <a:ln/>
        </p:spPr>
        <p:txBody>
          <a:bodyPr wrap="square" lIns="0" tIns="0" rIns="0" bIns="0" rtlCol="0" anchor="t"/>
          <a:lstStyle/>
          <a:p/>
        </p:txBody>
      </p:sp>
      <p:sp>
        <p:nvSpPr>
          <p:cNvPr id="832269212" name="Text 16"/>
          <p:cNvSpPr/>
          <p:nvPr/>
        </p:nvSpPr>
        <p:spPr bwMode="auto">
          <a:xfrm>
            <a:off x="3496199" y="1858714"/>
            <a:ext cx="2375440" cy="133350"/>
          </a:xfrm>
          <a:prstGeom prst="rect">
            <a:avLst/>
          </a:prstGeom>
          <a:noFill/>
          <a:ln/>
        </p:spPr>
        <p:txBody>
          <a:bodyPr wrap="square" lIns="0" tIns="0" rIns="0" bIns="0" rtlCol="0" anchor="t"/>
          <a:lstStyle/>
          <a:p>
            <a:pPr marL="0" indent="0" algn="ctr">
              <a:spcBef>
                <a:spcPts val="150"/>
              </a:spcBef>
              <a:spcAft>
                <a:spcPts val="600"/>
              </a:spcAft>
              <a:buNone/>
              <a:defRPr/>
            </a:pPr>
            <a:r>
              <a:rPr lang="vi-VN" sz="900" b="1" noProof="1">
                <a:solidFill>
                  <a:srgbClr val="B07F12"/>
                </a:solidFill>
                <a:latin typeface="Arial"/>
                <a:ea typeface="Arial"/>
                <a:cs typeface="Arial"/>
              </a:rPr>
              <a:t>BIÊN SOẠN BÀI BÁO</a:t>
            </a:r>
            <a:endParaRPr lang="vi-VN" sz="900" noProof="1"/>
          </a:p>
        </p:txBody>
      </p:sp>
      <p:sp>
        <p:nvSpPr>
          <p:cNvPr id="1466821503" name="Text 17"/>
          <p:cNvSpPr/>
          <p:nvPr/>
        </p:nvSpPr>
        <p:spPr bwMode="auto">
          <a:xfrm>
            <a:off x="3496199" y="2068264"/>
            <a:ext cx="2375440" cy="345281"/>
          </a:xfrm>
          <a:prstGeom prst="rect">
            <a:avLst/>
          </a:prstGeom>
          <a:noFill/>
          <a:ln/>
        </p:spPr>
        <p:txBody>
          <a:bodyPr wrap="square" lIns="0" tIns="0" rIns="0" bIns="0" rtlCol="0" anchor="t"/>
          <a:lstStyle/>
          <a:p>
            <a:r>
              <a:t>AI Autopilot tự động phân tích hồ sơ sự kiện, hỗ trợ lập dàn ý và chuẩn hóa câu từ theo văn phong báo chí chính luận.</a:t>
            </a:r>
          </a:p>
        </p:txBody>
      </p:sp>
      <p:sp>
        <p:nvSpPr>
          <p:cNvPr id="189312234" name="Text 18"/>
          <p:cNvSpPr/>
          <p:nvPr/>
        </p:nvSpPr>
        <p:spPr bwMode="auto">
          <a:xfrm>
            <a:off x="6181725" y="1264444"/>
            <a:ext cx="2652713" cy="1291977"/>
          </a:xfrm>
          <a:prstGeom prst="roundRect">
            <a:avLst>
              <a:gd name="adj" fmla="val 10321"/>
            </a:avLst>
          </a:prstGeom>
          <a:solidFill>
            <a:srgbClr val="FFFFFF"/>
          </a:solidFill>
          <a:ln/>
          <a:effectLst>
            <a:outerShdw blurRad="152400" dist="57150" dir="5400000" algn="bl" rotWithShape="0">
              <a:srgbClr val="002855">
                <a:alpha val="6000"/>
              </a:srgbClr>
            </a:outerShdw>
          </a:effectLst>
        </p:spPr>
        <p:txBody>
          <a:bodyPr wrap="square" rtlCol="0" anchor="ctr"/>
          <a:lstStyle/>
          <a:p>
            <a:pPr marL="0" indent="0">
              <a:buNone/>
              <a:defRPr/>
            </a:pPr>
            <a:endParaRPr lang="vi-VN" noProof="1"/>
          </a:p>
        </p:txBody>
      </p:sp>
      <p:sp>
        <p:nvSpPr>
          <p:cNvPr id="1623447681" name="Shape 19"/>
          <p:cNvSpPr/>
          <p:nvPr/>
        </p:nvSpPr>
        <p:spPr bwMode="auto">
          <a:xfrm>
            <a:off x="6334125" y="1288256"/>
            <a:ext cx="2347912" cy="0"/>
          </a:xfrm>
          <a:prstGeom prst="line">
            <a:avLst/>
          </a:prstGeom>
          <a:noFill/>
          <a:ln w="47625">
            <a:solidFill>
              <a:srgbClr val="D4A017"/>
            </a:solidFill>
            <a:prstDash val="solid"/>
          </a:ln>
        </p:spPr>
        <p:txBody>
          <a:bodyPr/>
          <a:lstStyle/>
          <a:p>
            <a:endParaRPr lang="vi-VN" noProof="1"/>
          </a:p>
        </p:txBody>
      </p:sp>
      <p:sp>
        <p:nvSpPr>
          <p:cNvPr id="161504581" name="Shape 21"/>
          <p:cNvSpPr/>
          <p:nvPr/>
        </p:nvSpPr>
        <p:spPr bwMode="auto">
          <a:xfrm>
            <a:off x="6334125" y="2555081"/>
            <a:ext cx="2347912" cy="0"/>
          </a:xfrm>
          <a:prstGeom prst="line">
            <a:avLst/>
          </a:prstGeom>
          <a:noFill/>
          <a:ln w="9525">
            <a:solidFill>
              <a:srgbClr val="E3E9F2"/>
            </a:solidFill>
            <a:prstDash val="solid"/>
          </a:ln>
        </p:spPr>
        <p:txBody>
          <a:bodyPr/>
          <a:lstStyle/>
          <a:p>
            <a:endParaRPr lang="vi-VN" noProof="1"/>
          </a:p>
        </p:txBody>
      </p:sp>
      <p:sp>
        <p:nvSpPr>
          <p:cNvPr id="316818631" name="Shape 22"/>
          <p:cNvSpPr/>
          <p:nvPr/>
        </p:nvSpPr>
        <p:spPr bwMode="auto">
          <a:xfrm>
            <a:off x="6186488" y="1435894"/>
            <a:ext cx="0" cy="987177"/>
          </a:xfrm>
          <a:prstGeom prst="line">
            <a:avLst/>
          </a:prstGeom>
          <a:noFill/>
          <a:ln w="9525">
            <a:solidFill>
              <a:srgbClr val="E3E9F2"/>
            </a:solidFill>
            <a:prstDash val="solid"/>
          </a:ln>
        </p:spPr>
        <p:txBody>
          <a:bodyPr/>
          <a:lstStyle/>
          <a:p>
            <a:endParaRPr lang="vi-VN" noProof="1"/>
          </a:p>
        </p:txBody>
      </p:sp>
      <p:sp>
        <p:nvSpPr>
          <p:cNvPr id="1813989432" name="Text 23"/>
          <p:cNvSpPr/>
          <p:nvPr/>
        </p:nvSpPr>
        <p:spPr bwMode="auto">
          <a:xfrm>
            <a:off x="6320361" y="1483519"/>
            <a:ext cx="2375440" cy="356146"/>
          </a:xfrm>
          <a:prstGeom prst="rect">
            <a:avLst/>
          </a:prstGeom>
          <a:noFill/>
          <a:ln/>
        </p:spPr>
        <p:txBody>
          <a:bodyPr wrap="square" lIns="0" tIns="0" rIns="0" bIns="0" rtlCol="0" anchor="t"/>
          <a:lstStyle/>
          <a:p/>
        </p:txBody>
      </p:sp>
      <p:sp>
        <p:nvSpPr>
          <p:cNvPr id="268085201" name="Text 24"/>
          <p:cNvSpPr/>
          <p:nvPr/>
        </p:nvSpPr>
        <p:spPr bwMode="auto">
          <a:xfrm>
            <a:off x="6320361" y="1858714"/>
            <a:ext cx="2375440" cy="133350"/>
          </a:xfrm>
          <a:prstGeom prst="rect">
            <a:avLst/>
          </a:prstGeom>
          <a:noFill/>
          <a:ln/>
        </p:spPr>
        <p:txBody>
          <a:bodyPr wrap="square" lIns="0" tIns="0" rIns="0" bIns="0" rtlCol="0" anchor="t"/>
          <a:lstStyle/>
          <a:p>
            <a:pPr marL="0" indent="0" algn="ctr">
              <a:spcBef>
                <a:spcPts val="150"/>
              </a:spcBef>
              <a:spcAft>
                <a:spcPts val="600"/>
              </a:spcAft>
              <a:buNone/>
              <a:defRPr/>
            </a:pPr>
            <a:r>
              <a:rPr lang="vi-VN" sz="900" b="1" noProof="1">
                <a:solidFill>
                  <a:srgbClr val="B07F12"/>
                </a:solidFill>
                <a:latin typeface="Arial"/>
                <a:ea typeface="Arial"/>
                <a:cs typeface="Arial"/>
              </a:rPr>
              <a:t>ĐỒNG BỘ FACEBOOK</a:t>
            </a:r>
            <a:endParaRPr lang="vi-VN" sz="900" noProof="1"/>
          </a:p>
        </p:txBody>
      </p:sp>
      <p:sp>
        <p:nvSpPr>
          <p:cNvPr id="1276800826" name="Text 25"/>
          <p:cNvSpPr/>
          <p:nvPr/>
        </p:nvSpPr>
        <p:spPr bwMode="auto">
          <a:xfrm>
            <a:off x="6320361" y="2068264"/>
            <a:ext cx="2375440" cy="345281"/>
          </a:xfrm>
          <a:prstGeom prst="rect">
            <a:avLst/>
          </a:prstGeom>
          <a:noFill/>
          <a:ln/>
        </p:spPr>
        <p:txBody>
          <a:bodyPr wrap="square" lIns="0" tIns="0" rIns="0" bIns="0" rtlCol="0" anchor="t"/>
          <a:lstStyle/>
          <a:p>
            <a:r>
              <a:t>Tự động đồng bộ bài viết và hình ảnh lên Fanpage Facebook ngay sau phê duyệt; lập lịch phát hành chính xác qua tiến trình ngầm.</a:t>
            </a:r>
          </a:p>
        </p:txBody>
      </p:sp>
      <p:sp>
        <p:nvSpPr>
          <p:cNvPr id="9206746" name="Text 34"/>
          <p:cNvSpPr/>
          <p:nvPr/>
        </p:nvSpPr>
        <p:spPr bwMode="auto">
          <a:xfrm>
            <a:off x="422148" y="2689771"/>
            <a:ext cx="11347704" cy="133350"/>
          </a:xfrm>
          <a:prstGeom prst="rect">
            <a:avLst/>
          </a:prstGeom>
          <a:noFill/>
          <a:ln/>
        </p:spPr>
        <p:txBody>
          <a:bodyPr wrap="square" lIns="0" tIns="0" rIns="0" bIns="0" rtlCol="0" anchor="t"/>
          <a:lstStyle/>
          <a:p>
            <a:pPr marL="0" indent="0" algn="ctr">
              <a:spcBef>
                <a:spcPts val="1050"/>
              </a:spcBef>
              <a:buNone/>
              <a:defRPr/>
            </a:pPr>
            <a:endParaRPr lang="vi-VN" sz="950" noProof="1"/>
          </a:p>
        </p:txBody>
      </p:sp>
      <p:sp>
        <p:nvSpPr>
          <p:cNvPr id="533187219" name="Text 35"/>
          <p:cNvSpPr/>
          <p:nvPr/>
        </p:nvSpPr>
        <p:spPr bwMode="auto">
          <a:xfrm>
            <a:off x="533400" y="3070771"/>
            <a:ext cx="7272784" cy="1695450"/>
          </a:xfrm>
          <a:prstGeom prst="roundRect">
            <a:avLst>
              <a:gd name="adj" fmla="val 7865"/>
            </a:avLst>
          </a:prstGeom>
          <a:solidFill>
            <a:srgbClr val="002855"/>
          </a:solidFill>
          <a:ln/>
        </p:spPr>
        <p:txBody>
          <a:bodyPr wrap="square" rtlCol="0" anchor="ctr"/>
          <a:lstStyle/>
          <a:p>
            <a:pPr marL="0" indent="0">
              <a:buNone/>
              <a:defRPr/>
            </a:pPr>
            <a:endParaRPr lang="vi-VN" noProof="1"/>
          </a:p>
        </p:txBody>
      </p:sp>
      <p:sp>
        <p:nvSpPr>
          <p:cNvPr id="1334823512" name="Text 36"/>
          <p:cNvSpPr/>
          <p:nvPr/>
        </p:nvSpPr>
        <p:spPr bwMode="auto">
          <a:xfrm>
            <a:off x="742950" y="3242221"/>
            <a:ext cx="6990758" cy="171450"/>
          </a:xfrm>
          <a:prstGeom prst="rect">
            <a:avLst/>
          </a:prstGeom>
          <a:noFill/>
          <a:ln/>
        </p:spPr>
        <p:txBody>
          <a:bodyPr wrap="square" lIns="0" tIns="0" rIns="0" bIns="0" rtlCol="0" anchor="t"/>
          <a:lstStyle/>
          <a:p>
            <a:pPr marL="0" indent="0" algn="l">
              <a:spcAft>
                <a:spcPts val="750"/>
              </a:spcAft>
              <a:buNone/>
              <a:defRPr/>
            </a:pPr>
            <a:r>
              <a:rPr lang="vi-VN" sz="1200" b="1" noProof="1">
                <a:solidFill>
                  <a:srgbClr val="F6C945"/>
                </a:solidFill>
                <a:latin typeface="Arial"/>
                <a:ea typeface="Arial"/>
                <a:cs typeface="Arial"/>
              </a:rPr>
              <a:t>Hướng phát triển</a:t>
            </a:r>
            <a:endParaRPr lang="vi-VN" sz="1200" noProof="1"/>
          </a:p>
        </p:txBody>
      </p:sp>
      <p:sp>
        <p:nvSpPr>
          <p:cNvPr id="2113244601" name="Text 37"/>
          <p:cNvSpPr/>
          <p:nvPr/>
        </p:nvSpPr>
        <p:spPr bwMode="auto">
          <a:xfrm>
            <a:off x="742950" y="3508921"/>
            <a:ext cx="6853684" cy="1085850"/>
          </a:xfrm>
          <a:prstGeom prst="rect">
            <a:avLst/>
          </a:prstGeom>
          <a:noFill/>
          <a:ln/>
        </p:spPr>
        <p:txBody>
          <a:bodyPr wrap="square" lIns="0" tIns="0" rIns="0" bIns="85725" rtlCol="0" anchor="t"/>
          <a:lstStyle/>
          <a:p>
            <a:pPr marL="190500" indent="-190500" algn="l">
              <a:lnSpc>
                <a:spcPts val="1463"/>
              </a:lnSpc>
              <a:buSzPct val="100000"/>
              <a:buChar char="→"/>
              <a:defRPr/>
            </a:pPr>
            <a:r>
              <a:rPr lang="vi-VN" sz="1000" noProof="1">
                <a:solidFill>
                  <a:srgbClr val="EAF1FA"/>
                </a:solidFill>
                <a:latin typeface="Arial"/>
                <a:ea typeface="Arial"/>
                <a:cs typeface="Arial"/>
              </a:rPr>
              <a:t>Hoàn thiện đầy đủ 26 use case và toàn bộ phân hệ theo thiết kế</a:t>
            </a:r>
            <a:endParaRPr lang="vi-VN" sz="1000" noProof="1"/>
          </a:p>
          <a:p>
            <a:pPr marL="190500" indent="-190500" algn="l">
              <a:lnSpc>
                <a:spcPts val="1463"/>
              </a:lnSpc>
              <a:buSzPct val="100000"/>
              <a:buChar char="→"/>
              <a:defRPr/>
            </a:pPr>
            <a:r>
              <a:rPr lang="vi-VN" sz="1000" noProof="1">
                <a:solidFill>
                  <a:srgbClr val="EAF1FA"/>
                </a:solidFill>
                <a:latin typeface="Arial"/>
                <a:ea typeface="Arial"/>
                <a:cs typeface="Arial"/>
              </a:rPr>
              <a:t>Triển khai chạy thực tế với dữ liệu chính thức của Công đoàn trường</a:t>
            </a:r>
            <a:endParaRPr lang="vi-VN" sz="1000" noProof="1"/>
          </a:p>
          <a:p>
            <a:pPr marL="190500" indent="-190500" algn="l">
              <a:lnSpc>
                <a:spcPts val="1463"/>
              </a:lnSpc>
              <a:buSzPct val="100000"/>
              <a:buChar char="→"/>
              <a:defRPr/>
            </a:pPr>
            <a:r>
              <a:rPr lang="vi-VN" sz="1000" noProof="1">
                <a:solidFill>
                  <a:srgbClr val="EAF1FA"/>
                </a:solidFill>
                <a:latin typeface="Arial"/>
                <a:ea typeface="Arial"/>
                <a:cs typeface="Arial"/>
              </a:rPr>
              <a:t>Mở rộng xuất bản Zalo OA, TikTok/Reels, kho Media tự động hóa</a:t>
            </a:r>
            <a:endParaRPr lang="vi-VN" sz="1000" noProof="1"/>
          </a:p>
          <a:p>
            <a:pPr marL="190500" indent="-190500" algn="l">
              <a:lnSpc>
                <a:spcPts val="1463"/>
              </a:lnSpc>
              <a:buSzPct val="100000"/>
              <a:buChar char="→"/>
              <a:defRPr/>
            </a:pPr>
            <a:r>
              <a:rPr lang="vi-VN" sz="1000" noProof="1">
                <a:solidFill>
                  <a:srgbClr val="EAF1FA"/>
                </a:solidFill>
                <a:latin typeface="Arial"/>
                <a:ea typeface="Arial"/>
                <a:cs typeface="Arial"/>
              </a:rPr>
              <a:t>Nâng cao bảo mật, sao lưu CSDL và tối ưu chi phí Token AI theo vai trò</a:t>
            </a:r>
            <a:endParaRPr lang="vi-VN" sz="1000" noProof="1"/>
          </a:p>
        </p:txBody>
      </p:sp>
      <p:sp>
        <p:nvSpPr>
          <p:cNvPr id="375851085" name="Shape 41"/>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875689636" name="Text 42"/>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pic>
        <p:nvPicPr>
          <p:cNvPr id="2140140730" name="Fanpage Live Result" descr="Hinh_4_13_Facebook_Fanpage_Result.png"/>
          <p:cNvPicPr>
            <a:picLocks noChangeAspect="1"/>
          </p:cNvPicPr>
          <p:nvPr/>
        </p:nvPicPr>
        <p:blipFill>
          <a:blip r:embed="rId4"/>
          <a:stretch>
            <a:fillRect/>
          </a:stretch>
        </p:blipFill>
        <p:spPr>
          <a:xfrm>
            <a:off x="8050000" y="1400000"/>
            <a:ext cx="3600000" cy="17560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3DE8DBA4-B806-CFBD-AA2D-31C65321CA3E}"/>
            </a:ext>
          </a:extLst>
        </p:cNvPr>
        <p:cNvGrpSpPr/>
        <p:nvPr/>
      </p:nvGrpSpPr>
      <p:grpSpPr bwMode="auto">
        <a:xfrm>
          <a:off x="0" y="0"/>
          <a:ext cx="0" cy="0"/>
          <a:chOff x="0" y="0"/>
          <a:chExt cx="0" cy="0"/>
        </a:xfrm>
      </p:grpSpPr>
      <p:pic>
        <p:nvPicPr>
          <p:cNvPr id="870917759" name="Image 0" descr="/var/folders/t4/q0khv7qd1r3dc2yrbwkzmjf00000gn/T/html2pptx-5EShAo/html2pptx-bg-1791687631881-4aa197ed81b4d.png">
            <a:extLst>
              <a:ext uri="{FF2B5EF4-FFF2-40B4-BE49-F238E27FC236}">
                <a16:creationId xmlns:a16="http://schemas.microsoft.com/office/drawing/2014/main" id="{A0188B4A-09FA-D954-70C5-E968B291947C}"/>
              </a:ext>
            </a:extLst>
          </p:cNvPr>
          <p:cNvPicPr>
            <a:picLocks noChangeAspect="1"/>
          </p:cNvPicPr>
          <p:nvPr/>
        </p:nvPicPr>
        <p:blipFill rotWithShape="1">
          <a:blip r:embed="rId3"/>
          <a:stretch/>
        </p:blipFill>
        <p:spPr bwMode="auto">
          <a:xfrm>
            <a:off x="0" y="0"/>
            <a:ext cx="12192000" cy="6858000"/>
          </a:xfrm>
          <a:prstGeom prst="rect">
            <a:avLst/>
          </a:prstGeom>
        </p:spPr>
      </p:pic>
      <p:pic>
        <p:nvPicPr>
          <p:cNvPr id="106409509" name="Image 1" descr="/var/folders/t4/q0khv7qd1r3dc2yrbwkzmjf00000gn/T/html2pptx-5EShAo/html2pptx-bg-1791687634666-11618a6fb0db7.png">
            <a:extLst>
              <a:ext uri="{FF2B5EF4-FFF2-40B4-BE49-F238E27FC236}">
                <a16:creationId xmlns:a16="http://schemas.microsoft.com/office/drawing/2014/main" id="{CBD84E44-ECD2-1FF1-5FB6-604018459F68}"/>
              </a:ext>
            </a:extLst>
          </p:cNvPr>
          <p:cNvPicPr>
            <a:picLocks noChangeAspect="1"/>
          </p:cNvPicPr>
          <p:nvPr/>
        </p:nvPicPr>
        <p:blipFill rotWithShape="1">
          <a:blip r:embed="rId4"/>
          <a:stretch/>
        </p:blipFill>
        <p:spPr bwMode="auto">
          <a:xfrm>
            <a:off x="0" y="0"/>
            <a:ext cx="12192000" cy="6858000"/>
          </a:xfrm>
          <a:prstGeom prst="rect">
            <a:avLst/>
          </a:prstGeom>
        </p:spPr>
      </p:pic>
      <p:sp>
        <p:nvSpPr>
          <p:cNvPr id="394878804" name="Text 5">
            <a:extLst>
              <a:ext uri="{FF2B5EF4-FFF2-40B4-BE49-F238E27FC236}">
                <a16:creationId xmlns:a16="http://schemas.microsoft.com/office/drawing/2014/main" id="{1449C6BB-4DF0-866A-70E9-FF4D594FDDC6}"/>
              </a:ext>
            </a:extLst>
          </p:cNvPr>
          <p:cNvSpPr/>
          <p:nvPr/>
        </p:nvSpPr>
        <p:spPr bwMode="auto">
          <a:xfrm>
            <a:off x="4055842" y="5097440"/>
            <a:ext cx="4080313" cy="762504"/>
          </a:xfrm>
          <a:prstGeom prst="rect">
            <a:avLst/>
          </a:prstGeom>
          <a:noFill/>
          <a:ln/>
        </p:spPr>
        <p:txBody>
          <a:bodyPr wrap="square" lIns="0" tIns="0" rIns="0" bIns="0" rtlCol="0" anchor="t"/>
          <a:lstStyle/>
          <a:p>
            <a:pPr marL="0" indent="0" algn="l">
              <a:buNone/>
              <a:defRPr/>
            </a:pPr>
            <a:endParaRPr lang="vi-VN" b="0" baseline="-25000" noProof="1">
              <a:latin typeface="Arial"/>
              <a:cs typeface="Arial"/>
            </a:endParaRPr>
          </a:p>
        </p:txBody>
      </p:sp>
      <p:sp>
        <p:nvSpPr>
          <p:cNvPr id="1222255792" name="Text 39"/>
          <p:cNvSpPr/>
          <p:nvPr/>
        </p:nvSpPr>
        <p:spPr bwMode="auto">
          <a:xfrm>
            <a:off x="3111060" y="2052982"/>
            <a:ext cx="5969876" cy="959471"/>
          </a:xfrm>
          <a:prstGeom prst="rect">
            <a:avLst/>
          </a:prstGeom>
          <a:noFill/>
          <a:ln/>
        </p:spPr>
        <p:txBody>
          <a:bodyPr wrap="square" lIns="0" tIns="0" rIns="0" bIns="0" rtlCol="0" anchor="t"/>
          <a:lstStyle/>
          <a:p>
            <a:pPr algn="ctr">
              <a:defRPr/>
            </a:pPr>
            <a:r>
              <a:rPr lang="vi-VN" sz="4800" b="1" noProof="1">
                <a:solidFill>
                  <a:srgbClr val="002855"/>
                </a:solidFill>
                <a:latin typeface="Arial"/>
              </a:rPr>
              <a:t>Cảm ơn thầy </a:t>
            </a:r>
            <a:r>
              <a:rPr lang="en-US" sz="4800" b="1" noProof="1">
                <a:solidFill>
                  <a:srgbClr val="002855"/>
                </a:solidFill>
                <a:latin typeface="Arial"/>
              </a:rPr>
              <a:t>và các bạn </a:t>
            </a:r>
            <a:r>
              <a:rPr lang="vi-VN" sz="4800" b="1" noProof="1">
                <a:solidFill>
                  <a:srgbClr val="002855"/>
                </a:solidFill>
                <a:latin typeface="Arial"/>
              </a:rPr>
              <a:t>đã lắng nghe!</a:t>
            </a:r>
            <a:endParaRPr lang="vi-VN" sz="4800" noProof="1"/>
          </a:p>
        </p:txBody>
      </p:sp>
      <p:sp>
        <p:nvSpPr>
          <p:cNvPr id="3" name="Hộp Văn bản 2">
            <a:extLst>
              <a:ext uri="{FF2B5EF4-FFF2-40B4-BE49-F238E27FC236}">
                <a16:creationId xmlns:a16="http://schemas.microsoft.com/office/drawing/2014/main" id="{766AA992-B800-41D2-FDDD-31F48C53E712}"/>
              </a:ext>
            </a:extLst>
          </p:cNvPr>
          <p:cNvSpPr txBox="1"/>
          <p:nvPr/>
        </p:nvSpPr>
        <p:spPr>
          <a:xfrm>
            <a:off x="1802028" y="3989066"/>
            <a:ext cx="8587940" cy="1569660"/>
          </a:xfrm>
          <a:prstGeom prst="rect">
            <a:avLst/>
          </a:prstGeom>
          <a:noFill/>
        </p:spPr>
        <p:txBody>
          <a:bodyPr wrap="square">
            <a:spAutoFit/>
          </a:bodyPr>
          <a:lstStyle/>
          <a:p>
            <a:pPr marL="0" indent="0" algn="ctr">
              <a:buNone/>
              <a:defRPr/>
            </a:pPr>
            <a:r>
              <a:rPr lang="en-US" sz="4800" b="1" noProof="1">
                <a:solidFill>
                  <a:srgbClr val="002855"/>
                </a:solidFill>
                <a:latin typeface="Arial"/>
                <a:cs typeface="Arial"/>
              </a:rPr>
              <a:t>Em xin mời thầy nhận xét và đặt câu hỏi cho nhóm em ạ</a:t>
            </a:r>
            <a:endParaRPr lang="vi-VN" sz="4800" noProof="1"/>
          </a:p>
        </p:txBody>
      </p:sp>
    </p:spTree>
    <p:extLst>
      <p:ext uri="{BB962C8B-B14F-4D97-AF65-F5344CB8AC3E}">
        <p14:creationId xmlns:p14="http://schemas.microsoft.com/office/powerpoint/2010/main" val="2841137762"/>
      </p:ext>
    </p:extLst>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960</TotalTime>
  <Words>2035</Words>
  <Application>Microsoft Office PowerPoint</Application>
  <PresentationFormat>Màn hình rộng</PresentationFormat>
  <Paragraphs>227</Paragraphs>
  <Slides>13</Slides>
  <Notes>13</Notes>
  <HiddenSlides>0</HiddenSlides>
  <MMClips>0</MMClips>
  <ScaleCrop>false</ScaleCrop>
  <HeadingPairs>
    <vt:vector size="6" baseType="variant">
      <vt:variant>
        <vt:lpstr>Phông được Dùng</vt:lpstr>
      </vt:variant>
      <vt:variant>
        <vt:i4>3</vt:i4>
      </vt:variant>
      <vt:variant>
        <vt:lpstr>Chủ đề</vt:lpstr>
      </vt:variant>
      <vt:variant>
        <vt:i4>1</vt:i4>
      </vt:variant>
      <vt:variant>
        <vt:lpstr>Tiêu đề Bản chiếu</vt:lpstr>
      </vt:variant>
      <vt:variant>
        <vt:i4>13</vt:i4>
      </vt:variant>
    </vt:vector>
  </HeadingPairs>
  <TitlesOfParts>
    <vt:vector size="17" baseType="lpstr">
      <vt:lpstr>Arial</vt:lpstr>
      <vt:lpstr>Calibri</vt:lpstr>
      <vt:lpstr>Segoe UI</vt:lpstr>
      <vt:lpstr>Office Theme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Company>DeepPresenter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DeepPresenter Presentation</dc:title>
  <dc:subject/>
  <dc:creator>DeepPresenter</dc:creator>
  <cp:lastModifiedBy>Nguyễn Bình Dương</cp:lastModifiedBy>
  <cp:revision>12</cp:revision>
  <dcterms:created xsi:type="dcterms:W3CDTF">2026-10-11T03:00:50Z</dcterms:created>
  <dcterms:modified xsi:type="dcterms:W3CDTF">2026-10-24T04:17:05Z</dcterms:modified>
</cp:coreProperties>
</file>