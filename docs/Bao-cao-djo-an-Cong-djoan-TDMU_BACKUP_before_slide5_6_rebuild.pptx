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57" r:id="rId3"/>
    <p:sldId id="258" r:id="rId4"/>
    <p:sldId id="270" r:id="rId24"/>
    <p:sldId id="262" r:id="rId5"/>
    <p:sldId id="263" r:id="rId6"/>
    <p:sldId id="264" r:id="rId7"/>
    <p:sldId id="271" r:id="rId25"/>
    <p:sldId id="265" r:id="rId8"/>
    <p:sldId id="266" r:id="rId9"/>
    <p:sldId id="267" r:id="rId10"/>
    <p:sldId id="268" r:id="rId11"/>
  </p:sldIdLst>
  <p:sldSz cx="12192000" cy="6858000"/>
  <p:notesSz cx="6858000" cy="12192000"/>
  <p:embeddedFontLst>
    <p:embeddedFont>
      <p:font typeface="Arimo Bold" panose="020B0604020202020204" charset="0"/>
      <p:regular r:id="rId13"/>
    </p:embeddedFont>
    <p:embeddedFont>
      <p:font typeface="Carlito" panose="020F0502020204030204" pitchFamily="34" charset="0"/>
      <p:regular r:id="rId14"/>
      <p:bold r:id="rId15"/>
      <p:italic r:id="rId16"/>
      <p:boldItalic r:id="rId17"/>
    </p:embeddedFont>
    <p:embeddedFont>
      <p:font typeface="Carlito Bold" panose="020F0502020204030204" pitchFamily="34" charset="0"/>
      <p:bold r:id="rId18"/>
    </p:embeddedFont>
    <p:embeddedFont>
      <p:font typeface="PT San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F3A"/>
    <a:srgbClr val="F4F8FC"/>
    <a:srgbClr val="0028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7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4.xml"/><Relationship Id="rId2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36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70760-38B1-42FB-B2D2-BA4FD83F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ADA22-B080-E6A2-1C04-E65B283A2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58D18-A1FE-B437-BB00-D96CFFB4C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4EE5B-A4BC-0FF2-FF8F-B8613CA909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0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A983F-C224-0CF5-B8C3-359BD09BA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3824DA-B2FC-D666-03E8-BBB201882C30}"/>
              </a:ext>
            </a:extLst>
          </p:cNvPr>
          <p:cNvSpPr/>
          <p:nvPr/>
        </p:nvSpPr>
        <p:spPr>
          <a:xfrm>
            <a:off x="27432000" y="0"/>
            <a:ext cx="152396" cy="6858000"/>
          </a:xfrm>
          <a:prstGeom prst="roundRect">
            <a:avLst>
              <a:gd name="adj" fmla="val 22500"/>
            </a:avLst>
          </a:prstGeom>
          <a:solidFill>
            <a:srgbClr val="00A3C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6418777-A5C6-0882-89C4-97B5344557B4}"/>
              </a:ext>
            </a:extLst>
          </p:cNvPr>
          <p:cNvSpPr/>
          <p:nvPr/>
        </p:nvSpPr>
        <p:spPr>
          <a:xfrm>
            <a:off x="819130" y="947737"/>
            <a:ext cx="81150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kern="100" spc="13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TRƯỜNG ĐẠI HỌC THỦ DẦU MỘT · VIỆN CÔNG NGHỆ SỐ</a:t>
            </a:r>
            <a:endParaRPr lang="vi-VN" sz="1600" noProof="1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F975C4B-92E0-488F-C9D5-D478B080FF2B}"/>
              </a:ext>
            </a:extLst>
          </p:cNvPr>
          <p:cNvSpPr/>
          <p:nvPr/>
        </p:nvSpPr>
        <p:spPr>
          <a:xfrm>
            <a:off x="761981" y="1903679"/>
            <a:ext cx="3428914" cy="355600"/>
          </a:xfrm>
          <a:prstGeom prst="roundRect">
            <a:avLst>
              <a:gd name="adj" fmla="val 49999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CBEE8FD-A6E1-86E3-346A-5713E9215253}"/>
              </a:ext>
            </a:extLst>
          </p:cNvPr>
          <p:cNvSpPr/>
          <p:nvPr/>
        </p:nvSpPr>
        <p:spPr>
          <a:xfrm>
            <a:off x="634984" y="1967179"/>
            <a:ext cx="36829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BÁO CÁO ĐỒ ÁN CƠ SỞ NGÀNH</a:t>
            </a:r>
            <a:endParaRPr lang="vi-VN" sz="1200" noProof="1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DEF9A86-2476-BDAA-5219-59593519D3A2}"/>
              </a:ext>
            </a:extLst>
          </p:cNvPr>
          <p:cNvSpPr/>
          <p:nvPr/>
        </p:nvSpPr>
        <p:spPr>
          <a:xfrm>
            <a:off x="819130" y="2377440"/>
            <a:ext cx="1119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vi-VN" sz="3200" b="1" noProof="1">
                <a:solidFill>
                  <a:srgbClr val="002855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Xây dựng Website Truyền thông Công đoàn TDMU</a:t>
            </a:r>
            <a:endParaRPr lang="vi-VN" sz="4000" noProof="1"/>
          </a:p>
          <a:p>
            <a:pPr marL="0" indent="0" algn="l">
              <a:lnSpc>
                <a:spcPct val="120000"/>
              </a:lnSpc>
              <a:buNone/>
            </a:pPr>
            <a:r>
              <a:rPr lang="vi-VN" sz="2400" b="1" noProof="1">
                <a:solidFill>
                  <a:srgbClr val="002855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tích hợp AI hỗ trợ tạo và đăng tải nội dung</a:t>
            </a:r>
            <a:endParaRPr lang="vi-VN" sz="4000" noProof="1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DE94C74-8806-7D10-9EEC-D9A5C36D9BF0}"/>
              </a:ext>
            </a:extLst>
          </p:cNvPr>
          <p:cNvSpPr/>
          <p:nvPr/>
        </p:nvSpPr>
        <p:spPr>
          <a:xfrm>
            <a:off x="819130" y="3977639"/>
            <a:ext cx="1523962" cy="63500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5C267C1-36F3-4D49-1383-9E9C3765CDB1}"/>
              </a:ext>
            </a:extLst>
          </p:cNvPr>
          <p:cNvSpPr/>
          <p:nvPr/>
        </p:nvSpPr>
        <p:spPr>
          <a:xfrm>
            <a:off x="819130" y="4160520"/>
            <a:ext cx="106550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GVHD: ThS. Võ Quốc Lương   |   Nhóm thực hiện: Nhóm 2</a:t>
            </a:r>
            <a:endParaRPr lang="vi-VN" sz="1600" noProof="1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9FB5EE3-3D84-6DC4-86DF-FD87B2102DF9}"/>
              </a:ext>
            </a:extLst>
          </p:cNvPr>
          <p:cNvSpPr/>
          <p:nvPr/>
        </p:nvSpPr>
        <p:spPr>
          <a:xfrm>
            <a:off x="819130" y="4617720"/>
            <a:ext cx="10045449" cy="82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Nguyễn Bình Dương (Trưởng nhóm) - MSSV: 2424802010319 - Lớp: D24CNTT05 </a:t>
            </a:r>
          </a:p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Trần Hồng Thanh - MSSV: 2424802010439 - Lớp: D24CNTT03</a:t>
            </a:r>
          </a:p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Phạm Anh Tuấn - MSSV: 2324802010393 - Lớp: D23CNTT03</a:t>
            </a:r>
            <a:endParaRPr lang="vi-VN" sz="1600" noProof="1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DBA0566-5BE9-0301-1434-EFC3A8015E4C}"/>
              </a:ext>
            </a:extLst>
          </p:cNvPr>
          <p:cNvSpPr/>
          <p:nvPr/>
        </p:nvSpPr>
        <p:spPr>
          <a:xfrm>
            <a:off x="819130" y="5989320"/>
            <a:ext cx="10655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HỌC PHẦN: ĐỒ ÁN CƠ SỞ NGÀNH · NĂM HỌC 2026–2027 · THÁNG 10/2026</a:t>
            </a:r>
            <a:endParaRPr lang="vi-VN" sz="900" noProof="1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485F52E-195C-C0D9-3D4B-CB6669C255F9}"/>
              </a:ext>
            </a:extLst>
          </p:cNvPr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</a:t>
            </a:r>
            <a:endParaRPr lang="vi-VN" sz="700" noProof="1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48C215A-CC1A-4853-9588-B11FB4F4FDE6}"/>
              </a:ext>
            </a:extLst>
          </p:cNvPr>
          <p:cNvSpPr/>
          <p:nvPr/>
        </p:nvSpPr>
        <p:spPr>
          <a:xfrm>
            <a:off x="27432000" y="6140918"/>
            <a:ext cx="1459527" cy="695498"/>
          </a:xfrm>
          <a:prstGeom prst="rect">
            <a:avLst/>
          </a:prstGeom>
          <a:solidFill>
            <a:srgbClr val="0028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  <p:extLst>
      <p:ext uri="{BB962C8B-B14F-4D97-AF65-F5344CB8AC3E}">
        <p14:creationId xmlns:p14="http://schemas.microsoft.com/office/powerpoint/2010/main" val="2220241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0" y="0"/>
            <a:ext cx="4190895" cy="6858000"/>
          </a:xfrm>
          <a:prstGeom prst="roundRect">
            <a:avLst>
              <a:gd name="adj" fmla="val 818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" name="Shape 1"/>
          <p:cNvSpPr/>
          <p:nvPr/>
        </p:nvSpPr>
        <p:spPr>
          <a:xfrm>
            <a:off x="27432000" y="508000"/>
            <a:ext cx="3428914" cy="203200"/>
          </a:xfrm>
          <a:prstGeom prst="roundRect">
            <a:avLst>
              <a:gd name="adj" fmla="val 16875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4" name="Text 2"/>
          <p:cNvSpPr/>
          <p:nvPr/>
        </p:nvSpPr>
        <p:spPr>
          <a:xfrm>
            <a:off x="565136" y="508000"/>
            <a:ext cx="39242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1. GIỚI THIỆU ĐỀ TÀI</a:t>
            </a:r>
            <a:endParaRPr lang="vi-VN" sz="1000" noProof="1"/>
          </a:p>
        </p:txBody>
      </p:sp>
      <p:sp>
        <p:nvSpPr>
          <p:cNvPr id="5" name="Shape 3"/>
          <p:cNvSpPr/>
          <p:nvPr/>
        </p:nvSpPr>
        <p:spPr>
          <a:xfrm>
            <a:off x="27432000" y="787400"/>
            <a:ext cx="3428914" cy="1397000"/>
          </a:xfrm>
          <a:prstGeom prst="roundRect">
            <a:avLst>
              <a:gd name="adj" fmla="val 2454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4"/>
          <p:cNvSpPr/>
          <p:nvPr/>
        </p:nvSpPr>
        <p:spPr>
          <a:xfrm>
            <a:off x="565136" y="787400"/>
            <a:ext cx="33146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2200" b="1">
                <a:solidFill>
                  <a:srgbClr val="002855"/>
                </a:solidFill>
                <a:latin typeface="Arial"/>
              </a:defRPr>
            </a:pPr>
            <a:r>
              <a:t>Bối cảnh &amp; Khó khăn thực tế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362200"/>
            <a:ext cx="1047724" cy="38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00" y="3606800"/>
            <a:ext cx="3428914" cy="457200"/>
          </a:xfrm>
          <a:prstGeom prst="roundRect">
            <a:avLst>
              <a:gd name="adj" fmla="val 7500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1" name="Text 8"/>
          <p:cNvSpPr/>
          <p:nvPr/>
        </p:nvSpPr>
        <p:spPr>
          <a:xfrm>
            <a:off x="565137" y="2565400"/>
            <a:ext cx="2418696" cy="144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Quy mô hơn 800 cán bộ, giảng viên và người lao động</a:t>
            </a:r>
            <a:endParaRPr lang="vi-VN" sz="1600" noProof="1"/>
          </a:p>
        </p:txBody>
      </p:sp>
      <p:sp>
        <p:nvSpPr>
          <p:cNvPr id="12" name="Shape 9"/>
          <p:cNvSpPr/>
          <p:nvPr/>
        </p:nvSpPr>
        <p:spPr>
          <a:xfrm>
            <a:off x="27432000" y="4445000"/>
            <a:ext cx="3428914" cy="762000"/>
          </a:xfrm>
          <a:prstGeom prst="roundRect">
            <a:avLst>
              <a:gd name="adj" fmla="val 4500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3" name="Text 10"/>
          <p:cNvSpPr/>
          <p:nvPr/>
        </p:nvSpPr>
        <p:spPr>
          <a:xfrm>
            <a:off x="565136" y="4445000"/>
            <a:ext cx="33146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8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Đội ngũ truyền thông hoạt động kiêm nhiệm</a:t>
            </a:r>
            <a:endParaRPr lang="vi-VN" sz="1800" noProof="1"/>
          </a:p>
        </p:txBody>
      </p:sp>
      <p:sp>
        <p:nvSpPr>
          <p:cNvPr id="14" name="Shape 11"/>
          <p:cNvSpPr/>
          <p:nvPr/>
        </p:nvSpPr>
        <p:spPr>
          <a:xfrm>
            <a:off x="27432000" y="6070600"/>
            <a:ext cx="3428914" cy="203200"/>
          </a:xfrm>
          <a:prstGeom prst="roundRect">
            <a:avLst>
              <a:gd name="adj" fmla="val 16875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5" name="Text 12"/>
          <p:cNvSpPr/>
          <p:nvPr/>
        </p:nvSpPr>
        <p:spPr>
          <a:xfrm>
            <a:off x="565136" y="6070600"/>
            <a:ext cx="39242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Công đoàn Trường ĐH Thủ Dầu Một</a:t>
            </a:r>
            <a:endParaRPr lang="vi-VN" sz="900" noProof="1"/>
          </a:p>
        </p:txBody>
      </p:sp>
      <p:sp>
        <p:nvSpPr>
          <p:cNvPr id="16" name="Shape 13"/>
          <p:cNvSpPr/>
          <p:nvPr/>
        </p:nvSpPr>
        <p:spPr>
          <a:xfrm>
            <a:off x="4825879" y="1422400"/>
            <a:ext cx="25399" cy="3810000"/>
          </a:xfrm>
          <a:prstGeom prst="roundRect">
            <a:avLst>
              <a:gd name="adj" fmla="val 50001"/>
            </a:avLst>
          </a:prstGeom>
          <a:solidFill>
            <a:srgbClr val="7FDC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7" name="Text 14"/>
          <p:cNvSpPr/>
          <p:nvPr/>
        </p:nvSpPr>
        <p:spPr>
          <a:xfrm>
            <a:off x="5264019" y="1366517"/>
            <a:ext cx="68451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2000" noProof="1"/>
          </a:p>
        </p:txBody>
      </p:sp>
      <p:sp>
        <p:nvSpPr>
          <p:cNvPr id="18" name="Text 15"/>
          <p:cNvSpPr/>
          <p:nvPr/>
        </p:nvSpPr>
        <p:spPr>
          <a:xfrm>
            <a:off x="5794408" y="1378422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 b="1">
                <a:solidFill>
                  <a:srgbClr val="002855"/>
                </a:solidFill>
              </a:defRPr>
            </a:pPr>
            <a:r>
              <a:t>Cán bộ kiêm nhiệm &amp; Viết bài mất nhiều thời gian</a:t>
            </a:r>
          </a:p>
        </p:txBody>
      </p:sp>
      <p:sp>
        <p:nvSpPr>
          <p:cNvPr id="19" name="Text 16"/>
          <p:cNvSpPr/>
          <p:nvPr/>
        </p:nvSpPr>
        <p:spPr>
          <a:xfrm>
            <a:off x="5264017" y="2082800"/>
            <a:ext cx="6106895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>
                <a:solidFill>
                  <a:srgbClr val="334155"/>
                </a:solidFill>
              </a:defRPr>
            </a:pPr>
            <a:r>
              <a:t>Cán bộ công đoàn là giảng viên kiêm nhiệm, bận công tác giảng dạy; việc thu thập tư liệu và tự viết bài tin tức sự kiện mất nhiều thời gian.</a:t>
            </a:r>
          </a:p>
        </p:txBody>
      </p:sp>
      <p:sp>
        <p:nvSpPr>
          <p:cNvPr id="20" name="Text 17"/>
          <p:cNvSpPr/>
          <p:nvPr/>
        </p:nvSpPr>
        <p:spPr>
          <a:xfrm>
            <a:off x="5264018" y="2992117"/>
            <a:ext cx="68451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2000" noProof="1"/>
          </a:p>
        </p:txBody>
      </p:sp>
      <p:sp>
        <p:nvSpPr>
          <p:cNvPr id="21" name="Text 18"/>
          <p:cNvSpPr/>
          <p:nvPr/>
        </p:nvSpPr>
        <p:spPr>
          <a:xfrm>
            <a:off x="5794408" y="2983226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 b="1">
                <a:solidFill>
                  <a:srgbClr val="002855"/>
                </a:solidFill>
              </a:defRPr>
            </a:pPr>
            <a:r>
              <a:t>Đăng tải thủ công, phân tán nhiều kênh</a:t>
            </a:r>
          </a:p>
        </p:txBody>
      </p:sp>
      <p:sp>
        <p:nvSpPr>
          <p:cNvPr id="22" name="Text 19"/>
          <p:cNvSpPr/>
          <p:nvPr/>
        </p:nvSpPr>
        <p:spPr>
          <a:xfrm>
            <a:off x="5264018" y="3708400"/>
            <a:ext cx="610689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>
                <a:solidFill>
                  <a:srgbClr val="334155"/>
                </a:solidFill>
              </a:defRPr>
            </a:pPr>
            <a:r>
              <a:t>Quy trình rời rạc; cán bộ phải sao chép nội dung và tải ảnh thủ công lặp lại trên từng kênh (Website, Facebook, Zalo), dễ sót tin và mất thời gian.</a:t>
            </a:r>
          </a:p>
        </p:txBody>
      </p:sp>
      <p:sp>
        <p:nvSpPr>
          <p:cNvPr id="23" name="Text 20"/>
          <p:cNvSpPr/>
          <p:nvPr/>
        </p:nvSpPr>
        <p:spPr>
          <a:xfrm>
            <a:off x="5264018" y="4617717"/>
            <a:ext cx="68451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2000" noProof="1"/>
          </a:p>
        </p:txBody>
      </p:sp>
      <p:sp>
        <p:nvSpPr>
          <p:cNvPr id="24" name="Text 21"/>
          <p:cNvSpPr/>
          <p:nvPr/>
        </p:nvSpPr>
        <p:spPr>
          <a:xfrm>
            <a:off x="5794408" y="4607010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 b="1">
                <a:solidFill>
                  <a:srgbClr val="002855"/>
                </a:solidFill>
              </a:defRPr>
            </a:pPr>
            <a:r>
              <a:t>Thiếu công cụ theo dõi tập trung</a:t>
            </a:r>
          </a:p>
        </p:txBody>
      </p:sp>
      <p:sp>
        <p:nvSpPr>
          <p:cNvPr id="25" name="Text 22"/>
          <p:cNvSpPr/>
          <p:nvPr/>
        </p:nvSpPr>
        <p:spPr>
          <a:xfrm>
            <a:off x="5264018" y="5334000"/>
            <a:ext cx="6106893" cy="908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>
                <a:solidFill>
                  <a:srgbClr val="334155"/>
                </a:solidFill>
              </a:defRPr>
            </a:pPr>
            <a:r>
              <a:t>Chưa có bảng theo dõi tập trung số lượt xem và mức độ tương tác của từng bài viết để đánh giá hiệu quả tuyên truyền.</a:t>
            </a:r>
          </a:p>
        </p:txBody>
      </p:sp>
      <p:sp>
        <p:nvSpPr>
          <p:cNvPr id="26" name="Text 23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</a:t>
            </a:r>
            <a:endParaRPr lang="vi-VN" sz="700" noProof="1"/>
          </a:p>
        </p:txBody>
      </p:sp>
      <p:sp>
        <p:nvSpPr>
          <p:cNvPr id="35" name="Hình chữ nhật 34">
            <a:extLst>
              <a:ext uri="{FF2B5EF4-FFF2-40B4-BE49-F238E27FC236}">
                <a16:creationId xmlns:a16="http://schemas.microsoft.com/office/drawing/2014/main" id="{D8FE84B7-8464-6367-DDBC-66A39638189D}"/>
              </a:ext>
            </a:extLst>
          </p:cNvPr>
          <p:cNvSpPr/>
          <p:nvPr/>
        </p:nvSpPr>
        <p:spPr>
          <a:xfrm>
            <a:off x="27432000" y="6140918"/>
            <a:ext cx="1459527" cy="695498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D9731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1. GIỚI THIỆU ĐỀ TÀI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Mục tiêu nghiên cứu &amp; Định hướng giải quyết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387" y="1473200"/>
            <a:ext cx="11124922" cy="25400"/>
          </a:xfrm>
          <a:prstGeom prst="roundRect">
            <a:avLst>
              <a:gd name="adj" fmla="val 49999"/>
            </a:avLst>
          </a:prstGeom>
          <a:solidFill>
            <a:srgbClr val="00A3C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3"/>
          <p:cNvSpPr/>
          <p:nvPr/>
        </p:nvSpPr>
        <p:spPr>
          <a:xfrm>
            <a:off x="590535" y="1701800"/>
            <a:ext cx="176525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0A7A94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2800" noProof="1"/>
          </a:p>
        </p:txBody>
      </p:sp>
      <p:sp>
        <p:nvSpPr>
          <p:cNvPr id="7" name="Text 4"/>
          <p:cNvSpPr/>
          <p:nvPr/>
        </p:nvSpPr>
        <p:spPr>
          <a:xfrm>
            <a:off x="590535" y="2260600"/>
            <a:ext cx="39242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Mục tiêu trọng tâm của đề tài</a:t>
            </a:r>
            <a:endParaRPr lang="vi-VN" noProof="1"/>
          </a:p>
        </p:txBody>
      </p:sp>
      <p:sp>
        <p:nvSpPr>
          <p:cNvPr id="8" name="Text 5"/>
          <p:cNvSpPr/>
          <p:nvPr/>
        </p:nvSpPr>
        <p:spPr>
          <a:xfrm>
            <a:off x="590535" y="2628900"/>
            <a:ext cx="3314617" cy="384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300">
                <a:solidFill>
                  <a:srgbClr val="283246"/>
                </a:solidFill>
              </a:defRPr>
            </a:pPr>
            <a:r>
              <a:rPr>
                <a:solidFill>
                  <a:srgbClr val="334155"/>
                </a:solidFill>
              </a:rPr>
              <a:t>• Xây dựng website truyền thông riêng cho Công đoàn Trường ĐH Thủ Dầu Một.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rPr>
                <a:solidFill>
                  <a:srgbClr val="334155"/>
                </a:solidFill>
              </a:rPr>
              <a:t>• Tích hợp AI hỗ trợ soạn bài từ kế hoạch thô và đăng bài tự động đa kênh.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rPr>
                <a:solidFill>
                  <a:srgbClr val="334155"/>
                </a:solidFill>
              </a:rPr>
              <a:t>• Giúp cán bộ tiết kiệm thời gian viết bài và quản lý tin tức tập trung.</a:t>
            </a:r>
          </a:p>
        </p:txBody>
      </p:sp>
      <p:sp>
        <p:nvSpPr>
          <p:cNvPr id="9" name="Shape 6"/>
          <p:cNvSpPr/>
          <p:nvPr/>
        </p:nvSpPr>
        <p:spPr>
          <a:xfrm>
            <a:off x="4140096" y="1701800"/>
            <a:ext cx="12700" cy="3810000"/>
          </a:xfrm>
          <a:prstGeom prst="roundRect">
            <a:avLst>
              <a:gd name="adj" fmla="val 49999"/>
            </a:avLst>
          </a:prstGeom>
          <a:solidFill>
            <a:srgbClr val="D5DEE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4451239" y="1701800"/>
            <a:ext cx="151126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B34F0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2800" noProof="1"/>
          </a:p>
        </p:txBody>
      </p:sp>
      <p:sp>
        <p:nvSpPr>
          <p:cNvPr id="11" name="Text 8"/>
          <p:cNvSpPr/>
          <p:nvPr/>
        </p:nvSpPr>
        <p:spPr>
          <a:xfrm>
            <a:off x="4451239" y="2260600"/>
            <a:ext cx="39242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Hỗ trợ tạo nội dung bằng AI</a:t>
            </a:r>
            <a:endParaRPr lang="vi-VN" noProof="1"/>
          </a:p>
        </p:txBody>
      </p:sp>
      <p:sp>
        <p:nvSpPr>
          <p:cNvPr id="12" name="Text 9"/>
          <p:cNvSpPr/>
          <p:nvPr/>
        </p:nvSpPr>
        <p:spPr>
          <a:xfrm>
            <a:off x="4451239" y="2628900"/>
            <a:ext cx="3314617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 sz="1300">
                <a:solidFill>
                  <a:srgbClr val="283246"/>
                </a:solidFill>
              </a:defRPr>
            </a:pPr>
            <a:r>
              <a:rPr>
                <a:solidFill>
                  <a:srgbClr val="334155"/>
                </a:solidFill>
              </a:rPr>
              <a:t>• Tự viết bài tin tức hoàn chỉnh từ file kế hoạch hoặc thông báo sự kiện.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rPr>
                <a:solidFill>
                  <a:srgbClr val="334155"/>
                </a:solidFill>
              </a:rPr>
              <a:t>• Tự động gợi ý 3 tiêu đề ngắn gọn và viết đoạn tóm tắt mở bài.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rPr>
                <a:solidFill>
                  <a:srgbClr val="334155"/>
                </a:solidFill>
              </a:rPr>
              <a:t>• Cho phép bôi đen đoạn văn để yêu cầu AI chỉnh sửa câu từ theo ý muốn.</a:t>
            </a:r>
          </a:p>
        </p:txBody>
      </p:sp>
      <p:sp>
        <p:nvSpPr>
          <p:cNvPr id="13" name="Shape 10"/>
          <p:cNvSpPr/>
          <p:nvPr/>
        </p:nvSpPr>
        <p:spPr>
          <a:xfrm>
            <a:off x="8000800" y="1701800"/>
            <a:ext cx="12700" cy="3810000"/>
          </a:xfrm>
          <a:prstGeom prst="roundRect">
            <a:avLst>
              <a:gd name="adj" fmla="val 49999"/>
            </a:avLst>
          </a:prstGeom>
          <a:solidFill>
            <a:srgbClr val="D5DEE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8311942" y="1701800"/>
            <a:ext cx="151126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B34F0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2800" noProof="1"/>
          </a:p>
        </p:txBody>
      </p:sp>
      <p:sp>
        <p:nvSpPr>
          <p:cNvPr id="15" name="Text 12"/>
          <p:cNvSpPr/>
          <p:nvPr/>
        </p:nvSpPr>
        <p:spPr>
          <a:xfrm>
            <a:off x="8311942" y="2260600"/>
            <a:ext cx="387975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Xuất bản đa kênh &amp; Đo lường</a:t>
            </a:r>
            <a:endParaRPr lang="vi-VN" noProof="1"/>
          </a:p>
        </p:txBody>
      </p:sp>
      <p:sp>
        <p:nvSpPr>
          <p:cNvPr id="16" name="Text 13"/>
          <p:cNvSpPr/>
          <p:nvPr/>
        </p:nvSpPr>
        <p:spPr>
          <a:xfrm>
            <a:off x="8311942" y="2628900"/>
            <a:ext cx="3314617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defRPr sz="1300">
                <a:solidFill>
                  <a:srgbClr val="283246"/>
                </a:solidFill>
              </a:defRPr>
            </a:pPr>
            <a:r>
              <a:rPr>
                <a:solidFill>
                  <a:srgbClr val="334155"/>
                </a:solidFill>
              </a:rPr>
              <a:t>• Đăng đồng thời lên Website và Fanpage Facebook; có hẹn giờ đăng tự động.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rPr>
                <a:solidFill>
                  <a:srgbClr val="334155"/>
                </a:solidFill>
              </a:rPr>
              <a:t>• Dashboard quản trị theo dõi số bài viết, số lượt xem và tương tác.</a:t>
            </a:r>
          </a:p>
        </p:txBody>
      </p:sp>
      <p:sp>
        <p:nvSpPr>
          <p:cNvPr id="17" name="Shape 14"/>
          <p:cNvSpPr/>
          <p:nvPr/>
        </p:nvSpPr>
        <p:spPr>
          <a:xfrm>
            <a:off x="533387" y="6477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8" name="Text 15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endParaRPr lang="vi-VN" sz="700" noProof="1"/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CF90B1C4-0DE4-E70C-03DF-B436BDD27DC3}"/>
              </a:ext>
            </a:extLst>
          </p:cNvPr>
          <p:cNvSpPr/>
          <p:nvPr/>
        </p:nvSpPr>
        <p:spPr>
          <a:xfrm>
            <a:off x="27432000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10972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67E22"/>
                </a:solidFill>
              </a:defRPr>
            </a:pPr>
            <a:r>
              <a:rPr>
                <a:solidFill>
                  <a:srgbClr val="BE7814"/>
                </a:solidFill>
              </a:rPr>
              <a:t>2. GIẢI PHÁP 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94360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rPr>
                <a:solidFill>
                  <a:srgbClr val="002855"/>
                </a:solidFill>
              </a:rPr>
              <a:t>Các công nghệ sử dụng trong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51560"/>
            <a:ext cx="1051560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463040"/>
            <a:ext cx="2606040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>
              <a:defRPr sz="1300" b="1">
                <a:solidFill>
                  <a:srgbClr val="002855"/>
                </a:solidFill>
                <a:latin typeface="Arial"/>
              </a:defRPr>
            </a:pPr>
            <a:r>
              <a:t>Giao diện người dùng</a:t>
            </a:r>
          </a:p>
          <a:p>
            <a:pPr>
              <a:defRPr sz="1000" b="1">
                <a:solidFill>
                  <a:srgbClr val="BE7814"/>
                </a:solidFill>
                <a:latin typeface="Arial"/>
              </a:defRPr>
            </a:pPr>
            <a:r>
              <a:t>React 18 · Tailwind CSS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Xây dựng Cổng thông tin cho đoàn viên và phân hệ quản trị bài viết.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Cơ chế tải trang nhanh, không cần nạp lại toàn bộ trang web.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Giao diện tự động co giãn đẹp mắt, chuẩn trên cả máy tính và điện thoại.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463040"/>
            <a:ext cx="2606040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>
              <a:defRPr sz="1300" b="1">
                <a:solidFill>
                  <a:srgbClr val="002855"/>
                </a:solidFill>
                <a:latin typeface="Arial"/>
              </a:defRPr>
            </a:pPr>
            <a:r>
              <a:t>Máy chủ xử lý</a:t>
            </a:r>
          </a:p>
          <a:p>
            <a:pPr>
              <a:defRPr sz="1000" b="1">
                <a:solidFill>
                  <a:srgbClr val="BE7814"/>
                </a:solidFill>
                <a:latin typeface="Arial"/>
              </a:defRPr>
            </a:pPr>
            <a:r>
              <a:t>Node.js 18+ · Express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Cung cấp hệ thống cổng API kết nối an toàn giữa giao diện và cơ sở dữ liệu.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Phân quyền 4 nhóm người dùng rõ ràng, bảo mật tài khoản.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Điều phối tiến trình ngầm tự động xuất bản bài viết đúng giờ hẹn.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2606040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>
              <a:defRPr sz="1300" b="1">
                <a:solidFill>
                  <a:srgbClr val="002855"/>
                </a:solidFill>
                <a:latin typeface="Arial"/>
              </a:defRPr>
            </a:pPr>
            <a:r>
              <a:t>Cơ sở dữ liệu</a:t>
            </a:r>
          </a:p>
          <a:p>
            <a:pPr>
              <a:defRPr sz="1000" b="1">
                <a:solidFill>
                  <a:srgbClr val="BE7814"/>
                </a:solidFill>
                <a:latin typeface="Arial"/>
              </a:defRPr>
            </a:pPr>
            <a:r>
              <a:t>SQL Server 2022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Quản lý 15 bảng dữ liệu nghiệp vụ: bài viết, tài khoản, chuyên mục, lịch hẹn.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Thiết lập khóa chính và khóa ngoại chặt chẽ, bảo đảm dữ liệu nhất quán.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Tối ưu tốc độ tìm kiếm và phân loại bài viết theo chuyên mục phong trào.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34272" y="1463040"/>
            <a:ext cx="2606040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>
              <a:defRPr sz="1300" b="1">
                <a:solidFill>
                  <a:srgbClr val="002855"/>
                </a:solidFill>
                <a:latin typeface="Arial"/>
              </a:defRPr>
            </a:pPr>
            <a:r>
              <a:t>Trí tuệ nhân tạo &amp; Đa kênh</a:t>
            </a:r>
          </a:p>
          <a:p>
            <a:pPr>
              <a:defRPr sz="1000" b="1">
                <a:solidFill>
                  <a:srgbClr val="BE7814"/>
                </a:solidFill>
                <a:latin typeface="Arial"/>
              </a:defRPr>
            </a:pPr>
            <a:r>
              <a:t>Google Gemini &amp; Facebook API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Google Gemini API: Lõi AI xử lý tiếng Việt hỗ trợ đọc kế hoạch và viết bài nháp.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Giao diện Facebook API: Tự động đăng tải bài viết và hình ảnh lên Trang Facebook Công đoàn.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Hỗ trợ chuẩn bị nội dung rút gọn gửi thông báo qua nhóm Zalo cơ sở.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42900"/>
            <a:ext cx="116583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BE7814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</a:t>
            </a:r>
            <a:r>
              <a:rPr lang="vi-VN" sz="1000" b="1" noProof="1">
                <a:solidFill>
                  <a:srgbClr val="BE7814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GIẢI PHÁP CÔNG NGHỆ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33387" y="528935"/>
            <a:ext cx="116583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0285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Kiến trúc kỹ thuật — luồng xử lý và các dịch vụ bên ngoài</a:t>
            </a:r>
            <a:endParaRPr lang="vi-VN" sz="2200" b="1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978595"/>
            <a:ext cx="1047724" cy="38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387" y="1651000"/>
            <a:ext cx="2031949" cy="12192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6" name="Text 3"/>
          <p:cNvSpPr/>
          <p:nvPr/>
        </p:nvSpPr>
        <p:spPr>
          <a:xfrm>
            <a:off x="533387" y="2006600"/>
            <a:ext cx="2031949" cy="209550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500" b="1">
                <a:solidFill>
                  <a:srgbClr val="002855"/>
                </a:solidFill>
                <a:latin typeface="Arial"/>
              </a:rPr>
              <a:t>Người dùng</a:t>
            </a:r>
            <a:endParaRPr lang="vi-VN" sz="1100" noProof="1"/>
          </a:p>
        </p:txBody>
      </p:sp>
      <p:sp>
        <p:nvSpPr>
          <p:cNvPr id="7" name="Text 4"/>
          <p:cNvSpPr/>
          <p:nvPr/>
        </p:nvSpPr>
        <p:spPr>
          <a:xfrm>
            <a:off x="533387" y="2352675"/>
            <a:ext cx="2031949" cy="161925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>
                <a:solidFill>
                  <a:srgbClr val="334155"/>
                </a:solidFill>
                <a:latin typeface="Arial"/>
              </a:rPr>
              <a:t>Đoàn viên · Độc giả</a:t>
            </a:r>
            <a:endParaRPr lang="vi-VN" sz="850" noProof="1"/>
          </a:p>
          <a:p>
            <a:pPr algn="ctr"/>
            <a:r>
              <a:rPr sz="1000" b="0">
                <a:solidFill>
                  <a:srgbClr val="334155"/>
                </a:solidFill>
                <a:latin typeface="Arial"/>
              </a:rPr>
              <a:t>Biên tập viên</a:t>
            </a:r>
          </a:p>
        </p:txBody>
      </p:sp>
      <p:sp>
        <p:nvSpPr>
          <p:cNvPr id="8" name="Text 5"/>
          <p:cNvSpPr/>
          <p:nvPr/>
        </p:nvSpPr>
        <p:spPr>
          <a:xfrm>
            <a:off x="2317692" y="2070100"/>
            <a:ext cx="10032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9" name="Shape 6"/>
          <p:cNvSpPr/>
          <p:nvPr/>
        </p:nvSpPr>
        <p:spPr>
          <a:xfrm>
            <a:off x="3073323" y="1651000"/>
            <a:ext cx="2412940" cy="12192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3073323" y="2006600"/>
            <a:ext cx="2412940" cy="209550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algn="ctr">
              <a:defRPr b="1">
                <a:solidFill>
                  <a:srgbClr val="002855"/>
                </a:solidFill>
              </a:defRPr>
            </a:pPr>
            <a:r>
              <a:rPr sz="1500" b="1">
                <a:solidFill>
                  <a:srgbClr val="002855"/>
                </a:solidFill>
                <a:latin typeface="Arial"/>
              </a:rPr>
              <a:t>Giao diện người dùng</a:t>
            </a:r>
          </a:p>
        </p:txBody>
      </p:sp>
      <p:sp>
        <p:nvSpPr>
          <p:cNvPr id="11" name="Text 8"/>
          <p:cNvSpPr/>
          <p:nvPr/>
        </p:nvSpPr>
        <p:spPr>
          <a:xfrm>
            <a:off x="3073323" y="2352675"/>
            <a:ext cx="2412940" cy="161925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marL="0" indent="0" algn="ctr">
              <a:lnSpc>
                <a:spcPct val="125000"/>
              </a:lnSpc>
              <a:buNone/>
              <a:defRPr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  <a:latin typeface="Arial"/>
              </a:rPr>
              <a:t>React 18 SPA · Tailwind CSS</a:t>
            </a:r>
            <a:endParaRPr lang="vi-VN" sz="850" noProof="1"/>
          </a:p>
        </p:txBody>
      </p:sp>
      <p:sp>
        <p:nvSpPr>
          <p:cNvPr id="12" name="Text 9"/>
          <p:cNvSpPr/>
          <p:nvPr/>
        </p:nvSpPr>
        <p:spPr>
          <a:xfrm>
            <a:off x="5238619" y="2070100"/>
            <a:ext cx="10032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13" name="Shape 10"/>
          <p:cNvSpPr/>
          <p:nvPr/>
        </p:nvSpPr>
        <p:spPr>
          <a:xfrm>
            <a:off x="5994250" y="1651000"/>
            <a:ext cx="2412940" cy="12192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5994250" y="2006600"/>
            <a:ext cx="2412940" cy="209550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algn="ctr">
              <a:defRPr b="1">
                <a:solidFill>
                  <a:srgbClr val="002855"/>
                </a:solidFill>
              </a:defRPr>
            </a:pPr>
            <a:r>
              <a:rPr sz="1500" b="1">
                <a:solidFill>
                  <a:srgbClr val="002855"/>
                </a:solidFill>
                <a:latin typeface="Arial"/>
              </a:rPr>
              <a:t>Máy chủ &amp; Cổng API</a:t>
            </a:r>
          </a:p>
        </p:txBody>
      </p:sp>
      <p:sp>
        <p:nvSpPr>
          <p:cNvPr id="15" name="Text 12"/>
          <p:cNvSpPr/>
          <p:nvPr/>
        </p:nvSpPr>
        <p:spPr>
          <a:xfrm>
            <a:off x="5994250" y="2352675"/>
            <a:ext cx="2412940" cy="161925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marL="0" indent="0" algn="ctr">
              <a:lnSpc>
                <a:spcPct val="125000"/>
              </a:lnSpc>
              <a:buNone/>
              <a:defRPr>
                <a:solidFill>
                  <a:srgbClr val="334155"/>
                </a:solidFill>
              </a:defRPr>
            </a:pPr>
            <a:r>
              <a:rPr sz="1000" b="0">
                <a:solidFill>
                  <a:srgbClr val="334155"/>
                </a:solidFill>
                <a:latin typeface="Arial"/>
              </a:rPr>
              <a:t>Node.js 18+ · Express</a:t>
            </a:r>
            <a:endParaRPr lang="vi-VN" sz="850" noProof="1"/>
          </a:p>
          <a:p>
            <a:pPr algn="ctr"/>
            <a:r>
              <a:rPr sz="1000" b="0">
                <a:solidFill>
                  <a:srgbClr val="334155"/>
                </a:solidFill>
                <a:latin typeface="Arial"/>
              </a:rPr>
              <a:t>Xác thực bảo mật JWT</a:t>
            </a:r>
          </a:p>
        </p:txBody>
      </p:sp>
      <p:sp>
        <p:nvSpPr>
          <p:cNvPr id="16" name="Text 13"/>
          <p:cNvSpPr/>
          <p:nvPr/>
        </p:nvSpPr>
        <p:spPr>
          <a:xfrm>
            <a:off x="8159546" y="2070100"/>
            <a:ext cx="151126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17" name="Shape 14"/>
          <p:cNvSpPr/>
          <p:nvPr/>
        </p:nvSpPr>
        <p:spPr>
          <a:xfrm>
            <a:off x="9423164" y="1651000"/>
            <a:ext cx="2235144" cy="12192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8" name="Text 15"/>
          <p:cNvSpPr/>
          <p:nvPr/>
        </p:nvSpPr>
        <p:spPr>
          <a:xfrm>
            <a:off x="9423164" y="1925637"/>
            <a:ext cx="2235144" cy="209550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500" b="1">
                <a:solidFill>
                  <a:srgbClr val="002855"/>
                </a:solidFill>
                <a:latin typeface="Arial"/>
              </a:rPr>
              <a:t>Cơ sở dữ liệu</a:t>
            </a:r>
            <a:endParaRPr lang="vi-VN" sz="1100" noProof="1"/>
          </a:p>
        </p:txBody>
      </p:sp>
      <p:sp>
        <p:nvSpPr>
          <p:cNvPr id="19" name="Text 16"/>
          <p:cNvSpPr/>
          <p:nvPr/>
        </p:nvSpPr>
        <p:spPr>
          <a:xfrm>
            <a:off x="9423164" y="2271713"/>
            <a:ext cx="2235144" cy="323850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>
                <a:solidFill>
                  <a:srgbClr val="334155"/>
                </a:solidFill>
                <a:latin typeface="Arial"/>
              </a:rPr>
              <a:t>Microsoft SQL Server 2022</a:t>
            </a:r>
            <a:endParaRPr lang="vi-VN" sz="850" noProof="1"/>
          </a:p>
          <a:p>
            <a:pPr algn="ctr"/>
            <a:r>
              <a:rPr sz="1000" b="0">
                <a:solidFill>
                  <a:srgbClr val="334155"/>
                </a:solidFill>
                <a:latin typeface="Arial"/>
              </a:rPr>
              <a:t>Lưu trữ 15 bảng dữ liệu</a:t>
            </a:r>
          </a:p>
        </p:txBody>
      </p:sp>
      <p:sp>
        <p:nvSpPr>
          <p:cNvPr id="20" name="Shape 17"/>
          <p:cNvSpPr/>
          <p:nvPr/>
        </p:nvSpPr>
        <p:spPr>
          <a:xfrm>
            <a:off x="7191195" y="2870200"/>
            <a:ext cx="19050" cy="4572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1" name="Shape 18"/>
          <p:cNvSpPr/>
          <p:nvPr/>
        </p:nvSpPr>
        <p:spPr>
          <a:xfrm>
            <a:off x="5578335" y="3327400"/>
            <a:ext cx="3314617" cy="190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2" name="Shape 19"/>
          <p:cNvSpPr/>
          <p:nvPr/>
        </p:nvSpPr>
        <p:spPr>
          <a:xfrm>
            <a:off x="5578335" y="3346450"/>
            <a:ext cx="19050" cy="8445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3" name="Shape 20"/>
          <p:cNvSpPr/>
          <p:nvPr/>
        </p:nvSpPr>
        <p:spPr>
          <a:xfrm>
            <a:off x="8880253" y="3346450"/>
            <a:ext cx="19050" cy="8445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4" name="Shape 21"/>
          <p:cNvSpPr/>
          <p:nvPr/>
        </p:nvSpPr>
        <p:spPr>
          <a:xfrm>
            <a:off x="4190895" y="4191000"/>
            <a:ext cx="2793930" cy="1016000"/>
          </a:xfrm>
          <a:prstGeom prst="roundRect">
            <a:avLst>
              <a:gd name="adj" fmla="val 12000"/>
            </a:avLst>
          </a:prstGeom>
          <a:solidFill>
            <a:srgbClr val="F0F9FF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5" name="Text 22"/>
          <p:cNvSpPr/>
          <p:nvPr/>
        </p:nvSpPr>
        <p:spPr>
          <a:xfrm>
            <a:off x="4190895" y="4445000"/>
            <a:ext cx="2793930" cy="209550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500" b="1">
                <a:solidFill>
                  <a:srgbClr val="002855"/>
                </a:solidFill>
                <a:latin typeface="Arial"/>
              </a:rPr>
              <a:t>Trợ lý AI (Gemini)</a:t>
            </a:r>
            <a:endParaRPr lang="vi-VN" sz="1100" noProof="1"/>
          </a:p>
        </p:txBody>
      </p:sp>
      <p:sp>
        <p:nvSpPr>
          <p:cNvPr id="26" name="Text 23"/>
          <p:cNvSpPr/>
          <p:nvPr/>
        </p:nvSpPr>
        <p:spPr>
          <a:xfrm>
            <a:off x="4190895" y="4791075"/>
            <a:ext cx="2793930" cy="161925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>
                <a:solidFill>
                  <a:srgbClr val="334155"/>
                </a:solidFill>
                <a:latin typeface="Arial"/>
              </a:rPr>
              <a:t>Đọc kế hoạch &amp; tạo tin tức</a:t>
            </a:r>
            <a:endParaRPr lang="vi-VN" sz="850" noProof="1"/>
          </a:p>
          <a:p>
            <a:pPr algn="ctr"/>
            <a:r>
              <a:rPr sz="1000" b="0">
                <a:solidFill>
                  <a:srgbClr val="334155"/>
                </a:solidFill>
                <a:latin typeface="Arial"/>
              </a:rPr>
              <a:t>Trích xuất văn bản từ ảnh</a:t>
            </a:r>
          </a:p>
        </p:txBody>
      </p:sp>
      <p:sp>
        <p:nvSpPr>
          <p:cNvPr id="27" name="Shape 24"/>
          <p:cNvSpPr/>
          <p:nvPr/>
        </p:nvSpPr>
        <p:spPr>
          <a:xfrm>
            <a:off x="7492813" y="4191000"/>
            <a:ext cx="2793930" cy="1016000"/>
          </a:xfrm>
          <a:prstGeom prst="roundRect">
            <a:avLst>
              <a:gd name="adj" fmla="val 12000"/>
            </a:avLst>
          </a:prstGeom>
          <a:solidFill>
            <a:srgbClr val="F0F9FF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8" name="Text 25"/>
          <p:cNvSpPr/>
          <p:nvPr/>
        </p:nvSpPr>
        <p:spPr>
          <a:xfrm>
            <a:off x="7492813" y="4445000"/>
            <a:ext cx="2793930" cy="209550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algn="ctr">
              <a:defRPr b="1">
                <a:solidFill>
                  <a:srgbClr val="002855"/>
                </a:solidFill>
              </a:defRPr>
            </a:pPr>
            <a:r>
              <a:rPr sz="1500" b="1">
                <a:solidFill>
                  <a:srgbClr val="002855"/>
                </a:solidFill>
                <a:latin typeface="Arial"/>
              </a:rPr>
              <a:t>Kết nối Fanpage</a:t>
            </a:r>
          </a:p>
        </p:txBody>
      </p:sp>
      <p:sp>
        <p:nvSpPr>
          <p:cNvPr id="29" name="Text 26"/>
          <p:cNvSpPr/>
          <p:nvPr/>
        </p:nvSpPr>
        <p:spPr>
          <a:xfrm>
            <a:off x="7492813" y="4791075"/>
            <a:ext cx="2793930" cy="161925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algn="ctr">
              <a:defRPr sz="950">
                <a:solidFill>
                  <a:srgbClr val="334155"/>
                </a:solidFill>
                <a:latin typeface="Arial"/>
              </a:defRPr>
            </a:pPr>
            <a:r>
              <a:rPr sz="1000" b="0">
                <a:solidFill>
                  <a:srgbClr val="334155"/>
                </a:solidFill>
                <a:latin typeface="Arial"/>
              </a:rPr>
              <a:t>Tự động xuất bản bài viết</a:t>
            </a:r>
          </a:p>
          <a:p>
            <a:pPr algn="ctr"/>
            <a:r>
              <a:rPr sz="1000" b="0">
                <a:solidFill>
                  <a:srgbClr val="334155"/>
                </a:solidFill>
                <a:latin typeface="Arial"/>
              </a:rPr>
              <a:t>lên Facebook Fanpage</a:t>
            </a:r>
          </a:p>
        </p:txBody>
      </p:sp>
      <p:sp>
        <p:nvSpPr>
          <p:cNvPr id="30" name="Shape 27"/>
          <p:cNvSpPr/>
          <p:nvPr/>
        </p:nvSpPr>
        <p:spPr>
          <a:xfrm>
            <a:off x="533387" y="6543774"/>
            <a:ext cx="11124922" cy="952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1" name="Text 28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7</a:t>
            </a:r>
            <a:endParaRPr lang="vi-VN" sz="700" noProof="1"/>
          </a:p>
        </p:txBody>
      </p:sp>
      <p:sp>
        <p:nvSpPr>
          <p:cNvPr id="33" name="Hình chữ nhật 32">
            <a:extLst>
              <a:ext uri="{FF2B5EF4-FFF2-40B4-BE49-F238E27FC236}">
                <a16:creationId xmlns:a16="http://schemas.microsoft.com/office/drawing/2014/main" id="{E4EBFE96-F0B4-0B4A-9266-F2EB8E60C392}"/>
              </a:ext>
            </a:extLst>
          </p:cNvPr>
          <p:cNvSpPr/>
          <p:nvPr/>
        </p:nvSpPr>
        <p:spPr>
          <a:xfrm>
            <a:off x="27432000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0" y="304800"/>
            <a:ext cx="11124922" cy="203200"/>
          </a:xfrm>
          <a:prstGeom prst="roundRect">
            <a:avLst>
              <a:gd name="adj" fmla="val 16875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" name="Text 1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>
                <a:solidFill>
                  <a:srgbClr val="BE7814"/>
                </a:solidFill>
              </a:defRPr>
            </a:pPr>
            <a:r>
              <a:rPr lang="en-US" sz="1000" b="1" noProof="1">
                <a:solidFill>
                  <a:srgbClr val="BE7814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r>
              <a:rPr lang="vi-VN" sz="1000" b="1" noProof="1">
                <a:solidFill>
                  <a:srgbClr val="BE7814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PHÂN TÍCH &amp; THIẾT KẾ HỆ THỐNG</a:t>
            </a:r>
            <a:endParaRPr lang="vi-VN" sz="1000" noProof="1"/>
          </a:p>
        </p:txBody>
      </p:sp>
      <p:sp>
        <p:nvSpPr>
          <p:cNvPr id="4" name="Shape 2"/>
          <p:cNvSpPr/>
          <p:nvPr/>
        </p:nvSpPr>
        <p:spPr>
          <a:xfrm>
            <a:off x="27432000" y="533400"/>
            <a:ext cx="11124922" cy="431800"/>
          </a:xfrm>
          <a:prstGeom prst="roundRect">
            <a:avLst>
              <a:gd name="adj" fmla="val 7941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Text 3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>
                <a:solidFill>
                  <a:srgbClr val="002855"/>
                </a:solidFill>
              </a:defRPr>
            </a:pPr>
            <a:r>
              <a:rPr sz="2200" b="1">
                <a:solidFill>
                  <a:srgbClr val="002855"/>
                </a:solidFill>
                <a:latin typeface="Arial"/>
              </a:rPr>
              <a:t>Biểu đồ Use Case tổng quát &amp; phân quyền 4 vai trò người dùng</a:t>
            </a:r>
            <a:endParaRPr lang="vi-VN" sz="2200" noProof="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3387" y="1905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8" name="Text 5"/>
          <p:cNvSpPr/>
          <p:nvPr/>
        </p:nvSpPr>
        <p:spPr>
          <a:xfrm>
            <a:off x="533387" y="1905000"/>
            <a:ext cx="1904952" cy="5588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25000"/>
              </a:lnSpc>
              <a:buNone/>
              <a:defRPr b="1">
                <a:solidFill>
                  <a:srgbClr val="FFFFFF"/>
                </a:solidFill>
              </a:defRPr>
            </a:pPr>
            <a:r>
              <a:rPr sz="1150" b="1">
                <a:solidFill>
                  <a:srgbClr val="FFFFFF"/>
                </a:solidFill>
                <a:latin typeface="Arial"/>
              </a:rPr>
              <a:t>Quản trị viên (Admin)</a:t>
            </a:r>
            <a:endParaRPr lang="vi-VN" sz="1050" noProof="1"/>
          </a:p>
        </p:txBody>
      </p:sp>
      <p:sp>
        <p:nvSpPr>
          <p:cNvPr id="9" name="Shape 6"/>
          <p:cNvSpPr/>
          <p:nvPr/>
        </p:nvSpPr>
        <p:spPr>
          <a:xfrm>
            <a:off x="533387" y="2921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533387" y="2921000"/>
            <a:ext cx="1904952" cy="5588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25000"/>
              </a:lnSpc>
              <a:buNone/>
              <a:defRPr b="1">
                <a:solidFill>
                  <a:srgbClr val="FFFFFF"/>
                </a:solidFill>
              </a:defRPr>
            </a:pPr>
            <a:r>
              <a:rPr sz="1150" b="1">
                <a:solidFill>
                  <a:srgbClr val="FFFFFF"/>
                </a:solidFill>
                <a:latin typeface="Arial"/>
              </a:rPr>
              <a:t>Biên tập viên (Editor)</a:t>
            </a:r>
            <a:endParaRPr lang="vi-VN" sz="1050" noProof="1"/>
          </a:p>
        </p:txBody>
      </p:sp>
      <p:sp>
        <p:nvSpPr>
          <p:cNvPr id="11" name="Shape 8"/>
          <p:cNvSpPr/>
          <p:nvPr/>
        </p:nvSpPr>
        <p:spPr>
          <a:xfrm>
            <a:off x="533387" y="3937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2" name="Text 9"/>
          <p:cNvSpPr/>
          <p:nvPr/>
        </p:nvSpPr>
        <p:spPr>
          <a:xfrm>
            <a:off x="533387" y="3937000"/>
            <a:ext cx="1904952" cy="5588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25000"/>
              </a:lnSpc>
              <a:buNone/>
              <a:defRPr b="1">
                <a:solidFill>
                  <a:srgbClr val="FFFFFF"/>
                </a:solidFill>
              </a:defRPr>
            </a:pPr>
            <a:r>
              <a:rPr sz="1150" b="1">
                <a:solidFill>
                  <a:srgbClr val="FFFFFF"/>
                </a:solidFill>
                <a:latin typeface="Arial"/>
              </a:rPr>
              <a:t>Cộng tác viên (Contributor)</a:t>
            </a:r>
            <a:endParaRPr lang="vi-VN" sz="1050" noProof="1"/>
          </a:p>
        </p:txBody>
      </p:sp>
      <p:sp>
        <p:nvSpPr>
          <p:cNvPr id="13" name="Shape 10"/>
          <p:cNvSpPr/>
          <p:nvPr/>
        </p:nvSpPr>
        <p:spPr>
          <a:xfrm>
            <a:off x="533387" y="4953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533387" y="4953000"/>
            <a:ext cx="1904952" cy="5588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lnSpc>
                <a:spcPct val="125000"/>
              </a:lnSpc>
              <a:buNone/>
              <a:defRPr b="1">
                <a:solidFill>
                  <a:srgbClr val="FFFFFF"/>
                </a:solidFill>
              </a:defRPr>
            </a:pPr>
            <a:r>
              <a:rPr sz="1150" b="1">
                <a:solidFill>
                  <a:srgbClr val="FFFFFF"/>
                </a:solidFill>
                <a:latin typeface="Arial"/>
              </a:rPr>
              <a:t>Đoàn viên / Độc giả</a:t>
            </a:r>
            <a:endParaRPr lang="vi-VN" sz="1050" noProof="1"/>
          </a:p>
        </p:txBody>
      </p:sp>
      <p:sp>
        <p:nvSpPr>
          <p:cNvPr id="15" name="Shape 12"/>
          <p:cNvSpPr/>
          <p:nvPr/>
        </p:nvSpPr>
        <p:spPr>
          <a:xfrm>
            <a:off x="2438339" y="2178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 w="19050">
            <a:solidFill>
              <a:srgbClr val="0284C7"/>
            </a:solidFill>
          </a:ln>
        </p:spPr>
        <p:txBody>
          <a:bodyPr/>
          <a:lstStyle/>
          <a:p>
            <a:endParaRPr lang="vi-VN" noProof="1"/>
          </a:p>
        </p:txBody>
      </p:sp>
      <p:sp>
        <p:nvSpPr>
          <p:cNvPr id="16" name="Shape 13"/>
          <p:cNvSpPr/>
          <p:nvPr/>
        </p:nvSpPr>
        <p:spPr>
          <a:xfrm>
            <a:off x="2438339" y="3194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 w="19050">
            <a:solidFill>
              <a:srgbClr val="0284C7"/>
            </a:solidFill>
          </a:ln>
        </p:spPr>
        <p:txBody>
          <a:bodyPr/>
          <a:lstStyle/>
          <a:p>
            <a:endParaRPr lang="vi-VN" noProof="1"/>
          </a:p>
        </p:txBody>
      </p:sp>
      <p:sp>
        <p:nvSpPr>
          <p:cNvPr id="17" name="Shape 14"/>
          <p:cNvSpPr/>
          <p:nvPr/>
        </p:nvSpPr>
        <p:spPr>
          <a:xfrm>
            <a:off x="2438339" y="4210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 w="19050">
            <a:solidFill>
              <a:srgbClr val="0284C7"/>
            </a:solidFill>
          </a:ln>
        </p:spPr>
        <p:txBody>
          <a:bodyPr/>
          <a:lstStyle/>
          <a:p>
            <a:endParaRPr lang="vi-VN" noProof="1"/>
          </a:p>
        </p:txBody>
      </p:sp>
      <p:sp>
        <p:nvSpPr>
          <p:cNvPr id="18" name="Shape 15"/>
          <p:cNvSpPr/>
          <p:nvPr/>
        </p:nvSpPr>
        <p:spPr>
          <a:xfrm>
            <a:off x="2438339" y="5226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 w="19050">
            <a:solidFill>
              <a:srgbClr val="0284C7"/>
            </a:solidFill>
          </a:ln>
        </p:spPr>
        <p:txBody>
          <a:bodyPr/>
          <a:lstStyle/>
          <a:p>
            <a:endParaRPr lang="vi-VN" noProof="1"/>
          </a:p>
        </p:txBody>
      </p:sp>
      <p:sp>
        <p:nvSpPr>
          <p:cNvPr id="19" name="Shape 16"/>
          <p:cNvSpPr/>
          <p:nvPr/>
        </p:nvSpPr>
        <p:spPr>
          <a:xfrm>
            <a:off x="3809905" y="1397000"/>
            <a:ext cx="5968851" cy="4318000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0" name="Shape 17"/>
          <p:cNvSpPr/>
          <p:nvPr/>
        </p:nvSpPr>
        <p:spPr>
          <a:xfrm>
            <a:off x="4013100" y="1524000"/>
            <a:ext cx="5587860" cy="177800"/>
          </a:xfrm>
          <a:prstGeom prst="roundRect">
            <a:avLst>
              <a:gd name="adj" fmla="val 19285"/>
            </a:avLst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/>
          <a:lstStyle/>
          <a:p>
            <a:endParaRPr lang="vi-VN" noProof="1"/>
          </a:p>
        </p:txBody>
      </p:sp>
      <p:sp>
        <p:nvSpPr>
          <p:cNvPr id="21" name="Text 18"/>
          <p:cNvSpPr/>
          <p:nvPr/>
        </p:nvSpPr>
        <p:spPr>
          <a:xfrm>
            <a:off x="4070248" y="1524000"/>
            <a:ext cx="60831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  <a:defRPr b="1">
                <a:solidFill>
                  <a:srgbClr val="BE7814"/>
                </a:solidFill>
              </a:defRPr>
            </a:pPr>
            <a:r>
              <a:rPr sz="1100" b="1">
                <a:solidFill>
                  <a:srgbClr val="0369A1"/>
                </a:solidFill>
                <a:latin typeface="Arial"/>
              </a:rPr>
              <a:t>HỆ THỐNG CỔNG THÔNG TIN VÀ QUẢN TRỊ CÔNG ĐOÀN TDMU</a:t>
            </a:r>
            <a:endParaRPr lang="vi-VN" sz="900" noProof="1"/>
          </a:p>
        </p:txBody>
      </p:sp>
      <p:sp>
        <p:nvSpPr>
          <p:cNvPr id="22" name="Shape 19"/>
          <p:cNvSpPr/>
          <p:nvPr/>
        </p:nvSpPr>
        <p:spPr>
          <a:xfrm>
            <a:off x="4190895" y="19050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3" name="Text 20"/>
          <p:cNvSpPr/>
          <p:nvPr/>
        </p:nvSpPr>
        <p:spPr>
          <a:xfrm>
            <a:off x="3949601" y="20589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  <a:defRPr b="1">
                <a:solidFill>
                  <a:srgbClr val="002855"/>
                </a:solidFill>
              </a:defRPr>
            </a:pPr>
            <a:r>
              <a:rPr sz="1400" b="1">
                <a:solidFill>
                  <a:srgbClr val="002855"/>
                </a:solidFill>
                <a:latin typeface="Arial"/>
              </a:rPr>
              <a:t>1. Quản lý nội dung &amp; bài viết</a:t>
            </a:r>
            <a:endParaRPr lang="vi-VN" sz="1050" noProof="1"/>
          </a:p>
        </p:txBody>
      </p:sp>
      <p:sp>
        <p:nvSpPr>
          <p:cNvPr id="24" name="Shape 21"/>
          <p:cNvSpPr/>
          <p:nvPr/>
        </p:nvSpPr>
        <p:spPr>
          <a:xfrm>
            <a:off x="4190895" y="27178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5" name="Text 22"/>
          <p:cNvSpPr/>
          <p:nvPr/>
        </p:nvSpPr>
        <p:spPr>
          <a:xfrm>
            <a:off x="3949601" y="28717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  <a:defRPr b="1">
                <a:solidFill>
                  <a:srgbClr val="002855"/>
                </a:solidFill>
              </a:defRPr>
            </a:pPr>
            <a:r>
              <a:rPr sz="1400" b="1">
                <a:solidFill>
                  <a:srgbClr val="002855"/>
                </a:solidFill>
                <a:latin typeface="Arial"/>
              </a:rPr>
              <a:t>2. Trợ lý AI sáng tạo nội dung</a:t>
            </a:r>
            <a:endParaRPr lang="vi-VN" sz="1050" noProof="1"/>
          </a:p>
        </p:txBody>
      </p:sp>
      <p:sp>
        <p:nvSpPr>
          <p:cNvPr id="26" name="Shape 23"/>
          <p:cNvSpPr/>
          <p:nvPr/>
        </p:nvSpPr>
        <p:spPr>
          <a:xfrm>
            <a:off x="4190895" y="35306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7" name="Text 24"/>
          <p:cNvSpPr/>
          <p:nvPr/>
        </p:nvSpPr>
        <p:spPr>
          <a:xfrm>
            <a:off x="3949601" y="36845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  <a:defRPr b="1">
                <a:solidFill>
                  <a:srgbClr val="002855"/>
                </a:solidFill>
              </a:defRPr>
            </a:pPr>
            <a:r>
              <a:rPr sz="1400" b="1">
                <a:solidFill>
                  <a:srgbClr val="002855"/>
                </a:solidFill>
                <a:latin typeface="Arial"/>
              </a:rPr>
              <a:t>3. Xuất bản đa kênh &amp; lập lịch</a:t>
            </a:r>
            <a:endParaRPr lang="vi-VN" sz="1050" noProof="1"/>
          </a:p>
        </p:txBody>
      </p:sp>
      <p:sp>
        <p:nvSpPr>
          <p:cNvPr id="28" name="Shape 25"/>
          <p:cNvSpPr/>
          <p:nvPr/>
        </p:nvSpPr>
        <p:spPr>
          <a:xfrm>
            <a:off x="4190895" y="43434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9" name="Text 26"/>
          <p:cNvSpPr/>
          <p:nvPr/>
        </p:nvSpPr>
        <p:spPr>
          <a:xfrm>
            <a:off x="3949601" y="44973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  <a:defRPr b="1">
                <a:solidFill>
                  <a:srgbClr val="002855"/>
                </a:solidFill>
              </a:defRPr>
            </a:pPr>
            <a:r>
              <a:rPr sz="1400" b="1">
                <a:solidFill>
                  <a:srgbClr val="002855"/>
                </a:solidFill>
                <a:latin typeface="Arial"/>
              </a:rPr>
              <a:t>4. Cổng thông tin độc giả</a:t>
            </a:r>
            <a:endParaRPr lang="vi-VN" sz="1050" noProof="1"/>
          </a:p>
        </p:txBody>
      </p:sp>
      <p:sp>
        <p:nvSpPr>
          <p:cNvPr id="30" name="Shape 27"/>
          <p:cNvSpPr/>
          <p:nvPr/>
        </p:nvSpPr>
        <p:spPr>
          <a:xfrm>
            <a:off x="4190895" y="51562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31" name="Text 28"/>
          <p:cNvSpPr/>
          <p:nvPr/>
        </p:nvSpPr>
        <p:spPr>
          <a:xfrm>
            <a:off x="3949601" y="53101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  <a:defRPr b="1">
                <a:solidFill>
                  <a:srgbClr val="002855"/>
                </a:solidFill>
              </a:defRPr>
            </a:pPr>
            <a:r>
              <a:rPr sz="1400" b="1">
                <a:solidFill>
                  <a:srgbClr val="002855"/>
                </a:solidFill>
                <a:latin typeface="Arial"/>
              </a:rPr>
              <a:t>5. Quản trị hệ thống &amp; người dùng</a:t>
            </a:r>
            <a:endParaRPr lang="vi-VN" sz="1050" noProof="1"/>
          </a:p>
        </p:txBody>
      </p:sp>
      <p:sp>
        <p:nvSpPr>
          <p:cNvPr id="32" name="Shape 29"/>
          <p:cNvSpPr/>
          <p:nvPr/>
        </p:nvSpPr>
        <p:spPr>
          <a:xfrm>
            <a:off x="27432000" y="6019800"/>
            <a:ext cx="11124922" cy="203200"/>
          </a:xfrm>
          <a:prstGeom prst="roundRect">
            <a:avLst>
              <a:gd name="adj" fmla="val 16875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3" name="Text 30"/>
          <p:cNvSpPr/>
          <p:nvPr/>
        </p:nvSpPr>
        <p:spPr>
          <a:xfrm>
            <a:off x="285743" y="6019800"/>
            <a:ext cx="116202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endParaRPr lang="vi-VN" sz="1000" noProof="1"/>
          </a:p>
        </p:txBody>
      </p:sp>
      <p:sp>
        <p:nvSpPr>
          <p:cNvPr id="34" name="Shape 31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5" name="Text 32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8</a:t>
            </a:r>
            <a:endParaRPr lang="vi-VN" sz="700" noProof="1"/>
          </a:p>
        </p:txBody>
      </p:sp>
      <p:sp>
        <p:nvSpPr>
          <p:cNvPr id="37" name="Hình chữ nhật 36">
            <a:extLst>
              <a:ext uri="{FF2B5EF4-FFF2-40B4-BE49-F238E27FC236}">
                <a16:creationId xmlns:a16="http://schemas.microsoft.com/office/drawing/2014/main" id="{58564C42-EE4A-B343-62DF-7EADD3FE07C8}"/>
              </a:ext>
            </a:extLst>
          </p:cNvPr>
          <p:cNvSpPr/>
          <p:nvPr/>
        </p:nvSpPr>
        <p:spPr>
          <a:xfrm>
            <a:off x="27432000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BE7814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r>
              <a:rPr lang="vi-VN" sz="1000" b="1" noProof="1">
                <a:solidFill>
                  <a:srgbClr val="BE7814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PHÂN TÍCH &amp; THIẾT KẾ HỆ THỐNG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 b="1">
                <a:solidFill>
                  <a:srgbClr val="002855"/>
                </a:solidFill>
              </a:defRPr>
            </a:pPr>
            <a:r>
              <a:t>Thiết kế cơ sở dữ liệu quan hệ gồm 15 bảng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0535" y="1193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 sz="1200">
                <a:solidFill>
                  <a:srgbClr val="DCE6F5"/>
                </a:solidFill>
              </a:defRPr>
            </a:pPr>
            <a:r>
              <a:rPr>
                <a:solidFill>
                  <a:srgbClr val="334155"/>
                </a:solidFill>
              </a:rPr>
              <a:t>Microsoft SQL Server 2022 · 15 bảng nghiệp vụ · thiết lập khóa chính/khóa ngoại ràng buộc chặt chẽ</a:t>
            </a:r>
          </a:p>
        </p:txBody>
      </p:sp>
      <p:sp>
        <p:nvSpPr>
          <p:cNvPr id="6" name="Shape 3"/>
          <p:cNvSpPr/>
          <p:nvPr/>
        </p:nvSpPr>
        <p:spPr>
          <a:xfrm>
            <a:off x="533387" y="1651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7" name="Text 4"/>
          <p:cNvSpPr/>
          <p:nvPr/>
        </p:nvSpPr>
        <p:spPr>
          <a:xfrm>
            <a:off x="590535" y="1803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Tổ chức &amp; người dùng</a:t>
            </a:r>
            <a:endParaRPr lang="vi-VN" sz="1100" noProof="1"/>
          </a:p>
        </p:txBody>
      </p:sp>
      <p:sp>
        <p:nvSpPr>
          <p:cNvPr id="8" name="Text 5"/>
          <p:cNvSpPr/>
          <p:nvPr/>
        </p:nvSpPr>
        <p:spPr>
          <a:xfrm>
            <a:off x="3867053" y="1803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ORGANIZATIONS · UNION_BRANCHES · MEMBERS · USERS</a:t>
            </a:r>
            <a:endParaRPr lang="vi-VN" sz="1200" noProof="1"/>
          </a:p>
        </p:txBody>
      </p:sp>
      <p:sp>
        <p:nvSpPr>
          <p:cNvPr id="9" name="Shape 6"/>
          <p:cNvSpPr/>
          <p:nvPr/>
        </p:nvSpPr>
        <p:spPr>
          <a:xfrm>
            <a:off x="533387" y="2794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590535" y="2946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Nội dung &amp; tương tác</a:t>
            </a:r>
            <a:endParaRPr lang="vi-VN" sz="1100" noProof="1"/>
          </a:p>
        </p:txBody>
      </p:sp>
      <p:sp>
        <p:nvSpPr>
          <p:cNvPr id="11" name="Text 8"/>
          <p:cNvSpPr/>
          <p:nvPr/>
        </p:nvSpPr>
        <p:spPr>
          <a:xfrm>
            <a:off x="3867053" y="2946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ARTICLES · ARTICLE_AUDITS · CATEGORIES · COMMENTS · BOOKMARKS · DOCUMENTS</a:t>
            </a:r>
            <a:endParaRPr lang="vi-VN" sz="1200" noProof="1"/>
          </a:p>
        </p:txBody>
      </p:sp>
      <p:sp>
        <p:nvSpPr>
          <p:cNvPr id="12" name="Shape 9"/>
          <p:cNvSpPr/>
          <p:nvPr/>
        </p:nvSpPr>
        <p:spPr>
          <a:xfrm>
            <a:off x="533387" y="3937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3" name="Text 10"/>
          <p:cNvSpPr/>
          <p:nvPr/>
        </p:nvSpPr>
        <p:spPr>
          <a:xfrm>
            <a:off x="590535" y="4089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Chương trình &amp; hỗ trợ</a:t>
            </a:r>
            <a:endParaRPr lang="vi-VN" sz="1100" noProof="1"/>
          </a:p>
        </p:txBody>
      </p:sp>
      <p:sp>
        <p:nvSpPr>
          <p:cNvPr id="14" name="Text 11"/>
          <p:cNvSpPr/>
          <p:nvPr/>
        </p:nvSpPr>
        <p:spPr>
          <a:xfrm>
            <a:off x="3867053" y="4089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WELFARE_PROGRAMS · WELFARE_CATEGORIES · SCHEDULES · INBOX_FEEDBACK</a:t>
            </a:r>
            <a:endParaRPr lang="vi-VN" sz="1200" noProof="1"/>
          </a:p>
        </p:txBody>
      </p:sp>
      <p:sp>
        <p:nvSpPr>
          <p:cNvPr id="15" name="Shape 12"/>
          <p:cNvSpPr/>
          <p:nvPr/>
        </p:nvSpPr>
        <p:spPr>
          <a:xfrm>
            <a:off x="533387" y="5080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6" name="Text 13"/>
          <p:cNvSpPr/>
          <p:nvPr/>
        </p:nvSpPr>
        <p:spPr>
          <a:xfrm>
            <a:off x="590535" y="5232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Biểu mẫu</a:t>
            </a:r>
            <a:endParaRPr lang="vi-VN" sz="1100" noProof="1"/>
          </a:p>
        </p:txBody>
      </p:sp>
      <p:sp>
        <p:nvSpPr>
          <p:cNvPr id="17" name="Text 14"/>
          <p:cNvSpPr/>
          <p:nvPr/>
        </p:nvSpPr>
        <p:spPr>
          <a:xfrm>
            <a:off x="3867053" y="5232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TEMPLATES</a:t>
            </a:r>
            <a:endParaRPr lang="vi-VN" sz="1200" noProof="1"/>
          </a:p>
        </p:txBody>
      </p:sp>
      <p:sp>
        <p:nvSpPr>
          <p:cNvPr id="18" name="Shape 15"/>
          <p:cNvSpPr/>
          <p:nvPr/>
        </p:nvSpPr>
        <p:spPr>
          <a:xfrm>
            <a:off x="533387" y="6223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9" name="Text 16"/>
          <p:cNvSpPr/>
          <p:nvPr/>
        </p:nvSpPr>
        <p:spPr>
          <a:xfrm>
            <a:off x="590535" y="6324600"/>
            <a:ext cx="11601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8FB3D9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Các bảng trích từ sơ đồ quan hệ CSDL</a:t>
            </a:r>
            <a:endParaRPr lang="vi-VN" sz="900" noProof="1"/>
          </a:p>
        </p:txBody>
      </p:sp>
      <p:sp>
        <p:nvSpPr>
          <p:cNvPr id="20" name="Text 17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9</a:t>
            </a:r>
            <a:endParaRPr lang="vi-VN" sz="700" noProof="1"/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FB5085CB-ADF0-DDCF-2A52-BC6F06A7727F}"/>
              </a:ext>
            </a:extLst>
          </p:cNvPr>
          <p:cNvSpPr/>
          <p:nvPr/>
        </p:nvSpPr>
        <p:spPr>
          <a:xfrm>
            <a:off x="27432000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10972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67E22"/>
                </a:solidFill>
              </a:defRPr>
            </a:pPr>
            <a:r>
              <a:rPr>
                <a:solidFill>
                  <a:srgbClr val="BE7814"/>
                </a:solidFill>
              </a:rPr>
              <a:t>4. CHỨC NĂNG TRỢ LÝ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94360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rPr>
                <a:solidFill>
                  <a:srgbClr val="002855"/>
                </a:solidFill>
              </a:rPr>
              <a:t>Các chức năng AI hỗ trợ cán bộ viết bài và đăng tin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51560"/>
            <a:ext cx="1051560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463040"/>
            <a:ext cx="544068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>
              <a:defRPr sz="1200" b="1">
                <a:solidFill>
                  <a:srgbClr val="002855"/>
                </a:solidFill>
                <a:latin typeface="Arial"/>
              </a:defRPr>
            </a:pPr>
            <a:r>
              <a:t>1. Đọc và phân tích tài liệu sự kiện thô</a:t>
            </a:r>
          </a:p>
          <a:p>
            <a:pPr>
              <a:defRPr sz="1000" b="1">
                <a:solidFill>
                  <a:srgbClr val="BE7814"/>
                </a:solidFill>
                <a:latin typeface="Arial"/>
              </a:defRPr>
            </a:pPr>
            <a:r>
              <a:t>Tiếp nhận file Word (.docx), Excel (.xlsx), PDF hoặc ảnh chụp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Cán bộ chỉ cần tải file kế hoạch sự kiện lên hệ thống.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AI tự động trích xuất các thông tin chính: thời gian, địa điểm, mục đích, thành phần tham dự.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Giúp tiết kiệm công sức đọc dò và tóm tắt tư liệu ban đầu.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4068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>
              <a:defRPr sz="1200" b="1">
                <a:solidFill>
                  <a:srgbClr val="002855"/>
                </a:solidFill>
                <a:latin typeface="Arial"/>
              </a:defRPr>
            </a:pPr>
            <a:r>
              <a:t>2. Tự động viết bài tin tức hoàn chỉnh</a:t>
            </a:r>
          </a:p>
          <a:p>
            <a:pPr>
              <a:defRPr sz="1000" b="1">
                <a:solidFill>
                  <a:srgbClr val="BE7814"/>
                </a:solidFill>
                <a:latin typeface="Arial"/>
              </a:defRPr>
            </a:pPr>
            <a:r>
              <a:t>Tạo bài viết đầy đủ bố cục chỉ với một thao tác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Dựa trên kế hoạch sự kiện, AI tự viết thành bài tin tức có tiêu đề, đoạn mở đầu (Sapo) và thân bài rõ ràng.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Đề xuất sẵn 3 tiêu đề ngắn gọn, phù hợp để người viết lựa chọn.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Cho phép bôi đen đoạn văn để yêu cầu AI chỉnh sửa hoặc viết lại theo ý muốn.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3977639"/>
            <a:ext cx="544068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>
              <a:defRPr sz="1200" b="1">
                <a:solidFill>
                  <a:srgbClr val="002855"/>
                </a:solidFill>
                <a:latin typeface="Arial"/>
              </a:defRPr>
            </a:pPr>
            <a:r>
              <a:t>3. Tự động rút gọn đăng Facebook &amp; Zalo</a:t>
            </a:r>
          </a:p>
          <a:p>
            <a:pPr>
              <a:defRPr sz="1000" b="1">
                <a:solidFill>
                  <a:srgbClr val="BE7814"/>
                </a:solidFill>
                <a:latin typeface="Arial"/>
              </a:defRPr>
            </a:pPr>
            <a:r>
              <a:t>Xuất bản đa kênh tiện lợi, nhanh chóng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Tự động rút gọn bài viết dài thành bản tin vắn 3–4 câu cô đọng.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Đính kèm liên kết đọc bài viết gốc và các thẻ chủ đề (#CongDoanTDMU).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Cán bộ có thể xem trước chính xác giao diện hiển thị trên Facebook trước khi duyệt đăng.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77639"/>
            <a:ext cx="544068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>
              <a:defRPr sz="1200" b="1">
                <a:solidFill>
                  <a:srgbClr val="002855"/>
                </a:solidFill>
                <a:latin typeface="Arial"/>
              </a:defRPr>
            </a:pPr>
            <a:r>
              <a:t>4. Trích xuất thông tin trên ảnh sự kiện</a:t>
            </a:r>
          </a:p>
          <a:p>
            <a:pPr>
              <a:defRPr sz="1000" b="1">
                <a:solidFill>
                  <a:srgbClr val="BE7814"/>
                </a:solidFill>
                <a:latin typeface="Arial"/>
              </a:defRPr>
            </a:pPr>
            <a:r>
              <a:t>Nhận diện chữ trên phông nền sự kiện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AI phân tích ảnh sự kiện tải lên, đọc chữ trên băng rôn hoặc biểu ngữ.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Tự động tạo câu chú thích ảnh phù hợp với nội dung hoạt động.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Giúp bài viết thêm sinh động và hoàn thiện nhanh chóng hơn.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>
                <a:solidFill>
                  <a:srgbClr val="BE7814"/>
                </a:solidFill>
              </a:rPr>
              <a:t>5. DEMO KẾT QUẢ</a:t>
            </a:r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Giao diện Cổng thông tin đoàn viên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1270000"/>
            <a:ext cx="6857828" cy="419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0535" y="5588000"/>
            <a:ext cx="73531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i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Trang chủ: banner sự kiện và luồng tin phong trào</a:t>
            </a:r>
            <a:endParaRPr lang="vi-VN" sz="1000" noProof="1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007" y="1270000"/>
            <a:ext cx="3962301" cy="2540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3156" y="3962400"/>
            <a:ext cx="44385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i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Chi tiết bài viết và tương tác độc giả</a:t>
            </a:r>
            <a:endParaRPr lang="vi-VN" sz="1000" noProof="1"/>
          </a:p>
        </p:txBody>
      </p:sp>
      <p:sp>
        <p:nvSpPr>
          <p:cNvPr id="9" name="Shape 4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5"/>
          <p:cNvSpPr/>
          <p:nvPr/>
        </p:nvSpPr>
        <p:spPr>
          <a:xfrm>
            <a:off x="11965680" y="6486525"/>
            <a:ext cx="22601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10</a:t>
            </a:r>
            <a:endParaRPr lang="vi-VN" sz="700" noProof="1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2F99D344-D217-2B93-DB4B-3657C11AC1D7}"/>
              </a:ext>
            </a:extLst>
          </p:cNvPr>
          <p:cNvSpPr/>
          <p:nvPr/>
        </p:nvSpPr>
        <p:spPr>
          <a:xfrm>
            <a:off x="27432000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BE7814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5. DEMO KẾT QUẢ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 b="1">
                <a:solidFill>
                  <a:srgbClr val="002855"/>
                </a:solidFill>
              </a:defRPr>
            </a:pPr>
            <a:r>
              <a:t>Phân hệ Quản trị bài viết &amp; Trợ lý AI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1270000"/>
            <a:ext cx="5486263" cy="3810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046" y="1270000"/>
            <a:ext cx="5486263" cy="3810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33387" y="5283200"/>
            <a:ext cx="457189" cy="38100"/>
          </a:xfrm>
          <a:prstGeom prst="roundRect">
            <a:avLst>
              <a:gd name="adj" fmla="val 49999"/>
            </a:avLst>
          </a:prstGeom>
          <a:solidFill>
            <a:srgbClr val="E8891D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8" name="Text 3"/>
          <p:cNvSpPr/>
          <p:nvPr/>
        </p:nvSpPr>
        <p:spPr>
          <a:xfrm>
            <a:off x="590535" y="5410200"/>
            <a:ext cx="5981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Soạn bài trực quan; Trợ lý AI gợi ý tiêu đề và xem trước bài Fanpage.</a:t>
            </a:r>
            <a:endParaRPr lang="vi-VN" sz="1100" noProof="1"/>
          </a:p>
        </p:txBody>
      </p:sp>
      <p:sp>
        <p:nvSpPr>
          <p:cNvPr id="9" name="Shape 4"/>
          <p:cNvSpPr/>
          <p:nvPr/>
        </p:nvSpPr>
        <p:spPr>
          <a:xfrm>
            <a:off x="6172046" y="5283200"/>
            <a:ext cx="457189" cy="38100"/>
          </a:xfrm>
          <a:prstGeom prst="roundRect">
            <a:avLst>
              <a:gd name="adj" fmla="val 49999"/>
            </a:avLst>
          </a:prstGeom>
          <a:solidFill>
            <a:srgbClr val="22B8C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5"/>
          <p:cNvSpPr/>
          <p:nvPr/>
        </p:nvSpPr>
        <p:spPr>
          <a:xfrm>
            <a:off x="6229194" y="5410200"/>
            <a:ext cx="537196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>
                <a:solidFill>
                  <a:srgbClr val="334155"/>
                </a:solidFill>
              </a:defRPr>
            </a:pPr>
            <a:r>
              <a:t>Biên tập viên duyệt và xuất bản; Bảng thống kê theo dõi bài viết và số liệu tương tác.</a:t>
            </a:r>
          </a:p>
        </p:txBody>
      </p:sp>
      <p:sp>
        <p:nvSpPr>
          <p:cNvPr id="11" name="Shape 6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2" name="Text 7"/>
          <p:cNvSpPr/>
          <p:nvPr/>
        </p:nvSpPr>
        <p:spPr>
          <a:xfrm>
            <a:off x="11970542" y="6486525"/>
            <a:ext cx="2211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11</a:t>
            </a:r>
            <a:endParaRPr lang="vi-VN" sz="700" noProof="1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449209F7-3E9B-4AB3-5AA3-BF6D322A85B6}"/>
              </a:ext>
            </a:extLst>
          </p:cNvPr>
          <p:cNvSpPr/>
          <p:nvPr/>
        </p:nvSpPr>
        <p:spPr>
          <a:xfrm>
            <a:off x="27432000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>
                <a:solidFill>
                  <a:srgbClr val="002855"/>
                </a:solidFill>
              </a:rPr>
              <a:t>6. Kết luận &amp; Định hướng phát triển</a:t>
            </a:r>
          </a:p>
        </p:txBody>
      </p:sp>
      <p:sp>
        <p:nvSpPr>
          <p:cNvPr id="4" name="Shape 2"/>
          <p:cNvSpPr/>
          <p:nvPr/>
        </p:nvSpPr>
        <p:spPr>
          <a:xfrm>
            <a:off x="530352" y="1051560"/>
            <a:ext cx="1051560" cy="36576"/>
          </a:xfrm>
          <a:prstGeom prst="roundRect">
            <a:avLst>
              <a:gd name="adj" fmla="val 49999"/>
            </a:avLst>
          </a:prstGeom>
          <a:solidFill>
            <a:srgbClr val="DA8E11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Shape 3"/>
          <p:cNvSpPr/>
          <p:nvPr/>
        </p:nvSpPr>
        <p:spPr>
          <a:xfrm>
            <a:off x="533387" y="42164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4"/>
          <p:cNvSpPr/>
          <p:nvPr/>
        </p:nvSpPr>
        <p:spPr>
          <a:xfrm>
            <a:off x="590535" y="44196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5FD3E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1100" noProof="1"/>
          </a:p>
        </p:txBody>
      </p:sp>
      <p:sp>
        <p:nvSpPr>
          <p:cNvPr id="9" name="Shape 7"/>
          <p:cNvSpPr/>
          <p:nvPr/>
        </p:nvSpPr>
        <p:spPr>
          <a:xfrm>
            <a:off x="533387" y="49276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8"/>
          <p:cNvSpPr/>
          <p:nvPr/>
        </p:nvSpPr>
        <p:spPr>
          <a:xfrm>
            <a:off x="590535" y="51308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5FD3E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1100" noProof="1"/>
          </a:p>
        </p:txBody>
      </p:sp>
      <p:sp>
        <p:nvSpPr>
          <p:cNvPr id="13" name="Shape 11"/>
          <p:cNvSpPr/>
          <p:nvPr/>
        </p:nvSpPr>
        <p:spPr>
          <a:xfrm>
            <a:off x="533387" y="56388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2"/>
          <p:cNvSpPr/>
          <p:nvPr/>
        </p:nvSpPr>
        <p:spPr>
          <a:xfrm>
            <a:off x="590535" y="58420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5FD3E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1100" noProof="1"/>
          </a:p>
        </p:txBody>
      </p:sp>
      <p:sp>
        <p:nvSpPr>
          <p:cNvPr id="17" name="Shape 15"/>
          <p:cNvSpPr/>
          <p:nvPr/>
        </p:nvSpPr>
        <p:spPr>
          <a:xfrm>
            <a:off x="533387" y="6350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8" name="Text 16"/>
          <p:cNvSpPr/>
          <p:nvPr/>
        </p:nvSpPr>
        <p:spPr>
          <a:xfrm>
            <a:off x="11965680" y="6486525"/>
            <a:ext cx="22601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12</a:t>
            </a:r>
            <a:endParaRPr lang="vi-VN" sz="700" noProof="1"/>
          </a:p>
        </p:txBody>
      </p:sp>
      <p:sp>
        <p:nvSpPr>
          <p:cNvPr id="19" name="Rounded Rectangle 18"/>
          <p:cNvSpPr/>
          <p:nvPr/>
        </p:nvSpPr>
        <p:spPr>
          <a:xfrm>
            <a:off x="530352" y="1371600"/>
            <a:ext cx="11128248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600">
                <a:solidFill>
                  <a:srgbClr val="E67E22"/>
                </a:solidFill>
              </a:defRPr>
            </a:pPr>
            <a:r>
              <a:rPr>
                <a:solidFill>
                  <a:srgbClr val="002855"/>
                </a:solidFill>
              </a:rPr>
              <a:t>ĐÁNH GIÁ KẾT QUẢ THỰC HIỆN ĐỀ TÀI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>
                <a:solidFill>
                  <a:srgbClr val="002855"/>
                </a:solidFill>
              </a:rPr>
              <a:t>• Hệ thống Website và phân hệ quản trị Admin CMS đã được xây dựng hoàn thiện, chạy ổn định trên môi trường thử nghiệm.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>
                <a:solidFill>
                  <a:srgbClr val="002855"/>
                </a:solidFill>
              </a:rPr>
              <a:t>• Trợ lý AI giải quyết đúng nhu cầu thực tế: hỗ trợ cán bộ đọc kế hoạch sự kiện thô, tự động viết bài tin tức và xuất bản đa kênh nhanh chóng.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>
                <a:solidFill>
                  <a:srgbClr val="002855"/>
                </a:solidFill>
              </a:rPr>
              <a:t>• Phân định rõ quyền hạn giữa Quản trị viên, Biên tập viên, Cộng tác viên và Đoàn viên tiếp cận thông tin.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97680"/>
            <a:ext cx="98755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02855"/>
                </a:solidFill>
              </a:defRPr>
            </a:pPr>
            <a:r>
              <a:t>Website Cổng thông tin &amp; Quản trị CMS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Xây dựng giao diện xem tin cho đoàn viên và phân hệ CMS quản lý bài viết, chuyên mục, biểu mẫu số.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10912"/>
            <a:ext cx="98755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02855"/>
                </a:solidFill>
              </a:defRPr>
            </a:pPr>
            <a:r>
              <a:t>Tích hợp AI &amp; Xuất bản tự động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Kết nối Google Gemini API hỗ trợ tạo bài, gợi ý tiêu đề, đọc ảnh sự kiện và đăng bài tự động sang Fanpage Facebook.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724144"/>
            <a:ext cx="98755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02855"/>
                </a:solidFill>
              </a:defRPr>
            </a:pPr>
            <a:r>
              <a:t>Định hướng phát triển tiếp theo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Hoàn tất kết nối kênh Zalo Official Account, bổ sung chức năng khảo sát ý kiến đoàn viên và phát triển ứng dụng di động.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025" y="2297430"/>
            <a:ext cx="596964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vi-VN" sz="2800" b="1" noProof="1">
                <a:solidFill>
                  <a:srgbClr val="002855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CẢM ƠN THẦY VÀ CÁC BẠN ĐÃ LẮNG NGHE!</a:t>
            </a:r>
            <a:endParaRPr lang="vi-VN" sz="2800" noProof="1"/>
          </a:p>
        </p:txBody>
      </p:sp>
      <p:sp>
        <p:nvSpPr>
          <p:cNvPr id="3" name="Text 1"/>
          <p:cNvSpPr/>
          <p:nvPr/>
        </p:nvSpPr>
        <p:spPr>
          <a:xfrm>
            <a:off x="1893245" y="3500120"/>
            <a:ext cx="8405007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vi-VN" sz="2000" noProof="1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Nhóm 2 xin trân trọng cảm ơn sự hướng dẫn tận tình của ThS. Võ Quốc Lương</a:t>
            </a:r>
            <a:r>
              <a:rPr lang="vi-VN" sz="2000" noProof="1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 </a:t>
            </a:r>
            <a:endParaRPr lang="vi-VN" sz="2000" noProof="1"/>
          </a:p>
          <a:p>
            <a:pPr marL="0" indent="0" algn="ctr">
              <a:lnSpc>
                <a:spcPct val="100000"/>
              </a:lnSpc>
              <a:buNone/>
            </a:pPr>
            <a:r>
              <a:rPr>
                <a:solidFill>
                  <a:srgbClr val="334155"/>
                </a:solidFill>
              </a:rPr>
              <a:t>Kính mời Thầy nhận xét, đặt câu hỏi cho nhóm ạ!</a:t>
            </a:r>
            <a:endParaRPr lang="vi-VN" sz="2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853</Words>
  <Application>Microsoft Office PowerPoint</Application>
  <PresentationFormat>Màn hình rộng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10</vt:i4>
      </vt:variant>
    </vt:vector>
  </HeadingPairs>
  <TitlesOfParts>
    <vt:vector size="16" baseType="lpstr">
      <vt:lpstr>Arimo Bold</vt:lpstr>
      <vt:lpstr>Arial</vt:lpstr>
      <vt:lpstr>PT Sans Bold</vt:lpstr>
      <vt:lpstr>Carlito Bold</vt:lpstr>
      <vt:lpstr>Carlito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Nguyễn Bình Dương</cp:lastModifiedBy>
  <cp:revision>3</cp:revision>
  <dcterms:created xsi:type="dcterms:W3CDTF">2026-10-25T04:53:38Z</dcterms:created>
  <dcterms:modified xsi:type="dcterms:W3CDTF">2026-10-25T14:27:08Z</dcterms:modified>
</cp:coreProperties>
</file>