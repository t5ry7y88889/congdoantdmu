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5" autoAdjust="0"/>
    <p:restoredTop sz="94431" autoAdjust="0"/>
  </p:normalViewPr>
  <p:slideViewPr>
    <p:cSldViewPr snapToGrid="0" snapToObjects="1">
      <p:cViewPr varScale="1">
        <p:scale>
          <a:sx n="94" d="100"/>
          <a:sy n="94" d="100"/>
        </p:scale>
        <p:origin x="888" y="78"/>
      </p:cViewPr>
      <p:guideLst>
        <p:guide pos="3840"/>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625274159"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819765582"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10/24/2026</a:t>
            </a:fld>
            <a:endParaRPr lang="en-US"/>
          </a:p>
        </p:txBody>
      </p:sp>
      <p:sp>
        <p:nvSpPr>
          <p:cNvPr id="159643182"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563452908"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03154204"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364400353"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82214971" name="Slide Image Placeholder 1"/>
          <p:cNvSpPr>
            <a:spLocks noGrp="1" noRot="1" noChangeAspect="1"/>
          </p:cNvSpPr>
          <p:nvPr>
            <p:ph type="sldImg"/>
          </p:nvPr>
        </p:nvSpPr>
        <p:spPr bwMode="auto"/>
      </p:sp>
      <p:sp>
        <p:nvSpPr>
          <p:cNvPr id="1951672987" name="Notes Placeholder 2"/>
          <p:cNvSpPr>
            <a:spLocks noGrp="1"/>
          </p:cNvSpPr>
          <p:nvPr>
            <p:ph type="body" idx="1"/>
          </p:nvPr>
        </p:nvSpPr>
        <p:spPr bwMode="auto"/>
        <p:txBody>
          <a:bodyPr/>
          <a:lstStyle/>
          <a:p>
            <a:pPr>
              <a:defRPr/>
            </a:pPr>
            <a:endParaRPr lang="en-US"/>
          </a:p>
        </p:txBody>
      </p:sp>
      <p:sp>
        <p:nvSpPr>
          <p:cNvPr id="1447702385"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50204058" name="Slide Image Placeholder 1"/>
          <p:cNvSpPr>
            <a:spLocks noGrp="1" noRot="1" noChangeAspect="1"/>
          </p:cNvSpPr>
          <p:nvPr>
            <p:ph type="sldImg"/>
          </p:nvPr>
        </p:nvSpPr>
        <p:spPr bwMode="auto"/>
      </p:sp>
      <p:sp>
        <p:nvSpPr>
          <p:cNvPr id="855094560" name="Notes Placeholder 2"/>
          <p:cNvSpPr>
            <a:spLocks noGrp="1"/>
          </p:cNvSpPr>
          <p:nvPr>
            <p:ph type="body" idx="1"/>
          </p:nvPr>
        </p:nvSpPr>
        <p:spPr bwMode="auto"/>
        <p:txBody>
          <a:bodyPr/>
          <a:lstStyle/>
          <a:p>
            <a:pPr>
              <a:defRPr/>
            </a:pPr>
            <a:endParaRPr lang="en-US"/>
          </a:p>
        </p:txBody>
      </p:sp>
      <p:sp>
        <p:nvSpPr>
          <p:cNvPr id="1268368270"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07160879" name="Slide Image Placeholder 1"/>
          <p:cNvSpPr>
            <a:spLocks noGrp="1" noRot="1" noChangeAspect="1"/>
          </p:cNvSpPr>
          <p:nvPr>
            <p:ph type="sldImg"/>
          </p:nvPr>
        </p:nvSpPr>
        <p:spPr bwMode="auto"/>
      </p:sp>
      <p:sp>
        <p:nvSpPr>
          <p:cNvPr id="1849410906" name="Notes Placeholder 2"/>
          <p:cNvSpPr>
            <a:spLocks noGrp="1"/>
          </p:cNvSpPr>
          <p:nvPr>
            <p:ph type="body" idx="1"/>
          </p:nvPr>
        </p:nvSpPr>
        <p:spPr bwMode="auto"/>
        <p:txBody>
          <a:bodyPr/>
          <a:lstStyle/>
          <a:p>
            <a:pPr>
              <a:defRPr/>
            </a:pPr>
            <a:endParaRPr lang="en-US"/>
          </a:p>
        </p:txBody>
      </p:sp>
      <p:sp>
        <p:nvSpPr>
          <p:cNvPr id="1373113612"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02353953" name="Slide Image Placeholder 1"/>
          <p:cNvSpPr>
            <a:spLocks noGrp="1" noRot="1" noChangeAspect="1"/>
          </p:cNvSpPr>
          <p:nvPr>
            <p:ph type="sldImg"/>
          </p:nvPr>
        </p:nvSpPr>
        <p:spPr bwMode="auto"/>
      </p:sp>
      <p:sp>
        <p:nvSpPr>
          <p:cNvPr id="353046167" name="Notes Placeholder 2"/>
          <p:cNvSpPr>
            <a:spLocks noGrp="1"/>
          </p:cNvSpPr>
          <p:nvPr>
            <p:ph type="body" idx="1"/>
          </p:nvPr>
        </p:nvSpPr>
        <p:spPr bwMode="auto"/>
        <p:txBody>
          <a:bodyPr/>
          <a:lstStyle/>
          <a:p>
            <a:pPr>
              <a:defRPr/>
            </a:pPr>
            <a:endParaRPr lang="en-US"/>
          </a:p>
        </p:txBody>
      </p:sp>
      <p:sp>
        <p:nvSpPr>
          <p:cNvPr id="2072573907"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02090851" name="Slide Image Placeholder 1"/>
          <p:cNvSpPr>
            <a:spLocks noGrp="1" noRot="1" noChangeAspect="1"/>
          </p:cNvSpPr>
          <p:nvPr>
            <p:ph type="sldImg"/>
          </p:nvPr>
        </p:nvSpPr>
        <p:spPr bwMode="auto"/>
      </p:sp>
      <p:sp>
        <p:nvSpPr>
          <p:cNvPr id="121899841" name="Notes Placeholder 2"/>
          <p:cNvSpPr>
            <a:spLocks noGrp="1"/>
          </p:cNvSpPr>
          <p:nvPr>
            <p:ph type="body" idx="1"/>
          </p:nvPr>
        </p:nvSpPr>
        <p:spPr bwMode="auto"/>
        <p:txBody>
          <a:bodyPr/>
          <a:lstStyle/>
          <a:p>
            <a:pPr>
              <a:defRPr/>
            </a:pPr>
            <a:endParaRPr lang="en-US"/>
          </a:p>
        </p:txBody>
      </p:sp>
      <p:sp>
        <p:nvSpPr>
          <p:cNvPr id="115853011"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96364332" name="Slide Image Placeholder 1"/>
          <p:cNvSpPr>
            <a:spLocks noGrp="1" noRot="1" noChangeAspect="1"/>
          </p:cNvSpPr>
          <p:nvPr>
            <p:ph type="sldImg"/>
          </p:nvPr>
        </p:nvSpPr>
        <p:spPr bwMode="auto"/>
      </p:sp>
      <p:sp>
        <p:nvSpPr>
          <p:cNvPr id="1026868594" name="Notes Placeholder 2"/>
          <p:cNvSpPr>
            <a:spLocks noGrp="1"/>
          </p:cNvSpPr>
          <p:nvPr>
            <p:ph type="body" idx="1"/>
          </p:nvPr>
        </p:nvSpPr>
        <p:spPr bwMode="auto"/>
        <p:txBody>
          <a:bodyPr/>
          <a:lstStyle/>
          <a:p>
            <a:pPr>
              <a:defRPr/>
            </a:pPr>
            <a:endParaRPr lang="en-US"/>
          </a:p>
        </p:txBody>
      </p:sp>
      <p:sp>
        <p:nvSpPr>
          <p:cNvPr id="161629638"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96775833" name="Slide Image Placeholder 1"/>
          <p:cNvSpPr>
            <a:spLocks noGrp="1" noRot="1" noChangeAspect="1"/>
          </p:cNvSpPr>
          <p:nvPr>
            <p:ph type="sldImg"/>
          </p:nvPr>
        </p:nvSpPr>
        <p:spPr bwMode="auto"/>
      </p:sp>
      <p:sp>
        <p:nvSpPr>
          <p:cNvPr id="1841025842" name="Notes Placeholder 2"/>
          <p:cNvSpPr>
            <a:spLocks noGrp="1"/>
          </p:cNvSpPr>
          <p:nvPr>
            <p:ph type="body" idx="1"/>
          </p:nvPr>
        </p:nvSpPr>
        <p:spPr bwMode="auto"/>
        <p:txBody>
          <a:bodyPr/>
          <a:lstStyle/>
          <a:p>
            <a:pPr>
              <a:defRPr/>
            </a:pPr>
            <a:endParaRPr lang="en-US" dirty="0"/>
          </a:p>
        </p:txBody>
      </p:sp>
      <p:sp>
        <p:nvSpPr>
          <p:cNvPr id="401003145"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23870516" name="Slide Image Placeholder 1"/>
          <p:cNvSpPr>
            <a:spLocks noGrp="1" noRot="1" noChangeAspect="1"/>
          </p:cNvSpPr>
          <p:nvPr>
            <p:ph type="sldImg"/>
          </p:nvPr>
        </p:nvSpPr>
        <p:spPr bwMode="auto"/>
      </p:sp>
      <p:sp>
        <p:nvSpPr>
          <p:cNvPr id="1519514850" name="Notes Placeholder 2"/>
          <p:cNvSpPr>
            <a:spLocks noGrp="1"/>
          </p:cNvSpPr>
          <p:nvPr>
            <p:ph type="body" idx="1"/>
          </p:nvPr>
        </p:nvSpPr>
        <p:spPr bwMode="auto"/>
        <p:txBody>
          <a:bodyPr/>
          <a:lstStyle/>
          <a:p>
            <a:pPr>
              <a:defRPr/>
            </a:pPr>
            <a:endParaRPr lang="en-US"/>
          </a:p>
        </p:txBody>
      </p:sp>
      <p:sp>
        <p:nvSpPr>
          <p:cNvPr id="658800164"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03360641" name="Slide Image Placeholder 1"/>
          <p:cNvSpPr>
            <a:spLocks noGrp="1" noRot="1" noChangeAspect="1"/>
          </p:cNvSpPr>
          <p:nvPr>
            <p:ph type="sldImg"/>
          </p:nvPr>
        </p:nvSpPr>
        <p:spPr bwMode="auto"/>
      </p:sp>
      <p:sp>
        <p:nvSpPr>
          <p:cNvPr id="546525656" name="Notes Placeholder 2"/>
          <p:cNvSpPr>
            <a:spLocks noGrp="1"/>
          </p:cNvSpPr>
          <p:nvPr>
            <p:ph type="body" idx="1"/>
          </p:nvPr>
        </p:nvSpPr>
        <p:spPr bwMode="auto"/>
        <p:txBody>
          <a:bodyPr/>
          <a:lstStyle/>
          <a:p>
            <a:pPr>
              <a:defRPr/>
            </a:pPr>
            <a:endParaRPr lang="en-US"/>
          </a:p>
        </p:txBody>
      </p:sp>
      <p:sp>
        <p:nvSpPr>
          <p:cNvPr id="1414378132"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26090955" name="Slide Image Placeholder 1"/>
          <p:cNvSpPr>
            <a:spLocks noGrp="1" noRot="1" noChangeAspect="1"/>
          </p:cNvSpPr>
          <p:nvPr>
            <p:ph type="sldImg"/>
          </p:nvPr>
        </p:nvSpPr>
        <p:spPr bwMode="auto"/>
      </p:sp>
      <p:sp>
        <p:nvSpPr>
          <p:cNvPr id="110295194" name="Notes Placeholder 2"/>
          <p:cNvSpPr>
            <a:spLocks noGrp="1"/>
          </p:cNvSpPr>
          <p:nvPr>
            <p:ph type="body" idx="1"/>
          </p:nvPr>
        </p:nvSpPr>
        <p:spPr bwMode="auto"/>
        <p:txBody>
          <a:bodyPr/>
          <a:lstStyle/>
          <a:p>
            <a:pPr>
              <a:defRPr/>
            </a:pPr>
            <a:endParaRPr lang="en-US"/>
          </a:p>
        </p:txBody>
      </p:sp>
      <p:sp>
        <p:nvSpPr>
          <p:cNvPr id="999941876"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81529488" name="Slide Image Placeholder 1"/>
          <p:cNvSpPr>
            <a:spLocks noGrp="1" noRot="1" noChangeAspect="1"/>
          </p:cNvSpPr>
          <p:nvPr>
            <p:ph type="sldImg"/>
          </p:nvPr>
        </p:nvSpPr>
        <p:spPr bwMode="auto"/>
      </p:sp>
      <p:sp>
        <p:nvSpPr>
          <p:cNvPr id="1799096408" name="Notes Placeholder 2"/>
          <p:cNvSpPr>
            <a:spLocks noGrp="1"/>
          </p:cNvSpPr>
          <p:nvPr>
            <p:ph type="body" idx="1"/>
          </p:nvPr>
        </p:nvSpPr>
        <p:spPr bwMode="auto"/>
        <p:txBody>
          <a:bodyPr/>
          <a:lstStyle/>
          <a:p>
            <a:pPr>
              <a:defRPr/>
            </a:pPr>
            <a:endParaRPr lang="en-US"/>
          </a:p>
        </p:txBody>
      </p:sp>
      <p:sp>
        <p:nvSpPr>
          <p:cNvPr id="1954163673"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31494569" name="Slide Image Placeholder 1"/>
          <p:cNvSpPr>
            <a:spLocks noGrp="1" noRot="1" noChangeAspect="1"/>
          </p:cNvSpPr>
          <p:nvPr>
            <p:ph type="sldImg"/>
          </p:nvPr>
        </p:nvSpPr>
        <p:spPr bwMode="auto"/>
      </p:sp>
      <p:sp>
        <p:nvSpPr>
          <p:cNvPr id="1396293744" name="Notes Placeholder 2"/>
          <p:cNvSpPr>
            <a:spLocks noGrp="1"/>
          </p:cNvSpPr>
          <p:nvPr>
            <p:ph type="body" idx="1"/>
          </p:nvPr>
        </p:nvSpPr>
        <p:spPr bwMode="auto"/>
        <p:txBody>
          <a:bodyPr/>
          <a:lstStyle/>
          <a:p>
            <a:pPr>
              <a:defRPr/>
            </a:pPr>
            <a:endParaRPr lang="en-US"/>
          </a:p>
        </p:txBody>
      </p:sp>
      <p:sp>
        <p:nvSpPr>
          <p:cNvPr id="104697216"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7FFF6-614E-60EA-B2A4-032BFC1F0577}"/>
            </a:ext>
          </a:extLst>
        </p:cNvPr>
        <p:cNvGrpSpPr/>
        <p:nvPr/>
      </p:nvGrpSpPr>
      <p:grpSpPr bwMode="auto">
        <a:xfrm>
          <a:off x="0" y="0"/>
          <a:ext cx="0" cy="0"/>
          <a:chOff x="0" y="0"/>
          <a:chExt cx="0" cy="0"/>
        </a:xfrm>
      </p:grpSpPr>
      <p:sp>
        <p:nvSpPr>
          <p:cNvPr id="882214971" name="Slide Image Placeholder 1">
            <a:extLst>
              <a:ext uri="{FF2B5EF4-FFF2-40B4-BE49-F238E27FC236}">
                <a16:creationId xmlns:a16="http://schemas.microsoft.com/office/drawing/2014/main" id="{4EAE3EAA-ACDA-9090-92F8-CAE354732341}"/>
              </a:ext>
            </a:extLst>
          </p:cNvPr>
          <p:cNvSpPr>
            <a:spLocks noGrp="1" noRot="1" noChangeAspect="1"/>
          </p:cNvSpPr>
          <p:nvPr>
            <p:ph type="sldImg"/>
          </p:nvPr>
        </p:nvSpPr>
        <p:spPr bwMode="auto"/>
      </p:sp>
      <p:sp>
        <p:nvSpPr>
          <p:cNvPr id="1951672987" name="Notes Placeholder 2">
            <a:extLst>
              <a:ext uri="{FF2B5EF4-FFF2-40B4-BE49-F238E27FC236}">
                <a16:creationId xmlns:a16="http://schemas.microsoft.com/office/drawing/2014/main" id="{714FC30A-544A-4A52-F2AA-C07B1378D37E}"/>
              </a:ext>
            </a:extLst>
          </p:cNvPr>
          <p:cNvSpPr>
            <a:spLocks noGrp="1"/>
          </p:cNvSpPr>
          <p:nvPr>
            <p:ph type="body" idx="1"/>
          </p:nvPr>
        </p:nvSpPr>
        <p:spPr bwMode="auto"/>
        <p:txBody>
          <a:bodyPr/>
          <a:lstStyle/>
          <a:p>
            <a:pPr>
              <a:defRPr/>
            </a:pPr>
            <a:endParaRPr lang="en-US" dirty="0"/>
          </a:p>
        </p:txBody>
      </p:sp>
      <p:sp>
        <p:nvSpPr>
          <p:cNvPr id="1447702385" name="Slide Number Placeholder 3">
            <a:extLst>
              <a:ext uri="{FF2B5EF4-FFF2-40B4-BE49-F238E27FC236}">
                <a16:creationId xmlns:a16="http://schemas.microsoft.com/office/drawing/2014/main" id="{2C0C03E8-4618-98AC-8ABC-1F4680839708}"/>
              </a:ext>
            </a:extLst>
          </p:cNvPr>
          <p:cNvSpPr>
            <a:spLocks noGrp="1"/>
          </p:cNvSpPr>
          <p:nvPr>
            <p:ph type="sldNum" sz="quarter" idx="10"/>
          </p:nvPr>
        </p:nvSpPr>
        <p:spPr bwMode="auto"/>
        <p:txBody>
          <a:bodyPr/>
          <a:lstStyle/>
          <a:p>
            <a:pPr>
              <a:defRPr/>
            </a:pPr>
            <a:fld id="{F7021451-1387-4CA6-816F-3879F97B5CBC}" type="slidenum">
              <a:rPr lang="en-US"/>
              <a:t>13</a:t>
            </a:fld>
            <a:endParaRPr lang="en-US"/>
          </a:p>
        </p:txBody>
      </p:sp>
    </p:spTree>
    <p:extLst>
      <p:ext uri="{BB962C8B-B14F-4D97-AF65-F5344CB8AC3E}">
        <p14:creationId xmlns:p14="http://schemas.microsoft.com/office/powerpoint/2010/main" val="2260758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7.jpg"/><Relationship Id="rId5"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name="Slide 1">
    <p:bg>
      <p:bgPr>
        <a:solidFill>
          <a:srgbClr val="F6F8FB"/>
        </a:solidFill>
        <a:effectLst/>
      </p:bgPr>
    </p:bg>
    <p:spTree>
      <p:nvGrpSpPr>
        <p:cNvPr id="1" name=""/>
        <p:cNvGrpSpPr/>
        <p:nvPr/>
      </p:nvGrpSpPr>
      <p:grpSpPr bwMode="auto">
        <a:xfrm>
          <a:off x="0" y="0"/>
          <a:ext cx="0" cy="0"/>
          <a:chOff x="0" y="0"/>
          <a:chExt cx="0" cy="0"/>
        </a:xfrm>
      </p:grpSpPr>
      <p:pic>
        <p:nvPicPr>
          <p:cNvPr id="870917759" name="Image 0" descr="/var/folders/t4/q0khv7qd1r3dc2yrbwkzmjf00000gn/T/html2pptx-5EShAo/html2pptx-bg-1791687631881-4aa197ed81b4d.png"/>
          <p:cNvPicPr>
            <a:picLocks noChangeAspect="1"/>
          </p:cNvPicPr>
          <p:nvPr/>
        </p:nvPicPr>
        <p:blipFill rotWithShape="1">
          <a:blip r:embed="rId3"/>
          <a:stretch/>
        </p:blipFill>
        <p:spPr bwMode="auto">
          <a:xfrm>
            <a:off x="0" y="0"/>
            <a:ext cx="12192000" cy="6858000"/>
          </a:xfrm>
          <a:prstGeom prst="rect">
            <a:avLst/>
          </a:prstGeom>
        </p:spPr>
      </p:pic>
      <p:pic>
        <p:nvPicPr>
          <p:cNvPr id="106409509" name="Image 1" descr="/var/folders/t4/q0khv7qd1r3dc2yrbwkzmjf00000gn/T/html2pptx-5EShAo/html2pptx-bg-1791687634666-11618a6fb0db7.png"/>
          <p:cNvPicPr>
            <a:picLocks noChangeAspect="1"/>
          </p:cNvPicPr>
          <p:nvPr/>
        </p:nvPicPr>
        <p:blipFill rotWithShape="1">
          <a:blip r:embed="rId4"/>
          <a:stretch/>
        </p:blipFill>
        <p:spPr bwMode="auto">
          <a:xfrm>
            <a:off x="0" y="0"/>
            <a:ext cx="12192000" cy="6858000"/>
          </a:xfrm>
          <a:prstGeom prst="rect">
            <a:avLst/>
          </a:prstGeom>
        </p:spPr>
      </p:pic>
      <p:sp>
        <p:nvSpPr>
          <p:cNvPr id="1537142312" name="Text 0"/>
          <p:cNvSpPr/>
          <p:nvPr/>
        </p:nvSpPr>
        <p:spPr bwMode="auto">
          <a:xfrm>
            <a:off x="3376664" y="664681"/>
            <a:ext cx="5375100" cy="161925"/>
          </a:xfrm>
          <a:prstGeom prst="rect">
            <a:avLst/>
          </a:prstGeom>
          <a:noFill/>
          <a:ln/>
        </p:spPr>
        <p:txBody>
          <a:bodyPr wrap="square" lIns="0" tIns="0" rIns="0" bIns="0" rtlCol="0" anchor="t"/>
          <a:lstStyle/>
          <a:p>
            <a:pPr marL="0" indent="0" algn="ctr">
              <a:spcBef>
                <a:spcPts val="1125"/>
              </a:spcBef>
              <a:spcAft>
                <a:spcPts val="1350"/>
              </a:spcAft>
              <a:buNone/>
              <a:defRPr/>
            </a:pPr>
            <a:r>
              <a:rPr lang="vi-VN" sz="1150" b="1" noProof="1">
                <a:latin typeface="Segoe UI" panose="020B0502040204020203" pitchFamily="34" charset="0"/>
                <a:ea typeface="Arial"/>
                <a:cs typeface="Segoe UI" panose="020B0502040204020203" pitchFamily="34" charset="0"/>
              </a:rPr>
              <a:t>TRƯỜNG ĐẠI HỌC THỦ DẦU MỘT · VIỆN CÔNG NGHỆ SỐ</a:t>
            </a:r>
            <a:endParaRPr lang="vi-VN" sz="1150" noProof="1">
              <a:latin typeface="Segoe UI" panose="020B0502040204020203" pitchFamily="34" charset="0"/>
              <a:cs typeface="Segoe UI" panose="020B0502040204020203" pitchFamily="34" charset="0"/>
            </a:endParaRPr>
          </a:p>
        </p:txBody>
      </p:sp>
      <p:pic>
        <p:nvPicPr>
          <p:cNvPr id="159039897" name="Image 2" descr="/var/folders/t4/q0khv7qd1r3dc2yrbwkzmjf00000gn/T/html2pptx-5EShAo/html2pptx-bg-1791687635451-9107ca478c6db8.png"/>
          <p:cNvPicPr>
            <a:picLocks noChangeAspect="1"/>
          </p:cNvPicPr>
          <p:nvPr/>
        </p:nvPicPr>
        <p:blipFill rotWithShape="1">
          <a:blip r:embed="rId5"/>
          <a:stretch/>
        </p:blipFill>
        <p:spPr bwMode="auto">
          <a:xfrm>
            <a:off x="5064090" y="998056"/>
            <a:ext cx="2000250" cy="774948"/>
          </a:xfrm>
          <a:prstGeom prst="rect">
            <a:avLst/>
          </a:prstGeom>
        </p:spPr>
      </p:pic>
      <p:sp>
        <p:nvSpPr>
          <p:cNvPr id="1949878041" name="Text 1"/>
          <p:cNvSpPr/>
          <p:nvPr/>
        </p:nvSpPr>
        <p:spPr bwMode="auto">
          <a:xfrm>
            <a:off x="3504682" y="2021392"/>
            <a:ext cx="5169481" cy="447145"/>
          </a:xfrm>
          <a:prstGeom prst="roundRect">
            <a:avLst>
              <a:gd name="adj" fmla="val 3222581"/>
            </a:avLst>
          </a:prstGeom>
          <a:solidFill>
            <a:srgbClr val="002855"/>
          </a:solidFill>
          <a:ln/>
        </p:spPr>
        <p:txBody>
          <a:bodyPr wrap="square" rtlCol="0" anchor="ctr"/>
          <a:lstStyle/>
          <a:p>
            <a:pPr marL="0" indent="0">
              <a:buNone/>
              <a:defRPr/>
            </a:pPr>
            <a:endParaRPr lang="vi-VN" noProof="1">
              <a:latin typeface="Segoe UI" panose="020B0502040204020203" pitchFamily="34" charset="0"/>
              <a:cs typeface="Segoe UI" panose="020B0502040204020203" pitchFamily="34" charset="0"/>
            </a:endParaRPr>
          </a:p>
        </p:txBody>
      </p:sp>
      <p:sp>
        <p:nvSpPr>
          <p:cNvPr id="2006476494" name="Text 2"/>
          <p:cNvSpPr/>
          <p:nvPr/>
        </p:nvSpPr>
        <p:spPr bwMode="auto">
          <a:xfrm>
            <a:off x="3458126" y="2021393"/>
            <a:ext cx="5293638" cy="295274"/>
          </a:xfrm>
          <a:prstGeom prst="rect">
            <a:avLst/>
          </a:prstGeom>
          <a:noFill/>
          <a:ln/>
        </p:spPr>
        <p:txBody>
          <a:bodyPr wrap="square" lIns="209550" tIns="76200" rIns="209550" bIns="76200" rtlCol="0" anchor="t"/>
          <a:lstStyle/>
          <a:p>
            <a:pPr algn="ctr">
              <a:defRPr sz="1300" b="1">
                <a:solidFill>
                  <a:srgbClr val="FFFFFF"/>
                </a:solidFill>
                <a:latin typeface="Calibri"/>
              </a:defRPr>
            </a:pPr>
            <a:r>
              <a:t>BÁO CÁO ĐỒ ÁN CƠ SỞ NGÀNH</a:t>
            </a:r>
          </a:p>
        </p:txBody>
      </p:sp>
      <p:sp>
        <p:nvSpPr>
          <p:cNvPr id="37544028" name="Text 3"/>
          <p:cNvSpPr/>
          <p:nvPr/>
        </p:nvSpPr>
        <p:spPr bwMode="auto">
          <a:xfrm>
            <a:off x="1444693" y="2979227"/>
            <a:ext cx="9320504" cy="1368194"/>
          </a:xfrm>
          <a:prstGeom prst="rect">
            <a:avLst/>
          </a:prstGeom>
          <a:noFill/>
          <a:ln/>
        </p:spPr>
        <p:txBody>
          <a:bodyPr wrap="square" lIns="0" tIns="0" rIns="0" bIns="0" rtlCol="0" anchor="t"/>
          <a:lstStyle/>
          <a:p>
            <a:pPr marL="0" indent="0" algn="ctr">
              <a:lnSpc>
                <a:spcPct val="30000"/>
              </a:lnSpc>
              <a:spcBef>
                <a:spcPts val="1950"/>
              </a:spcBef>
              <a:spcAft>
                <a:spcPts val="1350"/>
              </a:spcAft>
              <a:buNone/>
              <a:defRPr/>
            </a:pPr>
            <a:r>
              <a:rPr lang="vi-VN" sz="3000" b="1" noProof="1">
                <a:solidFill>
                  <a:srgbClr val="002855"/>
                </a:solidFill>
                <a:latin typeface="Segoe UI" panose="020B0502040204020203" pitchFamily="34" charset="0"/>
                <a:ea typeface="Arial"/>
                <a:cs typeface="Segoe UI" panose="020B0502040204020203" pitchFamily="34" charset="0"/>
              </a:rPr>
              <a:t>Xây dựng Website Truyền thông Công đoàn TDMU</a:t>
            </a:r>
            <a:endParaRPr lang="vi-VN" sz="3000" b="1" noProof="1">
              <a:latin typeface="Segoe UI" panose="020B0502040204020203" pitchFamily="34" charset="0"/>
              <a:cs typeface="Segoe UI" panose="020B0502040204020203" pitchFamily="34" charset="0"/>
            </a:endParaRPr>
          </a:p>
          <a:p>
            <a:pPr marL="0" indent="0" algn="ctr">
              <a:lnSpc>
                <a:spcPct val="30000"/>
              </a:lnSpc>
              <a:spcBef>
                <a:spcPts val="1950"/>
              </a:spcBef>
              <a:spcAft>
                <a:spcPts val="1350"/>
              </a:spcAft>
              <a:buNone/>
              <a:defRPr/>
            </a:pPr>
            <a:r>
              <a:rPr lang="vi-VN" sz="3000" b="1" noProof="1">
                <a:solidFill>
                  <a:srgbClr val="002855"/>
                </a:solidFill>
                <a:latin typeface="Segoe UI" panose="020B0502040204020203" pitchFamily="34" charset="0"/>
                <a:ea typeface="Arial"/>
                <a:cs typeface="Segoe UI" panose="020B0502040204020203" pitchFamily="34" charset="0"/>
              </a:rPr>
              <a:t>tích hợp AI hỗ trợ tạo và đăng tải nội dung</a:t>
            </a:r>
            <a:endParaRPr lang="vi-VN" sz="3000" b="1" noProof="1">
              <a:latin typeface="Segoe UI" panose="020B0502040204020203" pitchFamily="34" charset="0"/>
              <a:cs typeface="Segoe UI" panose="020B0502040204020203" pitchFamily="34" charset="0"/>
            </a:endParaRPr>
          </a:p>
        </p:txBody>
      </p:sp>
      <p:sp>
        <p:nvSpPr>
          <p:cNvPr id="1670694659" name="Text 4"/>
          <p:cNvSpPr/>
          <p:nvPr/>
        </p:nvSpPr>
        <p:spPr bwMode="auto">
          <a:xfrm>
            <a:off x="3108960" y="4003630"/>
            <a:ext cx="5943600" cy="128301"/>
          </a:xfrm>
          <a:prstGeom prst="rect">
            <a:avLst/>
          </a:prstGeom>
          <a:noFill/>
          <a:ln/>
        </p:spPr>
        <p:txBody>
          <a:bodyPr wrap="square" lIns="0" tIns="0" rIns="0" bIns="0" rtlCol="0" anchor="t"/>
          <a:lstStyle/>
          <a:p>
            <a:pPr algn="ctr">
              <a:defRPr sz="1100" b="0">
                <a:solidFill>
                  <a:srgbClr val="323C4B"/>
                </a:solidFill>
                <a:latin typeface="Arial"/>
              </a:defRPr>
            </a:pPr>
            <a:r>
              <a:t>GVHD: ThS. Võ Quốc Lương   |   Nhóm thực hiện: Nhóm 2</a:t>
            </a:r>
          </a:p>
        </p:txBody>
      </p:sp>
      <p:sp>
        <p:nvSpPr>
          <p:cNvPr id="394878804" name="Text 5"/>
          <p:cNvSpPr/>
          <p:nvPr/>
        </p:nvSpPr>
        <p:spPr bwMode="auto">
          <a:xfrm>
            <a:off x="4055842" y="5097440"/>
            <a:ext cx="4080313" cy="762504"/>
          </a:xfrm>
          <a:prstGeom prst="rect">
            <a:avLst/>
          </a:prstGeom>
          <a:noFill/>
          <a:ln/>
        </p:spPr>
        <p:txBody>
          <a:bodyPr wrap="square" lIns="0" tIns="0" rIns="0" bIns="0" rtlCol="0" anchor="t"/>
          <a:lstStyle/>
          <a:p>
            <a:pPr marL="0" indent="0" algn="l">
              <a:buNone/>
              <a:defRPr/>
            </a:pPr>
            <a:endParaRPr lang="vi-VN" b="0" baseline="-25000" noProof="1">
              <a:latin typeface="Segoe UI" panose="020B0502040204020203" pitchFamily="34" charset="0"/>
              <a:cs typeface="Segoe UI" panose="020B0502040204020203" pitchFamily="34" charset="0"/>
            </a:endParaRPr>
          </a:p>
        </p:txBody>
      </p:sp>
      <p:sp>
        <p:nvSpPr>
          <p:cNvPr id="613455218" name="Text 6"/>
          <p:cNvSpPr/>
          <p:nvPr/>
        </p:nvSpPr>
        <p:spPr bwMode="auto">
          <a:xfrm>
            <a:off x="3208522" y="6108333"/>
            <a:ext cx="5774954" cy="152400"/>
          </a:xfrm>
          <a:prstGeom prst="rect">
            <a:avLst/>
          </a:prstGeom>
          <a:noFill/>
          <a:ln/>
        </p:spPr>
        <p:txBody>
          <a:bodyPr wrap="square" lIns="0" tIns="0" rIns="0" bIns="0" rtlCol="0" anchor="t"/>
          <a:lstStyle/>
          <a:p>
            <a:pPr marL="0" indent="0" algn="ctr">
              <a:spcBef>
                <a:spcPts val="1650"/>
              </a:spcBef>
              <a:spcAft>
                <a:spcPts val="1050"/>
              </a:spcAft>
              <a:buNone/>
              <a:defRPr/>
            </a:pPr>
            <a:r>
              <a:rPr lang="vi-VN" sz="1050" noProof="1">
                <a:solidFill>
                  <a:srgbClr val="8A97AB"/>
                </a:solidFill>
                <a:latin typeface="Segoe UI" panose="020B0502040204020203" pitchFamily="34" charset="0"/>
                <a:ea typeface="Arial"/>
                <a:cs typeface="Segoe UI" panose="020B0502040204020203" pitchFamily="34" charset="0"/>
              </a:rPr>
              <a:t>HỌC PHẦN: ĐỒ ÁN CƠ SỞ NGÀNH · NĂM HỌC 2026–2027 · THÁNG 10/2026</a:t>
            </a:r>
            <a:endParaRPr lang="vi-VN" sz="1050" noProof="1">
              <a:latin typeface="Segoe UI" panose="020B0502040204020203" pitchFamily="34" charset="0"/>
              <a:cs typeface="Segoe UI" panose="020B0502040204020203" pitchFamily="34" charset="0"/>
            </a:endParaRPr>
          </a:p>
        </p:txBody>
      </p:sp>
      <p:sp>
        <p:nvSpPr>
          <p:cNvPr id="2" name="Text 5">
            <a:extLst>
              <a:ext uri="{FF2B5EF4-FFF2-40B4-BE49-F238E27FC236}">
                <a16:creationId xmlns:a16="http://schemas.microsoft.com/office/drawing/2014/main" id="{057AB317-5C80-DBFF-4540-0B877F1E471D}"/>
              </a:ext>
            </a:extLst>
          </p:cNvPr>
          <p:cNvSpPr/>
          <p:nvPr/>
        </p:nvSpPr>
        <p:spPr bwMode="auto">
          <a:xfrm>
            <a:off x="2940385" y="4536564"/>
            <a:ext cx="6247658" cy="762504"/>
          </a:xfrm>
          <a:prstGeom prst="rect">
            <a:avLst/>
          </a:prstGeom>
          <a:noFill/>
          <a:ln/>
        </p:spPr>
        <p:txBody>
          <a:bodyPr wrap="square" lIns="0" tIns="0" rIns="0" bIns="0" rtlCol="0" anchor="t"/>
          <a:lstStyle/>
          <a:p>
            <a:pPr algn="ctr">
              <a:defRPr sz="1100" b="0">
                <a:solidFill>
                  <a:srgbClr val="212529"/>
                </a:solidFill>
                <a:latin typeface="Calibri"/>
              </a:defRPr>
            </a:pPr>
            <a:r>
              <a:t>1. Nguyễn Bình Dương (Trưởng nhóm) - MSSV: 2424802010319 - Lớp: D24CNTT05</a:t>
            </a:r>
          </a:p>
          <a:p>
            <a:pPr algn="ctr">
              <a:defRPr sz="1100" b="0">
                <a:solidFill>
                  <a:srgbClr val="212529"/>
                </a:solidFill>
                <a:latin typeface="Calibri"/>
              </a:defRPr>
            </a:pPr>
            <a:r>
              <a:t>2. Trần Hồng Thanh - MSSV: 2424802010439 - Lớp: D24CNTT03</a:t>
            </a:r>
          </a:p>
          <a:p>
            <a:pPr algn="ctr">
              <a:defRPr sz="1100" b="0">
                <a:solidFill>
                  <a:srgbClr val="212529"/>
                </a:solidFill>
                <a:latin typeface="Calibri"/>
              </a:defRPr>
            </a:pPr>
            <a:r>
              <a:t>3. Phạm Anh Tuấn - MSSV: 2324802010393 - Lớp: D23CNTT03</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name="Slide 2">
    <p:bg>
      <p:bgPr>
        <a:solidFill>
          <a:srgbClr val="F6F8FB"/>
        </a:solidFill>
        <a:effectLst/>
      </p:bgPr>
    </p:bg>
    <p:spTree>
      <p:nvGrpSpPr>
        <p:cNvPr id="1" name=""/>
        <p:cNvGrpSpPr/>
        <p:nvPr/>
      </p:nvGrpSpPr>
      <p:grpSpPr bwMode="auto">
        <a:xfrm>
          <a:off x="0" y="0"/>
          <a:ext cx="0" cy="0"/>
          <a:chOff x="0" y="0"/>
          <a:chExt cx="0" cy="0"/>
        </a:xfrm>
      </p:grpSpPr>
      <p:sp>
        <p:nvSpPr>
          <p:cNvPr id="725398438"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100" b="1" noProof="1">
                <a:solidFill>
                  <a:srgbClr val="B07F12"/>
                </a:solidFill>
                <a:latin typeface="Arial"/>
                <a:ea typeface="Arial"/>
                <a:cs typeface="Arial"/>
              </a:rPr>
              <a:t>1. GIỚI THIỆU ĐỀ TÀI</a:t>
            </a:r>
            <a:endParaRPr lang="vi-VN" sz="1100" noProof="1"/>
          </a:p>
        </p:txBody>
      </p:sp>
      <p:sp>
        <p:nvSpPr>
          <p:cNvPr id="1697951551" name="Text 1"/>
          <p:cNvSpPr/>
          <p:nvPr/>
        </p:nvSpPr>
        <p:spPr bwMode="auto">
          <a:xfrm>
            <a:off x="533400" y="542925"/>
            <a:ext cx="11347704" cy="359569"/>
          </a:xfrm>
          <a:prstGeom prst="rect">
            <a:avLst/>
          </a:prstGeom>
          <a:noFill/>
          <a:ln/>
        </p:spPr>
        <p:txBody>
          <a:bodyPr wrap="square" lIns="0" tIns="0" rIns="0" bIns="0" rtlCol="0" anchor="t"/>
          <a:lstStyle/>
          <a:p>
            <a:pPr algn="l">
              <a:defRPr sz="1300" b="0">
                <a:solidFill>
                  <a:srgbClr val="323C4B"/>
                </a:solidFill>
                <a:latin typeface="Arial"/>
              </a:defRPr>
            </a:pPr>
            <a:r>
              <a:t>Bối cảnh &amp; Khó khăn thực tế tại Công đoàn trường</a:t>
            </a:r>
          </a:p>
        </p:txBody>
      </p:sp>
      <p:pic>
        <p:nvPicPr>
          <p:cNvPr id="1625949967" name="Image 0" descr="/var/folders/t4/q0khv7qd1r3dc2yrbwkzmjf00000gn/T/html2pptx-hpn747/html2pptx-bg-1791687637400-35b90b69f14bc8.png"/>
          <p:cNvPicPr>
            <a:picLocks noChangeAspect="1"/>
          </p:cNvPicPr>
          <p:nvPr/>
        </p:nvPicPr>
        <p:blipFill rotWithShape="1">
          <a:blip r:embed="rId3"/>
          <a:stretch/>
        </p:blipFill>
        <p:spPr bwMode="auto">
          <a:xfrm>
            <a:off x="533400" y="978694"/>
            <a:ext cx="1047750" cy="38100"/>
          </a:xfrm>
          <a:prstGeom prst="rect">
            <a:avLst/>
          </a:prstGeom>
        </p:spPr>
      </p:pic>
      <p:sp>
        <p:nvSpPr>
          <p:cNvPr id="229454653" name="Text 2"/>
          <p:cNvSpPr/>
          <p:nvPr/>
        </p:nvSpPr>
        <p:spPr bwMode="auto">
          <a:xfrm>
            <a:off x="533400" y="1245394"/>
            <a:ext cx="4400550" cy="2928938"/>
          </a:xfrm>
          <a:prstGeom prst="roundRect">
            <a:avLst>
              <a:gd name="adj" fmla="val 4553"/>
            </a:avLst>
          </a:prstGeom>
          <a:solidFill>
            <a:srgbClr val="FFFFFF"/>
          </a:solidFill>
          <a:ln w="9525">
            <a:solidFill>
              <a:srgbClr val="E3E9F2"/>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sz="2400" noProof="1"/>
          </a:p>
        </p:txBody>
      </p:sp>
      <p:sp>
        <p:nvSpPr>
          <p:cNvPr id="1349251627" name="Text 3"/>
          <p:cNvSpPr/>
          <p:nvPr/>
        </p:nvSpPr>
        <p:spPr bwMode="auto">
          <a:xfrm>
            <a:off x="771525" y="1464469"/>
            <a:ext cx="4002786" cy="190500"/>
          </a:xfrm>
          <a:prstGeom prst="rect">
            <a:avLst/>
          </a:prstGeom>
          <a:noFill/>
          <a:ln/>
        </p:spPr>
        <p:txBody>
          <a:bodyPr wrap="square" lIns="0" tIns="0" rIns="0" bIns="0" rtlCol="0" anchor="t"/>
          <a:lstStyle/>
          <a:p>
            <a:pPr marL="0" indent="0" algn="l">
              <a:spcAft>
                <a:spcPts val="1050"/>
              </a:spcAft>
              <a:buNone/>
              <a:defRPr/>
            </a:pPr>
            <a:r>
              <a:rPr lang="vi-VN" sz="1600" b="1" noProof="1">
                <a:solidFill>
                  <a:srgbClr val="002855"/>
                </a:solidFill>
                <a:latin typeface="Arial"/>
                <a:ea typeface="Arial"/>
                <a:cs typeface="Arial"/>
              </a:rPr>
              <a:t>Công đoàn Trường ĐH Thủ Dầu Một</a:t>
            </a:r>
            <a:endParaRPr lang="vi-VN" sz="1600" noProof="1"/>
          </a:p>
        </p:txBody>
      </p:sp>
      <p:sp>
        <p:nvSpPr>
          <p:cNvPr id="1870838840" name="Text 4"/>
          <p:cNvSpPr/>
          <p:nvPr/>
        </p:nvSpPr>
        <p:spPr bwMode="auto">
          <a:xfrm>
            <a:off x="771525" y="1788319"/>
            <a:ext cx="4002786" cy="371475"/>
          </a:xfrm>
          <a:prstGeom prst="rect">
            <a:avLst/>
          </a:prstGeom>
          <a:noFill/>
          <a:ln/>
        </p:spPr>
        <p:txBody>
          <a:bodyPr wrap="square" lIns="0" tIns="0" rIns="0" bIns="0" rtlCol="0" anchor="t"/>
          <a:lstStyle/>
          <a:p>
            <a:pPr algn="l">
              <a:defRPr sz="1100" b="0">
                <a:solidFill>
                  <a:srgbClr val="323C4B"/>
                </a:solidFill>
                <a:latin typeface="Arial"/>
              </a:defRPr>
            </a:pPr>
            <a:r>
              <a:t>Quy mô hơn 800 cán bộ, giảng viên và người lao động</a:t>
            </a:r>
          </a:p>
        </p:txBody>
      </p:sp>
      <p:sp>
        <p:nvSpPr>
          <p:cNvPr id="1055967817" name="Text 7"/>
          <p:cNvSpPr/>
          <p:nvPr/>
        </p:nvSpPr>
        <p:spPr bwMode="auto">
          <a:xfrm>
            <a:off x="771525" y="2274094"/>
            <a:ext cx="280990" cy="371475"/>
          </a:xfrm>
          <a:prstGeom prst="rect">
            <a:avLst/>
          </a:prstGeom>
          <a:noFill/>
          <a:ln/>
        </p:spPr>
        <p:txBody>
          <a:bodyPr wrap="square" lIns="0" tIns="0" rIns="0" bIns="0" rtlCol="0" anchor="t"/>
          <a:lstStyle/>
          <a:p>
            <a:pPr marL="0" indent="0" algn="l">
              <a:lnSpc>
                <a:spcPts val="2925"/>
              </a:lnSpc>
              <a:buNone/>
              <a:defRPr/>
            </a:pPr>
            <a:endParaRPr lang="vi-VN" sz="2400" noProof="1"/>
          </a:p>
        </p:txBody>
      </p:sp>
      <p:sp>
        <p:nvSpPr>
          <p:cNvPr id="1097968427" name="Text 9"/>
          <p:cNvSpPr/>
          <p:nvPr/>
        </p:nvSpPr>
        <p:spPr bwMode="auto">
          <a:xfrm>
            <a:off x="771525" y="2893219"/>
            <a:ext cx="4002786" cy="192881"/>
          </a:xfrm>
          <a:prstGeom prst="rect">
            <a:avLst/>
          </a:prstGeom>
          <a:noFill/>
          <a:ln/>
        </p:spPr>
        <p:txBody>
          <a:bodyPr wrap="square" lIns="0" tIns="0" rIns="0" bIns="0" rtlCol="0" anchor="t"/>
          <a:lstStyle/>
          <a:p>
            <a:pPr algn="l">
              <a:defRPr sz="1000" b="1">
                <a:solidFill>
                  <a:srgbClr val="002855"/>
                </a:solidFill>
                <a:latin typeface="Arial"/>
              </a:defRPr>
            </a:pPr>
            <a:r>
              <a:t>Kênh truyền thông hiện có:</a:t>
            </a:r>
          </a:p>
        </p:txBody>
      </p:sp>
      <p:sp>
        <p:nvSpPr>
          <p:cNvPr id="1624888564" name="Text 10"/>
          <p:cNvSpPr/>
          <p:nvPr/>
        </p:nvSpPr>
        <p:spPr bwMode="auto">
          <a:xfrm>
            <a:off x="771525" y="3200400"/>
            <a:ext cx="4002786" cy="192881"/>
          </a:xfrm>
          <a:prstGeom prst="rect">
            <a:avLst/>
          </a:prstGeom>
          <a:noFill/>
          <a:ln/>
        </p:spPr>
        <p:txBody>
          <a:bodyPr wrap="square" lIns="0" tIns="0" rIns="0" bIns="0" rtlCol="0" anchor="t"/>
          <a:lstStyle/>
          <a:p>
            <a:pPr algn="l">
              <a:defRPr sz="1000" b="0">
                <a:solidFill>
                  <a:srgbClr val="323C4B"/>
                </a:solidFill>
                <a:latin typeface="Arial"/>
              </a:defRPr>
            </a:pPr>
            <a:r>
              <a:t>Mục tin trên Website trường · Trang Facebook · Nhóm Zalo</a:t>
            </a:r>
          </a:p>
        </p:txBody>
      </p:sp>
      <p:sp>
        <p:nvSpPr>
          <p:cNvPr id="1888100889" name="Text 11"/>
          <p:cNvSpPr/>
          <p:nvPr/>
        </p:nvSpPr>
        <p:spPr bwMode="auto">
          <a:xfrm>
            <a:off x="771525" y="3507581"/>
            <a:ext cx="4002786" cy="371475"/>
          </a:xfrm>
          <a:prstGeom prst="rect">
            <a:avLst/>
          </a:prstGeom>
          <a:noFill/>
          <a:ln/>
        </p:spPr>
        <p:txBody>
          <a:bodyPr wrap="square" lIns="0" tIns="0" rIns="0" bIns="0" rtlCol="0" anchor="t"/>
          <a:lstStyle/>
          <a:p>
            <a:pPr algn="l">
              <a:defRPr sz="1050" b="1">
                <a:solidFill>
                  <a:srgbClr val="002855"/>
                </a:solidFill>
                <a:latin typeface="Arial"/>
              </a:defRPr>
            </a:pPr>
            <a:r>
              <a:t>Đội ngũ làm truyền thông hoạt động kiêm nhiệm</a:t>
            </a:r>
          </a:p>
        </p:txBody>
      </p:sp>
      <p:sp>
        <p:nvSpPr>
          <p:cNvPr id="1902858871" name="Text 12"/>
          <p:cNvSpPr/>
          <p:nvPr/>
        </p:nvSpPr>
        <p:spPr bwMode="auto">
          <a:xfrm>
            <a:off x="5219700" y="1245394"/>
            <a:ext cx="6438899" cy="627162"/>
          </a:xfrm>
          <a:prstGeom prst="roundRect">
            <a:avLst>
              <a:gd name="adj" fmla="val 18225"/>
            </a:avLst>
          </a:prstGeom>
          <a:solidFill>
            <a:srgbClr val="FFFFFF"/>
          </a:solidFill>
          <a:ln w="9525">
            <a:solidFill>
              <a:srgbClr val="E3E9F2"/>
            </a:solidFill>
          </a:ln>
          <a:effectLst>
            <a:outerShdw blurRad="114300" dist="38100" dir="5400000" algn="bl" rotWithShape="0">
              <a:srgbClr val="002855">
                <a:alpha val="5000"/>
              </a:srgbClr>
            </a:outerShdw>
          </a:effectLst>
        </p:spPr>
        <p:txBody>
          <a:bodyPr wrap="square" rtlCol="0" anchor="ctr"/>
          <a:lstStyle/>
          <a:p>
            <a:pPr marL="0" indent="0">
              <a:buNone/>
              <a:defRPr/>
            </a:pPr>
            <a:endParaRPr lang="vi-VN" sz="2400" noProof="1"/>
          </a:p>
        </p:txBody>
      </p:sp>
      <p:sp>
        <p:nvSpPr>
          <p:cNvPr id="1563338913" name="Text 13"/>
          <p:cNvSpPr/>
          <p:nvPr/>
        </p:nvSpPr>
        <p:spPr bwMode="auto">
          <a:xfrm>
            <a:off x="5381625" y="1369218"/>
            <a:ext cx="361950" cy="361950"/>
          </a:xfrm>
          <a:prstGeom prst="roundRect">
            <a:avLst>
              <a:gd name="adj" fmla="val 26316"/>
            </a:avLst>
          </a:prstGeom>
          <a:solidFill>
            <a:srgbClr val="002855"/>
          </a:solidFill>
          <a:ln/>
        </p:spPr>
        <p:txBody>
          <a:bodyPr wrap="square" rtlCol="0" anchor="ctr"/>
          <a:lstStyle/>
          <a:p>
            <a:pPr marL="0" indent="0">
              <a:buNone/>
              <a:defRPr/>
            </a:pPr>
            <a:endParaRPr lang="vi-VN" sz="2400" noProof="1"/>
          </a:p>
        </p:txBody>
      </p:sp>
      <p:sp>
        <p:nvSpPr>
          <p:cNvPr id="1547095410" name="Text 14"/>
          <p:cNvSpPr/>
          <p:nvPr/>
        </p:nvSpPr>
        <p:spPr bwMode="auto">
          <a:xfrm>
            <a:off x="5378006" y="1369218"/>
            <a:ext cx="369189" cy="361950"/>
          </a:xfrm>
          <a:prstGeom prst="rect">
            <a:avLst/>
          </a:prstGeom>
          <a:noFill/>
          <a:ln/>
        </p:spPr>
        <p:txBody>
          <a:bodyPr wrap="square" lIns="0" tIns="0" rIns="0" bIns="0" rtlCol="0" anchor="ctr"/>
          <a:lstStyle/>
          <a:p>
            <a:pPr marL="0" indent="0" algn="ctr">
              <a:buNone/>
              <a:defRPr/>
            </a:pPr>
            <a:r>
              <a:rPr lang="vi-VN" sz="1600" b="1" noProof="1">
                <a:solidFill>
                  <a:srgbClr val="F6E7BD"/>
                </a:solidFill>
                <a:latin typeface="Arial"/>
                <a:ea typeface="Arial"/>
                <a:cs typeface="Arial"/>
              </a:rPr>
              <a:t>01</a:t>
            </a:r>
            <a:endParaRPr lang="vi-VN" sz="1600" noProof="1"/>
          </a:p>
        </p:txBody>
      </p:sp>
      <p:sp>
        <p:nvSpPr>
          <p:cNvPr id="2036830797" name="Text 15"/>
          <p:cNvSpPr/>
          <p:nvPr/>
        </p:nvSpPr>
        <p:spPr bwMode="auto">
          <a:xfrm>
            <a:off x="5895975" y="1369218"/>
            <a:ext cx="5594610" cy="171450"/>
          </a:xfrm>
          <a:prstGeom prst="rect">
            <a:avLst/>
          </a:prstGeom>
          <a:noFill/>
          <a:ln/>
        </p:spPr>
        <p:txBody>
          <a:bodyPr wrap="square" lIns="0" tIns="0" rIns="0" bIns="0" rtlCol="0" anchor="t"/>
          <a:lstStyle/>
          <a:p>
            <a:pPr algn="l">
              <a:defRPr sz="1200" b="1">
                <a:solidFill>
                  <a:srgbClr val="002855"/>
                </a:solidFill>
                <a:latin typeface="Arial"/>
              </a:defRPr>
            </a:pPr>
            <a:r>
              <a:t>Cán bộ kiêm nhiệm &amp; Viết bài mất nhiều thời gian</a:t>
            </a:r>
          </a:p>
        </p:txBody>
      </p:sp>
      <p:sp>
        <p:nvSpPr>
          <p:cNvPr id="1217143524" name="Text 16"/>
          <p:cNvSpPr/>
          <p:nvPr/>
        </p:nvSpPr>
        <p:spPr bwMode="auto">
          <a:xfrm>
            <a:off x="5895975" y="1569245"/>
            <a:ext cx="5712714" cy="161924"/>
          </a:xfrm>
          <a:prstGeom prst="rect">
            <a:avLst/>
          </a:prstGeom>
          <a:noFill/>
          <a:ln/>
        </p:spPr>
        <p:txBody>
          <a:bodyPr wrap="square" lIns="0" tIns="0" rIns="0" bIns="0" rtlCol="0" anchor="t"/>
          <a:lstStyle/>
          <a:p>
            <a:pPr algn="l">
              <a:defRPr sz="950" b="0">
                <a:solidFill>
                  <a:srgbClr val="323C4B"/>
                </a:solidFill>
                <a:latin typeface="Arial"/>
              </a:defRPr>
            </a:pPr>
            <a:r>
              <a:t>Cán bộ công đoàn là giảng viên kiêm nhiệm, bận công tác giảng dạy; việc thu thập tư liệu và tự viết bài tin tức sự kiện mất nhiều thời gian.</a:t>
            </a:r>
          </a:p>
        </p:txBody>
      </p:sp>
      <p:sp>
        <p:nvSpPr>
          <p:cNvPr id="889763406" name="Text 17"/>
          <p:cNvSpPr/>
          <p:nvPr/>
        </p:nvSpPr>
        <p:spPr bwMode="auto">
          <a:xfrm>
            <a:off x="5219700" y="1986855"/>
            <a:ext cx="6438899" cy="806648"/>
          </a:xfrm>
          <a:prstGeom prst="roundRect">
            <a:avLst>
              <a:gd name="adj" fmla="val 14170"/>
            </a:avLst>
          </a:prstGeom>
          <a:solidFill>
            <a:srgbClr val="FFFFFF"/>
          </a:solidFill>
          <a:ln w="9525">
            <a:solidFill>
              <a:srgbClr val="E3E9F2"/>
            </a:solidFill>
          </a:ln>
          <a:effectLst>
            <a:outerShdw blurRad="114300" dist="38100" dir="5400000" algn="bl" rotWithShape="0">
              <a:srgbClr val="002855">
                <a:alpha val="5000"/>
              </a:srgbClr>
            </a:outerShdw>
          </a:effectLst>
        </p:spPr>
        <p:txBody>
          <a:bodyPr wrap="square" rtlCol="0" anchor="ctr"/>
          <a:lstStyle/>
          <a:p>
            <a:pPr marL="0" indent="0">
              <a:buNone/>
              <a:defRPr/>
            </a:pPr>
            <a:endParaRPr lang="vi-VN" sz="2400" noProof="1"/>
          </a:p>
        </p:txBody>
      </p:sp>
      <p:sp>
        <p:nvSpPr>
          <p:cNvPr id="1220917906" name="Text 18"/>
          <p:cNvSpPr/>
          <p:nvPr/>
        </p:nvSpPr>
        <p:spPr bwMode="auto">
          <a:xfrm>
            <a:off x="5381625" y="2110680"/>
            <a:ext cx="361950" cy="361950"/>
          </a:xfrm>
          <a:prstGeom prst="roundRect">
            <a:avLst>
              <a:gd name="adj" fmla="val 26316"/>
            </a:avLst>
          </a:prstGeom>
          <a:solidFill>
            <a:srgbClr val="002855"/>
          </a:solidFill>
          <a:ln/>
        </p:spPr>
        <p:txBody>
          <a:bodyPr wrap="square" rtlCol="0" anchor="ctr"/>
          <a:lstStyle/>
          <a:p>
            <a:pPr marL="0" indent="0">
              <a:buNone/>
              <a:defRPr/>
            </a:pPr>
            <a:endParaRPr lang="vi-VN" sz="2400" noProof="1"/>
          </a:p>
        </p:txBody>
      </p:sp>
      <p:sp>
        <p:nvSpPr>
          <p:cNvPr id="327495487" name="Text 19"/>
          <p:cNvSpPr/>
          <p:nvPr/>
        </p:nvSpPr>
        <p:spPr bwMode="auto">
          <a:xfrm>
            <a:off x="5378006" y="2110680"/>
            <a:ext cx="369189" cy="361950"/>
          </a:xfrm>
          <a:prstGeom prst="rect">
            <a:avLst/>
          </a:prstGeom>
          <a:noFill/>
          <a:ln/>
        </p:spPr>
        <p:txBody>
          <a:bodyPr wrap="square" lIns="0" tIns="0" rIns="0" bIns="0" rtlCol="0" anchor="ctr"/>
          <a:lstStyle/>
          <a:p>
            <a:pPr marL="0" indent="0" algn="ctr">
              <a:buNone/>
              <a:defRPr/>
            </a:pPr>
            <a:r>
              <a:rPr lang="vi-VN" sz="1600" b="1" noProof="1">
                <a:solidFill>
                  <a:srgbClr val="F6E7BD"/>
                </a:solidFill>
                <a:latin typeface="Arial"/>
                <a:ea typeface="Arial"/>
                <a:cs typeface="Arial"/>
              </a:rPr>
              <a:t>02</a:t>
            </a:r>
            <a:endParaRPr lang="vi-VN" sz="1600" noProof="1"/>
          </a:p>
        </p:txBody>
      </p:sp>
      <p:sp>
        <p:nvSpPr>
          <p:cNvPr id="693808807" name="Text 20"/>
          <p:cNvSpPr/>
          <p:nvPr/>
        </p:nvSpPr>
        <p:spPr bwMode="auto">
          <a:xfrm>
            <a:off x="5895974" y="2110680"/>
            <a:ext cx="5762625" cy="136625"/>
          </a:xfrm>
          <a:prstGeom prst="rect">
            <a:avLst/>
          </a:prstGeom>
          <a:noFill/>
          <a:ln/>
        </p:spPr>
        <p:txBody>
          <a:bodyPr wrap="square" lIns="0" tIns="0" rIns="0" bIns="0" rtlCol="0" anchor="t"/>
          <a:lstStyle/>
          <a:p>
            <a:pPr algn="l">
              <a:defRPr sz="1200" b="1">
                <a:solidFill>
                  <a:srgbClr val="002855"/>
                </a:solidFill>
                <a:latin typeface="Arial"/>
              </a:defRPr>
            </a:pPr>
            <a:r>
              <a:t>Đăng tải thủ công, phân tán nhiều kênh</a:t>
            </a:r>
          </a:p>
        </p:txBody>
      </p:sp>
      <p:sp>
        <p:nvSpPr>
          <p:cNvPr id="1070267935" name="Text 21"/>
          <p:cNvSpPr/>
          <p:nvPr/>
        </p:nvSpPr>
        <p:spPr bwMode="auto">
          <a:xfrm>
            <a:off x="5895975" y="2310705"/>
            <a:ext cx="5712714" cy="358972"/>
          </a:xfrm>
          <a:prstGeom prst="rect">
            <a:avLst/>
          </a:prstGeom>
          <a:noFill/>
          <a:ln/>
        </p:spPr>
        <p:txBody>
          <a:bodyPr wrap="square" lIns="0" tIns="0" rIns="0" bIns="0" rtlCol="0" anchor="t"/>
          <a:lstStyle/>
          <a:p>
            <a:pPr algn="l">
              <a:defRPr sz="950" b="0">
                <a:solidFill>
                  <a:srgbClr val="323C4B"/>
                </a:solidFill>
                <a:latin typeface="Arial"/>
              </a:defRPr>
            </a:pPr>
            <a:r>
              <a:t>Quy trình rời rạc; cán bộ phải sao chép nội dung và tải ảnh thủ công lặp lại trên từng kênh (Website, Facebook, Zalo), dễ sót tin và mất thời gian.</a:t>
            </a:r>
          </a:p>
        </p:txBody>
      </p:sp>
      <p:sp>
        <p:nvSpPr>
          <p:cNvPr id="1771249569" name="Text 22"/>
          <p:cNvSpPr/>
          <p:nvPr/>
        </p:nvSpPr>
        <p:spPr bwMode="auto">
          <a:xfrm>
            <a:off x="5219700" y="2907804"/>
            <a:ext cx="6438899" cy="723900"/>
          </a:xfrm>
          <a:prstGeom prst="roundRect">
            <a:avLst>
              <a:gd name="adj" fmla="val 18225"/>
            </a:avLst>
          </a:prstGeom>
          <a:solidFill>
            <a:srgbClr val="FFFFFF"/>
          </a:solidFill>
          <a:ln w="9525">
            <a:solidFill>
              <a:srgbClr val="E3E9F2"/>
            </a:solidFill>
          </a:ln>
          <a:effectLst>
            <a:outerShdw blurRad="114300" dist="38100" dir="5400000" algn="bl" rotWithShape="0">
              <a:srgbClr val="002855">
                <a:alpha val="5000"/>
              </a:srgbClr>
            </a:outerShdw>
          </a:effectLst>
        </p:spPr>
        <p:txBody>
          <a:bodyPr wrap="square" rtlCol="0" anchor="ctr"/>
          <a:lstStyle/>
          <a:p>
            <a:pPr marL="0" indent="0">
              <a:buNone/>
              <a:defRPr/>
            </a:pPr>
            <a:endParaRPr lang="vi-VN" sz="2400" noProof="1"/>
          </a:p>
        </p:txBody>
      </p:sp>
      <p:sp>
        <p:nvSpPr>
          <p:cNvPr id="1650751441" name="Text 23"/>
          <p:cNvSpPr/>
          <p:nvPr/>
        </p:nvSpPr>
        <p:spPr bwMode="auto">
          <a:xfrm>
            <a:off x="5381625" y="3031629"/>
            <a:ext cx="361950" cy="361950"/>
          </a:xfrm>
          <a:prstGeom prst="roundRect">
            <a:avLst>
              <a:gd name="adj" fmla="val 26316"/>
            </a:avLst>
          </a:prstGeom>
          <a:solidFill>
            <a:srgbClr val="002855"/>
          </a:solidFill>
          <a:ln/>
        </p:spPr>
        <p:txBody>
          <a:bodyPr wrap="square" rtlCol="0" anchor="ctr"/>
          <a:lstStyle/>
          <a:p>
            <a:pPr marL="0" indent="0">
              <a:buNone/>
              <a:defRPr/>
            </a:pPr>
            <a:endParaRPr lang="vi-VN" sz="2400" noProof="1"/>
          </a:p>
        </p:txBody>
      </p:sp>
      <p:sp>
        <p:nvSpPr>
          <p:cNvPr id="1106036581" name="Text 24"/>
          <p:cNvSpPr/>
          <p:nvPr/>
        </p:nvSpPr>
        <p:spPr bwMode="auto">
          <a:xfrm>
            <a:off x="5378006" y="3031629"/>
            <a:ext cx="369189" cy="361950"/>
          </a:xfrm>
          <a:prstGeom prst="rect">
            <a:avLst/>
          </a:prstGeom>
          <a:noFill/>
          <a:ln/>
        </p:spPr>
        <p:txBody>
          <a:bodyPr wrap="square" lIns="0" tIns="0" rIns="0" bIns="0" rtlCol="0" anchor="ctr"/>
          <a:lstStyle/>
          <a:p>
            <a:pPr marL="0" indent="0" algn="ctr">
              <a:buNone/>
              <a:defRPr/>
            </a:pPr>
            <a:r>
              <a:rPr lang="vi-VN" sz="1600" b="1" noProof="1">
                <a:solidFill>
                  <a:srgbClr val="F6E7BD"/>
                </a:solidFill>
                <a:latin typeface="Arial"/>
                <a:ea typeface="Arial"/>
                <a:cs typeface="Arial"/>
              </a:rPr>
              <a:t>03</a:t>
            </a:r>
            <a:endParaRPr lang="vi-VN" sz="1600" noProof="1"/>
          </a:p>
        </p:txBody>
      </p:sp>
      <p:sp>
        <p:nvSpPr>
          <p:cNvPr id="845454433" name="Text 25"/>
          <p:cNvSpPr/>
          <p:nvPr/>
        </p:nvSpPr>
        <p:spPr bwMode="auto">
          <a:xfrm>
            <a:off x="5895975" y="3031629"/>
            <a:ext cx="5642125" cy="171450"/>
          </a:xfrm>
          <a:prstGeom prst="rect">
            <a:avLst/>
          </a:prstGeom>
          <a:noFill/>
          <a:ln/>
        </p:spPr>
        <p:txBody>
          <a:bodyPr wrap="square" lIns="0" tIns="0" rIns="0" bIns="0" rtlCol="0" anchor="t"/>
          <a:lstStyle/>
          <a:p>
            <a:pPr algn="l">
              <a:defRPr sz="1200" b="1">
                <a:solidFill>
                  <a:srgbClr val="002855"/>
                </a:solidFill>
                <a:latin typeface="Arial"/>
              </a:defRPr>
            </a:pPr>
            <a:r>
              <a:t>Thiếu công cụ theo dõi tập trung</a:t>
            </a:r>
          </a:p>
        </p:txBody>
      </p:sp>
      <p:sp>
        <p:nvSpPr>
          <p:cNvPr id="2000591319" name="Text 26"/>
          <p:cNvSpPr/>
          <p:nvPr/>
        </p:nvSpPr>
        <p:spPr bwMode="auto">
          <a:xfrm>
            <a:off x="5895975" y="3231655"/>
            <a:ext cx="5762624" cy="171450"/>
          </a:xfrm>
          <a:prstGeom prst="rect">
            <a:avLst/>
          </a:prstGeom>
          <a:noFill/>
          <a:ln/>
        </p:spPr>
        <p:txBody>
          <a:bodyPr wrap="square" lIns="0" tIns="0" rIns="0" bIns="0" rtlCol="0" anchor="t"/>
          <a:lstStyle/>
          <a:p>
            <a:pPr algn="l">
              <a:defRPr sz="950" b="0">
                <a:solidFill>
                  <a:srgbClr val="323C4B"/>
                </a:solidFill>
                <a:latin typeface="Arial"/>
              </a:defRPr>
            </a:pPr>
            <a:r>
              <a:t>Chưa có bảng theo dõi tập trung số lượt xem và mức độ tương tác của từng bài viết để đánh giá hiệu quả tuyên truyền.</a:t>
            </a:r>
          </a:p>
        </p:txBody>
      </p:sp>
      <p:sp>
        <p:nvSpPr>
          <p:cNvPr id="1587790627" name="Text 31"/>
          <p:cNvSpPr/>
          <p:nvPr/>
        </p:nvSpPr>
        <p:spPr bwMode="auto">
          <a:xfrm>
            <a:off x="5895975" y="4075618"/>
            <a:ext cx="5388004" cy="179487"/>
          </a:xfrm>
          <a:prstGeom prst="rect">
            <a:avLst/>
          </a:prstGeom>
          <a:noFill/>
          <a:ln/>
        </p:spPr>
        <p:txBody>
          <a:bodyPr wrap="square" lIns="0" tIns="0" rIns="0" bIns="0" rtlCol="0" anchor="t"/>
          <a:lstStyle/>
          <a:p>
            <a:pPr marL="0" indent="0" algn="l">
              <a:lnSpc>
                <a:spcPts val="1414"/>
              </a:lnSpc>
              <a:buNone/>
              <a:defRPr/>
            </a:pPr>
            <a:endParaRPr lang="vi-VN" sz="1100" noProof="1"/>
          </a:p>
        </p:txBody>
      </p:sp>
      <p:sp>
        <p:nvSpPr>
          <p:cNvPr id="1096184557" name="Shape 37"/>
          <p:cNvSpPr/>
          <p:nvPr/>
        </p:nvSpPr>
        <p:spPr bwMode="auto">
          <a:xfrm>
            <a:off x="533400" y="6548438"/>
            <a:ext cx="11125200" cy="0"/>
          </a:xfrm>
          <a:prstGeom prst="line">
            <a:avLst/>
          </a:prstGeom>
          <a:noFill/>
          <a:ln w="9525">
            <a:solidFill>
              <a:srgbClr val="E2E8F0"/>
            </a:solidFill>
            <a:prstDash val="solid"/>
          </a:ln>
        </p:spPr>
        <p:txBody>
          <a:bodyPr/>
          <a:lstStyle/>
          <a:p>
            <a:endParaRPr lang="vi-VN" sz="2400" noProof="1"/>
          </a:p>
        </p:txBody>
      </p:sp>
      <p:sp>
        <p:nvSpPr>
          <p:cNvPr id="1775219853" name="Text 38"/>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1000" noProof="1">
                <a:solidFill>
                  <a:srgbClr val="8A97AB"/>
                </a:solidFill>
                <a:latin typeface="Arial"/>
                <a:ea typeface="Arial"/>
                <a:cs typeface="Arial"/>
              </a:rPr>
              <a:t>Nhóm 2 · Đồ án Cơ sở ngành 2026–2027</a:t>
            </a:r>
            <a:endParaRPr lang="vi-VN" sz="1000"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name="Slide 3">
    <p:bg>
      <p:bgPr>
        <a:solidFill>
          <a:srgbClr val="F6F8FB"/>
        </a:solidFill>
        <a:effectLst/>
      </p:bgPr>
    </p:bg>
    <p:spTree>
      <p:nvGrpSpPr>
        <p:cNvPr id="1" name=""/>
        <p:cNvGrpSpPr/>
        <p:nvPr/>
      </p:nvGrpSpPr>
      <p:grpSpPr bwMode="auto">
        <a:xfrm>
          <a:off x="0" y="0"/>
          <a:ext cx="0" cy="0"/>
          <a:chOff x="0" y="0"/>
          <a:chExt cx="0" cy="0"/>
        </a:xfrm>
      </p:grpSpPr>
      <p:sp>
        <p:nvSpPr>
          <p:cNvPr id="1171304446"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1. GIỚI THIỆU ĐỀ TÀI</a:t>
            </a:r>
            <a:endParaRPr lang="vi-VN" sz="1000" noProof="1"/>
          </a:p>
        </p:txBody>
      </p:sp>
      <p:sp>
        <p:nvSpPr>
          <p:cNvPr id="1429121415" name="Text 1"/>
          <p:cNvSpPr/>
          <p:nvPr/>
        </p:nvSpPr>
        <p:spPr bwMode="auto">
          <a:xfrm>
            <a:off x="533400" y="542925"/>
            <a:ext cx="11347704" cy="359569"/>
          </a:xfrm>
          <a:prstGeom prst="rect">
            <a:avLst/>
          </a:prstGeom>
          <a:noFill/>
          <a:ln/>
        </p:spPr>
        <p:txBody>
          <a:bodyPr wrap="square" lIns="0" tIns="0" rIns="0" bIns="0" rtlCol="0" anchor="t"/>
          <a:lstStyle/>
          <a:p>
            <a:pPr algn="l">
              <a:defRPr sz="1300" b="0">
                <a:solidFill>
                  <a:srgbClr val="323C4B"/>
                </a:solidFill>
                <a:latin typeface="Arial"/>
              </a:defRPr>
            </a:pPr>
            <a:r>
              <a:t>Mục tiêu nghiên cứu &amp; Hướng giải quyết của đề tài</a:t>
            </a:r>
          </a:p>
        </p:txBody>
      </p:sp>
      <p:pic>
        <p:nvPicPr>
          <p:cNvPr id="1201039326" name="Image 0" descr="/var/folders/t4/q0khv7qd1r3dc2yrbwkzmjf00000gn/T/html2pptx-BplEkJ/html2pptx-bg-1791687638880-a4641591ea96a8.png"/>
          <p:cNvPicPr>
            <a:picLocks noChangeAspect="1"/>
          </p:cNvPicPr>
          <p:nvPr/>
        </p:nvPicPr>
        <p:blipFill rotWithShape="1">
          <a:blip r:embed="rId3"/>
          <a:stretch/>
        </p:blipFill>
        <p:spPr bwMode="auto">
          <a:xfrm>
            <a:off x="533400" y="978694"/>
            <a:ext cx="1047750" cy="38100"/>
          </a:xfrm>
          <a:prstGeom prst="rect">
            <a:avLst/>
          </a:prstGeom>
        </p:spPr>
      </p:pic>
      <p:sp>
        <p:nvSpPr>
          <p:cNvPr id="1683790642" name="Text 2"/>
          <p:cNvSpPr/>
          <p:nvPr/>
        </p:nvSpPr>
        <p:spPr bwMode="auto">
          <a:xfrm>
            <a:off x="533400" y="1283494"/>
            <a:ext cx="11125200" cy="1733549"/>
          </a:xfrm>
          <a:prstGeom prst="roundRect">
            <a:avLst>
              <a:gd name="adj" fmla="val 4887"/>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242870066" name="Shape 3"/>
          <p:cNvSpPr/>
          <p:nvPr/>
        </p:nvSpPr>
        <p:spPr bwMode="auto">
          <a:xfrm>
            <a:off x="742950" y="1307306"/>
            <a:ext cx="10677906" cy="0"/>
          </a:xfrm>
          <a:prstGeom prst="line">
            <a:avLst/>
          </a:prstGeom>
          <a:noFill/>
          <a:ln w="47625">
            <a:solidFill>
              <a:srgbClr val="D4A017"/>
            </a:solidFill>
            <a:prstDash val="solid"/>
          </a:ln>
        </p:spPr>
        <p:txBody>
          <a:bodyPr/>
          <a:lstStyle/>
          <a:p>
            <a:endParaRPr lang="vi-VN" noProof="1"/>
          </a:p>
        </p:txBody>
      </p:sp>
      <p:sp>
        <p:nvSpPr>
          <p:cNvPr id="158340560" name="Text 7"/>
          <p:cNvSpPr/>
          <p:nvPr/>
        </p:nvSpPr>
        <p:spPr bwMode="auto">
          <a:xfrm>
            <a:off x="752475" y="1521619"/>
            <a:ext cx="419100" cy="419100"/>
          </a:xfrm>
          <a:prstGeom prst="roundRect">
            <a:avLst>
              <a:gd name="adj" fmla="val 27273"/>
            </a:avLst>
          </a:prstGeom>
          <a:solidFill>
            <a:srgbClr val="EEF3FA"/>
          </a:solidFill>
          <a:ln/>
        </p:spPr>
        <p:txBody>
          <a:bodyPr wrap="square" rtlCol="0" anchor="ctr"/>
          <a:lstStyle/>
          <a:p>
            <a:pPr marL="0" indent="0">
              <a:buNone/>
              <a:defRPr/>
            </a:pPr>
            <a:endParaRPr lang="vi-VN" noProof="1"/>
          </a:p>
        </p:txBody>
      </p:sp>
      <p:sp>
        <p:nvSpPr>
          <p:cNvPr id="1904439579" name="Text 8"/>
          <p:cNvSpPr/>
          <p:nvPr/>
        </p:nvSpPr>
        <p:spPr bwMode="auto">
          <a:xfrm>
            <a:off x="748284" y="1521619"/>
            <a:ext cx="427482" cy="419100"/>
          </a:xfrm>
          <a:prstGeom prst="rect">
            <a:avLst/>
          </a:prstGeom>
          <a:noFill/>
          <a:ln/>
        </p:spPr>
        <p:txBody>
          <a:bodyPr wrap="square" lIns="0" tIns="0" rIns="0" bIns="0" rtlCol="0" anchor="ctr"/>
          <a:lstStyle/>
          <a:p>
            <a:pPr marL="0" indent="0" algn="ctr">
              <a:spcAft>
                <a:spcPts val="900"/>
              </a:spcAft>
              <a:buNone/>
              <a:defRPr/>
            </a:pPr>
            <a:r>
              <a:rPr lang="vi-VN" sz="1600" b="1" noProof="1">
                <a:solidFill>
                  <a:srgbClr val="002855"/>
                </a:solidFill>
                <a:latin typeface="Arial"/>
                <a:ea typeface="Arial"/>
                <a:cs typeface="Arial"/>
              </a:rPr>
              <a:t>01</a:t>
            </a:r>
            <a:endParaRPr lang="vi-VN" sz="1600" noProof="1"/>
          </a:p>
        </p:txBody>
      </p:sp>
      <p:sp>
        <p:nvSpPr>
          <p:cNvPr id="1546982759" name="Text 9"/>
          <p:cNvSpPr/>
          <p:nvPr/>
        </p:nvSpPr>
        <p:spPr bwMode="auto">
          <a:xfrm>
            <a:off x="1278741" y="1581150"/>
            <a:ext cx="3180156" cy="200025"/>
          </a:xfrm>
          <a:prstGeom prst="rect">
            <a:avLst/>
          </a:prstGeom>
          <a:noFill/>
          <a:ln/>
        </p:spPr>
        <p:txBody>
          <a:bodyPr wrap="square" lIns="0" tIns="0" rIns="0" bIns="0" rtlCol="0" anchor="t"/>
          <a:lstStyle/>
          <a:p>
            <a:pPr algn="l">
              <a:defRPr sz="1200" b="1">
                <a:solidFill>
                  <a:srgbClr val="002855"/>
                </a:solidFill>
                <a:latin typeface="Arial"/>
              </a:defRPr>
            </a:pPr>
            <a:r>
              <a:t>Mục tiêu trọng tâm của đề tài</a:t>
            </a:r>
          </a:p>
        </p:txBody>
      </p:sp>
      <p:sp>
        <p:nvSpPr>
          <p:cNvPr id="2111694592" name="Text 10"/>
          <p:cNvSpPr/>
          <p:nvPr/>
        </p:nvSpPr>
        <p:spPr bwMode="auto">
          <a:xfrm>
            <a:off x="762001" y="1993392"/>
            <a:ext cx="10896599" cy="965310"/>
          </a:xfrm>
          <a:prstGeom prst="rect">
            <a:avLst/>
          </a:prstGeom>
          <a:noFill/>
          <a:ln/>
        </p:spPr>
        <p:txBody>
          <a:bodyPr wrap="square" lIns="0" tIns="0" rIns="0" bIns="76200" rtlCol="0" anchor="t"/>
          <a:lstStyle/>
          <a:p>
            <a:pPr algn="l">
              <a:defRPr sz="950" b="0">
                <a:solidFill>
                  <a:srgbClr val="323C4B"/>
                </a:solidFill>
                <a:latin typeface="Arial"/>
              </a:defRPr>
            </a:pPr>
            <a:r>
              <a:t>• Xây dựng hệ thống Website truyền thông riêng cho Công đoàn Trường ĐH Thủ Dầu Một.</a:t>
            </a:r>
          </a:p>
          <a:p>
            <a:pPr algn="l">
              <a:defRPr sz="950" b="0">
                <a:solidFill>
                  <a:srgbClr val="323C4B"/>
                </a:solidFill>
                <a:latin typeface="Arial"/>
              </a:defRPr>
            </a:pPr>
            <a:r>
              <a:t>• Tích hợp Trợ lý AI hỗ trợ tự động viết bài từ kế hoạch sự kiện và xuất bản đa kênh.</a:t>
            </a:r>
          </a:p>
          <a:p>
            <a:pPr algn="l">
              <a:defRPr sz="950" b="0">
                <a:solidFill>
                  <a:srgbClr val="323C4B"/>
                </a:solidFill>
                <a:latin typeface="Arial"/>
              </a:defRPr>
            </a:pPr>
            <a:r>
              <a:t>• Giúp cán bộ tiết kiệm thời gian viết tin và quản lý thông tin tập trung, thuận tiện.</a:t>
            </a:r>
          </a:p>
        </p:txBody>
      </p:sp>
      <p:sp>
        <p:nvSpPr>
          <p:cNvPr id="119018652" name="Text 11"/>
          <p:cNvSpPr/>
          <p:nvPr/>
        </p:nvSpPr>
        <p:spPr bwMode="auto">
          <a:xfrm>
            <a:off x="542926" y="3178968"/>
            <a:ext cx="4986782" cy="2819493"/>
          </a:xfrm>
          <a:prstGeom prst="roundRect">
            <a:avLst>
              <a:gd name="adj" fmla="val 4887"/>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872668944" name="Shape 12"/>
          <p:cNvSpPr/>
          <p:nvPr/>
        </p:nvSpPr>
        <p:spPr bwMode="auto">
          <a:xfrm>
            <a:off x="752476" y="3202781"/>
            <a:ext cx="3136850" cy="0"/>
          </a:xfrm>
          <a:prstGeom prst="line">
            <a:avLst/>
          </a:prstGeom>
          <a:noFill/>
          <a:ln w="47625">
            <a:solidFill>
              <a:srgbClr val="002855"/>
            </a:solidFill>
            <a:prstDash val="solid"/>
          </a:ln>
        </p:spPr>
        <p:txBody>
          <a:bodyPr/>
          <a:lstStyle/>
          <a:p>
            <a:endParaRPr lang="vi-VN" noProof="1"/>
          </a:p>
        </p:txBody>
      </p:sp>
      <p:sp>
        <p:nvSpPr>
          <p:cNvPr id="1401385729" name="Shape 14"/>
          <p:cNvSpPr/>
          <p:nvPr/>
        </p:nvSpPr>
        <p:spPr bwMode="auto">
          <a:xfrm>
            <a:off x="752476" y="5907881"/>
            <a:ext cx="3136850" cy="0"/>
          </a:xfrm>
          <a:prstGeom prst="line">
            <a:avLst/>
          </a:prstGeom>
          <a:noFill/>
          <a:ln w="9525">
            <a:solidFill>
              <a:srgbClr val="E3E9F2"/>
            </a:solidFill>
            <a:prstDash val="solid"/>
          </a:ln>
        </p:spPr>
        <p:txBody>
          <a:bodyPr/>
          <a:lstStyle/>
          <a:p>
            <a:endParaRPr lang="vi-VN" noProof="1"/>
          </a:p>
        </p:txBody>
      </p:sp>
      <p:sp>
        <p:nvSpPr>
          <p:cNvPr id="1263682881" name="Shape 15"/>
          <p:cNvSpPr/>
          <p:nvPr/>
        </p:nvSpPr>
        <p:spPr bwMode="auto">
          <a:xfrm>
            <a:off x="547689" y="3369469"/>
            <a:ext cx="0" cy="2347912"/>
          </a:xfrm>
          <a:prstGeom prst="line">
            <a:avLst/>
          </a:prstGeom>
          <a:noFill/>
          <a:ln w="9525">
            <a:solidFill>
              <a:srgbClr val="E3E9F2"/>
            </a:solidFill>
            <a:prstDash val="solid"/>
          </a:ln>
        </p:spPr>
        <p:txBody>
          <a:bodyPr/>
          <a:lstStyle/>
          <a:p>
            <a:endParaRPr lang="vi-VN" noProof="1"/>
          </a:p>
        </p:txBody>
      </p:sp>
      <p:sp>
        <p:nvSpPr>
          <p:cNvPr id="677722008" name="Text 16"/>
          <p:cNvSpPr/>
          <p:nvPr/>
        </p:nvSpPr>
        <p:spPr bwMode="auto">
          <a:xfrm>
            <a:off x="762001" y="3417094"/>
            <a:ext cx="419100" cy="419100"/>
          </a:xfrm>
          <a:prstGeom prst="roundRect">
            <a:avLst>
              <a:gd name="adj" fmla="val 27273"/>
            </a:avLst>
          </a:prstGeom>
          <a:solidFill>
            <a:srgbClr val="EEF3FA"/>
          </a:solidFill>
          <a:ln/>
        </p:spPr>
        <p:txBody>
          <a:bodyPr wrap="square" rtlCol="0" anchor="ctr"/>
          <a:lstStyle/>
          <a:p>
            <a:pPr marL="0" indent="0">
              <a:buNone/>
              <a:defRPr/>
            </a:pPr>
            <a:endParaRPr lang="vi-VN" noProof="1"/>
          </a:p>
        </p:txBody>
      </p:sp>
      <p:sp>
        <p:nvSpPr>
          <p:cNvPr id="1015376251" name="Text 17"/>
          <p:cNvSpPr/>
          <p:nvPr/>
        </p:nvSpPr>
        <p:spPr bwMode="auto">
          <a:xfrm>
            <a:off x="757810" y="3417094"/>
            <a:ext cx="427482" cy="419100"/>
          </a:xfrm>
          <a:prstGeom prst="rect">
            <a:avLst/>
          </a:prstGeom>
          <a:noFill/>
          <a:ln/>
        </p:spPr>
        <p:txBody>
          <a:bodyPr wrap="square" lIns="0" tIns="0" rIns="0" bIns="0" rtlCol="0" anchor="ctr"/>
          <a:lstStyle/>
          <a:p>
            <a:pPr marL="0" indent="0" algn="ctr">
              <a:spcAft>
                <a:spcPts val="900"/>
              </a:spcAft>
              <a:buNone/>
              <a:defRPr/>
            </a:pPr>
            <a:r>
              <a:rPr lang="vi-VN" sz="1600" b="1" noProof="1">
                <a:solidFill>
                  <a:srgbClr val="002855"/>
                </a:solidFill>
                <a:latin typeface="Arial"/>
                <a:ea typeface="Arial"/>
                <a:cs typeface="Arial"/>
              </a:rPr>
              <a:t>02</a:t>
            </a:r>
            <a:endParaRPr lang="vi-VN" sz="1600" noProof="1"/>
          </a:p>
        </p:txBody>
      </p:sp>
      <p:sp>
        <p:nvSpPr>
          <p:cNvPr id="851672837" name="Text 18"/>
          <p:cNvSpPr/>
          <p:nvPr/>
        </p:nvSpPr>
        <p:spPr bwMode="auto">
          <a:xfrm>
            <a:off x="1287648" y="3503679"/>
            <a:ext cx="3180156" cy="200025"/>
          </a:xfrm>
          <a:prstGeom prst="rect">
            <a:avLst/>
          </a:prstGeom>
          <a:noFill/>
          <a:ln/>
        </p:spPr>
        <p:txBody>
          <a:bodyPr wrap="square" lIns="0" tIns="0" rIns="0" bIns="0" rtlCol="0" anchor="t"/>
          <a:lstStyle/>
          <a:p>
            <a:pPr algn="l">
              <a:defRPr sz="1200" b="1">
                <a:solidFill>
                  <a:srgbClr val="002855"/>
                </a:solidFill>
                <a:latin typeface="Arial"/>
              </a:defRPr>
            </a:pPr>
            <a:r>
              <a:t>Hỗ trợ soạn bài bằng Trí tuệ nhân tạo (AI)</a:t>
            </a:r>
          </a:p>
        </p:txBody>
      </p:sp>
      <p:sp>
        <p:nvSpPr>
          <p:cNvPr id="1160333943" name="Text 19"/>
          <p:cNvSpPr/>
          <p:nvPr/>
        </p:nvSpPr>
        <p:spPr bwMode="auto">
          <a:xfrm>
            <a:off x="742950" y="4027796"/>
            <a:ext cx="4873675" cy="1269206"/>
          </a:xfrm>
          <a:prstGeom prst="rect">
            <a:avLst/>
          </a:prstGeom>
          <a:noFill/>
          <a:ln/>
        </p:spPr>
        <p:txBody>
          <a:bodyPr wrap="square" lIns="0" tIns="0" rIns="0" bIns="76200" rtlCol="0" anchor="t"/>
          <a:lstStyle/>
          <a:p>
            <a:pPr algn="l">
              <a:defRPr sz="950" b="0">
                <a:solidFill>
                  <a:srgbClr val="323C4B"/>
                </a:solidFill>
                <a:latin typeface="Arial"/>
              </a:defRPr>
            </a:pPr>
            <a:r>
              <a:t>• Đọc file kế hoạch sự kiện để tự động viết bài hoàn chỉnh có mở bài và thân bài rõ ràng.</a:t>
            </a:r>
          </a:p>
          <a:p>
            <a:pPr algn="l">
              <a:defRPr sz="950" b="0">
                <a:solidFill>
                  <a:srgbClr val="323C4B"/>
                </a:solidFill>
                <a:latin typeface="Arial"/>
              </a:defRPr>
            </a:pPr>
            <a:r>
              <a:t>• Gợi ý 3 tiêu đề ngắn gọn, phù hợp với sự kiện để người viết lựa chọn.</a:t>
            </a:r>
          </a:p>
          <a:p>
            <a:pPr algn="l">
              <a:defRPr sz="950" b="0">
                <a:solidFill>
                  <a:srgbClr val="323C4B"/>
                </a:solidFill>
                <a:latin typeface="Arial"/>
              </a:defRPr>
            </a:pPr>
            <a:r>
              <a:t>• Rà soát chính tả tiếng Việt và diễn đạt câu từ mạch lạc, trang trọng.</a:t>
            </a:r>
          </a:p>
          <a:p>
            <a:pPr algn="l">
              <a:defRPr sz="950" b="0">
                <a:solidFill>
                  <a:srgbClr val="323C4B"/>
                </a:solidFill>
                <a:latin typeface="Arial"/>
              </a:defRPr>
            </a:pPr>
            <a:r>
              <a:t>• Tự động rút gọn thành bản tin vắn 3–4 câu kèm liên kết để đăng lên Facebook, Zalo.</a:t>
            </a:r>
          </a:p>
        </p:txBody>
      </p:sp>
      <p:sp>
        <p:nvSpPr>
          <p:cNvPr id="1597045743" name="Text 20"/>
          <p:cNvSpPr/>
          <p:nvPr/>
        </p:nvSpPr>
        <p:spPr bwMode="auto">
          <a:xfrm>
            <a:off x="6158180" y="3175397"/>
            <a:ext cx="5486131" cy="2819493"/>
          </a:xfrm>
          <a:prstGeom prst="roundRect">
            <a:avLst>
              <a:gd name="adj" fmla="val 4887"/>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454527346" name="Shape 21"/>
          <p:cNvSpPr/>
          <p:nvPr/>
        </p:nvSpPr>
        <p:spPr bwMode="auto">
          <a:xfrm>
            <a:off x="6367730" y="3199209"/>
            <a:ext cx="3136999" cy="0"/>
          </a:xfrm>
          <a:prstGeom prst="line">
            <a:avLst/>
          </a:prstGeom>
          <a:noFill/>
          <a:ln w="47625">
            <a:solidFill>
              <a:srgbClr val="002855"/>
            </a:solidFill>
            <a:prstDash val="solid"/>
          </a:ln>
        </p:spPr>
        <p:txBody>
          <a:bodyPr/>
          <a:lstStyle/>
          <a:p>
            <a:endParaRPr lang="vi-VN" noProof="1"/>
          </a:p>
        </p:txBody>
      </p:sp>
      <p:sp>
        <p:nvSpPr>
          <p:cNvPr id="508585135" name="Shape 23"/>
          <p:cNvSpPr/>
          <p:nvPr/>
        </p:nvSpPr>
        <p:spPr bwMode="auto">
          <a:xfrm>
            <a:off x="6367730" y="5904309"/>
            <a:ext cx="3136999" cy="0"/>
          </a:xfrm>
          <a:prstGeom prst="line">
            <a:avLst/>
          </a:prstGeom>
          <a:noFill/>
          <a:ln w="9525">
            <a:solidFill>
              <a:srgbClr val="E3E9F2"/>
            </a:solidFill>
            <a:prstDash val="solid"/>
          </a:ln>
        </p:spPr>
        <p:txBody>
          <a:bodyPr/>
          <a:lstStyle/>
          <a:p>
            <a:endParaRPr lang="vi-VN" noProof="1"/>
          </a:p>
        </p:txBody>
      </p:sp>
      <p:sp>
        <p:nvSpPr>
          <p:cNvPr id="1054193073" name="Shape 24"/>
          <p:cNvSpPr/>
          <p:nvPr/>
        </p:nvSpPr>
        <p:spPr bwMode="auto">
          <a:xfrm>
            <a:off x="6162942" y="3365897"/>
            <a:ext cx="0" cy="2347912"/>
          </a:xfrm>
          <a:prstGeom prst="line">
            <a:avLst/>
          </a:prstGeom>
          <a:noFill/>
          <a:ln w="9525">
            <a:solidFill>
              <a:srgbClr val="E3E9F2"/>
            </a:solidFill>
            <a:prstDash val="solid"/>
          </a:ln>
        </p:spPr>
        <p:txBody>
          <a:bodyPr/>
          <a:lstStyle/>
          <a:p>
            <a:endParaRPr lang="vi-VN" noProof="1"/>
          </a:p>
        </p:txBody>
      </p:sp>
      <p:sp>
        <p:nvSpPr>
          <p:cNvPr id="38648754" name="Text 25"/>
          <p:cNvSpPr/>
          <p:nvPr/>
        </p:nvSpPr>
        <p:spPr bwMode="auto">
          <a:xfrm>
            <a:off x="6377255" y="3413522"/>
            <a:ext cx="419100" cy="419100"/>
          </a:xfrm>
          <a:prstGeom prst="roundRect">
            <a:avLst>
              <a:gd name="adj" fmla="val 27273"/>
            </a:avLst>
          </a:prstGeom>
          <a:solidFill>
            <a:srgbClr val="EEF3FA"/>
          </a:solidFill>
          <a:ln/>
        </p:spPr>
        <p:txBody>
          <a:bodyPr wrap="square" rtlCol="0" anchor="ctr"/>
          <a:lstStyle/>
          <a:p>
            <a:pPr marL="0" indent="0">
              <a:buNone/>
              <a:defRPr/>
            </a:pPr>
            <a:endParaRPr lang="vi-VN" noProof="1"/>
          </a:p>
        </p:txBody>
      </p:sp>
      <p:sp>
        <p:nvSpPr>
          <p:cNvPr id="1783980578" name="Text 26"/>
          <p:cNvSpPr/>
          <p:nvPr/>
        </p:nvSpPr>
        <p:spPr bwMode="auto">
          <a:xfrm>
            <a:off x="6373064" y="3413522"/>
            <a:ext cx="427482" cy="419100"/>
          </a:xfrm>
          <a:prstGeom prst="rect">
            <a:avLst/>
          </a:prstGeom>
          <a:noFill/>
          <a:ln/>
        </p:spPr>
        <p:txBody>
          <a:bodyPr wrap="square" lIns="0" tIns="0" rIns="0" bIns="0" rtlCol="0" anchor="ctr"/>
          <a:lstStyle/>
          <a:p>
            <a:pPr marL="0" indent="0" algn="ctr">
              <a:spcAft>
                <a:spcPts val="900"/>
              </a:spcAft>
              <a:buNone/>
              <a:defRPr/>
            </a:pPr>
            <a:r>
              <a:rPr lang="vi-VN" sz="1600" b="1" noProof="1">
                <a:solidFill>
                  <a:srgbClr val="002855"/>
                </a:solidFill>
                <a:latin typeface="Arial"/>
                <a:ea typeface="Arial"/>
                <a:cs typeface="Arial"/>
              </a:rPr>
              <a:t>03</a:t>
            </a:r>
            <a:endParaRPr lang="vi-VN" sz="1600" noProof="1"/>
          </a:p>
        </p:txBody>
      </p:sp>
      <p:sp>
        <p:nvSpPr>
          <p:cNvPr id="735394977" name="Text 27"/>
          <p:cNvSpPr/>
          <p:nvPr/>
        </p:nvSpPr>
        <p:spPr bwMode="auto">
          <a:xfrm>
            <a:off x="6875945" y="3493387"/>
            <a:ext cx="3180308" cy="200025"/>
          </a:xfrm>
          <a:prstGeom prst="rect">
            <a:avLst/>
          </a:prstGeom>
          <a:noFill/>
          <a:ln/>
        </p:spPr>
        <p:txBody>
          <a:bodyPr wrap="square" lIns="0" tIns="0" rIns="0" bIns="0" rtlCol="0" anchor="t"/>
          <a:lstStyle/>
          <a:p>
            <a:pPr algn="l">
              <a:defRPr sz="1200" b="1">
                <a:solidFill>
                  <a:srgbClr val="002855"/>
                </a:solidFill>
                <a:latin typeface="Arial"/>
              </a:defRPr>
            </a:pPr>
            <a:r>
              <a:t>Xuất bản tự động đa kênh &amp; Thống kê</a:t>
            </a:r>
          </a:p>
        </p:txBody>
      </p:sp>
      <p:sp>
        <p:nvSpPr>
          <p:cNvPr id="2001075406" name="Text 28"/>
          <p:cNvSpPr/>
          <p:nvPr/>
        </p:nvSpPr>
        <p:spPr bwMode="auto">
          <a:xfrm>
            <a:off x="6367730" y="3908914"/>
            <a:ext cx="5052745" cy="1462088"/>
          </a:xfrm>
          <a:prstGeom prst="rect">
            <a:avLst/>
          </a:prstGeom>
          <a:noFill/>
          <a:ln/>
        </p:spPr>
        <p:txBody>
          <a:bodyPr wrap="square" lIns="0" tIns="0" rIns="0" bIns="76200" rtlCol="0" anchor="t"/>
          <a:lstStyle/>
          <a:p>
            <a:pPr algn="l">
              <a:defRPr sz="950" b="0">
                <a:solidFill>
                  <a:srgbClr val="323C4B"/>
                </a:solidFill>
                <a:latin typeface="Arial"/>
              </a:defRPr>
            </a:pPr>
            <a:r>
              <a:t>• Tự động đăng tải đồng thời lên Website và Trang Facebook Công đoàn.</a:t>
            </a:r>
          </a:p>
          <a:p>
            <a:pPr algn="l">
              <a:defRPr sz="950" b="0">
                <a:solidFill>
                  <a:srgbClr val="323C4B"/>
                </a:solidFill>
                <a:latin typeface="Arial"/>
              </a:defRPr>
            </a:pPr>
            <a:r>
              <a:t>• Có chức năng hẹn giờ để hệ thống tự động xuất bản đúng thời gian đã chọn.</a:t>
            </a:r>
          </a:p>
          <a:p>
            <a:pPr algn="l">
              <a:defRPr sz="950" b="0">
                <a:solidFill>
                  <a:srgbClr val="323C4B"/>
                </a:solidFill>
                <a:latin typeface="Arial"/>
              </a:defRPr>
            </a:pPr>
            <a:r>
              <a:t>• Phân quyền 4 nhóm: Quản trị viên, Biên tập viên, Cộng tác viên và Đoàn viên.</a:t>
            </a:r>
          </a:p>
          <a:p>
            <a:pPr algn="l">
              <a:defRPr sz="950" b="0">
                <a:solidFill>
                  <a:srgbClr val="323C4B"/>
                </a:solidFill>
                <a:latin typeface="Arial"/>
              </a:defRPr>
            </a:pPr>
            <a:r>
              <a:t>• Bảng thống kê theo dõi số lượt xem và mức độ tương tác của từng bài viết.</a:t>
            </a:r>
          </a:p>
        </p:txBody>
      </p:sp>
      <p:sp>
        <p:nvSpPr>
          <p:cNvPr id="1465018155" name="Shape 31"/>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42990271" name="Text 32"/>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name="Slide 4">
    <p:bg>
      <p:bgPr>
        <a:solidFill>
          <a:srgbClr val="F6F8FB"/>
        </a:solidFill>
        <a:effectLst/>
      </p:bgPr>
    </p:bg>
    <p:spTree>
      <p:nvGrpSpPr>
        <p:cNvPr id="1" name=""/>
        <p:cNvGrpSpPr/>
        <p:nvPr/>
      </p:nvGrpSpPr>
      <p:grpSpPr bwMode="auto">
        <a:xfrm>
          <a:off x="0" y="0"/>
          <a:ext cx="0" cy="0"/>
          <a:chOff x="0" y="0"/>
          <a:chExt cx="0" cy="0"/>
        </a:xfrm>
      </p:grpSpPr>
      <p:sp>
        <p:nvSpPr>
          <p:cNvPr id="1074498975"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2. PHÂN TÍCH YÊU CẦU</a:t>
            </a:r>
            <a:endParaRPr lang="vi-VN" sz="1000" noProof="1"/>
          </a:p>
        </p:txBody>
      </p:sp>
      <p:sp>
        <p:nvSpPr>
          <p:cNvPr id="1059015700" name="Text 1"/>
          <p:cNvSpPr/>
          <p:nvPr/>
        </p:nvSpPr>
        <p:spPr bwMode="auto">
          <a:xfrm>
            <a:off x="533400" y="542925"/>
            <a:ext cx="11347704" cy="359569"/>
          </a:xfrm>
          <a:prstGeom prst="rect">
            <a:avLst/>
          </a:prstGeom>
          <a:noFill/>
          <a:ln/>
        </p:spPr>
        <p:txBody>
          <a:bodyPr wrap="square" lIns="0" tIns="0" rIns="0" bIns="0" rtlCol="0" anchor="t"/>
          <a:lstStyle/>
          <a:p>
            <a:pPr algn="l">
              <a:defRPr sz="1300" b="0">
                <a:solidFill>
                  <a:srgbClr val="323C4B"/>
                </a:solidFill>
                <a:latin typeface="Arial"/>
              </a:defRPr>
            </a:pPr>
            <a:r>
              <a:t>Cổng thông tin cho đoàn viên — Đọc tin tức, tra cứu &amp; tương tác</a:t>
            </a:r>
          </a:p>
        </p:txBody>
      </p:sp>
      <p:pic>
        <p:nvPicPr>
          <p:cNvPr id="1209397928" name="Image 0" descr="/var/folders/t4/q0khv7qd1r3dc2yrbwkzmjf00000gn/T/html2pptx-nqhyar/html2pptx-bg-1791687640399-666125c3823468.png"/>
          <p:cNvPicPr>
            <a:picLocks noChangeAspect="1"/>
          </p:cNvPicPr>
          <p:nvPr/>
        </p:nvPicPr>
        <p:blipFill rotWithShape="1">
          <a:blip r:embed="rId3"/>
          <a:stretch/>
        </p:blipFill>
        <p:spPr bwMode="auto">
          <a:xfrm>
            <a:off x="533400" y="978694"/>
            <a:ext cx="1047750" cy="38100"/>
          </a:xfrm>
          <a:prstGeom prst="rect">
            <a:avLst/>
          </a:prstGeom>
        </p:spPr>
      </p:pic>
      <p:sp>
        <p:nvSpPr>
          <p:cNvPr id="678543229" name="Text 2"/>
          <p:cNvSpPr/>
          <p:nvPr/>
        </p:nvSpPr>
        <p:spPr bwMode="auto">
          <a:xfrm>
            <a:off x="533399" y="1264444"/>
            <a:ext cx="5016551"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1316152353" name="Text 3"/>
          <p:cNvSpPr/>
          <p:nvPr/>
        </p:nvSpPr>
        <p:spPr bwMode="auto">
          <a:xfrm>
            <a:off x="733424" y="1426369"/>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1300277468" name="Text 4"/>
          <p:cNvSpPr/>
          <p:nvPr/>
        </p:nvSpPr>
        <p:spPr bwMode="auto">
          <a:xfrm>
            <a:off x="730187" y="1426369"/>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01</a:t>
            </a:r>
            <a:endParaRPr lang="vi-VN" sz="1400" noProof="1"/>
          </a:p>
        </p:txBody>
      </p:sp>
      <p:sp>
        <p:nvSpPr>
          <p:cNvPr id="503144253" name="Text 5"/>
          <p:cNvSpPr/>
          <p:nvPr/>
        </p:nvSpPr>
        <p:spPr bwMode="auto">
          <a:xfrm>
            <a:off x="1172997" y="1447802"/>
            <a:ext cx="4112121" cy="247650"/>
          </a:xfrm>
          <a:prstGeom prst="rect">
            <a:avLst/>
          </a:prstGeom>
          <a:noFill/>
          <a:ln/>
        </p:spPr>
        <p:txBody>
          <a:bodyPr wrap="square" lIns="0" tIns="0" rIns="0" bIns="0" rtlCol="0" anchor="t"/>
          <a:lstStyle/>
          <a:p>
            <a:pPr algn="l">
              <a:defRPr sz="1200" b="1">
                <a:solidFill>
                  <a:srgbClr val="002855"/>
                </a:solidFill>
                <a:latin typeface="Arial"/>
              </a:defRPr>
            </a:pPr>
            <a:r>
              <a:t>Tin tức phong trào &amp; Phân loại rõ ràng</a:t>
            </a:r>
          </a:p>
        </p:txBody>
      </p:sp>
      <p:sp>
        <p:nvSpPr>
          <p:cNvPr id="962317796" name="Text 6"/>
          <p:cNvSpPr/>
          <p:nvPr/>
        </p:nvSpPr>
        <p:spPr bwMode="auto">
          <a:xfrm>
            <a:off x="733423" y="1826419"/>
            <a:ext cx="3423849" cy="371475"/>
          </a:xfrm>
          <a:prstGeom prst="rect">
            <a:avLst/>
          </a:prstGeom>
          <a:noFill/>
          <a:ln/>
        </p:spPr>
        <p:txBody>
          <a:bodyPr wrap="square" lIns="0" tIns="0" rIns="0" bIns="0" rtlCol="0" anchor="t"/>
          <a:lstStyle/>
          <a:p>
            <a:pPr algn="l">
              <a:defRPr sz="950" b="0">
                <a:solidFill>
                  <a:srgbClr val="323C4B"/>
                </a:solidFill>
                <a:latin typeface="Arial"/>
              </a:defRPr>
            </a:pPr>
            <a:r>
              <a:t>Phân loại bài viết theo 8 chuyên mục công đoàn; hỗ trợ tìm kiếm nhanh theo từ khóa, tác giả, thời gian; hiển thị tin nổi bật trên băng chuyền trang chủ.</a:t>
            </a:r>
          </a:p>
        </p:txBody>
      </p:sp>
      <p:sp>
        <p:nvSpPr>
          <p:cNvPr id="2126577439" name="Text 7"/>
          <p:cNvSpPr/>
          <p:nvPr/>
        </p:nvSpPr>
        <p:spPr bwMode="auto">
          <a:xfrm>
            <a:off x="6442024" y="1269208"/>
            <a:ext cx="5016551"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2073135920" name="Text 8"/>
          <p:cNvSpPr/>
          <p:nvPr/>
        </p:nvSpPr>
        <p:spPr bwMode="auto">
          <a:xfrm>
            <a:off x="6642050" y="1431133"/>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408462836" name="Text 9"/>
          <p:cNvSpPr/>
          <p:nvPr/>
        </p:nvSpPr>
        <p:spPr bwMode="auto">
          <a:xfrm>
            <a:off x="6638812" y="1431133"/>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02</a:t>
            </a:r>
            <a:endParaRPr lang="vi-VN" sz="1400" noProof="1"/>
          </a:p>
        </p:txBody>
      </p:sp>
      <p:sp>
        <p:nvSpPr>
          <p:cNvPr id="95561688" name="Text 10"/>
          <p:cNvSpPr/>
          <p:nvPr/>
        </p:nvSpPr>
        <p:spPr bwMode="auto">
          <a:xfrm>
            <a:off x="7081622" y="1452566"/>
            <a:ext cx="3978325" cy="247650"/>
          </a:xfrm>
          <a:prstGeom prst="rect">
            <a:avLst/>
          </a:prstGeom>
          <a:noFill/>
          <a:ln/>
        </p:spPr>
        <p:txBody>
          <a:bodyPr wrap="square" lIns="0" tIns="0" rIns="0" bIns="0" rtlCol="0" anchor="t"/>
          <a:lstStyle/>
          <a:p>
            <a:pPr algn="l">
              <a:defRPr sz="1200" b="1">
                <a:solidFill>
                  <a:srgbClr val="002855"/>
                </a:solidFill>
                <a:latin typeface="Arial"/>
              </a:defRPr>
            </a:pPr>
            <a:r>
              <a:t>Bài viết đầy đủ hình ảnh và tài liệu</a:t>
            </a:r>
          </a:p>
        </p:txBody>
      </p:sp>
      <p:sp>
        <p:nvSpPr>
          <p:cNvPr id="1756118230" name="Text 11"/>
          <p:cNvSpPr/>
          <p:nvPr/>
        </p:nvSpPr>
        <p:spPr bwMode="auto">
          <a:xfrm>
            <a:off x="6642049" y="1831183"/>
            <a:ext cx="3423849" cy="371475"/>
          </a:xfrm>
          <a:prstGeom prst="rect">
            <a:avLst/>
          </a:prstGeom>
          <a:noFill/>
          <a:ln/>
        </p:spPr>
        <p:txBody>
          <a:bodyPr wrap="square" lIns="0" tIns="0" rIns="0" bIns="0" rtlCol="0" anchor="t"/>
          <a:lstStyle/>
          <a:p>
            <a:pPr algn="l">
              <a:defRPr sz="950" b="0">
                <a:solidFill>
                  <a:srgbClr val="323C4B"/>
                </a:solidFill>
                <a:latin typeface="Arial"/>
              </a:defRPr>
            </a:pPr>
            <a:r>
              <a:t>Bố cục rõ ràng gồm Tiêu đề, đoạn mở đầu (Sapo) và nội dung chi tiết; đính kèm trọn bộ ảnh sự kiện rõ nét và các tệp văn bản hướng dẫn để xem, tải về.</a:t>
            </a:r>
          </a:p>
        </p:txBody>
      </p:sp>
      <p:sp>
        <p:nvSpPr>
          <p:cNvPr id="180671454" name="Text 12"/>
          <p:cNvSpPr/>
          <p:nvPr/>
        </p:nvSpPr>
        <p:spPr bwMode="auto">
          <a:xfrm>
            <a:off x="553873" y="3655219"/>
            <a:ext cx="5016760"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941840615" name="Text 13"/>
          <p:cNvSpPr/>
          <p:nvPr/>
        </p:nvSpPr>
        <p:spPr bwMode="auto">
          <a:xfrm>
            <a:off x="753898" y="3817144"/>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974009373" name="Text 14"/>
          <p:cNvSpPr/>
          <p:nvPr/>
        </p:nvSpPr>
        <p:spPr bwMode="auto">
          <a:xfrm>
            <a:off x="750659" y="3817144"/>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03</a:t>
            </a:r>
            <a:endParaRPr lang="vi-VN" sz="1400" noProof="1"/>
          </a:p>
        </p:txBody>
      </p:sp>
      <p:sp>
        <p:nvSpPr>
          <p:cNvPr id="708537714" name="Text 15"/>
          <p:cNvSpPr/>
          <p:nvPr/>
        </p:nvSpPr>
        <p:spPr bwMode="auto">
          <a:xfrm>
            <a:off x="1193469" y="3838576"/>
            <a:ext cx="3008214" cy="220133"/>
          </a:xfrm>
          <a:prstGeom prst="rect">
            <a:avLst/>
          </a:prstGeom>
          <a:noFill/>
          <a:ln/>
        </p:spPr>
        <p:txBody>
          <a:bodyPr wrap="square" lIns="0" tIns="0" rIns="0" bIns="0" rtlCol="0" anchor="t"/>
          <a:lstStyle/>
          <a:p>
            <a:pPr algn="l">
              <a:defRPr sz="1200" b="1">
                <a:solidFill>
                  <a:srgbClr val="002855"/>
                </a:solidFill>
                <a:latin typeface="Arial"/>
              </a:defRPr>
            </a:pPr>
            <a:r>
              <a:t>Tương tác độc giả &amp; Chia sẻ liên kết</a:t>
            </a:r>
          </a:p>
        </p:txBody>
      </p:sp>
      <p:sp>
        <p:nvSpPr>
          <p:cNvPr id="508787004" name="Text 16"/>
          <p:cNvSpPr/>
          <p:nvPr/>
        </p:nvSpPr>
        <p:spPr bwMode="auto">
          <a:xfrm>
            <a:off x="753898" y="4217194"/>
            <a:ext cx="3424008" cy="371475"/>
          </a:xfrm>
          <a:prstGeom prst="rect">
            <a:avLst/>
          </a:prstGeom>
          <a:noFill/>
          <a:ln/>
        </p:spPr>
        <p:txBody>
          <a:bodyPr wrap="square" lIns="0" tIns="0" rIns="0" bIns="0" rtlCol="0" anchor="t"/>
          <a:lstStyle/>
          <a:p>
            <a:pPr algn="l">
              <a:defRPr sz="950" b="0">
                <a:solidFill>
                  <a:srgbClr val="323C4B"/>
                </a:solidFill>
                <a:latin typeface="Arial"/>
              </a:defRPr>
            </a:pPr>
            <a:r>
              <a:t>Đoàn viên có thể bấm Thích (bày tỏ cảm xúc), gửi bình luận lịch sự, chia sẻ nhanh liên kết bài viết sang Facebook cá nhân hoặc gửi thư góp ý trực tuyến.</a:t>
            </a:r>
          </a:p>
        </p:txBody>
      </p:sp>
      <p:sp>
        <p:nvSpPr>
          <p:cNvPr id="1677464714" name="Text 17"/>
          <p:cNvSpPr/>
          <p:nvPr/>
        </p:nvSpPr>
        <p:spPr bwMode="auto">
          <a:xfrm>
            <a:off x="6438787" y="3581402"/>
            <a:ext cx="5016551"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1866628196" name="Text 18"/>
          <p:cNvSpPr/>
          <p:nvPr/>
        </p:nvSpPr>
        <p:spPr bwMode="auto">
          <a:xfrm>
            <a:off x="6638812" y="3743327"/>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1092766351" name="Text 19"/>
          <p:cNvSpPr/>
          <p:nvPr/>
        </p:nvSpPr>
        <p:spPr bwMode="auto">
          <a:xfrm>
            <a:off x="6635575" y="3743327"/>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04</a:t>
            </a:r>
            <a:endParaRPr lang="vi-VN" sz="1400" noProof="1"/>
          </a:p>
        </p:txBody>
      </p:sp>
      <p:sp>
        <p:nvSpPr>
          <p:cNvPr id="1615161333" name="Text 20"/>
          <p:cNvSpPr/>
          <p:nvPr/>
        </p:nvSpPr>
        <p:spPr bwMode="auto">
          <a:xfrm>
            <a:off x="7078384" y="3764760"/>
            <a:ext cx="3800280" cy="247650"/>
          </a:xfrm>
          <a:prstGeom prst="rect">
            <a:avLst/>
          </a:prstGeom>
          <a:noFill/>
          <a:ln/>
        </p:spPr>
        <p:txBody>
          <a:bodyPr wrap="square" lIns="0" tIns="0" rIns="0" bIns="0" rtlCol="0" anchor="t"/>
          <a:lstStyle/>
          <a:p>
            <a:pPr algn="l">
              <a:defRPr sz="1200" b="1">
                <a:solidFill>
                  <a:srgbClr val="002855"/>
                </a:solidFill>
                <a:latin typeface="Arial"/>
              </a:defRPr>
            </a:pPr>
            <a:r>
              <a:t>Kho văn bản và biểu mẫu điện tử</a:t>
            </a:r>
          </a:p>
        </p:txBody>
      </p:sp>
      <p:sp>
        <p:nvSpPr>
          <p:cNvPr id="805853147" name="Text 21"/>
          <p:cNvSpPr/>
          <p:nvPr/>
        </p:nvSpPr>
        <p:spPr bwMode="auto">
          <a:xfrm>
            <a:off x="6638811" y="4143377"/>
            <a:ext cx="3423849" cy="371475"/>
          </a:xfrm>
          <a:prstGeom prst="rect">
            <a:avLst/>
          </a:prstGeom>
          <a:noFill/>
          <a:ln/>
        </p:spPr>
        <p:txBody>
          <a:bodyPr wrap="square" lIns="0" tIns="0" rIns="0" bIns="0" rtlCol="0" anchor="t"/>
          <a:lstStyle/>
          <a:p>
            <a:pPr algn="l">
              <a:defRPr sz="950" b="0">
                <a:solidFill>
                  <a:srgbClr val="323C4B"/>
                </a:solidFill>
                <a:latin typeface="Arial"/>
              </a:defRPr>
            </a:pPr>
            <a:r>
              <a:t>Tra cứu các nghị quyết, quy chế công đoàn minh bạch; tải về nhanh các mẫu đơn xin trợ cấp khó khăn, đề xuất khen thưởng định dạng Word và PDF chuẩn.</a:t>
            </a:r>
          </a:p>
        </p:txBody>
      </p:sp>
      <p:sp>
        <p:nvSpPr>
          <p:cNvPr id="1863185046" name="Shape 32"/>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361689658" name="Text 33"/>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name="Slide 5">
    <p:bg>
      <p:bgPr>
        <a:solidFill>
          <a:srgbClr val="F6F8FB"/>
        </a:solidFill>
        <a:effectLst/>
      </p:bgPr>
    </p:bg>
    <p:spTree>
      <p:nvGrpSpPr>
        <p:cNvPr id="1" name=""/>
        <p:cNvGrpSpPr/>
        <p:nvPr/>
      </p:nvGrpSpPr>
      <p:grpSpPr bwMode="auto">
        <a:xfrm>
          <a:off x="0" y="0"/>
          <a:ext cx="0" cy="0"/>
          <a:chOff x="0" y="0"/>
          <a:chExt cx="0" cy="0"/>
        </a:xfrm>
      </p:grpSpPr>
      <p:sp>
        <p:nvSpPr>
          <p:cNvPr id="1402422897"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2. PHÂN TÍCH YÊU CẦU</a:t>
            </a:r>
            <a:endParaRPr lang="vi-VN" sz="1000" noProof="1"/>
          </a:p>
        </p:txBody>
      </p:sp>
      <p:sp>
        <p:nvSpPr>
          <p:cNvPr id="959888522" name="Text 1"/>
          <p:cNvSpPr/>
          <p:nvPr/>
        </p:nvSpPr>
        <p:spPr bwMode="auto">
          <a:xfrm>
            <a:off x="533400" y="542925"/>
            <a:ext cx="11347704" cy="359569"/>
          </a:xfrm>
          <a:prstGeom prst="rect">
            <a:avLst/>
          </a:prstGeom>
          <a:noFill/>
          <a:ln/>
        </p:spPr>
        <p:txBody>
          <a:bodyPr wrap="square" lIns="0" tIns="0" rIns="0" bIns="0" rtlCol="0" anchor="t"/>
          <a:lstStyle/>
          <a:p>
            <a:pPr algn="l">
              <a:defRPr sz="1300" b="0">
                <a:solidFill>
                  <a:srgbClr val="323C4B"/>
                </a:solidFill>
                <a:latin typeface="Arial"/>
              </a:defRPr>
            </a:pPr>
            <a:r>
              <a:t>Phân hệ Quản trị nội dung &amp; Điều phối xuất bản đa kênh</a:t>
            </a:r>
          </a:p>
        </p:txBody>
      </p:sp>
      <p:pic>
        <p:nvPicPr>
          <p:cNvPr id="310296203" name="Image 0" descr="/var/folders/t4/q0khv7qd1r3dc2yrbwkzmjf00000gn/T/html2pptx-MFhxpT/html2pptx-bg-1791687641636-59e5fcf0fe2bd.png"/>
          <p:cNvPicPr>
            <a:picLocks noChangeAspect="1"/>
          </p:cNvPicPr>
          <p:nvPr/>
        </p:nvPicPr>
        <p:blipFill rotWithShape="1">
          <a:blip r:embed="rId3"/>
          <a:stretch/>
        </p:blipFill>
        <p:spPr bwMode="auto">
          <a:xfrm>
            <a:off x="533400" y="978694"/>
            <a:ext cx="1047750" cy="38100"/>
          </a:xfrm>
          <a:prstGeom prst="rect">
            <a:avLst/>
          </a:prstGeom>
        </p:spPr>
      </p:pic>
      <p:sp>
        <p:nvSpPr>
          <p:cNvPr id="348523205" name="Text 2"/>
          <p:cNvSpPr/>
          <p:nvPr/>
        </p:nvSpPr>
        <p:spPr bwMode="auto">
          <a:xfrm>
            <a:off x="5334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34365386" name="Text 3"/>
          <p:cNvSpPr/>
          <p:nvPr/>
        </p:nvSpPr>
        <p:spPr bwMode="auto">
          <a:xfrm>
            <a:off x="6953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2132093590" name="Text 4"/>
          <p:cNvSpPr/>
          <p:nvPr/>
        </p:nvSpPr>
        <p:spPr bwMode="auto">
          <a:xfrm>
            <a:off x="692467"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01</a:t>
            </a:r>
            <a:endParaRPr lang="vi-VN" sz="1000" noProof="1"/>
          </a:p>
        </p:txBody>
      </p:sp>
      <p:sp>
        <p:nvSpPr>
          <p:cNvPr id="1476022496" name="Text 5"/>
          <p:cNvSpPr/>
          <p:nvPr/>
        </p:nvSpPr>
        <p:spPr bwMode="auto">
          <a:xfrm>
            <a:off x="695325" y="1778794"/>
            <a:ext cx="2390013" cy="161925"/>
          </a:xfrm>
          <a:prstGeom prst="rect">
            <a:avLst/>
          </a:prstGeom>
          <a:noFill/>
          <a:ln/>
        </p:spPr>
        <p:txBody>
          <a:bodyPr wrap="square" lIns="0" tIns="0" rIns="0" bIns="0" rtlCol="0" anchor="t"/>
          <a:lstStyle/>
          <a:p>
            <a:pPr algn="l">
              <a:defRPr sz="1100" b="1">
                <a:solidFill>
                  <a:srgbClr val="002855"/>
                </a:solidFill>
                <a:latin typeface="Arial"/>
              </a:defRPr>
            </a:pPr>
            <a:r>
              <a:t>Phân quyền 4 nhóm người dùng</a:t>
            </a:r>
          </a:p>
        </p:txBody>
      </p:sp>
      <p:sp>
        <p:nvSpPr>
          <p:cNvPr id="1359344306" name="Text 6"/>
          <p:cNvSpPr/>
          <p:nvPr/>
        </p:nvSpPr>
        <p:spPr bwMode="auto">
          <a:xfrm>
            <a:off x="695325" y="1988344"/>
            <a:ext cx="2505075" cy="517922"/>
          </a:xfrm>
          <a:prstGeom prst="rect">
            <a:avLst/>
          </a:prstGeom>
          <a:noFill/>
          <a:ln/>
        </p:spPr>
        <p:txBody>
          <a:bodyPr wrap="square" lIns="0" tIns="0" rIns="0" bIns="0" rtlCol="0" anchor="t"/>
          <a:lstStyle/>
          <a:p>
            <a:pPr algn="l">
              <a:defRPr sz="900" b="0">
                <a:solidFill>
                  <a:srgbClr val="323C4B"/>
                </a:solidFill>
                <a:latin typeface="Arial"/>
              </a:defRPr>
            </a:pPr>
            <a:r>
              <a:t>Quản trị viên quản lý tài khoản; Biên tập viên duyệt bài &amp; xuất bản; Cộng tác viên (16 Tổ) viết gửi lên; Đoàn viên đọc tin và tra cứu.</a:t>
            </a:r>
          </a:p>
        </p:txBody>
      </p:sp>
      <p:sp>
        <p:nvSpPr>
          <p:cNvPr id="1965999113" name="Text 7"/>
          <p:cNvSpPr/>
          <p:nvPr/>
        </p:nvSpPr>
        <p:spPr bwMode="auto">
          <a:xfrm>
            <a:off x="33528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868855104" name="Text 8"/>
          <p:cNvSpPr/>
          <p:nvPr/>
        </p:nvSpPr>
        <p:spPr bwMode="auto">
          <a:xfrm>
            <a:off x="35147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515993690" name="Text 9"/>
          <p:cNvSpPr/>
          <p:nvPr/>
        </p:nvSpPr>
        <p:spPr bwMode="auto">
          <a:xfrm>
            <a:off x="3511868"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02</a:t>
            </a:r>
            <a:endParaRPr lang="vi-VN" sz="1000" noProof="1"/>
          </a:p>
        </p:txBody>
      </p:sp>
      <p:sp>
        <p:nvSpPr>
          <p:cNvPr id="1827806591" name="Text 10"/>
          <p:cNvSpPr/>
          <p:nvPr/>
        </p:nvSpPr>
        <p:spPr bwMode="auto">
          <a:xfrm>
            <a:off x="3514725" y="1778794"/>
            <a:ext cx="2390013" cy="161925"/>
          </a:xfrm>
          <a:prstGeom prst="rect">
            <a:avLst/>
          </a:prstGeom>
          <a:noFill/>
          <a:ln/>
        </p:spPr>
        <p:txBody>
          <a:bodyPr wrap="square" lIns="0" tIns="0" rIns="0" bIns="0" rtlCol="0" anchor="t"/>
          <a:lstStyle/>
          <a:p>
            <a:pPr algn="l">
              <a:defRPr sz="1100" b="1">
                <a:solidFill>
                  <a:srgbClr val="002855"/>
                </a:solidFill>
                <a:latin typeface="Arial"/>
              </a:defRPr>
            </a:pPr>
            <a:r>
              <a:t>Soạn thảo bài viết trực quan</a:t>
            </a:r>
          </a:p>
        </p:txBody>
      </p:sp>
      <p:sp>
        <p:nvSpPr>
          <p:cNvPr id="39333245" name="Text 11"/>
          <p:cNvSpPr/>
          <p:nvPr/>
        </p:nvSpPr>
        <p:spPr bwMode="auto">
          <a:xfrm>
            <a:off x="3514725" y="1988344"/>
            <a:ext cx="2390013" cy="517922"/>
          </a:xfrm>
          <a:prstGeom prst="rect">
            <a:avLst/>
          </a:prstGeom>
          <a:noFill/>
          <a:ln/>
        </p:spPr>
        <p:txBody>
          <a:bodyPr wrap="square" lIns="0" tIns="0" rIns="0" bIns="0" rtlCol="0" anchor="t"/>
          <a:lstStyle/>
          <a:p>
            <a:pPr algn="l">
              <a:defRPr sz="900" b="0">
                <a:solidFill>
                  <a:srgbClr val="323C4B"/>
                </a:solidFill>
                <a:latin typeface="Arial"/>
              </a:defRPr>
            </a:pPr>
            <a:r>
              <a:t>Khung soạn thảo dễ dùng như Word: hỗ trợ in đậm, in nghiêng, chèn bảng biểu, tải ảnh sự kiện và đính kèm tài liệu hướng dẫn.</a:t>
            </a:r>
          </a:p>
        </p:txBody>
      </p:sp>
      <p:sp>
        <p:nvSpPr>
          <p:cNvPr id="641261385" name="Text 12"/>
          <p:cNvSpPr/>
          <p:nvPr/>
        </p:nvSpPr>
        <p:spPr bwMode="auto">
          <a:xfrm>
            <a:off x="61722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442133264" name="Text 13"/>
          <p:cNvSpPr/>
          <p:nvPr/>
        </p:nvSpPr>
        <p:spPr bwMode="auto">
          <a:xfrm>
            <a:off x="63341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705281429" name="Text 14"/>
          <p:cNvSpPr/>
          <p:nvPr/>
        </p:nvSpPr>
        <p:spPr bwMode="auto">
          <a:xfrm>
            <a:off x="6331268"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03</a:t>
            </a:r>
            <a:endParaRPr lang="vi-VN" sz="1000" noProof="1"/>
          </a:p>
        </p:txBody>
      </p:sp>
      <p:sp>
        <p:nvSpPr>
          <p:cNvPr id="1984289581" name="Text 15"/>
          <p:cNvSpPr/>
          <p:nvPr/>
        </p:nvSpPr>
        <p:spPr bwMode="auto">
          <a:xfrm>
            <a:off x="6334125" y="1778794"/>
            <a:ext cx="2390013" cy="161925"/>
          </a:xfrm>
          <a:prstGeom prst="rect">
            <a:avLst/>
          </a:prstGeom>
          <a:noFill/>
          <a:ln/>
        </p:spPr>
        <p:txBody>
          <a:bodyPr wrap="square" lIns="0" tIns="0" rIns="0" bIns="0" rtlCol="0" anchor="t"/>
          <a:lstStyle/>
          <a:p>
            <a:pPr algn="l">
              <a:defRPr sz="1100" b="1">
                <a:solidFill>
                  <a:srgbClr val="002855"/>
                </a:solidFill>
                <a:latin typeface="Arial"/>
              </a:defRPr>
            </a:pPr>
            <a:r>
              <a:t>Quản lý trạng thái bài viết</a:t>
            </a:r>
          </a:p>
        </p:txBody>
      </p:sp>
      <p:sp>
        <p:nvSpPr>
          <p:cNvPr id="1002533493" name="Text 16"/>
          <p:cNvSpPr/>
          <p:nvPr/>
        </p:nvSpPr>
        <p:spPr bwMode="auto">
          <a:xfrm>
            <a:off x="6334125" y="1988344"/>
            <a:ext cx="2390013" cy="517922"/>
          </a:xfrm>
          <a:prstGeom prst="rect">
            <a:avLst/>
          </a:prstGeom>
          <a:noFill/>
          <a:ln/>
        </p:spPr>
        <p:txBody>
          <a:bodyPr wrap="square" lIns="0" tIns="0" rIns="0" bIns="0" rtlCol="0" anchor="t"/>
          <a:lstStyle/>
          <a:p>
            <a:pPr algn="l">
              <a:defRPr sz="900" b="0">
                <a:solidFill>
                  <a:srgbClr val="323C4B"/>
                </a:solidFill>
                <a:latin typeface="Arial"/>
              </a:defRPr>
            </a:pPr>
            <a:r>
              <a:t>Theo dõi vòng đời bài viết: Bản nháp → Chờ duyệt → Xuất bản ngay / Hẹn giờ đăng; có chế độ xem trước bài viết trước khi đăng.</a:t>
            </a:r>
          </a:p>
        </p:txBody>
      </p:sp>
      <p:sp>
        <p:nvSpPr>
          <p:cNvPr id="1632029538" name="Text 17"/>
          <p:cNvSpPr/>
          <p:nvPr/>
        </p:nvSpPr>
        <p:spPr bwMode="auto">
          <a:xfrm>
            <a:off x="89916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802780343" name="Text 18"/>
          <p:cNvSpPr/>
          <p:nvPr/>
        </p:nvSpPr>
        <p:spPr bwMode="auto">
          <a:xfrm>
            <a:off x="91535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1624976401" name="Text 19"/>
          <p:cNvSpPr/>
          <p:nvPr/>
        </p:nvSpPr>
        <p:spPr bwMode="auto">
          <a:xfrm>
            <a:off x="9150667"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04</a:t>
            </a:r>
            <a:endParaRPr lang="vi-VN" sz="1000" noProof="1"/>
          </a:p>
        </p:txBody>
      </p:sp>
      <p:sp>
        <p:nvSpPr>
          <p:cNvPr id="1386990661" name="Text 20"/>
          <p:cNvSpPr/>
          <p:nvPr/>
        </p:nvSpPr>
        <p:spPr bwMode="auto">
          <a:xfrm>
            <a:off x="9153525" y="1778794"/>
            <a:ext cx="2390013" cy="161925"/>
          </a:xfrm>
          <a:prstGeom prst="rect">
            <a:avLst/>
          </a:prstGeom>
          <a:noFill/>
          <a:ln/>
        </p:spPr>
        <p:txBody>
          <a:bodyPr wrap="square" lIns="0" tIns="0" rIns="0" bIns="0" rtlCol="0" anchor="t"/>
          <a:lstStyle/>
          <a:p>
            <a:pPr algn="l">
              <a:defRPr sz="1100" b="1">
                <a:solidFill>
                  <a:srgbClr val="002855"/>
                </a:solidFill>
                <a:latin typeface="Arial"/>
              </a:defRPr>
            </a:pPr>
            <a:r>
              <a:t>Hẹn giờ xuất bản tự động</a:t>
            </a:r>
          </a:p>
        </p:txBody>
      </p:sp>
      <p:sp>
        <p:nvSpPr>
          <p:cNvPr id="1862772748" name="Text 21"/>
          <p:cNvSpPr/>
          <p:nvPr/>
        </p:nvSpPr>
        <p:spPr bwMode="auto">
          <a:xfrm>
            <a:off x="9153525" y="1988344"/>
            <a:ext cx="2390013" cy="517922"/>
          </a:xfrm>
          <a:prstGeom prst="rect">
            <a:avLst/>
          </a:prstGeom>
          <a:noFill/>
          <a:ln/>
        </p:spPr>
        <p:txBody>
          <a:bodyPr wrap="square" lIns="0" tIns="0" rIns="0" bIns="0" rtlCol="0" anchor="t"/>
          <a:lstStyle/>
          <a:p>
            <a:pPr algn="l">
              <a:defRPr sz="900" b="0">
                <a:solidFill>
                  <a:srgbClr val="323C4B"/>
                </a:solidFill>
                <a:latin typeface="Arial"/>
              </a:defRPr>
            </a:pPr>
            <a:r>
              <a:t>Cài đặt ngày giờ đăng bài linh hoạt; tiến trình ngầm tự động kích hoạt xuất bản đúng giờ hẹn mà không cần trực máy.</a:t>
            </a:r>
          </a:p>
        </p:txBody>
      </p:sp>
      <p:sp>
        <p:nvSpPr>
          <p:cNvPr id="876809556" name="Text 22"/>
          <p:cNvSpPr/>
          <p:nvPr/>
        </p:nvSpPr>
        <p:spPr bwMode="auto">
          <a:xfrm>
            <a:off x="5334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455290549" name="Text 23"/>
          <p:cNvSpPr/>
          <p:nvPr/>
        </p:nvSpPr>
        <p:spPr bwMode="auto">
          <a:xfrm>
            <a:off x="6953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1093135243" name="Text 24"/>
          <p:cNvSpPr/>
          <p:nvPr/>
        </p:nvSpPr>
        <p:spPr bwMode="auto">
          <a:xfrm>
            <a:off x="692467"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05</a:t>
            </a:r>
            <a:endParaRPr lang="vi-VN" sz="1000" noProof="1"/>
          </a:p>
        </p:txBody>
      </p:sp>
      <p:sp>
        <p:nvSpPr>
          <p:cNvPr id="1088127334" name="Text 25"/>
          <p:cNvSpPr/>
          <p:nvPr/>
        </p:nvSpPr>
        <p:spPr bwMode="auto">
          <a:xfrm>
            <a:off x="695325" y="4093369"/>
            <a:ext cx="2390013" cy="161925"/>
          </a:xfrm>
          <a:prstGeom prst="rect">
            <a:avLst/>
          </a:prstGeom>
          <a:noFill/>
          <a:ln/>
        </p:spPr>
        <p:txBody>
          <a:bodyPr wrap="square" lIns="0" tIns="0" rIns="0" bIns="0" rtlCol="0" anchor="t"/>
          <a:lstStyle/>
          <a:p>
            <a:pPr algn="l">
              <a:defRPr sz="1100" b="1">
                <a:solidFill>
                  <a:srgbClr val="002855"/>
                </a:solidFill>
                <a:latin typeface="Arial"/>
              </a:defRPr>
            </a:pPr>
            <a:r>
              <a:t>Đăng tự động lên Facebook</a:t>
            </a:r>
          </a:p>
        </p:txBody>
      </p:sp>
      <p:sp>
        <p:nvSpPr>
          <p:cNvPr id="2006869768" name="Text 26"/>
          <p:cNvSpPr/>
          <p:nvPr/>
        </p:nvSpPr>
        <p:spPr bwMode="auto">
          <a:xfrm>
            <a:off x="695325" y="4302919"/>
            <a:ext cx="2390013" cy="517922"/>
          </a:xfrm>
          <a:prstGeom prst="rect">
            <a:avLst/>
          </a:prstGeom>
          <a:noFill/>
          <a:ln/>
        </p:spPr>
        <p:txBody>
          <a:bodyPr wrap="square" lIns="0" tIns="0" rIns="0" bIns="0" rtlCol="0" anchor="t"/>
          <a:lstStyle/>
          <a:p>
            <a:pPr algn="l">
              <a:defRPr sz="900" b="0">
                <a:solidFill>
                  <a:srgbClr val="323C4B"/>
                </a:solidFill>
                <a:latin typeface="Arial"/>
              </a:defRPr>
            </a:pPr>
            <a:r>
              <a:t>Kết nối Facebook API tự động đăng bài viết tóm tắt, hình ảnh đại diện và liên kết bài viết lên Trang Facebook Công đoàn ngay khi duyệt.</a:t>
            </a:r>
          </a:p>
        </p:txBody>
      </p:sp>
      <p:sp>
        <p:nvSpPr>
          <p:cNvPr id="131671412" name="Text 27"/>
          <p:cNvSpPr/>
          <p:nvPr/>
        </p:nvSpPr>
        <p:spPr bwMode="auto">
          <a:xfrm>
            <a:off x="33528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425332783" name="Text 28"/>
          <p:cNvSpPr/>
          <p:nvPr/>
        </p:nvSpPr>
        <p:spPr bwMode="auto">
          <a:xfrm>
            <a:off x="35147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1054262772" name="Text 29"/>
          <p:cNvSpPr/>
          <p:nvPr/>
        </p:nvSpPr>
        <p:spPr bwMode="auto">
          <a:xfrm>
            <a:off x="3511868"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06</a:t>
            </a:r>
            <a:endParaRPr lang="vi-VN" sz="1000" noProof="1"/>
          </a:p>
        </p:txBody>
      </p:sp>
      <p:sp>
        <p:nvSpPr>
          <p:cNvPr id="656601929" name="Text 30"/>
          <p:cNvSpPr/>
          <p:nvPr/>
        </p:nvSpPr>
        <p:spPr bwMode="auto">
          <a:xfrm>
            <a:off x="3514725" y="4093369"/>
            <a:ext cx="2390013" cy="161925"/>
          </a:xfrm>
          <a:prstGeom prst="rect">
            <a:avLst/>
          </a:prstGeom>
          <a:noFill/>
          <a:ln/>
        </p:spPr>
        <p:txBody>
          <a:bodyPr wrap="square" lIns="0" tIns="0" rIns="0" bIns="0" rtlCol="0" anchor="t"/>
          <a:lstStyle/>
          <a:p>
            <a:pPr algn="l">
              <a:defRPr sz="1100" b="1">
                <a:solidFill>
                  <a:srgbClr val="002855"/>
                </a:solidFill>
                <a:latin typeface="Arial"/>
              </a:defRPr>
            </a:pPr>
            <a:r>
              <a:t>Bảng thống kê số liệu tập trung</a:t>
            </a:r>
          </a:p>
        </p:txBody>
      </p:sp>
      <p:sp>
        <p:nvSpPr>
          <p:cNvPr id="1468801247" name="Text 31"/>
          <p:cNvSpPr/>
          <p:nvPr/>
        </p:nvSpPr>
        <p:spPr bwMode="auto">
          <a:xfrm>
            <a:off x="3514725" y="4302919"/>
            <a:ext cx="2390013" cy="517922"/>
          </a:xfrm>
          <a:prstGeom prst="rect">
            <a:avLst/>
          </a:prstGeom>
          <a:noFill/>
          <a:ln/>
        </p:spPr>
        <p:txBody>
          <a:bodyPr wrap="square" lIns="0" tIns="0" rIns="0" bIns="0" rtlCol="0" anchor="t"/>
          <a:lstStyle/>
          <a:p>
            <a:pPr algn="l">
              <a:defRPr sz="900" b="0">
                <a:solidFill>
                  <a:srgbClr val="323C4B"/>
                </a:solidFill>
                <a:latin typeface="Arial"/>
              </a:defRPr>
            </a:pPr>
            <a:r>
              <a:t>Theo dõi trực quan tổng số bài viết, trạng thái duyệt và biểu đồ số lượt xem, tương tác của độc giả trên các kênh.</a:t>
            </a:r>
          </a:p>
        </p:txBody>
      </p:sp>
      <p:sp>
        <p:nvSpPr>
          <p:cNvPr id="1875312712" name="Text 32"/>
          <p:cNvSpPr/>
          <p:nvPr/>
        </p:nvSpPr>
        <p:spPr bwMode="auto">
          <a:xfrm>
            <a:off x="61722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908477655" name="Text 33"/>
          <p:cNvSpPr/>
          <p:nvPr/>
        </p:nvSpPr>
        <p:spPr bwMode="auto">
          <a:xfrm>
            <a:off x="63341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800509021" name="Text 34"/>
          <p:cNvSpPr/>
          <p:nvPr/>
        </p:nvSpPr>
        <p:spPr bwMode="auto">
          <a:xfrm>
            <a:off x="6331268"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07</a:t>
            </a:r>
            <a:endParaRPr lang="vi-VN" sz="1000" noProof="1"/>
          </a:p>
        </p:txBody>
      </p:sp>
      <p:sp>
        <p:nvSpPr>
          <p:cNvPr id="1239723103" name="Text 35"/>
          <p:cNvSpPr/>
          <p:nvPr/>
        </p:nvSpPr>
        <p:spPr bwMode="auto">
          <a:xfrm>
            <a:off x="6334125" y="4093369"/>
            <a:ext cx="2390013" cy="161925"/>
          </a:xfrm>
          <a:prstGeom prst="rect">
            <a:avLst/>
          </a:prstGeom>
          <a:noFill/>
          <a:ln/>
        </p:spPr>
        <p:txBody>
          <a:bodyPr wrap="square" lIns="0" tIns="0" rIns="0" bIns="0" rtlCol="0" anchor="t"/>
          <a:lstStyle/>
          <a:p>
            <a:pPr algn="l">
              <a:defRPr sz="1100" b="1">
                <a:solidFill>
                  <a:srgbClr val="002855"/>
                </a:solidFill>
                <a:latin typeface="Arial"/>
              </a:defRPr>
            </a:pPr>
            <a:r>
              <a:t>Quản lý Văn bản &amp; Biểu mẫu</a:t>
            </a:r>
          </a:p>
        </p:txBody>
      </p:sp>
      <p:sp>
        <p:nvSpPr>
          <p:cNvPr id="1577619318" name="Text 36"/>
          <p:cNvSpPr/>
          <p:nvPr/>
        </p:nvSpPr>
        <p:spPr bwMode="auto">
          <a:xfrm>
            <a:off x="6334125" y="4302919"/>
            <a:ext cx="2390013" cy="345281"/>
          </a:xfrm>
          <a:prstGeom prst="rect">
            <a:avLst/>
          </a:prstGeom>
          <a:noFill/>
          <a:ln/>
        </p:spPr>
        <p:txBody>
          <a:bodyPr wrap="square" lIns="0" tIns="0" rIns="0" bIns="0" rtlCol="0" anchor="t"/>
          <a:lstStyle/>
          <a:p>
            <a:pPr algn="l">
              <a:defRPr sz="900" b="0">
                <a:solidFill>
                  <a:srgbClr val="323C4B"/>
                </a:solidFill>
                <a:latin typeface="Arial"/>
              </a:defRPr>
            </a:pPr>
            <a:r>
              <a:t>Cập nhật số hiệu văn bản, trích yếu, tệp đính kèm và phân loại các mẫu đơn xin trợ cấp theo danh mục rõ ràng.</a:t>
            </a:r>
          </a:p>
        </p:txBody>
      </p:sp>
      <p:sp>
        <p:nvSpPr>
          <p:cNvPr id="101279089" name="Text 37"/>
          <p:cNvSpPr/>
          <p:nvPr/>
        </p:nvSpPr>
        <p:spPr bwMode="auto">
          <a:xfrm>
            <a:off x="89916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978225723" name="Text 38"/>
          <p:cNvSpPr/>
          <p:nvPr/>
        </p:nvSpPr>
        <p:spPr bwMode="auto">
          <a:xfrm>
            <a:off x="91535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2122408399" name="Text 39"/>
          <p:cNvSpPr/>
          <p:nvPr/>
        </p:nvSpPr>
        <p:spPr bwMode="auto">
          <a:xfrm>
            <a:off x="9150667"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08</a:t>
            </a:r>
            <a:endParaRPr lang="vi-VN" sz="1000" noProof="1"/>
          </a:p>
        </p:txBody>
      </p:sp>
      <p:sp>
        <p:nvSpPr>
          <p:cNvPr id="1592274018" name="Text 40"/>
          <p:cNvSpPr/>
          <p:nvPr/>
        </p:nvSpPr>
        <p:spPr bwMode="auto">
          <a:xfrm>
            <a:off x="9153525" y="4093369"/>
            <a:ext cx="2390013" cy="161925"/>
          </a:xfrm>
          <a:prstGeom prst="rect">
            <a:avLst/>
          </a:prstGeom>
          <a:noFill/>
          <a:ln/>
        </p:spPr>
        <p:txBody>
          <a:bodyPr wrap="square" lIns="0" tIns="0" rIns="0" bIns="0" rtlCol="0" anchor="t"/>
          <a:lstStyle/>
          <a:p>
            <a:pPr algn="l">
              <a:defRPr sz="1100" b="1">
                <a:solidFill>
                  <a:srgbClr val="002855"/>
                </a:solidFill>
                <a:latin typeface="Arial"/>
              </a:defRPr>
            </a:pPr>
            <a:r>
              <a:t>Quản trị hệ thống &amp; Khóa AI</a:t>
            </a:r>
          </a:p>
        </p:txBody>
      </p:sp>
      <p:sp>
        <p:nvSpPr>
          <p:cNvPr id="172883449" name="Text 41"/>
          <p:cNvSpPr/>
          <p:nvPr/>
        </p:nvSpPr>
        <p:spPr bwMode="auto">
          <a:xfrm>
            <a:off x="9153525" y="4302919"/>
            <a:ext cx="2390013" cy="517922"/>
          </a:xfrm>
          <a:prstGeom prst="rect">
            <a:avLst/>
          </a:prstGeom>
          <a:noFill/>
          <a:ln/>
        </p:spPr>
        <p:txBody>
          <a:bodyPr wrap="square" lIns="0" tIns="0" rIns="0" bIns="0" rtlCol="0" anchor="t"/>
          <a:lstStyle/>
          <a:p>
            <a:pPr algn="l">
              <a:defRPr sz="900" b="0">
                <a:solidFill>
                  <a:srgbClr val="323C4B"/>
                </a:solidFill>
                <a:latin typeface="Arial"/>
              </a:defRPr>
            </a:pPr>
            <a:r>
              <a:t>Cấp tài khoản cho 16 Tổ công đoàn, phân quyền bảo mật, quản lý an toàn khóa kết nối AI (Gemini) và Facebook.</a:t>
            </a:r>
          </a:p>
        </p:txBody>
      </p:sp>
      <p:sp>
        <p:nvSpPr>
          <p:cNvPr id="738599549" name="Shape 42"/>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403495935" name="Text 43"/>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name="Slide 6">
    <p:bg>
      <p:bgPr>
        <a:solidFill>
          <a:srgbClr val="F6F8FB"/>
        </a:solidFill>
        <a:effectLst/>
      </p:bgPr>
    </p:bg>
    <p:spTree>
      <p:nvGrpSpPr>
        <p:cNvPr id="1" name=""/>
        <p:cNvGrpSpPr/>
        <p:nvPr/>
      </p:nvGrpSpPr>
      <p:grpSpPr bwMode="auto">
        <a:xfrm>
          <a:off x="0" y="0"/>
          <a:ext cx="0" cy="0"/>
          <a:chOff x="0" y="0"/>
          <a:chExt cx="0" cy="0"/>
        </a:xfrm>
      </p:grpSpPr>
      <p:sp>
        <p:nvSpPr>
          <p:cNvPr id="988663049"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2. PHÂN TÍCH YÊU CẦU</a:t>
            </a:r>
            <a:endParaRPr lang="vi-VN" sz="1000" noProof="1"/>
          </a:p>
        </p:txBody>
      </p:sp>
      <p:sp>
        <p:nvSpPr>
          <p:cNvPr id="1364667650" name="Text 1"/>
          <p:cNvSpPr/>
          <p:nvPr/>
        </p:nvSpPr>
        <p:spPr bwMode="auto">
          <a:xfrm>
            <a:off x="533400" y="542925"/>
            <a:ext cx="11347704" cy="359569"/>
          </a:xfrm>
          <a:prstGeom prst="rect">
            <a:avLst/>
          </a:prstGeom>
          <a:noFill/>
          <a:ln/>
        </p:spPr>
        <p:txBody>
          <a:bodyPr wrap="square" lIns="0" tIns="0" rIns="0" bIns="0" rtlCol="0" anchor="t"/>
          <a:lstStyle/>
          <a:p>
            <a:pPr algn="l">
              <a:defRPr sz="1300" b="0">
                <a:solidFill>
                  <a:srgbClr val="323C4B"/>
                </a:solidFill>
                <a:latin typeface="Arial"/>
              </a:defRPr>
            </a:pPr>
            <a:r>
              <a:t>Trợ lý AI hỗ trợ soạn bài và chuẩn bị nội dung đa kênh</a:t>
            </a:r>
          </a:p>
        </p:txBody>
      </p:sp>
      <p:pic>
        <p:nvPicPr>
          <p:cNvPr id="1372264076" name="Image 0" descr="/var/folders/t4/q0khv7qd1r3dc2yrbwkzmjf00000gn/T/html2pptx-3PyRvM/html2pptx-bg-1791687642797-ab2105bbbd9cb8.png"/>
          <p:cNvPicPr>
            <a:picLocks noChangeAspect="1"/>
          </p:cNvPicPr>
          <p:nvPr/>
        </p:nvPicPr>
        <p:blipFill rotWithShape="1">
          <a:blip r:embed="rId3"/>
          <a:stretch/>
        </p:blipFill>
        <p:spPr bwMode="auto">
          <a:xfrm>
            <a:off x="533400" y="978694"/>
            <a:ext cx="1047750" cy="38100"/>
          </a:xfrm>
          <a:prstGeom prst="rect">
            <a:avLst/>
          </a:prstGeom>
        </p:spPr>
      </p:pic>
      <p:sp>
        <p:nvSpPr>
          <p:cNvPr id="1141313944" name="Text 2"/>
          <p:cNvSpPr/>
          <p:nvPr/>
        </p:nvSpPr>
        <p:spPr bwMode="auto">
          <a:xfrm>
            <a:off x="533400" y="1150144"/>
            <a:ext cx="10881360" cy="214015"/>
          </a:xfrm>
          <a:prstGeom prst="rect">
            <a:avLst/>
          </a:prstGeom>
          <a:noFill/>
          <a:ln/>
        </p:spPr>
        <p:txBody>
          <a:bodyPr wrap="square" lIns="0" tIns="0" rIns="0" bIns="0" rtlCol="0" anchor="t"/>
          <a:lstStyle/>
          <a:p>
            <a:pPr algn="l">
              <a:defRPr sz="1000" b="0">
                <a:solidFill>
                  <a:srgbClr val="323C4B"/>
                </a:solidFill>
                <a:latin typeface="Arial"/>
              </a:defRPr>
            </a:pPr>
            <a:r>
              <a:t>Ứng dụng Google Gemini AI đọc hiểu tài liệu kế hoạch thô để tự động viết bài và rút gọn nội dung cho từng kênh.</a:t>
            </a:r>
          </a:p>
        </p:txBody>
      </p:sp>
      <p:sp>
        <p:nvSpPr>
          <p:cNvPr id="1364353431" name="Text 3"/>
          <p:cNvSpPr/>
          <p:nvPr/>
        </p:nvSpPr>
        <p:spPr bwMode="auto">
          <a:xfrm>
            <a:off x="533400" y="1573709"/>
            <a:ext cx="3606701"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282954407" name="Text 4"/>
          <p:cNvSpPr/>
          <p:nvPr/>
        </p:nvSpPr>
        <p:spPr bwMode="auto">
          <a:xfrm>
            <a:off x="714375" y="17261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1845100964" name="Text 5"/>
          <p:cNvSpPr/>
          <p:nvPr/>
        </p:nvSpPr>
        <p:spPr bwMode="auto">
          <a:xfrm>
            <a:off x="711327" y="1726109"/>
            <a:ext cx="310896" cy="304800"/>
          </a:xfrm>
          <a:prstGeom prst="rect">
            <a:avLst/>
          </a:prstGeom>
          <a:noFill/>
          <a:ln/>
        </p:spPr>
        <p:txBody>
          <a:bodyPr wrap="square" lIns="0" tIns="0" rIns="0" bIns="0" rtlCol="0" anchor="ctr"/>
          <a:lstStyle/>
          <a:p>
            <a:pPr marL="0" indent="0" algn="ctr">
              <a:buNone/>
              <a:defRPr/>
            </a:pPr>
            <a:r>
              <a:rPr lang="vi-VN" sz="1050" b="1" noProof="1">
                <a:solidFill>
                  <a:srgbClr val="F6C945"/>
                </a:solidFill>
                <a:latin typeface="Arial"/>
                <a:ea typeface="Arial"/>
                <a:cs typeface="Arial"/>
              </a:rPr>
              <a:t>01</a:t>
            </a:r>
            <a:endParaRPr lang="vi-VN" sz="1050" noProof="1"/>
          </a:p>
        </p:txBody>
      </p:sp>
      <p:sp>
        <p:nvSpPr>
          <p:cNvPr id="1016852456" name="Text 6"/>
          <p:cNvSpPr/>
          <p:nvPr/>
        </p:nvSpPr>
        <p:spPr bwMode="auto">
          <a:xfrm>
            <a:off x="1114425" y="1792784"/>
            <a:ext cx="2926080" cy="171450"/>
          </a:xfrm>
          <a:prstGeom prst="rect">
            <a:avLst/>
          </a:prstGeom>
          <a:noFill/>
          <a:ln/>
        </p:spPr>
        <p:txBody>
          <a:bodyPr wrap="square" lIns="0" tIns="0" rIns="0" bIns="0" rtlCol="0" anchor="t"/>
          <a:lstStyle/>
          <a:p>
            <a:pPr algn="l">
              <a:defRPr sz="1100" b="1">
                <a:solidFill>
                  <a:srgbClr val="002855"/>
                </a:solidFill>
                <a:latin typeface="Arial"/>
              </a:defRPr>
            </a:pPr>
            <a:r>
              <a:t>Viết bài từ tài liệu sự kiện</a:t>
            </a:r>
          </a:p>
        </p:txBody>
      </p:sp>
      <p:sp>
        <p:nvSpPr>
          <p:cNvPr id="72998157" name="Text 7"/>
          <p:cNvSpPr/>
          <p:nvPr/>
        </p:nvSpPr>
        <p:spPr bwMode="auto">
          <a:xfrm>
            <a:off x="714375" y="2107109"/>
            <a:ext cx="3309646" cy="535781"/>
          </a:xfrm>
          <a:prstGeom prst="rect">
            <a:avLst/>
          </a:prstGeom>
          <a:noFill/>
          <a:ln/>
        </p:spPr>
        <p:txBody>
          <a:bodyPr wrap="square" lIns="0" tIns="0" rIns="0" bIns="0" rtlCol="0" anchor="t"/>
          <a:lstStyle/>
          <a:p>
            <a:pPr algn="l">
              <a:defRPr sz="950" b="0">
                <a:solidFill>
                  <a:srgbClr val="323C4B"/>
                </a:solidFill>
                <a:latin typeface="Arial"/>
              </a:defRPr>
            </a:pPr>
            <a:r>
              <a:t>Đọc file kế hoạch, thông báo (Word, PDF, Excel hoặc ảnh chụp) để tự viết thành bài tin tức sự kiện hoàn chỉnh có mở bài và thân bài rõ ràng.</a:t>
            </a:r>
          </a:p>
        </p:txBody>
      </p:sp>
      <p:sp>
        <p:nvSpPr>
          <p:cNvPr id="149157382" name="Text 8"/>
          <p:cNvSpPr/>
          <p:nvPr/>
        </p:nvSpPr>
        <p:spPr bwMode="auto">
          <a:xfrm>
            <a:off x="4292501" y="1573709"/>
            <a:ext cx="3606850"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2023426606" name="Text 9"/>
          <p:cNvSpPr/>
          <p:nvPr/>
        </p:nvSpPr>
        <p:spPr bwMode="auto">
          <a:xfrm>
            <a:off x="4473476" y="17261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1894304406" name="Text 10"/>
          <p:cNvSpPr/>
          <p:nvPr/>
        </p:nvSpPr>
        <p:spPr bwMode="auto">
          <a:xfrm>
            <a:off x="4470428" y="1726109"/>
            <a:ext cx="310896" cy="304800"/>
          </a:xfrm>
          <a:prstGeom prst="rect">
            <a:avLst/>
          </a:prstGeom>
          <a:noFill/>
          <a:ln/>
        </p:spPr>
        <p:txBody>
          <a:bodyPr wrap="square" lIns="0" tIns="0" rIns="0" bIns="0" rtlCol="0" anchor="ctr"/>
          <a:lstStyle/>
          <a:p>
            <a:pPr marL="0" indent="0" algn="ctr">
              <a:buNone/>
              <a:defRPr/>
            </a:pPr>
            <a:r>
              <a:rPr lang="vi-VN" sz="1050" b="1" noProof="1">
                <a:solidFill>
                  <a:srgbClr val="F6C945"/>
                </a:solidFill>
                <a:latin typeface="Arial"/>
                <a:ea typeface="Arial"/>
                <a:cs typeface="Arial"/>
              </a:rPr>
              <a:t>02</a:t>
            </a:r>
            <a:endParaRPr lang="vi-VN" sz="1050" noProof="1"/>
          </a:p>
        </p:txBody>
      </p:sp>
      <p:sp>
        <p:nvSpPr>
          <p:cNvPr id="53570159" name="Text 11"/>
          <p:cNvSpPr/>
          <p:nvPr/>
        </p:nvSpPr>
        <p:spPr bwMode="auto">
          <a:xfrm>
            <a:off x="4873525" y="1792784"/>
            <a:ext cx="2926080" cy="171450"/>
          </a:xfrm>
          <a:prstGeom prst="rect">
            <a:avLst/>
          </a:prstGeom>
          <a:noFill/>
          <a:ln/>
        </p:spPr>
        <p:txBody>
          <a:bodyPr wrap="square" lIns="0" tIns="0" rIns="0" bIns="0" rtlCol="0" anchor="t"/>
          <a:lstStyle/>
          <a:p>
            <a:pPr algn="l">
              <a:defRPr sz="1100" b="1">
                <a:solidFill>
                  <a:srgbClr val="002855"/>
                </a:solidFill>
                <a:latin typeface="Arial"/>
              </a:defRPr>
            </a:pPr>
            <a:r>
              <a:t>Tóm tắt &amp; Đoạn mở đầu</a:t>
            </a:r>
          </a:p>
        </p:txBody>
      </p:sp>
      <p:sp>
        <p:nvSpPr>
          <p:cNvPr id="904769311" name="Text 12"/>
          <p:cNvSpPr/>
          <p:nvPr/>
        </p:nvSpPr>
        <p:spPr bwMode="auto">
          <a:xfrm>
            <a:off x="4473476" y="2107109"/>
            <a:ext cx="3309798" cy="357188"/>
          </a:xfrm>
          <a:prstGeom prst="rect">
            <a:avLst/>
          </a:prstGeom>
          <a:noFill/>
          <a:ln/>
        </p:spPr>
        <p:txBody>
          <a:bodyPr wrap="square" lIns="0" tIns="0" rIns="0" bIns="0" rtlCol="0" anchor="t"/>
          <a:lstStyle/>
          <a:p>
            <a:pPr algn="l">
              <a:defRPr sz="950" b="0">
                <a:solidFill>
                  <a:srgbClr val="323C4B"/>
                </a:solidFill>
                <a:latin typeface="Arial"/>
              </a:defRPr>
            </a:pPr>
            <a:r>
              <a:t>Tự động tạo đoạn mở đầu (Sapo) súc tích cho Website; rút gọn thành bản tin ngắn 3–4 câu kèm thẻ chủ đề (#CongDoanTDMU) để đăng Facebook và Zalo.</a:t>
            </a:r>
          </a:p>
        </p:txBody>
      </p:sp>
      <p:sp>
        <p:nvSpPr>
          <p:cNvPr id="709415554" name="Text 23"/>
          <p:cNvSpPr/>
          <p:nvPr/>
        </p:nvSpPr>
        <p:spPr bwMode="auto">
          <a:xfrm>
            <a:off x="4292501" y="3554909"/>
            <a:ext cx="3606850"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070345396" name="Text 24"/>
          <p:cNvSpPr/>
          <p:nvPr/>
        </p:nvSpPr>
        <p:spPr bwMode="auto">
          <a:xfrm>
            <a:off x="4473476" y="37073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1005010649" name="Text 25"/>
          <p:cNvSpPr/>
          <p:nvPr/>
        </p:nvSpPr>
        <p:spPr bwMode="auto">
          <a:xfrm>
            <a:off x="4470428" y="3707309"/>
            <a:ext cx="310896" cy="304800"/>
          </a:xfrm>
          <a:prstGeom prst="rect">
            <a:avLst/>
          </a:prstGeom>
          <a:noFill/>
          <a:ln/>
        </p:spPr>
        <p:txBody>
          <a:bodyPr wrap="square" lIns="0" tIns="0" rIns="0" bIns="0" rtlCol="0" anchor="ctr"/>
          <a:lstStyle/>
          <a:p>
            <a:pPr algn="ctr">
              <a:defRPr sz="1100" b="1">
                <a:solidFill>
                  <a:srgbClr val="FFFFFF"/>
                </a:solidFill>
                <a:latin typeface="Calibri"/>
              </a:defRPr>
            </a:pPr>
            <a:r>
              <a:t>03</a:t>
            </a:r>
          </a:p>
        </p:txBody>
      </p:sp>
      <p:sp>
        <p:nvSpPr>
          <p:cNvPr id="448043160" name="Text 26"/>
          <p:cNvSpPr/>
          <p:nvPr/>
        </p:nvSpPr>
        <p:spPr bwMode="auto">
          <a:xfrm>
            <a:off x="4873525" y="3773984"/>
            <a:ext cx="2926080" cy="171450"/>
          </a:xfrm>
          <a:prstGeom prst="rect">
            <a:avLst/>
          </a:prstGeom>
          <a:noFill/>
          <a:ln/>
        </p:spPr>
        <p:txBody>
          <a:bodyPr wrap="square" lIns="0" tIns="0" rIns="0" bIns="0" rtlCol="0" anchor="t"/>
          <a:lstStyle/>
          <a:p>
            <a:pPr algn="l">
              <a:defRPr sz="1100" b="1">
                <a:solidFill>
                  <a:srgbClr val="002855"/>
                </a:solidFill>
                <a:latin typeface="Arial"/>
              </a:defRPr>
            </a:pPr>
            <a:r>
              <a:t>Gợi ý tiêu đề bài viết</a:t>
            </a:r>
          </a:p>
        </p:txBody>
      </p:sp>
      <p:sp>
        <p:nvSpPr>
          <p:cNvPr id="1489428580" name="Text 27"/>
          <p:cNvSpPr/>
          <p:nvPr/>
        </p:nvSpPr>
        <p:spPr bwMode="auto">
          <a:xfrm>
            <a:off x="4473476" y="4088309"/>
            <a:ext cx="3309798" cy="357188"/>
          </a:xfrm>
          <a:prstGeom prst="rect">
            <a:avLst/>
          </a:prstGeom>
          <a:noFill/>
          <a:ln/>
        </p:spPr>
        <p:txBody>
          <a:bodyPr wrap="square" lIns="0" tIns="0" rIns="0" bIns="0" rtlCol="0" anchor="t"/>
          <a:lstStyle/>
          <a:p>
            <a:pPr algn="l">
              <a:defRPr sz="950" b="0">
                <a:solidFill>
                  <a:srgbClr val="323C4B"/>
                </a:solidFill>
                <a:latin typeface="Arial"/>
              </a:defRPr>
            </a:pPr>
            <a:r>
              <a:t>Phân tích nội dung cốt lõi của sự kiện để gợi ý 3–5 phương án tiêu đề ngắn gọn, trang trọng, giúp người viết dễ lựa chọn.</a:t>
            </a:r>
          </a:p>
        </p:txBody>
      </p:sp>
      <p:sp>
        <p:nvSpPr>
          <p:cNvPr id="244178056" name="Text 28"/>
          <p:cNvSpPr/>
          <p:nvPr/>
        </p:nvSpPr>
        <p:spPr bwMode="auto">
          <a:xfrm>
            <a:off x="8051750" y="3554909"/>
            <a:ext cx="3606701"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635074082" name="Text 29"/>
          <p:cNvSpPr/>
          <p:nvPr/>
        </p:nvSpPr>
        <p:spPr bwMode="auto">
          <a:xfrm>
            <a:off x="8232725" y="37073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264002214" name="Text 30"/>
          <p:cNvSpPr/>
          <p:nvPr/>
        </p:nvSpPr>
        <p:spPr bwMode="auto">
          <a:xfrm>
            <a:off x="8229677" y="3707309"/>
            <a:ext cx="310896" cy="304800"/>
          </a:xfrm>
          <a:prstGeom prst="rect">
            <a:avLst/>
          </a:prstGeom>
          <a:noFill/>
          <a:ln/>
        </p:spPr>
        <p:txBody>
          <a:bodyPr wrap="square" lIns="0" tIns="0" rIns="0" bIns="0" rtlCol="0" anchor="ctr"/>
          <a:lstStyle/>
          <a:p>
            <a:pPr algn="ctr">
              <a:defRPr sz="1100" b="1">
                <a:solidFill>
                  <a:srgbClr val="FFFFFF"/>
                </a:solidFill>
                <a:latin typeface="Calibri"/>
              </a:defRPr>
            </a:pPr>
            <a:r>
              <a:t>04</a:t>
            </a:r>
          </a:p>
        </p:txBody>
      </p:sp>
      <p:sp>
        <p:nvSpPr>
          <p:cNvPr id="1220310364" name="Text 31"/>
          <p:cNvSpPr/>
          <p:nvPr/>
        </p:nvSpPr>
        <p:spPr bwMode="auto">
          <a:xfrm>
            <a:off x="8632775" y="3773984"/>
            <a:ext cx="2926080" cy="171450"/>
          </a:xfrm>
          <a:prstGeom prst="rect">
            <a:avLst/>
          </a:prstGeom>
          <a:noFill/>
          <a:ln/>
        </p:spPr>
        <p:txBody>
          <a:bodyPr wrap="square" lIns="0" tIns="0" rIns="0" bIns="0" rtlCol="0" anchor="t"/>
          <a:lstStyle/>
          <a:p>
            <a:pPr algn="l">
              <a:defRPr sz="1100" b="1">
                <a:solidFill>
                  <a:srgbClr val="002855"/>
                </a:solidFill>
                <a:latin typeface="Arial"/>
              </a:defRPr>
            </a:pPr>
            <a:r>
              <a:t>Rà soát &amp; Chỉnh sửa câu từ</a:t>
            </a:r>
          </a:p>
        </p:txBody>
      </p:sp>
      <p:sp>
        <p:nvSpPr>
          <p:cNvPr id="690906954" name="Text 32"/>
          <p:cNvSpPr/>
          <p:nvPr/>
        </p:nvSpPr>
        <p:spPr bwMode="auto">
          <a:xfrm>
            <a:off x="8232725" y="4088309"/>
            <a:ext cx="3309646" cy="357188"/>
          </a:xfrm>
          <a:prstGeom prst="rect">
            <a:avLst/>
          </a:prstGeom>
          <a:noFill/>
          <a:ln/>
        </p:spPr>
        <p:txBody>
          <a:bodyPr wrap="square" lIns="0" tIns="0" rIns="0" bIns="0" rtlCol="0" anchor="t"/>
          <a:lstStyle/>
          <a:p>
            <a:pPr algn="l">
              <a:defRPr sz="950" b="0">
                <a:solidFill>
                  <a:srgbClr val="323C4B"/>
                </a:solidFill>
                <a:latin typeface="Arial"/>
              </a:defRPr>
            </a:pPr>
            <a:r>
              <a:t>Rà soát chính tả tiếng Việt; cho phép bôi đen đoạn văn để yêu cầu AI viết lại ngắn hơn hoặc diễn đạt trang trọng, mạch lạc hơn.</a:t>
            </a:r>
          </a:p>
        </p:txBody>
      </p:sp>
      <p:sp>
        <p:nvSpPr>
          <p:cNvPr id="2026376871" name="Text 33"/>
          <p:cNvSpPr/>
          <p:nvPr/>
        </p:nvSpPr>
        <p:spPr bwMode="auto">
          <a:xfrm>
            <a:off x="533400" y="5574209"/>
            <a:ext cx="11125200" cy="421481"/>
          </a:xfrm>
          <a:prstGeom prst="roundRect">
            <a:avLst>
              <a:gd name="adj" fmla="val 27119"/>
            </a:avLst>
          </a:prstGeom>
          <a:solidFill>
            <a:srgbClr val="002855"/>
          </a:solidFill>
          <a:ln/>
        </p:spPr>
        <p:txBody>
          <a:bodyPr wrap="square" rtlCol="0" anchor="ctr"/>
          <a:lstStyle/>
          <a:p>
            <a:pPr marL="0" indent="0">
              <a:buNone/>
              <a:defRPr/>
            </a:pPr>
            <a:endParaRPr lang="vi-VN" noProof="1"/>
          </a:p>
        </p:txBody>
      </p:sp>
      <p:sp>
        <p:nvSpPr>
          <p:cNvPr id="1338903763" name="Text 34"/>
          <p:cNvSpPr/>
          <p:nvPr/>
        </p:nvSpPr>
        <p:spPr bwMode="auto">
          <a:xfrm>
            <a:off x="723900" y="5688509"/>
            <a:ext cx="10959084" cy="192881"/>
          </a:xfrm>
          <a:prstGeom prst="rect">
            <a:avLst/>
          </a:prstGeom>
          <a:noFill/>
          <a:ln/>
        </p:spPr>
        <p:txBody>
          <a:bodyPr wrap="square" lIns="0" tIns="0" rIns="0" bIns="0" rtlCol="0" anchor="t"/>
          <a:lstStyle/>
          <a:p>
            <a:pPr algn="ctr">
              <a:defRPr sz="1000" b="1">
                <a:solidFill>
                  <a:srgbClr val="FFFFFF"/>
                </a:solidFill>
                <a:latin typeface="Arial"/>
              </a:defRPr>
            </a:pPr>
            <a:r>
              <a:t>Hạ tầng kỹ thuật: Kết nối Google Gemini API qua giao thức an toàn, xử lý dữ liệu nhanh chóng và quản lý hạn mức sử dụng hợp lý.</a:t>
            </a:r>
          </a:p>
        </p:txBody>
      </p:sp>
      <p:sp>
        <p:nvSpPr>
          <p:cNvPr id="247088338" name="Shape 35"/>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2067949737" name="Text 36"/>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name="Slide 7">
    <p:bg>
      <p:bgPr>
        <a:solidFill>
          <a:srgbClr val="F6F8FB"/>
        </a:solidFill>
        <a:effectLst/>
      </p:bgPr>
    </p:bg>
    <p:spTree>
      <p:nvGrpSpPr>
        <p:cNvPr id="1" name=""/>
        <p:cNvGrpSpPr/>
        <p:nvPr/>
      </p:nvGrpSpPr>
      <p:grpSpPr bwMode="auto">
        <a:xfrm>
          <a:off x="0" y="0"/>
          <a:ext cx="0" cy="0"/>
          <a:chOff x="0" y="0"/>
          <a:chExt cx="0" cy="0"/>
        </a:xfrm>
      </p:grpSpPr>
      <p:sp>
        <p:nvSpPr>
          <p:cNvPr id="1445726117"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3. GIẢI PHÁP CÔNG NGHỆ</a:t>
            </a:r>
            <a:endParaRPr lang="vi-VN" sz="1000" noProof="1"/>
          </a:p>
        </p:txBody>
      </p:sp>
      <p:sp>
        <p:nvSpPr>
          <p:cNvPr id="1250095752" name="Text 1"/>
          <p:cNvSpPr/>
          <p:nvPr/>
        </p:nvSpPr>
        <p:spPr bwMode="auto">
          <a:xfrm>
            <a:off x="533400" y="542925"/>
            <a:ext cx="11347704" cy="359569"/>
          </a:xfrm>
          <a:prstGeom prst="rect">
            <a:avLst/>
          </a:prstGeom>
          <a:noFill/>
          <a:ln/>
        </p:spPr>
        <p:txBody>
          <a:bodyPr wrap="square" lIns="0" tIns="0" rIns="0" bIns="0" rtlCol="0" anchor="t"/>
          <a:lstStyle/>
          <a:p>
            <a:pPr algn="l">
              <a:defRPr sz="1300" b="0">
                <a:solidFill>
                  <a:srgbClr val="323C4B"/>
                </a:solidFill>
                <a:latin typeface="Arial"/>
              </a:defRPr>
            </a:pPr>
            <a:r>
              <a:t>Kiến trúc kỹ thuật — 4 thành phần nền tảng của hệ thống</a:t>
            </a:r>
          </a:p>
        </p:txBody>
      </p:sp>
      <p:pic>
        <p:nvPicPr>
          <p:cNvPr id="1938761839" name="Image 0" descr="/var/folders/t4/q0khv7qd1r3dc2yrbwkzmjf00000gn/T/html2pptx-GZNJ0n/html2pptx-bg-1791687643951-6c6bf3bb1a279.png"/>
          <p:cNvPicPr>
            <a:picLocks noChangeAspect="1"/>
          </p:cNvPicPr>
          <p:nvPr/>
        </p:nvPicPr>
        <p:blipFill rotWithShape="1">
          <a:blip r:embed="rId3"/>
          <a:stretch/>
        </p:blipFill>
        <p:spPr bwMode="auto">
          <a:xfrm>
            <a:off x="533400" y="978694"/>
            <a:ext cx="1047750" cy="38100"/>
          </a:xfrm>
          <a:prstGeom prst="rect">
            <a:avLst/>
          </a:prstGeom>
        </p:spPr>
      </p:pic>
      <p:sp>
        <p:nvSpPr>
          <p:cNvPr id="171965350" name="Text 2"/>
          <p:cNvSpPr/>
          <p:nvPr/>
        </p:nvSpPr>
        <p:spPr bwMode="auto">
          <a:xfrm>
            <a:off x="533400" y="1283494"/>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464939221" name="Shape 3"/>
          <p:cNvSpPr/>
          <p:nvPr/>
        </p:nvSpPr>
        <p:spPr bwMode="auto">
          <a:xfrm>
            <a:off x="762000" y="1307306"/>
            <a:ext cx="5010149" cy="0"/>
          </a:xfrm>
          <a:prstGeom prst="line">
            <a:avLst/>
          </a:prstGeom>
          <a:noFill/>
          <a:ln w="47625">
            <a:solidFill>
              <a:srgbClr val="002855"/>
            </a:solidFill>
            <a:prstDash val="solid"/>
          </a:ln>
        </p:spPr>
        <p:txBody>
          <a:bodyPr/>
          <a:lstStyle/>
          <a:p>
            <a:endParaRPr lang="vi-VN" noProof="1"/>
          </a:p>
        </p:txBody>
      </p:sp>
      <p:sp>
        <p:nvSpPr>
          <p:cNvPr id="1174777384" name="Shape 4"/>
          <p:cNvSpPr/>
          <p:nvPr/>
        </p:nvSpPr>
        <p:spPr bwMode="auto">
          <a:xfrm>
            <a:off x="5995988" y="1473994"/>
            <a:ext cx="0" cy="1785937"/>
          </a:xfrm>
          <a:prstGeom prst="line">
            <a:avLst/>
          </a:prstGeom>
          <a:noFill/>
          <a:ln w="9525">
            <a:solidFill>
              <a:srgbClr val="E3E9F2"/>
            </a:solidFill>
            <a:prstDash val="solid"/>
          </a:ln>
        </p:spPr>
        <p:txBody>
          <a:bodyPr/>
          <a:lstStyle/>
          <a:p>
            <a:endParaRPr lang="vi-VN" noProof="1"/>
          </a:p>
        </p:txBody>
      </p:sp>
      <p:sp>
        <p:nvSpPr>
          <p:cNvPr id="635614464" name="Shape 5"/>
          <p:cNvSpPr/>
          <p:nvPr/>
        </p:nvSpPr>
        <p:spPr bwMode="auto">
          <a:xfrm>
            <a:off x="762000" y="3450431"/>
            <a:ext cx="5010149" cy="0"/>
          </a:xfrm>
          <a:prstGeom prst="line">
            <a:avLst/>
          </a:prstGeom>
          <a:noFill/>
          <a:ln w="9525">
            <a:solidFill>
              <a:srgbClr val="E3E9F2"/>
            </a:solidFill>
            <a:prstDash val="solid"/>
          </a:ln>
        </p:spPr>
        <p:txBody>
          <a:bodyPr/>
          <a:lstStyle/>
          <a:p>
            <a:endParaRPr lang="vi-VN" noProof="1"/>
          </a:p>
        </p:txBody>
      </p:sp>
      <p:sp>
        <p:nvSpPr>
          <p:cNvPr id="1371696479" name="Shape 6"/>
          <p:cNvSpPr/>
          <p:nvPr/>
        </p:nvSpPr>
        <p:spPr bwMode="auto">
          <a:xfrm>
            <a:off x="538163" y="1473994"/>
            <a:ext cx="0" cy="1785937"/>
          </a:xfrm>
          <a:prstGeom prst="line">
            <a:avLst/>
          </a:prstGeom>
          <a:noFill/>
          <a:ln w="9525">
            <a:solidFill>
              <a:srgbClr val="E3E9F2"/>
            </a:solidFill>
            <a:prstDash val="solid"/>
          </a:ln>
        </p:spPr>
        <p:txBody>
          <a:bodyPr/>
          <a:lstStyle/>
          <a:p>
            <a:endParaRPr lang="vi-VN" noProof="1"/>
          </a:p>
        </p:txBody>
      </p:sp>
      <p:sp>
        <p:nvSpPr>
          <p:cNvPr id="1833952385" name="Text 7"/>
          <p:cNvSpPr/>
          <p:nvPr/>
        </p:nvSpPr>
        <p:spPr bwMode="auto">
          <a:xfrm>
            <a:off x="771525" y="1463040"/>
            <a:ext cx="3200400" cy="209550"/>
          </a:xfrm>
          <a:prstGeom prst="rect">
            <a:avLst/>
          </a:prstGeom>
          <a:noFill/>
          <a:ln/>
        </p:spPr>
        <p:txBody>
          <a:bodyPr wrap="square" lIns="9144" tIns="9144" rIns="9144" bIns="9144" rtlCol="0" anchor="t"/>
          <a:lstStyle/>
          <a:p>
            <a:pPr algn="l">
              <a:defRPr sz="1200" b="1">
                <a:solidFill>
                  <a:srgbClr val="002855"/>
                </a:solidFill>
                <a:latin typeface="Arial"/>
              </a:defRPr>
            </a:pPr>
            <a:r>
              <a:t>Giao diện người dùng</a:t>
            </a:r>
          </a:p>
        </p:txBody>
      </p:sp>
      <p:sp>
        <p:nvSpPr>
          <p:cNvPr id="1626353813" name="Text 8"/>
          <p:cNvSpPr/>
          <p:nvPr/>
        </p:nvSpPr>
        <p:spPr bwMode="auto">
          <a:xfrm>
            <a:off x="4142333" y="1569244"/>
            <a:ext cx="1652698" cy="114300"/>
          </a:xfrm>
          <a:prstGeom prst="rect">
            <a:avLst/>
          </a:prstGeom>
          <a:noFill/>
          <a:ln/>
        </p:spPr>
        <p:txBody>
          <a:bodyPr wrap="square" lIns="0" tIns="0" rIns="0" bIns="0" rtlCol="0" anchor="t"/>
          <a:lstStyle/>
          <a:p>
            <a:pPr algn="r">
              <a:defRPr sz="950" b="1">
                <a:solidFill>
                  <a:srgbClr val="BE7814"/>
                </a:solidFill>
                <a:latin typeface="Arial"/>
              </a:defRPr>
            </a:pPr>
            <a:r>
              <a:t>GIAO DIỆN HIỂN THỊ</a:t>
            </a:r>
          </a:p>
        </p:txBody>
      </p:sp>
      <p:sp>
        <p:nvSpPr>
          <p:cNvPr id="505768138" name="Text 11"/>
          <p:cNvSpPr/>
          <p:nvPr/>
        </p:nvSpPr>
        <p:spPr bwMode="auto">
          <a:xfrm>
            <a:off x="3157840" y="1845469"/>
            <a:ext cx="1691640"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algn="ctr">
              <a:defRPr sz="1000" b="1">
                <a:solidFill>
                  <a:srgbClr val="002855"/>
                </a:solidFill>
                <a:latin typeface="Arial"/>
              </a:defRPr>
            </a:pPr>
            <a:r>
              <a:t>React 18 · Tailwind CSS</a:t>
            </a:r>
          </a:p>
        </p:txBody>
      </p:sp>
      <p:sp>
        <p:nvSpPr>
          <p:cNvPr id="1291001063" name="Text 14"/>
          <p:cNvSpPr/>
          <p:nvPr/>
        </p:nvSpPr>
        <p:spPr bwMode="auto">
          <a:xfrm>
            <a:off x="771525" y="2559844"/>
            <a:ext cx="5090922" cy="357188"/>
          </a:xfrm>
          <a:prstGeom prst="rect">
            <a:avLst/>
          </a:prstGeom>
          <a:noFill/>
          <a:ln/>
        </p:spPr>
        <p:txBody>
          <a:bodyPr wrap="square" lIns="0" tIns="0" rIns="0" bIns="0" rtlCol="0" anchor="t"/>
          <a:lstStyle/>
          <a:p>
            <a:pPr algn="l">
              <a:defRPr sz="950" b="0">
                <a:solidFill>
                  <a:srgbClr val="323C4B"/>
                </a:solidFill>
                <a:latin typeface="Arial"/>
              </a:defRPr>
            </a:pPr>
            <a:r>
              <a:t>Xây dựng Cổng thông tin cho đoàn viên và trang quản trị bài viết; cơ chế tải trang nhanh, không cần nạp lại toàn bộ trang web; tự động co giãn đẹp mắt trên cả máy tính và điện thoại.</a:t>
            </a:r>
          </a:p>
        </p:txBody>
      </p:sp>
      <p:sp>
        <p:nvSpPr>
          <p:cNvPr id="1180808459" name="Text 15"/>
          <p:cNvSpPr/>
          <p:nvPr/>
        </p:nvSpPr>
        <p:spPr bwMode="auto">
          <a:xfrm>
            <a:off x="6191250" y="1283494"/>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506713569" name="Shape 16"/>
          <p:cNvSpPr/>
          <p:nvPr/>
        </p:nvSpPr>
        <p:spPr bwMode="auto">
          <a:xfrm>
            <a:off x="6419850" y="1307306"/>
            <a:ext cx="5010149" cy="0"/>
          </a:xfrm>
          <a:prstGeom prst="line">
            <a:avLst/>
          </a:prstGeom>
          <a:noFill/>
          <a:ln w="47625">
            <a:solidFill>
              <a:srgbClr val="D4A017"/>
            </a:solidFill>
            <a:prstDash val="solid"/>
          </a:ln>
        </p:spPr>
        <p:txBody>
          <a:bodyPr/>
          <a:lstStyle/>
          <a:p>
            <a:endParaRPr lang="vi-VN" noProof="1"/>
          </a:p>
        </p:txBody>
      </p:sp>
      <p:sp>
        <p:nvSpPr>
          <p:cNvPr id="1424523302" name="Shape 17"/>
          <p:cNvSpPr/>
          <p:nvPr/>
        </p:nvSpPr>
        <p:spPr bwMode="auto">
          <a:xfrm>
            <a:off x="11653838" y="1473994"/>
            <a:ext cx="0" cy="1785937"/>
          </a:xfrm>
          <a:prstGeom prst="line">
            <a:avLst/>
          </a:prstGeom>
          <a:noFill/>
          <a:ln w="9525">
            <a:solidFill>
              <a:srgbClr val="E3E9F2"/>
            </a:solidFill>
            <a:prstDash val="solid"/>
          </a:ln>
        </p:spPr>
        <p:txBody>
          <a:bodyPr/>
          <a:lstStyle/>
          <a:p>
            <a:endParaRPr lang="vi-VN" noProof="1"/>
          </a:p>
        </p:txBody>
      </p:sp>
      <p:sp>
        <p:nvSpPr>
          <p:cNvPr id="1742842550" name="Shape 18"/>
          <p:cNvSpPr/>
          <p:nvPr/>
        </p:nvSpPr>
        <p:spPr bwMode="auto">
          <a:xfrm>
            <a:off x="6419850" y="3450431"/>
            <a:ext cx="5010149" cy="0"/>
          </a:xfrm>
          <a:prstGeom prst="line">
            <a:avLst/>
          </a:prstGeom>
          <a:noFill/>
          <a:ln w="9525">
            <a:solidFill>
              <a:srgbClr val="E3E9F2"/>
            </a:solidFill>
            <a:prstDash val="solid"/>
          </a:ln>
        </p:spPr>
        <p:txBody>
          <a:bodyPr/>
          <a:lstStyle/>
          <a:p>
            <a:endParaRPr lang="vi-VN" noProof="1"/>
          </a:p>
        </p:txBody>
      </p:sp>
      <p:sp>
        <p:nvSpPr>
          <p:cNvPr id="512448447" name="Shape 19"/>
          <p:cNvSpPr/>
          <p:nvPr/>
        </p:nvSpPr>
        <p:spPr bwMode="auto">
          <a:xfrm>
            <a:off x="6196011" y="1473994"/>
            <a:ext cx="0" cy="1785937"/>
          </a:xfrm>
          <a:prstGeom prst="line">
            <a:avLst/>
          </a:prstGeom>
          <a:noFill/>
          <a:ln w="9525">
            <a:solidFill>
              <a:srgbClr val="E3E9F2"/>
            </a:solidFill>
            <a:prstDash val="solid"/>
          </a:ln>
        </p:spPr>
        <p:txBody>
          <a:bodyPr/>
          <a:lstStyle/>
          <a:p>
            <a:endParaRPr lang="vi-VN" noProof="1"/>
          </a:p>
        </p:txBody>
      </p:sp>
      <p:sp>
        <p:nvSpPr>
          <p:cNvPr id="1771527550" name="Text 20"/>
          <p:cNvSpPr/>
          <p:nvPr/>
        </p:nvSpPr>
        <p:spPr bwMode="auto">
          <a:xfrm>
            <a:off x="6429374" y="1463040"/>
            <a:ext cx="3474720" cy="166688"/>
          </a:xfrm>
          <a:prstGeom prst="rect">
            <a:avLst/>
          </a:prstGeom>
          <a:noFill/>
          <a:ln/>
        </p:spPr>
        <p:txBody>
          <a:bodyPr wrap="square" lIns="9144" tIns="9144" rIns="9144" bIns="9144" rtlCol="0" anchor="t"/>
          <a:lstStyle/>
          <a:p>
            <a:pPr algn="l">
              <a:defRPr sz="1200" b="1">
                <a:solidFill>
                  <a:srgbClr val="002855"/>
                </a:solidFill>
                <a:latin typeface="Arial"/>
              </a:defRPr>
            </a:pPr>
            <a:r>
              <a:t>Máy chủ xử lý</a:t>
            </a:r>
          </a:p>
        </p:txBody>
      </p:sp>
      <p:sp>
        <p:nvSpPr>
          <p:cNvPr id="1680971027" name="Text 21"/>
          <p:cNvSpPr/>
          <p:nvPr/>
        </p:nvSpPr>
        <p:spPr bwMode="auto">
          <a:xfrm>
            <a:off x="10240714" y="1569244"/>
            <a:ext cx="1203355" cy="114300"/>
          </a:xfrm>
          <a:prstGeom prst="rect">
            <a:avLst/>
          </a:prstGeom>
          <a:noFill/>
          <a:ln/>
        </p:spPr>
        <p:txBody>
          <a:bodyPr wrap="square" lIns="0" tIns="0" rIns="0" bIns="0" rtlCol="0" anchor="t"/>
          <a:lstStyle/>
          <a:p>
            <a:pPr algn="r">
              <a:defRPr sz="950" b="1">
                <a:solidFill>
                  <a:srgbClr val="BE7814"/>
                </a:solidFill>
                <a:latin typeface="Arial"/>
              </a:defRPr>
            </a:pPr>
            <a:r>
              <a:t>XỬ LÝ NGHIỆP VỤ</a:t>
            </a:r>
          </a:p>
        </p:txBody>
      </p:sp>
      <p:sp>
        <p:nvSpPr>
          <p:cNvPr id="1547685258" name="Text 22"/>
          <p:cNvSpPr/>
          <p:nvPr/>
        </p:nvSpPr>
        <p:spPr bwMode="auto">
          <a:xfrm>
            <a:off x="6429375" y="1845469"/>
            <a:ext cx="1691640"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algn="ctr">
              <a:defRPr sz="950" b="1">
                <a:solidFill>
                  <a:srgbClr val="002855"/>
                </a:solidFill>
                <a:latin typeface="Arial"/>
              </a:defRPr>
            </a:pPr>
            <a:r>
              <a:t>Node.js 18+ · Express</a:t>
            </a:r>
          </a:p>
        </p:txBody>
      </p:sp>
      <p:sp>
        <p:nvSpPr>
          <p:cNvPr id="338024935" name="Text 24"/>
          <p:cNvSpPr/>
          <p:nvPr/>
        </p:nvSpPr>
        <p:spPr bwMode="auto">
          <a:xfrm>
            <a:off x="8670765" y="1845469"/>
            <a:ext cx="1280160"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algn="ctr">
              <a:defRPr sz="950" b="1">
                <a:solidFill>
                  <a:srgbClr val="002855"/>
                </a:solidFill>
                <a:latin typeface="Arial"/>
              </a:defRPr>
            </a:pPr>
            <a:r>
              <a:t>Cổng API dữ liệu</a:t>
            </a:r>
          </a:p>
        </p:txBody>
      </p:sp>
      <p:sp>
        <p:nvSpPr>
          <p:cNvPr id="921318234" name="Text 28"/>
          <p:cNvSpPr/>
          <p:nvPr/>
        </p:nvSpPr>
        <p:spPr bwMode="auto">
          <a:xfrm>
            <a:off x="8921609" y="2188369"/>
            <a:ext cx="1554480"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algn="ctr">
              <a:defRPr sz="950" b="1">
                <a:solidFill>
                  <a:srgbClr val="002855"/>
                </a:solidFill>
                <a:latin typeface="Arial"/>
              </a:defRPr>
            </a:pPr>
            <a:r>
              <a:t>Kết nối Facebook API</a:t>
            </a:r>
          </a:p>
        </p:txBody>
      </p:sp>
      <p:sp>
        <p:nvSpPr>
          <p:cNvPr id="2106201389" name="Text 29"/>
          <p:cNvSpPr/>
          <p:nvPr/>
        </p:nvSpPr>
        <p:spPr bwMode="auto">
          <a:xfrm>
            <a:off x="6429375" y="2559844"/>
            <a:ext cx="5090922" cy="357188"/>
          </a:xfrm>
          <a:prstGeom prst="rect">
            <a:avLst/>
          </a:prstGeom>
          <a:noFill/>
          <a:ln/>
        </p:spPr>
        <p:txBody>
          <a:bodyPr wrap="square" lIns="0" tIns="0" rIns="0" bIns="0" rtlCol="0" anchor="t"/>
          <a:lstStyle/>
          <a:p>
            <a:pPr algn="l">
              <a:defRPr sz="950" b="0">
                <a:solidFill>
                  <a:srgbClr val="323C4B"/>
                </a:solidFill>
                <a:latin typeface="Arial"/>
              </a:defRPr>
            </a:pPr>
            <a:r>
              <a:t>Xử lý toàn bộ nghiệp vụ lưu trữ, đăng nhập an toàn, phân quyền 4 vai trò rõ ràng và điều phối tiến trình ngầm tự động xuất bản bài viết đúng giờ hẹn.</a:t>
            </a:r>
          </a:p>
        </p:txBody>
      </p:sp>
      <p:sp>
        <p:nvSpPr>
          <p:cNvPr id="598612279" name="Text 30"/>
          <p:cNvSpPr/>
          <p:nvPr/>
        </p:nvSpPr>
        <p:spPr bwMode="auto">
          <a:xfrm>
            <a:off x="533400" y="3640931"/>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534172165" name="Shape 31"/>
          <p:cNvSpPr/>
          <p:nvPr/>
        </p:nvSpPr>
        <p:spPr bwMode="auto">
          <a:xfrm>
            <a:off x="762000" y="3664744"/>
            <a:ext cx="5010149" cy="0"/>
          </a:xfrm>
          <a:prstGeom prst="line">
            <a:avLst/>
          </a:prstGeom>
          <a:noFill/>
          <a:ln w="47625">
            <a:solidFill>
              <a:srgbClr val="D4A017"/>
            </a:solidFill>
            <a:prstDash val="solid"/>
          </a:ln>
        </p:spPr>
        <p:txBody>
          <a:bodyPr/>
          <a:lstStyle/>
          <a:p>
            <a:endParaRPr lang="vi-VN" noProof="1"/>
          </a:p>
        </p:txBody>
      </p:sp>
      <p:sp>
        <p:nvSpPr>
          <p:cNvPr id="1074409641" name="Shape 32"/>
          <p:cNvSpPr/>
          <p:nvPr/>
        </p:nvSpPr>
        <p:spPr bwMode="auto">
          <a:xfrm>
            <a:off x="5995988" y="3831431"/>
            <a:ext cx="0" cy="1785938"/>
          </a:xfrm>
          <a:prstGeom prst="line">
            <a:avLst/>
          </a:prstGeom>
          <a:noFill/>
          <a:ln w="9525">
            <a:solidFill>
              <a:srgbClr val="E3E9F2"/>
            </a:solidFill>
            <a:prstDash val="solid"/>
          </a:ln>
        </p:spPr>
        <p:txBody>
          <a:bodyPr/>
          <a:lstStyle/>
          <a:p>
            <a:endParaRPr lang="vi-VN" noProof="1"/>
          </a:p>
        </p:txBody>
      </p:sp>
      <p:sp>
        <p:nvSpPr>
          <p:cNvPr id="52658828" name="Shape 33"/>
          <p:cNvSpPr/>
          <p:nvPr/>
        </p:nvSpPr>
        <p:spPr bwMode="auto">
          <a:xfrm>
            <a:off x="762000" y="5807869"/>
            <a:ext cx="5010149" cy="0"/>
          </a:xfrm>
          <a:prstGeom prst="line">
            <a:avLst/>
          </a:prstGeom>
          <a:noFill/>
          <a:ln w="9525">
            <a:solidFill>
              <a:srgbClr val="E3E9F2"/>
            </a:solidFill>
            <a:prstDash val="solid"/>
          </a:ln>
        </p:spPr>
        <p:txBody>
          <a:bodyPr/>
          <a:lstStyle/>
          <a:p>
            <a:endParaRPr lang="vi-VN" noProof="1"/>
          </a:p>
        </p:txBody>
      </p:sp>
      <p:sp>
        <p:nvSpPr>
          <p:cNvPr id="2125115662" name="Shape 34"/>
          <p:cNvSpPr/>
          <p:nvPr/>
        </p:nvSpPr>
        <p:spPr bwMode="auto">
          <a:xfrm>
            <a:off x="538163" y="3831431"/>
            <a:ext cx="0" cy="1785938"/>
          </a:xfrm>
          <a:prstGeom prst="line">
            <a:avLst/>
          </a:prstGeom>
          <a:noFill/>
          <a:ln w="9525">
            <a:solidFill>
              <a:srgbClr val="E3E9F2"/>
            </a:solidFill>
            <a:prstDash val="solid"/>
          </a:ln>
        </p:spPr>
        <p:txBody>
          <a:bodyPr/>
          <a:lstStyle/>
          <a:p>
            <a:endParaRPr lang="vi-VN" noProof="1"/>
          </a:p>
        </p:txBody>
      </p:sp>
      <p:sp>
        <p:nvSpPr>
          <p:cNvPr id="362813722" name="Text 35"/>
          <p:cNvSpPr/>
          <p:nvPr/>
        </p:nvSpPr>
        <p:spPr bwMode="auto">
          <a:xfrm>
            <a:off x="771525" y="3879056"/>
            <a:ext cx="3200400" cy="209550"/>
          </a:xfrm>
          <a:prstGeom prst="rect">
            <a:avLst/>
          </a:prstGeom>
          <a:noFill/>
          <a:ln/>
        </p:spPr>
        <p:txBody>
          <a:bodyPr wrap="square" lIns="9144" tIns="9144" rIns="9144" bIns="9144" rtlCol="0" anchor="t"/>
          <a:lstStyle/>
          <a:p>
            <a:pPr algn="l">
              <a:defRPr sz="1200" b="1">
                <a:solidFill>
                  <a:srgbClr val="002855"/>
                </a:solidFill>
                <a:latin typeface="Arial"/>
              </a:defRPr>
            </a:pPr>
            <a:r>
              <a:t>Cơ sở dữ liệu</a:t>
            </a:r>
          </a:p>
        </p:txBody>
      </p:sp>
      <p:sp>
        <p:nvSpPr>
          <p:cNvPr id="250328946" name="Text 36"/>
          <p:cNvSpPr/>
          <p:nvPr/>
        </p:nvSpPr>
        <p:spPr bwMode="auto">
          <a:xfrm>
            <a:off x="4297263" y="3926681"/>
            <a:ext cx="1494669" cy="114300"/>
          </a:xfrm>
          <a:prstGeom prst="rect">
            <a:avLst/>
          </a:prstGeom>
          <a:noFill/>
          <a:ln/>
        </p:spPr>
        <p:txBody>
          <a:bodyPr wrap="square" lIns="0" tIns="0" rIns="0" bIns="0" rtlCol="0" anchor="t"/>
          <a:lstStyle/>
          <a:p>
            <a:pPr algn="r">
              <a:defRPr sz="950" b="1">
                <a:solidFill>
                  <a:srgbClr val="BE7814"/>
                </a:solidFill>
                <a:latin typeface="Arial"/>
              </a:defRPr>
            </a:pPr>
            <a:r>
              <a:t>LƯU TRỮ DỮ LIỆU</a:t>
            </a:r>
          </a:p>
        </p:txBody>
      </p:sp>
      <p:sp>
        <p:nvSpPr>
          <p:cNvPr id="116544063" name="Text 37"/>
          <p:cNvSpPr/>
          <p:nvPr/>
        </p:nvSpPr>
        <p:spPr bwMode="auto">
          <a:xfrm>
            <a:off x="771524" y="4202906"/>
            <a:ext cx="1515369"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algn="ctr">
              <a:defRPr sz="1000" b="1">
                <a:solidFill>
                  <a:srgbClr val="002855"/>
                </a:solidFill>
                <a:latin typeface="Arial"/>
              </a:defRPr>
            </a:pPr>
            <a:r>
              <a:t>SQL Server 2022</a:t>
            </a:r>
          </a:p>
        </p:txBody>
      </p:sp>
      <p:sp>
        <p:nvSpPr>
          <p:cNvPr id="1539446823" name="Text 42"/>
          <p:cNvSpPr/>
          <p:nvPr/>
        </p:nvSpPr>
        <p:spPr bwMode="auto">
          <a:xfrm>
            <a:off x="771525" y="4917281"/>
            <a:ext cx="5090922" cy="357188"/>
          </a:xfrm>
          <a:prstGeom prst="rect">
            <a:avLst/>
          </a:prstGeom>
          <a:noFill/>
          <a:ln/>
        </p:spPr>
        <p:txBody>
          <a:bodyPr wrap="square" lIns="0" tIns="0" rIns="0" bIns="0" rtlCol="0" anchor="t"/>
          <a:lstStyle/>
          <a:p>
            <a:pPr algn="l">
              <a:defRPr sz="950" b="0">
                <a:solidFill>
                  <a:srgbClr val="323C4B"/>
                </a:solidFill>
                <a:latin typeface="Arial"/>
              </a:defRPr>
            </a:pPr>
            <a:r>
              <a:t>Mô hình cơ sở dữ liệu quan hệ gồm 15 bảng nghiệp vụ hoàn chỉnh; thiết lập khóa chính và khóa ngoại chặt chẽ, bảo đảm dữ liệu không bị trùng lặp và tối ưu tốc độ tìm kiếm bài viết.</a:t>
            </a:r>
          </a:p>
        </p:txBody>
      </p:sp>
      <p:sp>
        <p:nvSpPr>
          <p:cNvPr id="1850102576" name="Text 43"/>
          <p:cNvSpPr/>
          <p:nvPr/>
        </p:nvSpPr>
        <p:spPr bwMode="auto">
          <a:xfrm>
            <a:off x="6191250" y="3640931"/>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95764774" name="Shape 44"/>
          <p:cNvSpPr/>
          <p:nvPr/>
        </p:nvSpPr>
        <p:spPr bwMode="auto">
          <a:xfrm>
            <a:off x="6419850" y="3664744"/>
            <a:ext cx="5010149" cy="0"/>
          </a:xfrm>
          <a:prstGeom prst="line">
            <a:avLst/>
          </a:prstGeom>
          <a:noFill/>
          <a:ln w="47625">
            <a:solidFill>
              <a:srgbClr val="002855"/>
            </a:solidFill>
            <a:prstDash val="solid"/>
          </a:ln>
        </p:spPr>
        <p:txBody>
          <a:bodyPr/>
          <a:lstStyle/>
          <a:p>
            <a:endParaRPr lang="vi-VN" noProof="1"/>
          </a:p>
        </p:txBody>
      </p:sp>
      <p:sp>
        <p:nvSpPr>
          <p:cNvPr id="696939686" name="Shape 45"/>
          <p:cNvSpPr/>
          <p:nvPr/>
        </p:nvSpPr>
        <p:spPr bwMode="auto">
          <a:xfrm>
            <a:off x="11653838" y="3831431"/>
            <a:ext cx="0" cy="1785938"/>
          </a:xfrm>
          <a:prstGeom prst="line">
            <a:avLst/>
          </a:prstGeom>
          <a:noFill/>
          <a:ln w="9525">
            <a:solidFill>
              <a:srgbClr val="E3E9F2"/>
            </a:solidFill>
            <a:prstDash val="solid"/>
          </a:ln>
        </p:spPr>
        <p:txBody>
          <a:bodyPr/>
          <a:lstStyle/>
          <a:p>
            <a:endParaRPr lang="vi-VN" noProof="1"/>
          </a:p>
        </p:txBody>
      </p:sp>
      <p:sp>
        <p:nvSpPr>
          <p:cNvPr id="906554245" name="Shape 46"/>
          <p:cNvSpPr/>
          <p:nvPr/>
        </p:nvSpPr>
        <p:spPr bwMode="auto">
          <a:xfrm>
            <a:off x="6419850" y="5807869"/>
            <a:ext cx="5010149" cy="0"/>
          </a:xfrm>
          <a:prstGeom prst="line">
            <a:avLst/>
          </a:prstGeom>
          <a:noFill/>
          <a:ln w="9525">
            <a:solidFill>
              <a:srgbClr val="E3E9F2"/>
            </a:solidFill>
            <a:prstDash val="solid"/>
          </a:ln>
        </p:spPr>
        <p:txBody>
          <a:bodyPr/>
          <a:lstStyle/>
          <a:p>
            <a:endParaRPr lang="vi-VN" noProof="1"/>
          </a:p>
        </p:txBody>
      </p:sp>
      <p:sp>
        <p:nvSpPr>
          <p:cNvPr id="737937530" name="Shape 47"/>
          <p:cNvSpPr/>
          <p:nvPr/>
        </p:nvSpPr>
        <p:spPr bwMode="auto">
          <a:xfrm>
            <a:off x="6196011" y="3831431"/>
            <a:ext cx="0" cy="1785938"/>
          </a:xfrm>
          <a:prstGeom prst="line">
            <a:avLst/>
          </a:prstGeom>
          <a:noFill/>
          <a:ln w="9525">
            <a:solidFill>
              <a:srgbClr val="E3E9F2"/>
            </a:solidFill>
            <a:prstDash val="solid"/>
          </a:ln>
        </p:spPr>
        <p:txBody>
          <a:bodyPr/>
          <a:lstStyle/>
          <a:p>
            <a:endParaRPr lang="vi-VN" noProof="1"/>
          </a:p>
        </p:txBody>
      </p:sp>
      <p:sp>
        <p:nvSpPr>
          <p:cNvPr id="1685917915" name="Text 48"/>
          <p:cNvSpPr/>
          <p:nvPr/>
        </p:nvSpPr>
        <p:spPr bwMode="auto">
          <a:xfrm>
            <a:off x="6429374" y="3879056"/>
            <a:ext cx="3200400" cy="161925"/>
          </a:xfrm>
          <a:prstGeom prst="rect">
            <a:avLst/>
          </a:prstGeom>
          <a:noFill/>
          <a:ln/>
        </p:spPr>
        <p:txBody>
          <a:bodyPr wrap="square" lIns="9144" tIns="9144" rIns="9144" bIns="9144" rtlCol="0" anchor="t"/>
          <a:lstStyle/>
          <a:p>
            <a:pPr algn="l">
              <a:defRPr sz="1200" b="1">
                <a:solidFill>
                  <a:srgbClr val="002855"/>
                </a:solidFill>
                <a:latin typeface="Arial"/>
              </a:defRPr>
            </a:pPr>
            <a:r>
              <a:t>Trí tuệ nhân tạo</a:t>
            </a:r>
          </a:p>
        </p:txBody>
      </p:sp>
      <p:sp>
        <p:nvSpPr>
          <p:cNvPr id="508664859" name="Text 49"/>
          <p:cNvSpPr/>
          <p:nvPr/>
        </p:nvSpPr>
        <p:spPr bwMode="auto">
          <a:xfrm>
            <a:off x="10021342" y="3926681"/>
            <a:ext cx="1427116" cy="114300"/>
          </a:xfrm>
          <a:prstGeom prst="rect">
            <a:avLst/>
          </a:prstGeom>
          <a:noFill/>
          <a:ln/>
        </p:spPr>
        <p:txBody>
          <a:bodyPr wrap="square" lIns="0" tIns="0" rIns="0" bIns="0" rtlCol="0" anchor="t"/>
          <a:lstStyle/>
          <a:p>
            <a:pPr algn="r">
              <a:defRPr sz="950" b="1">
                <a:solidFill>
                  <a:srgbClr val="BE7814"/>
                </a:solidFill>
                <a:latin typeface="Arial"/>
              </a:defRPr>
            </a:pPr>
            <a:r>
              <a:t>HỖ TRỢ NỘI DUNG</a:t>
            </a:r>
          </a:p>
        </p:txBody>
      </p:sp>
      <p:sp>
        <p:nvSpPr>
          <p:cNvPr id="774944240" name="Text 50"/>
          <p:cNvSpPr/>
          <p:nvPr/>
        </p:nvSpPr>
        <p:spPr bwMode="auto">
          <a:xfrm>
            <a:off x="6429375" y="4202906"/>
            <a:ext cx="1284089"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algn="ctr">
              <a:defRPr sz="1000" b="1">
                <a:solidFill>
                  <a:srgbClr val="002855"/>
                </a:solidFill>
                <a:latin typeface="Arial"/>
              </a:defRPr>
            </a:pPr>
            <a:r>
              <a:t>Google Gemini API</a:t>
            </a:r>
          </a:p>
        </p:txBody>
      </p:sp>
      <p:sp>
        <p:nvSpPr>
          <p:cNvPr id="1784093668" name="Text 53"/>
          <p:cNvSpPr/>
          <p:nvPr/>
        </p:nvSpPr>
        <p:spPr bwMode="auto">
          <a:xfrm>
            <a:off x="7898561" y="4193382"/>
            <a:ext cx="1399330"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algn="ctr">
              <a:defRPr sz="950" b="1">
                <a:solidFill>
                  <a:srgbClr val="002855"/>
                </a:solidFill>
                <a:latin typeface="Arial"/>
              </a:defRPr>
            </a:pPr>
            <a:r>
              <a:t>Đăng Facebook tự động</a:t>
            </a:r>
          </a:p>
        </p:txBody>
      </p:sp>
      <p:sp>
        <p:nvSpPr>
          <p:cNvPr id="1599644895" name="Text 54"/>
          <p:cNvSpPr/>
          <p:nvPr/>
        </p:nvSpPr>
        <p:spPr bwMode="auto">
          <a:xfrm>
            <a:off x="6429375" y="4917281"/>
            <a:ext cx="5090922" cy="357188"/>
          </a:xfrm>
          <a:prstGeom prst="rect">
            <a:avLst/>
          </a:prstGeom>
          <a:noFill/>
          <a:ln/>
        </p:spPr>
        <p:txBody>
          <a:bodyPr wrap="square" lIns="0" tIns="0" rIns="0" bIns="0" rtlCol="0" anchor="t"/>
          <a:lstStyle/>
          <a:p>
            <a:pPr algn="l">
              <a:defRPr sz="950" b="0">
                <a:solidFill>
                  <a:srgbClr val="323C4B"/>
                </a:solidFill>
                <a:latin typeface="Arial"/>
              </a:defRPr>
            </a:pPr>
            <a:r>
              <a:t>Lõi AI xử lý ngôn ngữ tiếng Việt hỗ trợ đọc kế hoạch và viết bài nháp; kết nối cổng Facebook API tự động đăng bài viết và hình ảnh lên Trang Facebook ngay khi bấm xuất bản.</a:t>
            </a:r>
          </a:p>
        </p:txBody>
      </p:sp>
      <p:sp>
        <p:nvSpPr>
          <p:cNvPr id="1648780674" name="Shape 55"/>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1035627763" name="Text 56"/>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name="Slide 8">
    <p:bg>
      <p:bgPr>
        <a:solidFill>
          <a:srgbClr val="F6F8FB"/>
        </a:solidFill>
        <a:effectLst/>
      </p:bgPr>
    </p:bg>
    <p:spTree>
      <p:nvGrpSpPr>
        <p:cNvPr id="1" name=""/>
        <p:cNvGrpSpPr/>
        <p:nvPr/>
      </p:nvGrpSpPr>
      <p:grpSpPr bwMode="auto">
        <a:xfrm>
          <a:off x="0" y="0"/>
          <a:ext cx="0" cy="0"/>
          <a:chOff x="0" y="0"/>
          <a:chExt cx="0" cy="0"/>
        </a:xfrm>
      </p:grpSpPr>
      <p:sp>
        <p:nvSpPr>
          <p:cNvPr id="10650005"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4. PHÂN TÍCH &amp; THIẾT KẾ HỆ THỐNG</a:t>
            </a:r>
            <a:endParaRPr lang="vi-VN" sz="1000" noProof="1"/>
          </a:p>
        </p:txBody>
      </p:sp>
      <p:sp>
        <p:nvSpPr>
          <p:cNvPr id="498466913" name="Text 1"/>
          <p:cNvSpPr/>
          <p:nvPr/>
        </p:nvSpPr>
        <p:spPr bwMode="auto">
          <a:xfrm>
            <a:off x="533400" y="542925"/>
            <a:ext cx="11347704" cy="359569"/>
          </a:xfrm>
          <a:prstGeom prst="rect">
            <a:avLst/>
          </a:prstGeom>
          <a:noFill/>
          <a:ln/>
        </p:spPr>
        <p:txBody>
          <a:bodyPr wrap="square" lIns="0" tIns="0" rIns="0" bIns="0" rtlCol="0" anchor="t"/>
          <a:lstStyle/>
          <a:p>
            <a:pPr algn="l">
              <a:defRPr sz="1300" b="0">
                <a:solidFill>
                  <a:srgbClr val="323C4B"/>
                </a:solidFill>
                <a:latin typeface="Arial"/>
              </a:defRPr>
            </a:pPr>
            <a:r>
              <a:t>Biểu đồ Use Case tổng quát và 4 nhóm người dùng trong hệ thống</a:t>
            </a:r>
          </a:p>
        </p:txBody>
      </p:sp>
      <p:pic>
        <p:nvPicPr>
          <p:cNvPr id="1507799084" name="Image 0" descr="/var/folders/t4/q0khv7qd1r3dc2yrbwkzmjf00000gn/T/html2pptx-MbMXpX/html2pptx-bg-1791687645085-30dbbe03d212c.png"/>
          <p:cNvPicPr>
            <a:picLocks noChangeAspect="1"/>
          </p:cNvPicPr>
          <p:nvPr/>
        </p:nvPicPr>
        <p:blipFill rotWithShape="1">
          <a:blip r:embed="rId3"/>
          <a:stretch/>
        </p:blipFill>
        <p:spPr bwMode="auto">
          <a:xfrm>
            <a:off x="533400" y="978694"/>
            <a:ext cx="1047750" cy="38100"/>
          </a:xfrm>
          <a:prstGeom prst="rect">
            <a:avLst/>
          </a:prstGeom>
        </p:spPr>
      </p:pic>
      <p:sp>
        <p:nvSpPr>
          <p:cNvPr id="296639830" name="Text 2"/>
          <p:cNvSpPr/>
          <p:nvPr/>
        </p:nvSpPr>
        <p:spPr bwMode="auto">
          <a:xfrm>
            <a:off x="533400" y="1245394"/>
            <a:ext cx="6004179" cy="142875"/>
          </a:xfrm>
          <a:prstGeom prst="rect">
            <a:avLst/>
          </a:prstGeom>
          <a:noFill/>
          <a:ln/>
        </p:spPr>
        <p:txBody>
          <a:bodyPr wrap="square" lIns="0" tIns="0" rIns="0" bIns="0" rtlCol="0" anchor="t"/>
          <a:lstStyle/>
          <a:p>
            <a:pPr algn="l">
              <a:defRPr sz="1100" b="1">
                <a:solidFill>
                  <a:srgbClr val="8C1414"/>
                </a:solidFill>
                <a:latin typeface="Arial"/>
              </a:defRPr>
            </a:pPr>
            <a:r>
              <a:t>4 NHÓM NGƯỜI DÙNG</a:t>
            </a:r>
          </a:p>
        </p:txBody>
      </p:sp>
      <p:sp>
        <p:nvSpPr>
          <p:cNvPr id="2015982658" name="Text 3"/>
          <p:cNvSpPr/>
          <p:nvPr/>
        </p:nvSpPr>
        <p:spPr bwMode="auto">
          <a:xfrm>
            <a:off x="533400" y="1483519"/>
            <a:ext cx="1655755" cy="295274"/>
          </a:xfrm>
          <a:prstGeom prst="roundRect">
            <a:avLst>
              <a:gd name="adj" fmla="val 3222581"/>
            </a:avLst>
          </a:prstGeom>
          <a:solidFill>
            <a:srgbClr val="002855"/>
          </a:solidFill>
          <a:ln/>
        </p:spPr>
        <p:txBody>
          <a:bodyPr wrap="square" lIns="133350" tIns="76200" rIns="133350" bIns="76200" rtlCol="0" anchor="ctr"/>
          <a:lstStyle/>
          <a:p>
            <a:pPr algn="ctr">
              <a:defRPr sz="1000" b="1">
                <a:solidFill>
                  <a:srgbClr val="FFFFFF"/>
                </a:solidFill>
                <a:latin typeface="Arial"/>
              </a:defRPr>
            </a:pPr>
            <a:r>
              <a:t>Quản trị viên</a:t>
            </a:r>
          </a:p>
        </p:txBody>
      </p:sp>
      <p:sp>
        <p:nvSpPr>
          <p:cNvPr id="20333978" name="Text 4"/>
          <p:cNvSpPr/>
          <p:nvPr/>
        </p:nvSpPr>
        <p:spPr bwMode="auto">
          <a:xfrm>
            <a:off x="2243207" y="1483519"/>
            <a:ext cx="1655755" cy="295274"/>
          </a:xfrm>
          <a:prstGeom prst="roundRect">
            <a:avLst>
              <a:gd name="adj" fmla="val 3222581"/>
            </a:avLst>
          </a:prstGeom>
          <a:solidFill>
            <a:srgbClr val="002855"/>
          </a:solidFill>
          <a:ln/>
        </p:spPr>
        <p:txBody>
          <a:bodyPr wrap="square" lIns="133350" tIns="76200" rIns="133350" bIns="76200" rtlCol="0" anchor="ctr"/>
          <a:lstStyle/>
          <a:p>
            <a:pPr algn="ctr">
              <a:defRPr sz="1000" b="1">
                <a:solidFill>
                  <a:srgbClr val="FFFFFF"/>
                </a:solidFill>
                <a:latin typeface="Arial"/>
              </a:defRPr>
            </a:pPr>
            <a:r>
              <a:t>Biên tập viên</a:t>
            </a:r>
          </a:p>
        </p:txBody>
      </p:sp>
      <p:sp>
        <p:nvSpPr>
          <p:cNvPr id="921278382" name="Text 5"/>
          <p:cNvSpPr/>
          <p:nvPr/>
        </p:nvSpPr>
        <p:spPr bwMode="auto">
          <a:xfrm>
            <a:off x="3953014" y="1483519"/>
            <a:ext cx="2037883" cy="295274"/>
          </a:xfrm>
          <a:prstGeom prst="roundRect">
            <a:avLst>
              <a:gd name="adj" fmla="val 3222581"/>
            </a:avLst>
          </a:prstGeom>
          <a:solidFill>
            <a:srgbClr val="002855"/>
          </a:solidFill>
          <a:ln/>
        </p:spPr>
        <p:txBody>
          <a:bodyPr wrap="square" lIns="133350" tIns="76200" rIns="133350" bIns="76200" rtlCol="0" anchor="ctr"/>
          <a:lstStyle/>
          <a:p>
            <a:pPr algn="ctr">
              <a:defRPr sz="1000" b="1">
                <a:solidFill>
                  <a:srgbClr val="FFFFFF"/>
                </a:solidFill>
                <a:latin typeface="Arial"/>
              </a:defRPr>
            </a:pPr>
            <a:r>
              <a:t>Cộng tác viên (16 Tổ)</a:t>
            </a:r>
          </a:p>
        </p:txBody>
      </p:sp>
      <p:sp>
        <p:nvSpPr>
          <p:cNvPr id="1625837095" name="Text 6"/>
          <p:cNvSpPr/>
          <p:nvPr/>
        </p:nvSpPr>
        <p:spPr bwMode="auto">
          <a:xfrm>
            <a:off x="533399" y="1854994"/>
            <a:ext cx="1581151" cy="295274"/>
          </a:xfrm>
          <a:prstGeom prst="roundRect">
            <a:avLst>
              <a:gd name="adj" fmla="val 3222581"/>
            </a:avLst>
          </a:prstGeom>
          <a:solidFill>
            <a:srgbClr val="002855"/>
          </a:solidFill>
          <a:ln/>
        </p:spPr>
        <p:txBody>
          <a:bodyPr wrap="square" lIns="133350" tIns="76200" rIns="133350" bIns="76200" rtlCol="0" anchor="ctr"/>
          <a:lstStyle/>
          <a:p>
            <a:pPr algn="ctr">
              <a:defRPr sz="1000" b="1">
                <a:solidFill>
                  <a:srgbClr val="FFFFFF"/>
                </a:solidFill>
                <a:latin typeface="Arial"/>
              </a:defRPr>
            </a:pPr>
            <a:r>
              <a:t>Đoàn viên / Độc giả</a:t>
            </a:r>
          </a:p>
        </p:txBody>
      </p:sp>
      <p:sp>
        <p:nvSpPr>
          <p:cNvPr id="1929487286" name="Text 7"/>
          <p:cNvSpPr/>
          <p:nvPr/>
        </p:nvSpPr>
        <p:spPr bwMode="auto">
          <a:xfrm>
            <a:off x="533400" y="2321719"/>
            <a:ext cx="6004179" cy="142875"/>
          </a:xfrm>
          <a:prstGeom prst="rect">
            <a:avLst/>
          </a:prstGeom>
          <a:noFill/>
          <a:ln/>
        </p:spPr>
        <p:txBody>
          <a:bodyPr wrap="square" lIns="0" tIns="0" rIns="0" bIns="0" rtlCol="0" anchor="t"/>
          <a:lstStyle/>
          <a:p>
            <a:pPr algn="l">
              <a:defRPr sz="1100" b="1">
                <a:solidFill>
                  <a:srgbClr val="002855"/>
                </a:solidFill>
                <a:latin typeface="Arial"/>
              </a:defRPr>
            </a:pPr>
            <a:r>
              <a:t>5 PHÂN HỆ NGHIỆP VỤ (26 USE CASE)</a:t>
            </a:r>
          </a:p>
        </p:txBody>
      </p:sp>
      <p:sp>
        <p:nvSpPr>
          <p:cNvPr id="1702895364" name="Text 8"/>
          <p:cNvSpPr/>
          <p:nvPr/>
        </p:nvSpPr>
        <p:spPr bwMode="auto">
          <a:xfrm>
            <a:off x="533400" y="2559844"/>
            <a:ext cx="5886450" cy="2137172"/>
          </a:xfrm>
          <a:prstGeom prst="roundRect">
            <a:avLst>
              <a:gd name="adj" fmla="val 6240"/>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606367627" name="Shape 9"/>
          <p:cNvSpPr/>
          <p:nvPr/>
        </p:nvSpPr>
        <p:spPr bwMode="auto">
          <a:xfrm>
            <a:off x="714375" y="3012281"/>
            <a:ext cx="5524500" cy="0"/>
          </a:xfrm>
          <a:prstGeom prst="line">
            <a:avLst/>
          </a:prstGeom>
          <a:noFill/>
          <a:ln w="9525">
            <a:solidFill>
              <a:srgbClr val="E3E9F2"/>
            </a:solidFill>
            <a:prstDash val="dash"/>
          </a:ln>
        </p:spPr>
        <p:txBody>
          <a:bodyPr/>
          <a:lstStyle/>
          <a:p>
            <a:endParaRPr lang="vi-VN" noProof="1"/>
          </a:p>
        </p:txBody>
      </p:sp>
      <p:sp>
        <p:nvSpPr>
          <p:cNvPr id="315121726" name="Text 10"/>
          <p:cNvSpPr/>
          <p:nvPr/>
        </p:nvSpPr>
        <p:spPr bwMode="auto">
          <a:xfrm>
            <a:off x="714375" y="2759869"/>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1</a:t>
            </a:r>
            <a:endParaRPr lang="vi-VN" sz="1000" noProof="1"/>
          </a:p>
        </p:txBody>
      </p:sp>
      <p:sp>
        <p:nvSpPr>
          <p:cNvPr id="541046798" name="Text 11"/>
          <p:cNvSpPr/>
          <p:nvPr/>
        </p:nvSpPr>
        <p:spPr bwMode="auto">
          <a:xfrm>
            <a:off x="1019174" y="2759869"/>
            <a:ext cx="4687577" cy="186333"/>
          </a:xfrm>
          <a:prstGeom prst="rect">
            <a:avLst/>
          </a:prstGeom>
          <a:noFill/>
          <a:ln/>
        </p:spPr>
        <p:txBody>
          <a:bodyPr wrap="square" lIns="0" tIns="0" rIns="0" bIns="0" rtlCol="0" anchor="t"/>
          <a:lstStyle/>
          <a:p>
            <a:pPr algn="l">
              <a:defRPr sz="950" b="0">
                <a:solidFill>
                  <a:srgbClr val="323C4B"/>
                </a:solidFill>
                <a:latin typeface="Arial"/>
              </a:defRPr>
            </a:pPr>
            <a:r>
              <a:t>Quản lý bài viết &amp; nội dung — Soạn thảo bài, chèn ảnh sự kiện, lưu bản nháp, phân quyền tác giả.</a:t>
            </a:r>
          </a:p>
        </p:txBody>
      </p:sp>
      <p:sp>
        <p:nvSpPr>
          <p:cNvPr id="108056505" name="Shape 12"/>
          <p:cNvSpPr/>
          <p:nvPr/>
        </p:nvSpPr>
        <p:spPr bwMode="auto">
          <a:xfrm>
            <a:off x="714375" y="3322439"/>
            <a:ext cx="5524500" cy="0"/>
          </a:xfrm>
          <a:prstGeom prst="line">
            <a:avLst/>
          </a:prstGeom>
          <a:noFill/>
          <a:ln w="9525">
            <a:solidFill>
              <a:srgbClr val="E3E9F2"/>
            </a:solidFill>
            <a:prstDash val="dash"/>
          </a:ln>
        </p:spPr>
        <p:txBody>
          <a:bodyPr/>
          <a:lstStyle/>
          <a:p>
            <a:endParaRPr lang="vi-VN" noProof="1"/>
          </a:p>
        </p:txBody>
      </p:sp>
      <p:sp>
        <p:nvSpPr>
          <p:cNvPr id="2072824464" name="Text 13"/>
          <p:cNvSpPr/>
          <p:nvPr/>
        </p:nvSpPr>
        <p:spPr bwMode="auto">
          <a:xfrm>
            <a:off x="714375" y="3070027"/>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2</a:t>
            </a:r>
            <a:endParaRPr lang="vi-VN" sz="1000" noProof="1"/>
          </a:p>
        </p:txBody>
      </p:sp>
      <p:sp>
        <p:nvSpPr>
          <p:cNvPr id="22886867" name="Text 14"/>
          <p:cNvSpPr/>
          <p:nvPr/>
        </p:nvSpPr>
        <p:spPr bwMode="auto">
          <a:xfrm>
            <a:off x="1019174" y="3070027"/>
            <a:ext cx="3386763" cy="186333"/>
          </a:xfrm>
          <a:prstGeom prst="rect">
            <a:avLst/>
          </a:prstGeom>
          <a:noFill/>
          <a:ln/>
        </p:spPr>
        <p:txBody>
          <a:bodyPr wrap="square" lIns="0" tIns="0" rIns="0" bIns="0" rtlCol="0" anchor="t"/>
          <a:lstStyle/>
          <a:p>
            <a:pPr algn="l">
              <a:defRPr sz="950" b="0">
                <a:solidFill>
                  <a:srgbClr val="323C4B"/>
                </a:solidFill>
                <a:latin typeface="Arial"/>
              </a:defRPr>
            </a:pPr>
            <a:r>
              <a:t>Trợ lý AI hỗ trợ viết bài — Đọc kế hoạch, gợi ý tiêu đề, viết đoạn mở đầu và tóm tắt tin.</a:t>
            </a:r>
          </a:p>
        </p:txBody>
      </p:sp>
      <p:sp>
        <p:nvSpPr>
          <p:cNvPr id="41581989" name="Shape 15"/>
          <p:cNvSpPr/>
          <p:nvPr/>
        </p:nvSpPr>
        <p:spPr bwMode="auto">
          <a:xfrm>
            <a:off x="714375" y="3632596"/>
            <a:ext cx="5524500" cy="0"/>
          </a:xfrm>
          <a:prstGeom prst="line">
            <a:avLst/>
          </a:prstGeom>
          <a:noFill/>
          <a:ln w="9525">
            <a:solidFill>
              <a:srgbClr val="E3E9F2"/>
            </a:solidFill>
            <a:prstDash val="dash"/>
          </a:ln>
        </p:spPr>
        <p:txBody>
          <a:bodyPr/>
          <a:lstStyle/>
          <a:p>
            <a:endParaRPr lang="vi-VN" noProof="1"/>
          </a:p>
        </p:txBody>
      </p:sp>
      <p:sp>
        <p:nvSpPr>
          <p:cNvPr id="1673367991" name="Text 16"/>
          <p:cNvSpPr/>
          <p:nvPr/>
        </p:nvSpPr>
        <p:spPr bwMode="auto">
          <a:xfrm>
            <a:off x="714375" y="3380184"/>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3</a:t>
            </a:r>
            <a:endParaRPr lang="vi-VN" sz="1000" noProof="1"/>
          </a:p>
        </p:txBody>
      </p:sp>
      <p:sp>
        <p:nvSpPr>
          <p:cNvPr id="925502246" name="Text 17"/>
          <p:cNvSpPr/>
          <p:nvPr/>
        </p:nvSpPr>
        <p:spPr bwMode="auto">
          <a:xfrm>
            <a:off x="1019174" y="3380184"/>
            <a:ext cx="4270418" cy="186333"/>
          </a:xfrm>
          <a:prstGeom prst="rect">
            <a:avLst/>
          </a:prstGeom>
          <a:noFill/>
          <a:ln/>
        </p:spPr>
        <p:txBody>
          <a:bodyPr wrap="square" lIns="0" tIns="0" rIns="0" bIns="0" rtlCol="0" anchor="t"/>
          <a:lstStyle/>
          <a:p>
            <a:pPr algn="l">
              <a:defRPr sz="950" b="0">
                <a:solidFill>
                  <a:srgbClr val="323C4B"/>
                </a:solidFill>
                <a:latin typeface="Arial"/>
              </a:defRPr>
            </a:pPr>
            <a:r>
              <a:t>Xuất bản đa kênh &amp; Hẹn giờ — Xem trước bài, hẹn giờ đăng, tự động đẩy tin lên Facebook.</a:t>
            </a:r>
          </a:p>
        </p:txBody>
      </p:sp>
      <p:sp>
        <p:nvSpPr>
          <p:cNvPr id="457755770" name="Shape 18"/>
          <p:cNvSpPr/>
          <p:nvPr/>
        </p:nvSpPr>
        <p:spPr bwMode="auto">
          <a:xfrm>
            <a:off x="714375" y="3942755"/>
            <a:ext cx="5524500" cy="0"/>
          </a:xfrm>
          <a:prstGeom prst="line">
            <a:avLst/>
          </a:prstGeom>
          <a:noFill/>
          <a:ln w="9525">
            <a:solidFill>
              <a:srgbClr val="E3E9F2"/>
            </a:solidFill>
            <a:prstDash val="dash"/>
          </a:ln>
        </p:spPr>
        <p:txBody>
          <a:bodyPr/>
          <a:lstStyle/>
          <a:p>
            <a:endParaRPr lang="vi-VN" noProof="1"/>
          </a:p>
        </p:txBody>
      </p:sp>
      <p:sp>
        <p:nvSpPr>
          <p:cNvPr id="1588957073" name="Text 19"/>
          <p:cNvSpPr/>
          <p:nvPr/>
        </p:nvSpPr>
        <p:spPr bwMode="auto">
          <a:xfrm>
            <a:off x="714375" y="3690342"/>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4</a:t>
            </a:r>
            <a:endParaRPr lang="vi-VN" sz="1000" noProof="1"/>
          </a:p>
        </p:txBody>
      </p:sp>
      <p:sp>
        <p:nvSpPr>
          <p:cNvPr id="2144642820" name="Shape 21"/>
          <p:cNvSpPr/>
          <p:nvPr/>
        </p:nvSpPr>
        <p:spPr bwMode="auto">
          <a:xfrm>
            <a:off x="714375" y="4252913"/>
            <a:ext cx="5524500" cy="0"/>
          </a:xfrm>
          <a:prstGeom prst="line">
            <a:avLst/>
          </a:prstGeom>
          <a:noFill/>
          <a:ln w="9525">
            <a:solidFill>
              <a:srgbClr val="E3E9F2"/>
            </a:solidFill>
            <a:prstDash val="dash"/>
          </a:ln>
        </p:spPr>
        <p:txBody>
          <a:bodyPr/>
          <a:lstStyle/>
          <a:p>
            <a:endParaRPr lang="vi-VN" noProof="1"/>
          </a:p>
        </p:txBody>
      </p:sp>
      <p:sp>
        <p:nvSpPr>
          <p:cNvPr id="151893184" name="Text 22"/>
          <p:cNvSpPr/>
          <p:nvPr/>
        </p:nvSpPr>
        <p:spPr bwMode="auto">
          <a:xfrm>
            <a:off x="714375" y="4000500"/>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5</a:t>
            </a:r>
            <a:endParaRPr lang="vi-VN" sz="1000" noProof="1"/>
          </a:p>
        </p:txBody>
      </p:sp>
      <p:sp>
        <p:nvSpPr>
          <p:cNvPr id="474285615" name="Text 23"/>
          <p:cNvSpPr/>
          <p:nvPr/>
        </p:nvSpPr>
        <p:spPr bwMode="auto">
          <a:xfrm>
            <a:off x="1019174" y="3689449"/>
            <a:ext cx="3853714" cy="186333"/>
          </a:xfrm>
          <a:prstGeom prst="rect">
            <a:avLst/>
          </a:prstGeom>
          <a:noFill/>
          <a:ln/>
        </p:spPr>
        <p:txBody>
          <a:bodyPr wrap="square" lIns="0" tIns="0" rIns="0" bIns="0" rtlCol="0" anchor="t"/>
          <a:lstStyle/>
          <a:p>
            <a:pPr algn="l">
              <a:defRPr sz="950" b="0">
                <a:solidFill>
                  <a:srgbClr val="323C4B"/>
                </a:solidFill>
                <a:latin typeface="Arial"/>
              </a:defRPr>
            </a:pPr>
            <a:r>
              <a:t>Cổng thông tin cho đoàn viên — Đọc tin tức, tra cứu văn bản biểu mẫu, gửi ý kiến góp ý.</a:t>
            </a:r>
          </a:p>
        </p:txBody>
      </p:sp>
      <p:sp>
        <p:nvSpPr>
          <p:cNvPr id="1499707221" name="Text 24"/>
          <p:cNvSpPr/>
          <p:nvPr/>
        </p:nvSpPr>
        <p:spPr bwMode="auto">
          <a:xfrm>
            <a:off x="714375" y="4310658"/>
            <a:ext cx="213741" cy="186333"/>
          </a:xfrm>
          <a:prstGeom prst="rect">
            <a:avLst/>
          </a:prstGeom>
          <a:noFill/>
          <a:ln/>
        </p:spPr>
        <p:txBody>
          <a:bodyPr wrap="square" lIns="0" tIns="0" rIns="0" bIns="0" rtlCol="0" anchor="t"/>
          <a:lstStyle/>
          <a:p>
            <a:pPr marL="0" indent="0" algn="l">
              <a:lnSpc>
                <a:spcPts val="1468"/>
              </a:lnSpc>
              <a:buNone/>
              <a:defRPr/>
            </a:pPr>
            <a:endParaRPr lang="vi-VN" sz="1000" noProof="1"/>
          </a:p>
        </p:txBody>
      </p:sp>
      <p:sp>
        <p:nvSpPr>
          <p:cNvPr id="1616624030" name="Text 25"/>
          <p:cNvSpPr/>
          <p:nvPr/>
        </p:nvSpPr>
        <p:spPr bwMode="auto">
          <a:xfrm>
            <a:off x="1019174" y="3999607"/>
            <a:ext cx="3623274" cy="186333"/>
          </a:xfrm>
          <a:prstGeom prst="rect">
            <a:avLst/>
          </a:prstGeom>
          <a:noFill/>
          <a:ln/>
        </p:spPr>
        <p:txBody>
          <a:bodyPr wrap="square" lIns="0" tIns="0" rIns="0" bIns="0" rtlCol="0" anchor="t"/>
          <a:lstStyle/>
          <a:p>
            <a:pPr algn="l">
              <a:defRPr sz="950" b="0">
                <a:solidFill>
                  <a:srgbClr val="323C4B"/>
                </a:solidFill>
                <a:latin typeface="Arial"/>
              </a:defRPr>
            </a:pPr>
            <a:r>
              <a:t>Quản trị hệ thống &amp; Người dùng — Cấp tài khoản cho 16 Tổ, phân quyền bảo mật, quản lý khóa AI.</a:t>
            </a:r>
          </a:p>
        </p:txBody>
      </p:sp>
      <p:sp>
        <p:nvSpPr>
          <p:cNvPr id="265859507" name="Text 26"/>
          <p:cNvSpPr/>
          <p:nvPr/>
        </p:nvSpPr>
        <p:spPr bwMode="auto">
          <a:xfrm>
            <a:off x="533400" y="4830365"/>
            <a:ext cx="5886450" cy="619125"/>
          </a:xfrm>
          <a:prstGeom prst="roundRect">
            <a:avLst>
              <a:gd name="adj" fmla="val 18462"/>
            </a:avLst>
          </a:prstGeom>
          <a:solidFill>
            <a:srgbClr val="EEF3FA"/>
          </a:solidFill>
          <a:ln w="9525">
            <a:solidFill>
              <a:srgbClr val="DBE5F1"/>
            </a:solidFill>
          </a:ln>
        </p:spPr>
        <p:txBody>
          <a:bodyPr wrap="square" rtlCol="0" anchor="ctr"/>
          <a:lstStyle/>
          <a:p>
            <a:pPr marL="0" indent="0">
              <a:buNone/>
              <a:defRPr/>
            </a:pPr>
            <a:endParaRPr lang="vi-VN" noProof="1"/>
          </a:p>
        </p:txBody>
      </p:sp>
      <p:sp>
        <p:nvSpPr>
          <p:cNvPr id="180938056" name="Text 27"/>
          <p:cNvSpPr/>
          <p:nvPr/>
        </p:nvSpPr>
        <p:spPr bwMode="auto">
          <a:xfrm>
            <a:off x="695325" y="4954191"/>
            <a:ext cx="5673852" cy="371475"/>
          </a:xfrm>
          <a:prstGeom prst="rect">
            <a:avLst/>
          </a:prstGeom>
          <a:noFill/>
          <a:ln/>
        </p:spPr>
        <p:txBody>
          <a:bodyPr wrap="square" lIns="0" tIns="0" rIns="0" bIns="0" rtlCol="0" anchor="t"/>
          <a:lstStyle/>
          <a:p>
            <a:pPr algn="l">
              <a:defRPr sz="950" b="0">
                <a:solidFill>
                  <a:srgbClr val="323C4B"/>
                </a:solidFill>
                <a:latin typeface="Arial"/>
              </a:defRPr>
            </a:pPr>
            <a:r>
              <a:t>Phân định 4 vai trò rõ rệt: Quản trị viên quản lý tài khoản; Biên tập viên duyệt bài &amp; xuất bản; Cộng tác viên soạn và gửi bài; Đoàn viên đọc tin và tương tác. Hệ thống gồm 26 ca sử dụng đáp ứng trọn vẹn nghiệp vụ.</a:t>
            </a:r>
          </a:p>
        </p:txBody>
      </p:sp>
      <p:sp>
        <p:nvSpPr>
          <p:cNvPr id="900242687" name="Text 28"/>
          <p:cNvSpPr/>
          <p:nvPr/>
        </p:nvSpPr>
        <p:spPr bwMode="auto">
          <a:xfrm>
            <a:off x="6667500" y="1245394"/>
            <a:ext cx="4991100" cy="5334000"/>
          </a:xfrm>
          <a:prstGeom prst="roundRect">
            <a:avLst>
              <a:gd name="adj" fmla="val 267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77667814" name="Image 1"/>
          <p:cNvPicPr>
            <a:picLocks noChangeAspect="1"/>
          </p:cNvPicPr>
          <p:nvPr/>
        </p:nvPicPr>
        <p:blipFill>
          <a:blip r:embed="rId4"/>
          <a:srcRect/>
          <a:stretch/>
        </p:blipFill>
        <p:spPr bwMode="auto">
          <a:xfrm>
            <a:off x="6810375" y="1399372"/>
            <a:ext cx="4705350" cy="5119062"/>
          </a:xfrm>
          <a:prstGeom prst="rect">
            <a:avLst/>
          </a:prstGeom>
        </p:spPr>
      </p:pic>
      <p:sp>
        <p:nvSpPr>
          <p:cNvPr id="2114610084" name="Text 29"/>
          <p:cNvSpPr/>
          <p:nvPr/>
        </p:nvSpPr>
        <p:spPr bwMode="auto">
          <a:xfrm>
            <a:off x="6763322" y="6624785"/>
            <a:ext cx="4799457" cy="133350"/>
          </a:xfrm>
          <a:prstGeom prst="rect">
            <a:avLst/>
          </a:prstGeom>
          <a:noFill/>
          <a:ln/>
        </p:spPr>
        <p:txBody>
          <a:bodyPr wrap="square" lIns="0" tIns="0" rIns="0" bIns="0" rtlCol="0" anchor="t"/>
          <a:lstStyle/>
          <a:p>
            <a:pPr algn="ctr">
              <a:defRPr sz="1100" b="1">
                <a:solidFill>
                  <a:srgbClr val="002855"/>
                </a:solidFill>
                <a:latin typeface="Arial"/>
              </a:defRPr>
            </a:pPr>
            <a:r>
              <a:t>Biểu đồ Use Case tổng quát hệ thống</a:t>
            </a:r>
          </a:p>
        </p:txBody>
      </p:sp>
      <p:sp>
        <p:nvSpPr>
          <p:cNvPr id="407911527" name="Shape 30"/>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1612392569" name="Text 31"/>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33997073" name="Shape 32"/>
          <p:cNvSpPr/>
          <p:nvPr/>
        </p:nvSpPr>
        <p:spPr bwMode="auto">
          <a:xfrm>
            <a:off x="6810375" y="1393031"/>
            <a:ext cx="4705350" cy="0"/>
          </a:xfrm>
          <a:prstGeom prst="line">
            <a:avLst/>
          </a:prstGeom>
          <a:noFill/>
          <a:ln w="9525">
            <a:solidFill>
              <a:srgbClr val="EDF1F7"/>
            </a:solidFill>
            <a:prstDash val="solid"/>
          </a:ln>
        </p:spPr>
        <p:txBody>
          <a:bodyPr/>
          <a:lstStyle/>
          <a:p>
            <a:endParaRPr lang="vi-VN" noProof="1"/>
          </a:p>
        </p:txBody>
      </p:sp>
      <p:sp>
        <p:nvSpPr>
          <p:cNvPr id="244372080" name="Shape 33"/>
          <p:cNvSpPr/>
          <p:nvPr/>
        </p:nvSpPr>
        <p:spPr bwMode="auto">
          <a:xfrm>
            <a:off x="11510963" y="1388269"/>
            <a:ext cx="0" cy="5141268"/>
          </a:xfrm>
          <a:prstGeom prst="line">
            <a:avLst/>
          </a:prstGeom>
          <a:noFill/>
          <a:ln w="9525">
            <a:solidFill>
              <a:srgbClr val="EDF1F7"/>
            </a:solidFill>
            <a:prstDash val="solid"/>
          </a:ln>
        </p:spPr>
        <p:txBody>
          <a:bodyPr/>
          <a:lstStyle/>
          <a:p>
            <a:endParaRPr lang="vi-VN" noProof="1"/>
          </a:p>
        </p:txBody>
      </p:sp>
      <p:sp>
        <p:nvSpPr>
          <p:cNvPr id="834499497" name="Shape 34"/>
          <p:cNvSpPr/>
          <p:nvPr/>
        </p:nvSpPr>
        <p:spPr bwMode="auto">
          <a:xfrm>
            <a:off x="6810375" y="6524774"/>
            <a:ext cx="4705350" cy="0"/>
          </a:xfrm>
          <a:prstGeom prst="line">
            <a:avLst/>
          </a:prstGeom>
          <a:noFill/>
          <a:ln w="9525">
            <a:solidFill>
              <a:srgbClr val="EDF1F7"/>
            </a:solidFill>
            <a:prstDash val="solid"/>
          </a:ln>
        </p:spPr>
        <p:txBody>
          <a:bodyPr/>
          <a:lstStyle/>
          <a:p>
            <a:endParaRPr lang="vi-VN" noProof="1"/>
          </a:p>
        </p:txBody>
      </p:sp>
      <p:sp>
        <p:nvSpPr>
          <p:cNvPr id="786633352" name="Shape 35"/>
          <p:cNvSpPr/>
          <p:nvPr/>
        </p:nvSpPr>
        <p:spPr bwMode="auto">
          <a:xfrm>
            <a:off x="6815138" y="1388269"/>
            <a:ext cx="0" cy="5141268"/>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name="Slide 9">
    <p:bg>
      <p:bgPr>
        <a:solidFill>
          <a:srgbClr val="F6F8FB"/>
        </a:solidFill>
        <a:effectLst/>
      </p:bgPr>
    </p:bg>
    <p:spTree>
      <p:nvGrpSpPr>
        <p:cNvPr id="1" name=""/>
        <p:cNvGrpSpPr/>
        <p:nvPr/>
      </p:nvGrpSpPr>
      <p:grpSpPr bwMode="auto">
        <a:xfrm>
          <a:off x="0" y="0"/>
          <a:ext cx="0" cy="0"/>
          <a:chOff x="0" y="0"/>
          <a:chExt cx="0" cy="0"/>
        </a:xfrm>
      </p:grpSpPr>
      <p:sp>
        <p:nvSpPr>
          <p:cNvPr id="1778504505"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4. PHÂN TÍCH &amp; THIẾT KẾ HỆ THỐNG</a:t>
            </a:r>
            <a:endParaRPr lang="vi-VN" sz="1000" noProof="1"/>
          </a:p>
        </p:txBody>
      </p:sp>
      <p:sp>
        <p:nvSpPr>
          <p:cNvPr id="1516662613" name="Text 1"/>
          <p:cNvSpPr/>
          <p:nvPr/>
        </p:nvSpPr>
        <p:spPr bwMode="auto">
          <a:xfrm>
            <a:off x="533400" y="542925"/>
            <a:ext cx="11347704" cy="359569"/>
          </a:xfrm>
          <a:prstGeom prst="rect">
            <a:avLst/>
          </a:prstGeom>
          <a:noFill/>
          <a:ln/>
        </p:spPr>
        <p:txBody>
          <a:bodyPr wrap="square" lIns="0" tIns="0" rIns="0" bIns="0" rtlCol="0" anchor="t"/>
          <a:lstStyle/>
          <a:p>
            <a:pPr algn="l">
              <a:defRPr sz="1300" b="0">
                <a:solidFill>
                  <a:srgbClr val="323C4B"/>
                </a:solidFill>
                <a:latin typeface="Arial"/>
              </a:defRPr>
            </a:pPr>
            <a:r>
              <a:t>Thiết kế cơ sở dữ liệu quan hệ gồm 15 bảng dữ liệu</a:t>
            </a:r>
          </a:p>
        </p:txBody>
      </p:sp>
      <p:pic>
        <p:nvPicPr>
          <p:cNvPr id="536241311" name="Image 0" descr="/var/folders/t4/q0khv7qd1r3dc2yrbwkzmjf00000gn/T/html2pptx-3ey5sh/html2pptx-bg-1791687646699-ce072b8ac0a458.png"/>
          <p:cNvPicPr>
            <a:picLocks noChangeAspect="1"/>
          </p:cNvPicPr>
          <p:nvPr/>
        </p:nvPicPr>
        <p:blipFill rotWithShape="1">
          <a:blip r:embed="rId3"/>
          <a:stretch/>
        </p:blipFill>
        <p:spPr bwMode="auto">
          <a:xfrm>
            <a:off x="533400" y="978694"/>
            <a:ext cx="1047750" cy="38100"/>
          </a:xfrm>
          <a:prstGeom prst="rect">
            <a:avLst/>
          </a:prstGeom>
        </p:spPr>
      </p:pic>
      <p:pic>
        <p:nvPicPr>
          <p:cNvPr id="1246624806" name="Image 1"/>
          <p:cNvPicPr>
            <a:picLocks noChangeAspect="1"/>
          </p:cNvPicPr>
          <p:nvPr/>
        </p:nvPicPr>
        <p:blipFill>
          <a:blip r:embed="rId4"/>
          <a:srcRect/>
          <a:stretch/>
        </p:blipFill>
        <p:spPr bwMode="auto">
          <a:xfrm>
            <a:off x="533400" y="1016795"/>
            <a:ext cx="10982325" cy="5119568"/>
          </a:xfrm>
          <a:prstGeom prst="rect">
            <a:avLst/>
          </a:prstGeom>
        </p:spPr>
      </p:pic>
      <p:sp>
        <p:nvSpPr>
          <p:cNvPr id="1875844736" name="Shape 24"/>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506202728" name="Text 25"/>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1611640450" name="Shape 26"/>
          <p:cNvSpPr/>
          <p:nvPr/>
        </p:nvSpPr>
        <p:spPr bwMode="auto">
          <a:xfrm>
            <a:off x="6781800" y="1412081"/>
            <a:ext cx="4733925" cy="0"/>
          </a:xfrm>
          <a:prstGeom prst="line">
            <a:avLst/>
          </a:prstGeom>
          <a:noFill/>
          <a:ln w="9525">
            <a:solidFill>
              <a:srgbClr val="EDF1F7"/>
            </a:solidFill>
            <a:prstDash val="solid"/>
          </a:ln>
        </p:spPr>
        <p:txBody>
          <a:bodyPr/>
          <a:lstStyle/>
          <a:p>
            <a:endParaRPr lang="vi-VN" noProof="1"/>
          </a:p>
        </p:txBody>
      </p:sp>
      <p:sp>
        <p:nvSpPr>
          <p:cNvPr id="1776745191" name="Shape 27"/>
          <p:cNvSpPr/>
          <p:nvPr/>
        </p:nvSpPr>
        <p:spPr bwMode="auto">
          <a:xfrm>
            <a:off x="11510963" y="1407319"/>
            <a:ext cx="0" cy="3666827"/>
          </a:xfrm>
          <a:prstGeom prst="line">
            <a:avLst/>
          </a:prstGeom>
          <a:noFill/>
          <a:ln w="9525">
            <a:solidFill>
              <a:srgbClr val="EDF1F7"/>
            </a:solidFill>
            <a:prstDash val="solid"/>
          </a:ln>
        </p:spPr>
        <p:txBody>
          <a:bodyPr/>
          <a:lstStyle/>
          <a:p>
            <a:endParaRPr lang="vi-VN" noProof="1"/>
          </a:p>
        </p:txBody>
      </p:sp>
      <p:sp>
        <p:nvSpPr>
          <p:cNvPr id="1627594382" name="Shape 28"/>
          <p:cNvSpPr/>
          <p:nvPr/>
        </p:nvSpPr>
        <p:spPr bwMode="auto">
          <a:xfrm>
            <a:off x="6781800" y="5069384"/>
            <a:ext cx="4733925" cy="0"/>
          </a:xfrm>
          <a:prstGeom prst="line">
            <a:avLst/>
          </a:prstGeom>
          <a:noFill/>
          <a:ln w="9525">
            <a:solidFill>
              <a:srgbClr val="EDF1F7"/>
            </a:solidFill>
            <a:prstDash val="solid"/>
          </a:ln>
        </p:spPr>
        <p:txBody>
          <a:bodyPr/>
          <a:lstStyle/>
          <a:p>
            <a:endParaRPr lang="vi-VN" noProof="1"/>
          </a:p>
        </p:txBody>
      </p:sp>
      <p:sp>
        <p:nvSpPr>
          <p:cNvPr id="2108835123" name="Shape 29"/>
          <p:cNvSpPr/>
          <p:nvPr/>
        </p:nvSpPr>
        <p:spPr bwMode="auto">
          <a:xfrm>
            <a:off x="6786563" y="1407319"/>
            <a:ext cx="0" cy="3666827"/>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name="Slide 10">
    <p:bg>
      <p:bgPr>
        <a:solidFill>
          <a:srgbClr val="F6F8FB"/>
        </a:solidFill>
        <a:effectLst/>
      </p:bgPr>
    </p:bg>
    <p:spTree>
      <p:nvGrpSpPr>
        <p:cNvPr id="1" name=""/>
        <p:cNvGrpSpPr/>
        <p:nvPr/>
      </p:nvGrpSpPr>
      <p:grpSpPr bwMode="auto">
        <a:xfrm>
          <a:off x="0" y="0"/>
          <a:ext cx="0" cy="0"/>
          <a:chOff x="0" y="0"/>
          <a:chExt cx="0" cy="0"/>
        </a:xfrm>
      </p:grpSpPr>
      <p:sp>
        <p:nvSpPr>
          <p:cNvPr id="335525789" name="Text 0"/>
          <p:cNvSpPr/>
          <p:nvPr/>
        </p:nvSpPr>
        <p:spPr bwMode="auto">
          <a:xfrm>
            <a:off x="533400" y="342900"/>
            <a:ext cx="11347704" cy="142875"/>
          </a:xfrm>
          <a:prstGeom prst="rect">
            <a:avLst/>
          </a:prstGeom>
          <a:noFill/>
          <a:ln/>
        </p:spPr>
        <p:txBody>
          <a:bodyPr wrap="square" lIns="0" tIns="0" rIns="0" bIns="0" rtlCol="0" anchor="t"/>
          <a:lstStyle/>
          <a:p>
            <a:pPr algn="l">
              <a:defRPr sz="1000" b="1">
                <a:solidFill>
                  <a:srgbClr val="BE7814"/>
                </a:solidFill>
                <a:latin typeface="Arial"/>
              </a:defRPr>
            </a:pPr>
            <a:r>
              <a:t>5. KẾT QUẢ ĐẠT ĐƯỢC</a:t>
            </a:r>
          </a:p>
        </p:txBody>
      </p:sp>
      <p:sp>
        <p:nvSpPr>
          <p:cNvPr id="2108582936" name="Text 1"/>
          <p:cNvSpPr/>
          <p:nvPr/>
        </p:nvSpPr>
        <p:spPr bwMode="auto">
          <a:xfrm>
            <a:off x="533400" y="542925"/>
            <a:ext cx="11347704" cy="359569"/>
          </a:xfrm>
          <a:prstGeom prst="rect">
            <a:avLst/>
          </a:prstGeom>
          <a:noFill/>
          <a:ln/>
        </p:spPr>
        <p:txBody>
          <a:bodyPr wrap="square" lIns="0" tIns="0" rIns="0" bIns="0" rtlCol="0" anchor="t"/>
          <a:lstStyle/>
          <a:p>
            <a:pPr algn="l">
              <a:defRPr sz="1300" b="0">
                <a:solidFill>
                  <a:srgbClr val="323C4B"/>
                </a:solidFill>
                <a:latin typeface="Arial"/>
              </a:defRPr>
            </a:pPr>
            <a:r>
              <a:t>Giao diện Cổng thông tin cho đoàn viên (Đọc báo &amp; Tra cứu biểu mẫu)</a:t>
            </a:r>
          </a:p>
        </p:txBody>
      </p:sp>
      <p:pic>
        <p:nvPicPr>
          <p:cNvPr id="845500851" name="Image 0" descr="/var/folders/t4/q0khv7qd1r3dc2yrbwkzmjf00000gn/T/html2pptx-DrXSpt/html2pptx-bg-1791687647929-93161aae6e2868.png"/>
          <p:cNvPicPr>
            <a:picLocks noChangeAspect="1"/>
          </p:cNvPicPr>
          <p:nvPr/>
        </p:nvPicPr>
        <p:blipFill rotWithShape="1">
          <a:blip r:embed="rId3"/>
          <a:stretch/>
        </p:blipFill>
        <p:spPr bwMode="auto">
          <a:xfrm>
            <a:off x="533400" y="978694"/>
            <a:ext cx="1047750" cy="38100"/>
          </a:xfrm>
          <a:prstGeom prst="rect">
            <a:avLst/>
          </a:prstGeom>
        </p:spPr>
      </p:pic>
      <p:sp>
        <p:nvSpPr>
          <p:cNvPr id="999737400" name="Text 2"/>
          <p:cNvSpPr/>
          <p:nvPr/>
        </p:nvSpPr>
        <p:spPr bwMode="auto">
          <a:xfrm>
            <a:off x="731520" y="1152144"/>
            <a:ext cx="2514600" cy="142875"/>
          </a:xfrm>
          <a:prstGeom prst="rect">
            <a:avLst/>
          </a:prstGeom>
          <a:noFill/>
          <a:ln/>
        </p:spPr>
        <p:txBody>
          <a:bodyPr wrap="square" lIns="152400" tIns="0" rIns="0" bIns="0" rtlCol="0" anchor="t"/>
          <a:lstStyle/>
          <a:p>
            <a:pPr algn="l">
              <a:defRPr sz="950" b="1">
                <a:solidFill>
                  <a:srgbClr val="002855"/>
                </a:solidFill>
                <a:latin typeface="Arial"/>
              </a:defRPr>
            </a:pPr>
            <a:r>
              <a:t>Nhận diện thương hiệu TDMU</a:t>
            </a:r>
          </a:p>
        </p:txBody>
      </p:sp>
      <p:sp>
        <p:nvSpPr>
          <p:cNvPr id="1975321100" name="Text 3"/>
          <p:cNvSpPr/>
          <p:nvPr/>
        </p:nvSpPr>
        <p:spPr bwMode="auto">
          <a:xfrm>
            <a:off x="530352" y="1225296"/>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2017389275" name="Text 4"/>
          <p:cNvSpPr/>
          <p:nvPr/>
        </p:nvSpPr>
        <p:spPr bwMode="auto">
          <a:xfrm>
            <a:off x="3584448" y="1152144"/>
            <a:ext cx="2514600" cy="142875"/>
          </a:xfrm>
          <a:prstGeom prst="rect">
            <a:avLst/>
          </a:prstGeom>
          <a:noFill/>
          <a:ln/>
        </p:spPr>
        <p:txBody>
          <a:bodyPr wrap="square" lIns="152400" tIns="0" rIns="0" bIns="0" rtlCol="0" anchor="t"/>
          <a:lstStyle/>
          <a:p>
            <a:pPr algn="l">
              <a:defRPr sz="950" b="1">
                <a:solidFill>
                  <a:srgbClr val="002855"/>
                </a:solidFill>
                <a:latin typeface="Arial"/>
              </a:defRPr>
            </a:pPr>
            <a:r>
              <a:t>Băng chuyền tin tức &amp; Sự kiện</a:t>
            </a:r>
          </a:p>
        </p:txBody>
      </p:sp>
      <p:sp>
        <p:nvSpPr>
          <p:cNvPr id="1533198457" name="Text 5"/>
          <p:cNvSpPr/>
          <p:nvPr/>
        </p:nvSpPr>
        <p:spPr bwMode="auto">
          <a:xfrm>
            <a:off x="3383280" y="1225296"/>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2062761761" name="Text 6"/>
          <p:cNvSpPr/>
          <p:nvPr/>
        </p:nvSpPr>
        <p:spPr bwMode="auto">
          <a:xfrm>
            <a:off x="6437376" y="1152144"/>
            <a:ext cx="2514600" cy="142875"/>
          </a:xfrm>
          <a:prstGeom prst="rect">
            <a:avLst/>
          </a:prstGeom>
          <a:noFill/>
          <a:ln/>
        </p:spPr>
        <p:txBody>
          <a:bodyPr wrap="square" lIns="152400" tIns="0" rIns="0" bIns="0" rtlCol="0" anchor="t"/>
          <a:lstStyle/>
          <a:p>
            <a:pPr algn="l">
              <a:defRPr sz="950" b="1">
                <a:solidFill>
                  <a:srgbClr val="002855"/>
                </a:solidFill>
                <a:latin typeface="Arial"/>
              </a:defRPr>
            </a:pPr>
            <a:r>
              <a:t>Bài viết chi tiết &amp; Album ảnh</a:t>
            </a:r>
          </a:p>
        </p:txBody>
      </p:sp>
      <p:sp>
        <p:nvSpPr>
          <p:cNvPr id="1001416523" name="Text 7"/>
          <p:cNvSpPr/>
          <p:nvPr/>
        </p:nvSpPr>
        <p:spPr bwMode="auto">
          <a:xfrm>
            <a:off x="6236208" y="1225296"/>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87719301" name="Text 8"/>
          <p:cNvSpPr/>
          <p:nvPr/>
        </p:nvSpPr>
        <p:spPr bwMode="auto">
          <a:xfrm>
            <a:off x="9290304" y="1152144"/>
            <a:ext cx="2514600" cy="142875"/>
          </a:xfrm>
          <a:prstGeom prst="rect">
            <a:avLst/>
          </a:prstGeom>
          <a:noFill/>
          <a:ln/>
        </p:spPr>
        <p:txBody>
          <a:bodyPr wrap="square" lIns="152400" tIns="0" rIns="0" bIns="0" rtlCol="0" anchor="t"/>
          <a:lstStyle/>
          <a:p>
            <a:pPr algn="l">
              <a:defRPr sz="950" b="1">
                <a:solidFill>
                  <a:srgbClr val="002855"/>
                </a:solidFill>
                <a:latin typeface="Arial"/>
              </a:defRPr>
            </a:pPr>
            <a:r>
              <a:t>Tương thích đa thiết bị</a:t>
            </a:r>
          </a:p>
        </p:txBody>
      </p:sp>
      <p:sp>
        <p:nvSpPr>
          <p:cNvPr id="616865855" name="Text 9"/>
          <p:cNvSpPr/>
          <p:nvPr/>
        </p:nvSpPr>
        <p:spPr bwMode="auto">
          <a:xfrm>
            <a:off x="9089136" y="1225296"/>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614992802" name="Text 10"/>
          <p:cNvSpPr/>
          <p:nvPr/>
        </p:nvSpPr>
        <p:spPr bwMode="auto">
          <a:xfrm>
            <a:off x="533400"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1059608118" name="Image 1"/>
          <p:cNvPicPr>
            <a:picLocks noChangeAspect="1"/>
          </p:cNvPicPr>
          <p:nvPr/>
        </p:nvPicPr>
        <p:blipFill>
          <a:blip r:embed="rId4"/>
          <a:srcRect/>
          <a:stretch/>
        </p:blipFill>
        <p:spPr bwMode="auto">
          <a:xfrm>
            <a:off x="657225" y="1831804"/>
            <a:ext cx="5210175" cy="2738681"/>
          </a:xfrm>
          <a:prstGeom prst="rect">
            <a:avLst/>
          </a:prstGeom>
        </p:spPr>
      </p:pic>
      <p:sp>
        <p:nvSpPr>
          <p:cNvPr id="1357707864" name="Text 11"/>
          <p:cNvSpPr/>
          <p:nvPr/>
        </p:nvSpPr>
        <p:spPr bwMode="auto">
          <a:xfrm>
            <a:off x="695325" y="4671120"/>
            <a:ext cx="5236654" cy="216682"/>
          </a:xfrm>
          <a:prstGeom prst="rect">
            <a:avLst/>
          </a:prstGeom>
          <a:noFill/>
          <a:ln/>
        </p:spPr>
        <p:txBody>
          <a:bodyPr wrap="square" lIns="0" tIns="0" rIns="0" bIns="0" rtlCol="0" anchor="t"/>
          <a:lstStyle/>
          <a:p>
            <a:pPr algn="ctr">
              <a:defRPr sz="1100" b="1">
                <a:solidFill>
                  <a:srgbClr val="002855"/>
                </a:solidFill>
                <a:latin typeface="Arial"/>
              </a:defRPr>
            </a:pPr>
            <a:r>
              <a:t>Trang chủ Cổng thông tin đoàn viên</a:t>
            </a:r>
          </a:p>
        </p:txBody>
      </p:sp>
      <p:sp>
        <p:nvSpPr>
          <p:cNvPr id="1345049996" name="Text 12"/>
          <p:cNvSpPr/>
          <p:nvPr/>
        </p:nvSpPr>
        <p:spPr bwMode="auto">
          <a:xfrm>
            <a:off x="695325" y="4894518"/>
            <a:ext cx="5236654" cy="358972"/>
          </a:xfrm>
          <a:prstGeom prst="rect">
            <a:avLst/>
          </a:prstGeom>
          <a:noFill/>
          <a:ln/>
        </p:spPr>
        <p:txBody>
          <a:bodyPr wrap="square" lIns="0" tIns="0" rIns="0" bIns="0" rtlCol="0" anchor="t"/>
          <a:lstStyle/>
          <a:p>
            <a:pPr algn="l">
              <a:defRPr sz="950" b="0">
                <a:solidFill>
                  <a:srgbClr val="323C4B"/>
                </a:solidFill>
                <a:latin typeface="Arial"/>
              </a:defRPr>
            </a:pPr>
            <a:r>
              <a:t>Thanh nhận diện thương hiệu TDMU, menu chuyên mục rõ ràng, tích hợp băng chuyền hình ảnh sự kiện và các tin bài phong trào mới nhất.</a:t>
            </a:r>
          </a:p>
        </p:txBody>
      </p:sp>
      <p:sp>
        <p:nvSpPr>
          <p:cNvPr id="2109461479" name="Text 13"/>
          <p:cNvSpPr/>
          <p:nvPr/>
        </p:nvSpPr>
        <p:spPr bwMode="auto">
          <a:xfrm>
            <a:off x="6200775"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1006755031" name="Image 2"/>
          <p:cNvPicPr>
            <a:picLocks noChangeAspect="1"/>
          </p:cNvPicPr>
          <p:nvPr/>
        </p:nvPicPr>
        <p:blipFill>
          <a:blip r:embed="rId5"/>
          <a:srcRect/>
          <a:stretch/>
        </p:blipFill>
        <p:spPr bwMode="auto">
          <a:xfrm>
            <a:off x="6324600" y="1831804"/>
            <a:ext cx="5210175" cy="2738681"/>
          </a:xfrm>
          <a:prstGeom prst="rect">
            <a:avLst/>
          </a:prstGeom>
        </p:spPr>
      </p:pic>
      <p:sp>
        <p:nvSpPr>
          <p:cNvPr id="1693096689" name="Text 14"/>
          <p:cNvSpPr/>
          <p:nvPr/>
        </p:nvSpPr>
        <p:spPr bwMode="auto">
          <a:xfrm>
            <a:off x="6362700" y="4671120"/>
            <a:ext cx="5236654" cy="216681"/>
          </a:xfrm>
          <a:prstGeom prst="rect">
            <a:avLst/>
          </a:prstGeom>
          <a:noFill/>
          <a:ln/>
        </p:spPr>
        <p:txBody>
          <a:bodyPr wrap="square" lIns="0" tIns="0" rIns="0" bIns="0" rtlCol="0" anchor="t"/>
          <a:lstStyle/>
          <a:p>
            <a:pPr algn="ctr">
              <a:defRPr sz="1100" b="1">
                <a:solidFill>
                  <a:srgbClr val="002855"/>
                </a:solidFill>
                <a:latin typeface="Arial"/>
              </a:defRPr>
            </a:pPr>
            <a:r>
              <a:t>Trang chi tiết bài viết &amp; Tương tác độc giả</a:t>
            </a:r>
          </a:p>
        </p:txBody>
      </p:sp>
      <p:sp>
        <p:nvSpPr>
          <p:cNvPr id="110564237" name="Text 15"/>
          <p:cNvSpPr/>
          <p:nvPr/>
        </p:nvSpPr>
        <p:spPr bwMode="auto">
          <a:xfrm>
            <a:off x="6362700" y="4894518"/>
            <a:ext cx="5236654" cy="569360"/>
          </a:xfrm>
          <a:prstGeom prst="rect">
            <a:avLst/>
          </a:prstGeom>
          <a:noFill/>
          <a:ln/>
        </p:spPr>
        <p:txBody>
          <a:bodyPr wrap="square" lIns="0" tIns="0" rIns="0" bIns="0" rtlCol="0" anchor="t"/>
          <a:lstStyle/>
          <a:p>
            <a:pPr algn="l">
              <a:defRPr sz="950" b="0">
                <a:solidFill>
                  <a:srgbClr val="323C4B"/>
                </a:solidFill>
                <a:latin typeface="Arial"/>
              </a:defRPr>
            </a:pPr>
            <a:r>
              <a:t>Bài viết trình bày rõ ràng (Tiêu đề, đoạn mở đầu, nội dung); hiển thị trọn bộ ảnh sự kiện rõ nét, tệp văn bản đính kèm và khu vực gửi ý kiến.</a:t>
            </a:r>
          </a:p>
        </p:txBody>
      </p:sp>
      <p:sp>
        <p:nvSpPr>
          <p:cNvPr id="862187831" name="Shape 16"/>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84807338" name="Text 17"/>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1481413502" name="Shape 18"/>
          <p:cNvSpPr/>
          <p:nvPr/>
        </p:nvSpPr>
        <p:spPr bwMode="auto">
          <a:xfrm>
            <a:off x="657225" y="1831181"/>
            <a:ext cx="5210175" cy="0"/>
          </a:xfrm>
          <a:prstGeom prst="line">
            <a:avLst/>
          </a:prstGeom>
          <a:noFill/>
          <a:ln w="9525">
            <a:solidFill>
              <a:srgbClr val="EDF1F7"/>
            </a:solidFill>
            <a:prstDash val="solid"/>
          </a:ln>
        </p:spPr>
        <p:txBody>
          <a:bodyPr/>
          <a:lstStyle/>
          <a:p>
            <a:endParaRPr lang="vi-VN" noProof="1"/>
          </a:p>
        </p:txBody>
      </p:sp>
      <p:sp>
        <p:nvSpPr>
          <p:cNvPr id="1482740072" name="Shape 19"/>
          <p:cNvSpPr/>
          <p:nvPr/>
        </p:nvSpPr>
        <p:spPr bwMode="auto">
          <a:xfrm>
            <a:off x="5862638" y="1826419"/>
            <a:ext cx="0" cy="2749451"/>
          </a:xfrm>
          <a:prstGeom prst="line">
            <a:avLst/>
          </a:prstGeom>
          <a:noFill/>
          <a:ln w="9525">
            <a:solidFill>
              <a:srgbClr val="EDF1F7"/>
            </a:solidFill>
            <a:prstDash val="solid"/>
          </a:ln>
        </p:spPr>
        <p:txBody>
          <a:bodyPr/>
          <a:lstStyle/>
          <a:p>
            <a:endParaRPr lang="vi-VN" noProof="1"/>
          </a:p>
        </p:txBody>
      </p:sp>
      <p:sp>
        <p:nvSpPr>
          <p:cNvPr id="1030329911" name="Shape 20"/>
          <p:cNvSpPr/>
          <p:nvPr/>
        </p:nvSpPr>
        <p:spPr bwMode="auto">
          <a:xfrm>
            <a:off x="657225" y="4571107"/>
            <a:ext cx="5210175" cy="0"/>
          </a:xfrm>
          <a:prstGeom prst="line">
            <a:avLst/>
          </a:prstGeom>
          <a:noFill/>
          <a:ln w="9525">
            <a:solidFill>
              <a:srgbClr val="EDF1F7"/>
            </a:solidFill>
            <a:prstDash val="solid"/>
          </a:ln>
        </p:spPr>
        <p:txBody>
          <a:bodyPr/>
          <a:lstStyle/>
          <a:p>
            <a:endParaRPr lang="vi-VN" noProof="1"/>
          </a:p>
        </p:txBody>
      </p:sp>
      <p:sp>
        <p:nvSpPr>
          <p:cNvPr id="1989211595" name="Shape 21"/>
          <p:cNvSpPr/>
          <p:nvPr/>
        </p:nvSpPr>
        <p:spPr bwMode="auto">
          <a:xfrm>
            <a:off x="661988" y="1826419"/>
            <a:ext cx="0" cy="2749451"/>
          </a:xfrm>
          <a:prstGeom prst="line">
            <a:avLst/>
          </a:prstGeom>
          <a:noFill/>
          <a:ln w="9525">
            <a:solidFill>
              <a:srgbClr val="EDF1F7"/>
            </a:solidFill>
            <a:prstDash val="solid"/>
          </a:ln>
        </p:spPr>
        <p:txBody>
          <a:bodyPr/>
          <a:lstStyle/>
          <a:p>
            <a:endParaRPr lang="vi-VN" noProof="1"/>
          </a:p>
        </p:txBody>
      </p:sp>
      <p:sp>
        <p:nvSpPr>
          <p:cNvPr id="142640582" name="Shape 22"/>
          <p:cNvSpPr/>
          <p:nvPr/>
        </p:nvSpPr>
        <p:spPr bwMode="auto">
          <a:xfrm>
            <a:off x="6324600" y="1831181"/>
            <a:ext cx="5210175" cy="0"/>
          </a:xfrm>
          <a:prstGeom prst="line">
            <a:avLst/>
          </a:prstGeom>
          <a:noFill/>
          <a:ln w="9525">
            <a:solidFill>
              <a:srgbClr val="EDF1F7"/>
            </a:solidFill>
            <a:prstDash val="solid"/>
          </a:ln>
        </p:spPr>
        <p:txBody>
          <a:bodyPr/>
          <a:lstStyle/>
          <a:p>
            <a:endParaRPr lang="vi-VN" noProof="1"/>
          </a:p>
        </p:txBody>
      </p:sp>
      <p:sp>
        <p:nvSpPr>
          <p:cNvPr id="630371208" name="Shape 23"/>
          <p:cNvSpPr/>
          <p:nvPr/>
        </p:nvSpPr>
        <p:spPr bwMode="auto">
          <a:xfrm>
            <a:off x="11530012" y="1826419"/>
            <a:ext cx="0" cy="2749451"/>
          </a:xfrm>
          <a:prstGeom prst="line">
            <a:avLst/>
          </a:prstGeom>
          <a:noFill/>
          <a:ln w="9525">
            <a:solidFill>
              <a:srgbClr val="EDF1F7"/>
            </a:solidFill>
            <a:prstDash val="solid"/>
          </a:ln>
        </p:spPr>
        <p:txBody>
          <a:bodyPr/>
          <a:lstStyle/>
          <a:p>
            <a:endParaRPr lang="vi-VN" noProof="1"/>
          </a:p>
        </p:txBody>
      </p:sp>
      <p:sp>
        <p:nvSpPr>
          <p:cNvPr id="1482762303" name="Shape 24"/>
          <p:cNvSpPr/>
          <p:nvPr/>
        </p:nvSpPr>
        <p:spPr bwMode="auto">
          <a:xfrm>
            <a:off x="6324600" y="4571107"/>
            <a:ext cx="5210175" cy="0"/>
          </a:xfrm>
          <a:prstGeom prst="line">
            <a:avLst/>
          </a:prstGeom>
          <a:noFill/>
          <a:ln w="9525">
            <a:solidFill>
              <a:srgbClr val="EDF1F7"/>
            </a:solidFill>
            <a:prstDash val="solid"/>
          </a:ln>
        </p:spPr>
        <p:txBody>
          <a:bodyPr/>
          <a:lstStyle/>
          <a:p>
            <a:endParaRPr lang="vi-VN" noProof="1"/>
          </a:p>
        </p:txBody>
      </p:sp>
      <p:sp>
        <p:nvSpPr>
          <p:cNvPr id="1731064471" name="Shape 25"/>
          <p:cNvSpPr/>
          <p:nvPr/>
        </p:nvSpPr>
        <p:spPr bwMode="auto">
          <a:xfrm>
            <a:off x="6329363" y="1826419"/>
            <a:ext cx="0" cy="2749451"/>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name="Slide 11">
    <p:bg>
      <p:bgPr>
        <a:solidFill>
          <a:srgbClr val="F6F8FB"/>
        </a:solidFill>
        <a:effectLst/>
      </p:bgPr>
    </p:bg>
    <p:spTree>
      <p:nvGrpSpPr>
        <p:cNvPr id="1" name=""/>
        <p:cNvGrpSpPr/>
        <p:nvPr/>
      </p:nvGrpSpPr>
      <p:grpSpPr bwMode="auto">
        <a:xfrm>
          <a:off x="0" y="0"/>
          <a:ext cx="0" cy="0"/>
          <a:chOff x="0" y="0"/>
          <a:chExt cx="0" cy="0"/>
        </a:xfrm>
      </p:grpSpPr>
      <p:sp>
        <p:nvSpPr>
          <p:cNvPr id="716076251" name="Text 0"/>
          <p:cNvSpPr/>
          <p:nvPr/>
        </p:nvSpPr>
        <p:spPr bwMode="auto">
          <a:xfrm>
            <a:off x="533400" y="342900"/>
            <a:ext cx="11347704" cy="142875"/>
          </a:xfrm>
          <a:prstGeom prst="rect">
            <a:avLst/>
          </a:prstGeom>
          <a:noFill/>
          <a:ln/>
        </p:spPr>
        <p:txBody>
          <a:bodyPr wrap="square" lIns="0" tIns="0" rIns="0" bIns="0" rtlCol="0" anchor="t"/>
          <a:lstStyle/>
          <a:p>
            <a:pPr algn="l">
              <a:defRPr sz="1000" b="1">
                <a:solidFill>
                  <a:srgbClr val="BE7814"/>
                </a:solidFill>
                <a:latin typeface="Arial"/>
              </a:defRPr>
            </a:pPr>
            <a:r>
              <a:t>5. KẾT QUẢ ĐẠT ĐƯỢC</a:t>
            </a:r>
          </a:p>
        </p:txBody>
      </p:sp>
      <p:sp>
        <p:nvSpPr>
          <p:cNvPr id="388015217" name="Text 1"/>
          <p:cNvSpPr/>
          <p:nvPr/>
        </p:nvSpPr>
        <p:spPr bwMode="auto">
          <a:xfrm>
            <a:off x="533400" y="542925"/>
            <a:ext cx="11347704" cy="359569"/>
          </a:xfrm>
          <a:prstGeom prst="rect">
            <a:avLst/>
          </a:prstGeom>
          <a:noFill/>
          <a:ln/>
        </p:spPr>
        <p:txBody>
          <a:bodyPr wrap="square" lIns="0" tIns="0" rIns="0" bIns="0" rtlCol="0" anchor="t"/>
          <a:lstStyle/>
          <a:p>
            <a:pPr algn="l">
              <a:defRPr sz="1300" b="0">
                <a:solidFill>
                  <a:srgbClr val="323C4B"/>
                </a:solidFill>
                <a:latin typeface="Arial"/>
              </a:defRPr>
            </a:pPr>
            <a:r>
              <a:t>Phân hệ Quản trị bài viết &amp; Phòng biên tập tích hợp Trợ lý AI</a:t>
            </a:r>
          </a:p>
        </p:txBody>
      </p:sp>
      <p:pic>
        <p:nvPicPr>
          <p:cNvPr id="1494636220" name="Image 0" descr="/var/folders/t4/q0khv7qd1r3dc2yrbwkzmjf00000gn/T/html2pptx-j5AHGl/html2pptx-bg-1791687649333-14213dd336991.png"/>
          <p:cNvPicPr>
            <a:picLocks noChangeAspect="1"/>
          </p:cNvPicPr>
          <p:nvPr/>
        </p:nvPicPr>
        <p:blipFill rotWithShape="1">
          <a:blip r:embed="rId3"/>
          <a:stretch/>
        </p:blipFill>
        <p:spPr bwMode="auto">
          <a:xfrm>
            <a:off x="533400" y="978694"/>
            <a:ext cx="1047750" cy="38100"/>
          </a:xfrm>
          <a:prstGeom prst="rect">
            <a:avLst/>
          </a:prstGeom>
        </p:spPr>
      </p:pic>
      <p:sp>
        <p:nvSpPr>
          <p:cNvPr id="574550244" name="Text 2"/>
          <p:cNvSpPr/>
          <p:nvPr/>
        </p:nvSpPr>
        <p:spPr bwMode="auto">
          <a:xfrm>
            <a:off x="731520" y="1152144"/>
            <a:ext cx="2514600" cy="142875"/>
          </a:xfrm>
          <a:prstGeom prst="rect">
            <a:avLst/>
          </a:prstGeom>
          <a:noFill/>
          <a:ln/>
        </p:spPr>
        <p:txBody>
          <a:bodyPr wrap="square" lIns="152400" tIns="0" rIns="0" bIns="0" rtlCol="0" anchor="t"/>
          <a:lstStyle/>
          <a:p>
            <a:pPr algn="l">
              <a:defRPr sz="950" b="1">
                <a:solidFill>
                  <a:srgbClr val="002855"/>
                </a:solidFill>
                <a:latin typeface="Arial"/>
              </a:defRPr>
            </a:pPr>
            <a:r>
              <a:t>Bảng thống kê bài viết</a:t>
            </a:r>
          </a:p>
        </p:txBody>
      </p:sp>
      <p:sp>
        <p:nvSpPr>
          <p:cNvPr id="20344709" name="Text 3"/>
          <p:cNvSpPr/>
          <p:nvPr/>
        </p:nvSpPr>
        <p:spPr bwMode="auto">
          <a:xfrm>
            <a:off x="530352" y="1225296"/>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824359032" name="Text 4"/>
          <p:cNvSpPr/>
          <p:nvPr/>
        </p:nvSpPr>
        <p:spPr bwMode="auto">
          <a:xfrm>
            <a:off x="3584448" y="1152144"/>
            <a:ext cx="2514600" cy="142875"/>
          </a:xfrm>
          <a:prstGeom prst="rect">
            <a:avLst/>
          </a:prstGeom>
          <a:noFill/>
          <a:ln/>
        </p:spPr>
        <p:txBody>
          <a:bodyPr wrap="square" lIns="152400" tIns="0" rIns="0" bIns="0" rtlCol="0" anchor="t"/>
          <a:lstStyle/>
          <a:p>
            <a:pPr algn="l">
              <a:defRPr sz="950" b="1">
                <a:solidFill>
                  <a:srgbClr val="002855"/>
                </a:solidFill>
                <a:latin typeface="Arial"/>
              </a:defRPr>
            </a:pPr>
            <a:r>
              <a:t>Biên tập viên kiểm duyệt</a:t>
            </a:r>
          </a:p>
        </p:txBody>
      </p:sp>
      <p:sp>
        <p:nvSpPr>
          <p:cNvPr id="2031012361" name="Text 5"/>
          <p:cNvSpPr/>
          <p:nvPr/>
        </p:nvSpPr>
        <p:spPr bwMode="auto">
          <a:xfrm>
            <a:off x="3383280" y="1225296"/>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826344242" name="Text 6"/>
          <p:cNvSpPr/>
          <p:nvPr/>
        </p:nvSpPr>
        <p:spPr bwMode="auto">
          <a:xfrm>
            <a:off x="6437376" y="1152144"/>
            <a:ext cx="2514600" cy="142875"/>
          </a:xfrm>
          <a:prstGeom prst="rect">
            <a:avLst/>
          </a:prstGeom>
          <a:noFill/>
          <a:ln/>
        </p:spPr>
        <p:txBody>
          <a:bodyPr wrap="square" lIns="152400" tIns="0" rIns="0" bIns="0" rtlCol="0" anchor="t"/>
          <a:lstStyle/>
          <a:p>
            <a:pPr algn="l">
              <a:defRPr sz="950" b="1">
                <a:solidFill>
                  <a:srgbClr val="002855"/>
                </a:solidFill>
                <a:latin typeface="Arial"/>
              </a:defRPr>
            </a:pPr>
            <a:r>
              <a:t>Cộng tác viên soạn bài với AI</a:t>
            </a:r>
          </a:p>
        </p:txBody>
      </p:sp>
      <p:sp>
        <p:nvSpPr>
          <p:cNvPr id="537125904" name="Text 7"/>
          <p:cNvSpPr/>
          <p:nvPr/>
        </p:nvSpPr>
        <p:spPr bwMode="auto">
          <a:xfrm>
            <a:off x="6236208" y="1225296"/>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548170870" name="Text 8"/>
          <p:cNvSpPr/>
          <p:nvPr/>
        </p:nvSpPr>
        <p:spPr bwMode="auto">
          <a:xfrm>
            <a:off x="9290304" y="1152144"/>
            <a:ext cx="2514600" cy="142875"/>
          </a:xfrm>
          <a:prstGeom prst="rect">
            <a:avLst/>
          </a:prstGeom>
          <a:noFill/>
          <a:ln/>
        </p:spPr>
        <p:txBody>
          <a:bodyPr wrap="square" lIns="152400" tIns="0" rIns="0" bIns="0" rtlCol="0" anchor="t"/>
          <a:lstStyle/>
          <a:p>
            <a:pPr algn="l">
              <a:defRPr sz="950" b="1">
                <a:solidFill>
                  <a:srgbClr val="002855"/>
                </a:solidFill>
                <a:latin typeface="Arial"/>
              </a:defRPr>
            </a:pPr>
            <a:r>
              <a:t>Tự động xuất bản đa kênh</a:t>
            </a:r>
          </a:p>
        </p:txBody>
      </p:sp>
      <p:sp>
        <p:nvSpPr>
          <p:cNvPr id="1148760331" name="Text 9"/>
          <p:cNvSpPr/>
          <p:nvPr/>
        </p:nvSpPr>
        <p:spPr bwMode="auto">
          <a:xfrm>
            <a:off x="9089136" y="1225296"/>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385779790" name="Text 10"/>
          <p:cNvSpPr/>
          <p:nvPr/>
        </p:nvSpPr>
        <p:spPr bwMode="auto">
          <a:xfrm>
            <a:off x="533400"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538594473" name="Image 1"/>
          <p:cNvPicPr>
            <a:picLocks noChangeAspect="1"/>
          </p:cNvPicPr>
          <p:nvPr/>
        </p:nvPicPr>
        <p:blipFill>
          <a:blip r:embed="rId4"/>
          <a:srcRect/>
          <a:stretch/>
        </p:blipFill>
        <p:spPr bwMode="auto">
          <a:xfrm>
            <a:off x="657225" y="1831804"/>
            <a:ext cx="5210175" cy="2738681"/>
          </a:xfrm>
          <a:prstGeom prst="rect">
            <a:avLst/>
          </a:prstGeom>
        </p:spPr>
      </p:pic>
      <p:sp>
        <p:nvSpPr>
          <p:cNvPr id="491609652" name="Text 11"/>
          <p:cNvSpPr/>
          <p:nvPr/>
        </p:nvSpPr>
        <p:spPr bwMode="auto">
          <a:xfrm>
            <a:off x="695325" y="4671120"/>
            <a:ext cx="5236654" cy="378023"/>
          </a:xfrm>
          <a:prstGeom prst="rect">
            <a:avLst/>
          </a:prstGeom>
          <a:noFill/>
          <a:ln/>
        </p:spPr>
        <p:txBody>
          <a:bodyPr wrap="square" lIns="0" tIns="0" rIns="0" bIns="0" rtlCol="0" anchor="t"/>
          <a:lstStyle/>
          <a:p>
            <a:pPr algn="ctr">
              <a:defRPr sz="1100" b="1">
                <a:solidFill>
                  <a:srgbClr val="002855"/>
                </a:solidFill>
                <a:latin typeface="Arial"/>
              </a:defRPr>
            </a:pPr>
            <a:r>
              <a:t>Phòng Biên tập tích hợp Trợ lý AI</a:t>
            </a:r>
          </a:p>
        </p:txBody>
      </p:sp>
      <p:sp>
        <p:nvSpPr>
          <p:cNvPr id="1661774850" name="Text 12"/>
          <p:cNvSpPr/>
          <p:nvPr/>
        </p:nvSpPr>
        <p:spPr bwMode="auto">
          <a:xfrm>
            <a:off x="695325" y="4869656"/>
            <a:ext cx="5236654" cy="378023"/>
          </a:xfrm>
          <a:prstGeom prst="rect">
            <a:avLst/>
          </a:prstGeom>
          <a:noFill/>
          <a:ln/>
        </p:spPr>
        <p:txBody>
          <a:bodyPr wrap="square" lIns="0" tIns="0" rIns="0" bIns="0" rtlCol="0" anchor="t"/>
          <a:lstStyle/>
          <a:p>
            <a:pPr algn="l">
              <a:defRPr sz="950" b="0">
                <a:solidFill>
                  <a:srgbClr val="323C4B"/>
                </a:solidFill>
                <a:latin typeface="Arial"/>
              </a:defRPr>
            </a:pPr>
            <a:r>
              <a:t>Khung soạn bài trực quan; Trợ lý AI tự động viết bài từ tài liệu sự kiện, gợi ý tiêu đề và cho phép xem trước định dạng đăng bài lên Facebook.</a:t>
            </a:r>
          </a:p>
        </p:txBody>
      </p:sp>
      <p:sp>
        <p:nvSpPr>
          <p:cNvPr id="377243331" name="Text 13"/>
          <p:cNvSpPr/>
          <p:nvPr/>
        </p:nvSpPr>
        <p:spPr bwMode="auto">
          <a:xfrm>
            <a:off x="6200775"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694397265" name="Image 2"/>
          <p:cNvPicPr>
            <a:picLocks noChangeAspect="1"/>
          </p:cNvPicPr>
          <p:nvPr/>
        </p:nvPicPr>
        <p:blipFill>
          <a:blip r:embed="rId5"/>
          <a:srcRect/>
          <a:stretch/>
        </p:blipFill>
        <p:spPr bwMode="auto">
          <a:xfrm>
            <a:off x="6324600" y="1831804"/>
            <a:ext cx="5210175" cy="2738681"/>
          </a:xfrm>
          <a:prstGeom prst="rect">
            <a:avLst/>
          </a:prstGeom>
        </p:spPr>
      </p:pic>
      <p:sp>
        <p:nvSpPr>
          <p:cNvPr id="789861210" name="Text 14"/>
          <p:cNvSpPr/>
          <p:nvPr/>
        </p:nvSpPr>
        <p:spPr bwMode="auto">
          <a:xfrm>
            <a:off x="6362700" y="4671120"/>
            <a:ext cx="5236654" cy="378023"/>
          </a:xfrm>
          <a:prstGeom prst="rect">
            <a:avLst/>
          </a:prstGeom>
          <a:noFill/>
          <a:ln/>
        </p:spPr>
        <p:txBody>
          <a:bodyPr wrap="square" lIns="0" tIns="0" rIns="0" bIns="0" rtlCol="0" anchor="t"/>
          <a:lstStyle/>
          <a:p>
            <a:pPr algn="ctr">
              <a:defRPr sz="1100" b="1">
                <a:solidFill>
                  <a:srgbClr val="002855"/>
                </a:solidFill>
                <a:latin typeface="Arial"/>
              </a:defRPr>
            </a:pPr>
            <a:r>
              <a:t>Bảng Thống kê &amp; Quản lý bài viết</a:t>
            </a:r>
          </a:p>
        </p:txBody>
      </p:sp>
      <p:sp>
        <p:nvSpPr>
          <p:cNvPr id="1373535246" name="Text 15"/>
          <p:cNvSpPr/>
          <p:nvPr/>
        </p:nvSpPr>
        <p:spPr bwMode="auto">
          <a:xfrm>
            <a:off x="6362700" y="4869656"/>
            <a:ext cx="5236654" cy="378023"/>
          </a:xfrm>
          <a:prstGeom prst="rect">
            <a:avLst/>
          </a:prstGeom>
          <a:noFill/>
          <a:ln/>
        </p:spPr>
        <p:txBody>
          <a:bodyPr wrap="square" lIns="0" tIns="0" rIns="0" bIns="0" rtlCol="0" anchor="t"/>
          <a:lstStyle/>
          <a:p>
            <a:pPr algn="l">
              <a:defRPr sz="950" b="0">
                <a:solidFill>
                  <a:srgbClr val="323C4B"/>
                </a:solidFill>
                <a:latin typeface="Arial"/>
              </a:defRPr>
            </a:pPr>
            <a:r>
              <a:t>Quản lý tập trung danh sách bài viết, hàng đợi chờ duyệt, lịch hẹn giờ đăng tự động và theo dõi tổng thể số liệu tương tác của từng bài viết.</a:t>
            </a:r>
          </a:p>
        </p:txBody>
      </p:sp>
      <p:sp>
        <p:nvSpPr>
          <p:cNvPr id="1169010671" name="Shape 16"/>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1693167322" name="Text 17"/>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12036410" name="Shape 18"/>
          <p:cNvSpPr/>
          <p:nvPr/>
        </p:nvSpPr>
        <p:spPr bwMode="auto">
          <a:xfrm>
            <a:off x="657225" y="1831181"/>
            <a:ext cx="5210175" cy="0"/>
          </a:xfrm>
          <a:prstGeom prst="line">
            <a:avLst/>
          </a:prstGeom>
          <a:noFill/>
          <a:ln w="9525">
            <a:solidFill>
              <a:srgbClr val="EDF1F7"/>
            </a:solidFill>
            <a:prstDash val="solid"/>
          </a:ln>
        </p:spPr>
        <p:txBody>
          <a:bodyPr/>
          <a:lstStyle/>
          <a:p>
            <a:endParaRPr lang="vi-VN" noProof="1"/>
          </a:p>
        </p:txBody>
      </p:sp>
      <p:sp>
        <p:nvSpPr>
          <p:cNvPr id="357488677" name="Shape 19"/>
          <p:cNvSpPr/>
          <p:nvPr/>
        </p:nvSpPr>
        <p:spPr bwMode="auto">
          <a:xfrm>
            <a:off x="5862638" y="1826419"/>
            <a:ext cx="0" cy="2749451"/>
          </a:xfrm>
          <a:prstGeom prst="line">
            <a:avLst/>
          </a:prstGeom>
          <a:noFill/>
          <a:ln w="9525">
            <a:solidFill>
              <a:srgbClr val="EDF1F7"/>
            </a:solidFill>
            <a:prstDash val="solid"/>
          </a:ln>
        </p:spPr>
        <p:txBody>
          <a:bodyPr/>
          <a:lstStyle/>
          <a:p>
            <a:endParaRPr lang="vi-VN" noProof="1"/>
          </a:p>
        </p:txBody>
      </p:sp>
      <p:sp>
        <p:nvSpPr>
          <p:cNvPr id="302488740" name="Shape 20"/>
          <p:cNvSpPr/>
          <p:nvPr/>
        </p:nvSpPr>
        <p:spPr bwMode="auto">
          <a:xfrm>
            <a:off x="657225" y="4571107"/>
            <a:ext cx="5210175" cy="0"/>
          </a:xfrm>
          <a:prstGeom prst="line">
            <a:avLst/>
          </a:prstGeom>
          <a:noFill/>
          <a:ln w="9525">
            <a:solidFill>
              <a:srgbClr val="EDF1F7"/>
            </a:solidFill>
            <a:prstDash val="solid"/>
          </a:ln>
        </p:spPr>
        <p:txBody>
          <a:bodyPr/>
          <a:lstStyle/>
          <a:p>
            <a:endParaRPr lang="vi-VN" noProof="1"/>
          </a:p>
        </p:txBody>
      </p:sp>
      <p:sp>
        <p:nvSpPr>
          <p:cNvPr id="1950007771" name="Shape 21"/>
          <p:cNvSpPr/>
          <p:nvPr/>
        </p:nvSpPr>
        <p:spPr bwMode="auto">
          <a:xfrm>
            <a:off x="661988" y="1826419"/>
            <a:ext cx="0" cy="2749451"/>
          </a:xfrm>
          <a:prstGeom prst="line">
            <a:avLst/>
          </a:prstGeom>
          <a:noFill/>
          <a:ln w="9525">
            <a:solidFill>
              <a:srgbClr val="EDF1F7"/>
            </a:solidFill>
            <a:prstDash val="solid"/>
          </a:ln>
        </p:spPr>
        <p:txBody>
          <a:bodyPr/>
          <a:lstStyle/>
          <a:p>
            <a:endParaRPr lang="vi-VN" noProof="1"/>
          </a:p>
        </p:txBody>
      </p:sp>
      <p:sp>
        <p:nvSpPr>
          <p:cNvPr id="730205966" name="Shape 22"/>
          <p:cNvSpPr/>
          <p:nvPr/>
        </p:nvSpPr>
        <p:spPr bwMode="auto">
          <a:xfrm>
            <a:off x="6324600" y="1831181"/>
            <a:ext cx="5210175" cy="0"/>
          </a:xfrm>
          <a:prstGeom prst="line">
            <a:avLst/>
          </a:prstGeom>
          <a:noFill/>
          <a:ln w="9525">
            <a:solidFill>
              <a:srgbClr val="EDF1F7"/>
            </a:solidFill>
            <a:prstDash val="solid"/>
          </a:ln>
        </p:spPr>
        <p:txBody>
          <a:bodyPr/>
          <a:lstStyle/>
          <a:p>
            <a:endParaRPr lang="vi-VN" noProof="1"/>
          </a:p>
        </p:txBody>
      </p:sp>
      <p:sp>
        <p:nvSpPr>
          <p:cNvPr id="83419040" name="Shape 23"/>
          <p:cNvSpPr/>
          <p:nvPr/>
        </p:nvSpPr>
        <p:spPr bwMode="auto">
          <a:xfrm>
            <a:off x="11530012" y="1826419"/>
            <a:ext cx="0" cy="2749451"/>
          </a:xfrm>
          <a:prstGeom prst="line">
            <a:avLst/>
          </a:prstGeom>
          <a:noFill/>
          <a:ln w="9525">
            <a:solidFill>
              <a:srgbClr val="EDF1F7"/>
            </a:solidFill>
            <a:prstDash val="solid"/>
          </a:ln>
        </p:spPr>
        <p:txBody>
          <a:bodyPr/>
          <a:lstStyle/>
          <a:p>
            <a:endParaRPr lang="vi-VN" noProof="1"/>
          </a:p>
        </p:txBody>
      </p:sp>
      <p:sp>
        <p:nvSpPr>
          <p:cNvPr id="1895229867" name="Shape 24"/>
          <p:cNvSpPr/>
          <p:nvPr/>
        </p:nvSpPr>
        <p:spPr bwMode="auto">
          <a:xfrm>
            <a:off x="6324600" y="4571107"/>
            <a:ext cx="5210175" cy="0"/>
          </a:xfrm>
          <a:prstGeom prst="line">
            <a:avLst/>
          </a:prstGeom>
          <a:noFill/>
          <a:ln w="9525">
            <a:solidFill>
              <a:srgbClr val="EDF1F7"/>
            </a:solidFill>
            <a:prstDash val="solid"/>
          </a:ln>
        </p:spPr>
        <p:txBody>
          <a:bodyPr/>
          <a:lstStyle/>
          <a:p>
            <a:endParaRPr lang="vi-VN" noProof="1"/>
          </a:p>
        </p:txBody>
      </p:sp>
      <p:sp>
        <p:nvSpPr>
          <p:cNvPr id="1021053175" name="Shape 25"/>
          <p:cNvSpPr/>
          <p:nvPr/>
        </p:nvSpPr>
        <p:spPr bwMode="auto">
          <a:xfrm>
            <a:off x="6329363" y="1826419"/>
            <a:ext cx="0" cy="2749451"/>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name="Slide 12">
    <p:bg>
      <p:bgPr>
        <a:solidFill>
          <a:srgbClr val="F6F8FB"/>
        </a:solidFill>
        <a:effectLst/>
      </p:bgPr>
    </p:bg>
    <p:spTree>
      <p:nvGrpSpPr>
        <p:cNvPr id="1" name=""/>
        <p:cNvGrpSpPr/>
        <p:nvPr/>
      </p:nvGrpSpPr>
      <p:grpSpPr bwMode="auto">
        <a:xfrm>
          <a:off x="0" y="0"/>
          <a:ext cx="0" cy="0"/>
          <a:chOff x="0" y="0"/>
          <a:chExt cx="0" cy="0"/>
        </a:xfrm>
      </p:grpSpPr>
      <p:sp>
        <p:nvSpPr>
          <p:cNvPr id="1551532279" name="Text 0"/>
          <p:cNvSpPr/>
          <p:nvPr/>
        </p:nvSpPr>
        <p:spPr bwMode="auto">
          <a:xfrm>
            <a:off x="533400" y="342900"/>
            <a:ext cx="11347704" cy="142875"/>
          </a:xfrm>
          <a:prstGeom prst="rect">
            <a:avLst/>
          </a:prstGeom>
          <a:noFill/>
          <a:ln/>
        </p:spPr>
        <p:txBody>
          <a:bodyPr wrap="square" lIns="0" tIns="0" rIns="0" bIns="0" rtlCol="0" anchor="t"/>
          <a:lstStyle/>
          <a:p>
            <a:pPr algn="l">
              <a:defRPr sz="1000" b="1">
                <a:solidFill>
                  <a:srgbClr val="BE7814"/>
                </a:solidFill>
                <a:latin typeface="Arial"/>
              </a:defRPr>
            </a:pPr>
            <a:r>
              <a:t>6. TỔNG KẾT &amp; ĐỊNH HƯỚNG</a:t>
            </a:r>
          </a:p>
        </p:txBody>
      </p:sp>
      <p:sp>
        <p:nvSpPr>
          <p:cNvPr id="1087376138" name="Text 1"/>
          <p:cNvSpPr/>
          <p:nvPr/>
        </p:nvSpPr>
        <p:spPr bwMode="auto">
          <a:xfrm>
            <a:off x="533400" y="542925"/>
            <a:ext cx="11347704" cy="359569"/>
          </a:xfrm>
          <a:prstGeom prst="rect">
            <a:avLst/>
          </a:prstGeom>
          <a:noFill/>
          <a:ln/>
        </p:spPr>
        <p:txBody>
          <a:bodyPr wrap="square" lIns="0" tIns="0" rIns="0" bIns="0" rtlCol="0" anchor="t"/>
          <a:lstStyle/>
          <a:p>
            <a:pPr algn="l">
              <a:defRPr sz="1300" b="0">
                <a:solidFill>
                  <a:srgbClr val="323C4B"/>
                </a:solidFill>
                <a:latin typeface="Arial"/>
              </a:defRPr>
            </a:pPr>
            <a:r>
              <a:t>Kết quả đạt được của đề tài và Định hướng phát triển tiếp theo</a:t>
            </a:r>
          </a:p>
        </p:txBody>
      </p:sp>
      <p:pic>
        <p:nvPicPr>
          <p:cNvPr id="1664352587" name="Image 0" descr="/var/folders/t4/q0khv7qd1r3dc2yrbwkzmjf00000gn/T/html2pptx-PSMjzO/html2pptx-bg-1791687650677-c2ccd95290eeb.png"/>
          <p:cNvPicPr>
            <a:picLocks noChangeAspect="1"/>
          </p:cNvPicPr>
          <p:nvPr/>
        </p:nvPicPr>
        <p:blipFill rotWithShape="1">
          <a:blip r:embed="rId3"/>
          <a:stretch/>
        </p:blipFill>
        <p:spPr bwMode="auto">
          <a:xfrm>
            <a:off x="533400" y="978694"/>
            <a:ext cx="1047750" cy="38100"/>
          </a:xfrm>
          <a:prstGeom prst="rect">
            <a:avLst/>
          </a:prstGeom>
        </p:spPr>
      </p:pic>
      <p:sp>
        <p:nvSpPr>
          <p:cNvPr id="1534172061" name="Text 10"/>
          <p:cNvSpPr/>
          <p:nvPr/>
        </p:nvSpPr>
        <p:spPr bwMode="auto">
          <a:xfrm>
            <a:off x="3357563" y="1264444"/>
            <a:ext cx="2652713" cy="1291977"/>
          </a:xfrm>
          <a:prstGeom prst="roundRect">
            <a:avLst>
              <a:gd name="adj" fmla="val 10321"/>
            </a:avLst>
          </a:prstGeom>
          <a:solidFill>
            <a:srgbClr val="FFFFFF"/>
          </a:solidFill>
          <a:ln/>
          <a:effectLst>
            <a:outerShdw blurRad="152400" dist="57150" dir="5400000" algn="bl" rotWithShape="0">
              <a:srgbClr val="002855">
                <a:alpha val="6000"/>
              </a:srgbClr>
            </a:outerShdw>
          </a:effectLst>
        </p:spPr>
        <p:txBody>
          <a:bodyPr wrap="square" rtlCol="0" anchor="ctr"/>
          <a:lstStyle/>
          <a:p>
            <a:pPr marL="0" indent="0">
              <a:buNone/>
              <a:defRPr/>
            </a:pPr>
            <a:endParaRPr lang="vi-VN" noProof="1"/>
          </a:p>
        </p:txBody>
      </p:sp>
      <p:sp>
        <p:nvSpPr>
          <p:cNvPr id="296798508" name="Shape 11"/>
          <p:cNvSpPr/>
          <p:nvPr/>
        </p:nvSpPr>
        <p:spPr bwMode="auto">
          <a:xfrm>
            <a:off x="3509963" y="1288256"/>
            <a:ext cx="2347913" cy="0"/>
          </a:xfrm>
          <a:prstGeom prst="line">
            <a:avLst/>
          </a:prstGeom>
          <a:noFill/>
          <a:ln w="47625">
            <a:solidFill>
              <a:srgbClr val="D4A017"/>
            </a:solidFill>
            <a:prstDash val="solid"/>
          </a:ln>
        </p:spPr>
        <p:txBody>
          <a:bodyPr/>
          <a:lstStyle/>
          <a:p>
            <a:endParaRPr lang="vi-VN" noProof="1"/>
          </a:p>
        </p:txBody>
      </p:sp>
      <p:sp>
        <p:nvSpPr>
          <p:cNvPr id="658754239" name="Shape 12"/>
          <p:cNvSpPr/>
          <p:nvPr/>
        </p:nvSpPr>
        <p:spPr bwMode="auto">
          <a:xfrm>
            <a:off x="6010274" y="1435894"/>
            <a:ext cx="0" cy="987177"/>
          </a:xfrm>
          <a:prstGeom prst="line">
            <a:avLst/>
          </a:prstGeom>
          <a:noFill/>
          <a:ln w="9525">
            <a:solidFill>
              <a:srgbClr val="E3E9F2"/>
            </a:solidFill>
            <a:prstDash val="solid"/>
          </a:ln>
        </p:spPr>
        <p:txBody>
          <a:bodyPr/>
          <a:lstStyle/>
          <a:p>
            <a:endParaRPr lang="vi-VN" noProof="1"/>
          </a:p>
        </p:txBody>
      </p:sp>
      <p:sp>
        <p:nvSpPr>
          <p:cNvPr id="2127443947" name="Shape 13"/>
          <p:cNvSpPr/>
          <p:nvPr/>
        </p:nvSpPr>
        <p:spPr bwMode="auto">
          <a:xfrm>
            <a:off x="3509963" y="2555081"/>
            <a:ext cx="2347913" cy="0"/>
          </a:xfrm>
          <a:prstGeom prst="line">
            <a:avLst/>
          </a:prstGeom>
          <a:noFill/>
          <a:ln w="9525">
            <a:solidFill>
              <a:srgbClr val="E3E9F2"/>
            </a:solidFill>
            <a:prstDash val="solid"/>
          </a:ln>
        </p:spPr>
        <p:txBody>
          <a:bodyPr/>
          <a:lstStyle/>
          <a:p>
            <a:endParaRPr lang="vi-VN" noProof="1"/>
          </a:p>
        </p:txBody>
      </p:sp>
      <p:sp>
        <p:nvSpPr>
          <p:cNvPr id="1569735850" name="Shape 14"/>
          <p:cNvSpPr/>
          <p:nvPr/>
        </p:nvSpPr>
        <p:spPr bwMode="auto">
          <a:xfrm>
            <a:off x="3362324" y="1435894"/>
            <a:ext cx="0" cy="987177"/>
          </a:xfrm>
          <a:prstGeom prst="line">
            <a:avLst/>
          </a:prstGeom>
          <a:noFill/>
          <a:ln w="9525">
            <a:solidFill>
              <a:srgbClr val="E3E9F2"/>
            </a:solidFill>
            <a:prstDash val="solid"/>
          </a:ln>
        </p:spPr>
        <p:txBody>
          <a:bodyPr/>
          <a:lstStyle/>
          <a:p>
            <a:endParaRPr lang="vi-VN" noProof="1"/>
          </a:p>
        </p:txBody>
      </p:sp>
      <p:sp>
        <p:nvSpPr>
          <p:cNvPr id="2140140729" name="Text 15"/>
          <p:cNvSpPr/>
          <p:nvPr/>
        </p:nvSpPr>
        <p:spPr bwMode="auto">
          <a:xfrm>
            <a:off x="3496199" y="1483519"/>
            <a:ext cx="2375440" cy="356146"/>
          </a:xfrm>
          <a:prstGeom prst="rect">
            <a:avLst/>
          </a:prstGeom>
          <a:noFill/>
          <a:ln/>
        </p:spPr>
        <p:txBody>
          <a:bodyPr wrap="square" lIns="0" tIns="0" rIns="0" bIns="0" rtlCol="0" anchor="t"/>
          <a:lstStyle/>
          <a:p>
            <a:pPr marL="0" indent="0" algn="ctr">
              <a:lnSpc>
                <a:spcPts val="2805"/>
              </a:lnSpc>
              <a:buNone/>
              <a:defRPr/>
            </a:pPr>
            <a:endParaRPr lang="vi-VN" sz="2550" noProof="1"/>
          </a:p>
        </p:txBody>
      </p:sp>
      <p:sp>
        <p:nvSpPr>
          <p:cNvPr id="832269212" name="Text 16"/>
          <p:cNvSpPr/>
          <p:nvPr/>
        </p:nvSpPr>
        <p:spPr bwMode="auto">
          <a:xfrm>
            <a:off x="3496199" y="1858714"/>
            <a:ext cx="2560320" cy="133350"/>
          </a:xfrm>
          <a:prstGeom prst="rect">
            <a:avLst/>
          </a:prstGeom>
          <a:noFill/>
          <a:ln/>
        </p:spPr>
        <p:txBody>
          <a:bodyPr wrap="square" lIns="0" tIns="0" rIns="0" bIns="0" rtlCol="0" anchor="t"/>
          <a:lstStyle/>
          <a:p>
            <a:pPr algn="ctr">
              <a:defRPr sz="1050" b="1">
                <a:solidFill>
                  <a:srgbClr val="BE7814"/>
                </a:solidFill>
                <a:latin typeface="Arial"/>
              </a:defRPr>
            </a:pPr>
            <a:r>
              <a:t>TỰ ĐỘNG SOẠN BÀI BẰNG AI</a:t>
            </a:r>
          </a:p>
        </p:txBody>
      </p:sp>
      <p:sp>
        <p:nvSpPr>
          <p:cNvPr id="1466821503" name="Text 17"/>
          <p:cNvSpPr/>
          <p:nvPr/>
        </p:nvSpPr>
        <p:spPr bwMode="auto">
          <a:xfrm>
            <a:off x="3496199" y="2068264"/>
            <a:ext cx="2375440" cy="345281"/>
          </a:xfrm>
          <a:prstGeom prst="rect">
            <a:avLst/>
          </a:prstGeom>
          <a:noFill/>
          <a:ln/>
        </p:spPr>
        <p:txBody>
          <a:bodyPr wrap="square" lIns="0" tIns="0" rIns="0" bIns="0" rtlCol="0" anchor="t"/>
          <a:lstStyle/>
          <a:p>
            <a:pPr algn="ctr">
              <a:defRPr sz="900" b="0">
                <a:solidFill>
                  <a:srgbClr val="323C4B"/>
                </a:solidFill>
                <a:latin typeface="Arial"/>
              </a:defRPr>
            </a:pPr>
            <a:r>
              <a:t>Trợ lý AI hỗ trợ đọc tài liệu kế hoạch thô để tự viết bài hoàn chỉnh, gợi ý 3 tiêu đề ngắn gọn và rút ngắn đáng kể thời gian chuẩn bị tin bài.</a:t>
            </a:r>
          </a:p>
        </p:txBody>
      </p:sp>
      <p:sp>
        <p:nvSpPr>
          <p:cNvPr id="189312234" name="Text 18"/>
          <p:cNvSpPr/>
          <p:nvPr/>
        </p:nvSpPr>
        <p:spPr bwMode="auto">
          <a:xfrm>
            <a:off x="6181725" y="1264444"/>
            <a:ext cx="2652713" cy="1291977"/>
          </a:xfrm>
          <a:prstGeom prst="roundRect">
            <a:avLst>
              <a:gd name="adj" fmla="val 10321"/>
            </a:avLst>
          </a:prstGeom>
          <a:solidFill>
            <a:srgbClr val="FFFFFF"/>
          </a:solidFill>
          <a:ln/>
          <a:effectLst>
            <a:outerShdw blurRad="15240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623447681" name="Shape 19"/>
          <p:cNvSpPr/>
          <p:nvPr/>
        </p:nvSpPr>
        <p:spPr bwMode="auto">
          <a:xfrm>
            <a:off x="6334125" y="1288256"/>
            <a:ext cx="2347912" cy="0"/>
          </a:xfrm>
          <a:prstGeom prst="line">
            <a:avLst/>
          </a:prstGeom>
          <a:noFill/>
          <a:ln w="47625">
            <a:solidFill>
              <a:srgbClr val="D4A017"/>
            </a:solidFill>
            <a:prstDash val="solid"/>
          </a:ln>
        </p:spPr>
        <p:txBody>
          <a:bodyPr/>
          <a:lstStyle/>
          <a:p>
            <a:endParaRPr lang="vi-VN" noProof="1"/>
          </a:p>
        </p:txBody>
      </p:sp>
      <p:sp>
        <p:nvSpPr>
          <p:cNvPr id="161504581" name="Shape 21"/>
          <p:cNvSpPr/>
          <p:nvPr/>
        </p:nvSpPr>
        <p:spPr bwMode="auto">
          <a:xfrm>
            <a:off x="6334125" y="2555081"/>
            <a:ext cx="2347912" cy="0"/>
          </a:xfrm>
          <a:prstGeom prst="line">
            <a:avLst/>
          </a:prstGeom>
          <a:noFill/>
          <a:ln w="9525">
            <a:solidFill>
              <a:srgbClr val="E3E9F2"/>
            </a:solidFill>
            <a:prstDash val="solid"/>
          </a:ln>
        </p:spPr>
        <p:txBody>
          <a:bodyPr/>
          <a:lstStyle/>
          <a:p>
            <a:endParaRPr lang="vi-VN" noProof="1"/>
          </a:p>
        </p:txBody>
      </p:sp>
      <p:sp>
        <p:nvSpPr>
          <p:cNvPr id="316818631" name="Shape 22"/>
          <p:cNvSpPr/>
          <p:nvPr/>
        </p:nvSpPr>
        <p:spPr bwMode="auto">
          <a:xfrm>
            <a:off x="6186488" y="1435894"/>
            <a:ext cx="0" cy="987177"/>
          </a:xfrm>
          <a:prstGeom prst="line">
            <a:avLst/>
          </a:prstGeom>
          <a:noFill/>
          <a:ln w="9525">
            <a:solidFill>
              <a:srgbClr val="E3E9F2"/>
            </a:solidFill>
            <a:prstDash val="solid"/>
          </a:ln>
        </p:spPr>
        <p:txBody>
          <a:bodyPr/>
          <a:lstStyle/>
          <a:p>
            <a:endParaRPr lang="vi-VN" noProof="1"/>
          </a:p>
        </p:txBody>
      </p:sp>
      <p:sp>
        <p:nvSpPr>
          <p:cNvPr id="1813989432" name="Text 23"/>
          <p:cNvSpPr/>
          <p:nvPr/>
        </p:nvSpPr>
        <p:spPr bwMode="auto">
          <a:xfrm>
            <a:off x="6320361" y="1483519"/>
            <a:ext cx="2375440" cy="356146"/>
          </a:xfrm>
          <a:prstGeom prst="rect">
            <a:avLst/>
          </a:prstGeom>
          <a:noFill/>
          <a:ln/>
        </p:spPr>
        <p:txBody>
          <a:bodyPr wrap="square" lIns="0" tIns="0" rIns="0" bIns="0" rtlCol="0" anchor="t"/>
          <a:lstStyle/>
          <a:p>
            <a:pPr marL="0" indent="0" algn="ctr">
              <a:lnSpc>
                <a:spcPts val="2805"/>
              </a:lnSpc>
              <a:buNone/>
              <a:defRPr/>
            </a:pPr>
            <a:endParaRPr lang="vi-VN" sz="2550" noProof="1"/>
          </a:p>
        </p:txBody>
      </p:sp>
      <p:sp>
        <p:nvSpPr>
          <p:cNvPr id="268085201" name="Text 24"/>
          <p:cNvSpPr/>
          <p:nvPr/>
        </p:nvSpPr>
        <p:spPr bwMode="auto">
          <a:xfrm>
            <a:off x="6320361" y="1858714"/>
            <a:ext cx="2560320" cy="133350"/>
          </a:xfrm>
          <a:prstGeom prst="rect">
            <a:avLst/>
          </a:prstGeom>
          <a:noFill/>
          <a:ln/>
        </p:spPr>
        <p:txBody>
          <a:bodyPr wrap="square" lIns="0" tIns="0" rIns="0" bIns="0" rtlCol="0" anchor="t"/>
          <a:lstStyle/>
          <a:p>
            <a:pPr algn="ctr">
              <a:defRPr sz="1050" b="1">
                <a:solidFill>
                  <a:srgbClr val="BE7814"/>
                </a:solidFill>
                <a:latin typeface="Arial"/>
              </a:defRPr>
            </a:pPr>
            <a:r>
              <a:t>XUẤT BẢN TỰ ĐỘNG ĐA KÊNH</a:t>
            </a:r>
          </a:p>
        </p:txBody>
      </p:sp>
      <p:sp>
        <p:nvSpPr>
          <p:cNvPr id="1276800826" name="Text 25"/>
          <p:cNvSpPr/>
          <p:nvPr/>
        </p:nvSpPr>
        <p:spPr bwMode="auto">
          <a:xfrm>
            <a:off x="6320361" y="2068264"/>
            <a:ext cx="2375440" cy="345281"/>
          </a:xfrm>
          <a:prstGeom prst="rect">
            <a:avLst/>
          </a:prstGeom>
          <a:noFill/>
          <a:ln/>
        </p:spPr>
        <p:txBody>
          <a:bodyPr wrap="square" lIns="0" tIns="0" rIns="0" bIns="0" rtlCol="0" anchor="t"/>
          <a:lstStyle/>
          <a:p>
            <a:pPr algn="ctr">
              <a:defRPr sz="900" b="0">
                <a:solidFill>
                  <a:srgbClr val="323C4B"/>
                </a:solidFill>
                <a:latin typeface="Arial"/>
              </a:defRPr>
            </a:pPr>
            <a:r>
              <a:t>Tự động đăng bài đồng thời lên Website và Trang Facebook Công đoàn; có tiến trình hẹn giờ ngầm chính xác theo lịch đã chọn.</a:t>
            </a:r>
          </a:p>
        </p:txBody>
      </p:sp>
      <p:sp>
        <p:nvSpPr>
          <p:cNvPr id="9206746" name="Text 34"/>
          <p:cNvSpPr/>
          <p:nvPr/>
        </p:nvSpPr>
        <p:spPr bwMode="auto">
          <a:xfrm>
            <a:off x="422148" y="2689771"/>
            <a:ext cx="11347704" cy="133350"/>
          </a:xfrm>
          <a:prstGeom prst="rect">
            <a:avLst/>
          </a:prstGeom>
          <a:noFill/>
          <a:ln/>
        </p:spPr>
        <p:txBody>
          <a:bodyPr wrap="square" lIns="0" tIns="0" rIns="0" bIns="0" rtlCol="0" anchor="t"/>
          <a:lstStyle/>
          <a:p>
            <a:pPr marL="0" indent="0" algn="ctr">
              <a:spcBef>
                <a:spcPts val="1050"/>
              </a:spcBef>
              <a:buNone/>
              <a:defRPr/>
            </a:pPr>
            <a:endParaRPr lang="vi-VN" sz="950" noProof="1"/>
          </a:p>
        </p:txBody>
      </p:sp>
      <p:sp>
        <p:nvSpPr>
          <p:cNvPr id="533187219" name="Text 35"/>
          <p:cNvSpPr/>
          <p:nvPr/>
        </p:nvSpPr>
        <p:spPr bwMode="auto">
          <a:xfrm>
            <a:off x="533400" y="3070771"/>
            <a:ext cx="11128248" cy="1695450"/>
          </a:xfrm>
          <a:prstGeom prst="roundRect">
            <a:avLst>
              <a:gd name="adj" fmla="val 7865"/>
            </a:avLst>
          </a:prstGeom>
          <a:solidFill>
            <a:srgbClr val="002855"/>
          </a:solidFill>
          <a:ln/>
        </p:spPr>
        <p:txBody>
          <a:bodyPr wrap="square" rtlCol="0" anchor="ctr"/>
          <a:lstStyle/>
          <a:p>
            <a:pPr marL="0" indent="0">
              <a:buNone/>
              <a:defRPr/>
            </a:pPr>
            <a:endParaRPr lang="vi-VN" noProof="1"/>
          </a:p>
        </p:txBody>
      </p:sp>
      <p:sp>
        <p:nvSpPr>
          <p:cNvPr id="1334823512" name="Text 36"/>
          <p:cNvSpPr/>
          <p:nvPr/>
        </p:nvSpPr>
        <p:spPr bwMode="auto">
          <a:xfrm>
            <a:off x="742950" y="3242221"/>
            <a:ext cx="10789920" cy="171450"/>
          </a:xfrm>
          <a:prstGeom prst="rect">
            <a:avLst/>
          </a:prstGeom>
          <a:noFill/>
          <a:ln/>
        </p:spPr>
        <p:txBody>
          <a:bodyPr wrap="square" lIns="0" tIns="0" rIns="0" bIns="0" rtlCol="0" anchor="t"/>
          <a:lstStyle/>
          <a:p>
            <a:pPr algn="l">
              <a:defRPr sz="1200" b="1">
                <a:solidFill>
                  <a:srgbClr val="BE7814"/>
                </a:solidFill>
                <a:latin typeface="Arial"/>
              </a:defRPr>
            </a:pPr>
            <a:r>
              <a:t>ĐỊNH HƯỚNG PHÁT TRIỂN TIẾP THEO</a:t>
            </a:r>
          </a:p>
        </p:txBody>
      </p:sp>
      <p:sp>
        <p:nvSpPr>
          <p:cNvPr id="2113244601" name="Text 37"/>
          <p:cNvSpPr/>
          <p:nvPr/>
        </p:nvSpPr>
        <p:spPr bwMode="auto">
          <a:xfrm>
            <a:off x="742950" y="3508921"/>
            <a:ext cx="10789920" cy="1085850"/>
          </a:xfrm>
          <a:prstGeom prst="rect">
            <a:avLst/>
          </a:prstGeom>
          <a:noFill/>
          <a:ln/>
        </p:spPr>
        <p:txBody>
          <a:bodyPr wrap="square" lIns="0" tIns="0" rIns="0" bIns="85725" rtlCol="0" anchor="t"/>
          <a:lstStyle/>
          <a:p>
            <a:pPr algn="l">
              <a:defRPr sz="950" b="0">
                <a:solidFill>
                  <a:srgbClr val="FFFFFF"/>
                </a:solidFill>
                <a:latin typeface="Arial"/>
              </a:defRPr>
            </a:pPr>
            <a:r>
              <a:t>• Tiếp tục cải tiến và tối ưu câu lệnh điều khiển AI cho phù hợp với từng loại văn bản và hoạt động công đoàn.</a:t>
            </a:r>
          </a:p>
          <a:p>
            <a:pPr algn="l">
              <a:defRPr sz="950" b="0">
                <a:solidFill>
                  <a:srgbClr val="FFFFFF"/>
                </a:solidFill>
                <a:latin typeface="Arial"/>
              </a:defRPr>
            </a:pPr>
            <a:r>
              <a:t>• Hoàn tất kết nối chính thức với kênh Zalo Official Account khi được cấp phép vận hành.</a:t>
            </a:r>
          </a:p>
          <a:p>
            <a:pPr algn="l">
              <a:defRPr sz="950" b="0">
                <a:solidFill>
                  <a:srgbClr val="FFFFFF"/>
                </a:solidFill>
                <a:latin typeface="Arial"/>
              </a:defRPr>
            </a:pPr>
            <a:r>
              <a:t>• Xây dựng thêm tiện ích thăm dò ý kiến trực tuyến để lắng nghe tâm tư nguyện vọng của đoàn viên.</a:t>
            </a:r>
          </a:p>
          <a:p>
            <a:pPr algn="l">
              <a:defRPr sz="950" b="0">
                <a:solidFill>
                  <a:srgbClr val="FFFFFF"/>
                </a:solidFill>
                <a:latin typeface="Arial"/>
              </a:defRPr>
            </a:pPr>
            <a:r>
              <a:t>• Lấy ý kiến thử nghiệm thực tế từ các Tổ công đoàn để cải tiến trải nghiệm người dùng ngày càng thuận tiện hơn.</a:t>
            </a:r>
          </a:p>
        </p:txBody>
      </p:sp>
      <p:sp>
        <p:nvSpPr>
          <p:cNvPr id="375851085" name="Shape 41"/>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875689636" name="Text 42"/>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DE8DBA4-B806-CFBD-AA2D-31C65321CA3E}"/>
            </a:ext>
          </a:extLst>
        </p:cNvPr>
        <p:cNvGrpSpPr/>
        <p:nvPr/>
      </p:nvGrpSpPr>
      <p:grpSpPr bwMode="auto">
        <a:xfrm>
          <a:off x="0" y="0"/>
          <a:ext cx="0" cy="0"/>
          <a:chOff x="0" y="0"/>
          <a:chExt cx="0" cy="0"/>
        </a:xfrm>
      </p:grpSpPr>
      <p:pic>
        <p:nvPicPr>
          <p:cNvPr id="870917759" name="Image 0" descr="/var/folders/t4/q0khv7qd1r3dc2yrbwkzmjf00000gn/T/html2pptx-5EShAo/html2pptx-bg-1791687631881-4aa197ed81b4d.png">
            <a:extLst>
              <a:ext uri="{FF2B5EF4-FFF2-40B4-BE49-F238E27FC236}">
                <a16:creationId xmlns:a16="http://schemas.microsoft.com/office/drawing/2014/main" id="{A0188B4A-09FA-D954-70C5-E968B291947C}"/>
              </a:ext>
            </a:extLst>
          </p:cNvPr>
          <p:cNvPicPr>
            <a:picLocks noChangeAspect="1"/>
          </p:cNvPicPr>
          <p:nvPr/>
        </p:nvPicPr>
        <p:blipFill rotWithShape="1">
          <a:blip r:embed="rId3"/>
          <a:stretch/>
        </p:blipFill>
        <p:spPr bwMode="auto">
          <a:xfrm>
            <a:off x="0" y="0"/>
            <a:ext cx="12192000" cy="6858000"/>
          </a:xfrm>
          <a:prstGeom prst="rect">
            <a:avLst/>
          </a:prstGeom>
        </p:spPr>
      </p:pic>
      <p:pic>
        <p:nvPicPr>
          <p:cNvPr id="106409509" name="Image 1" descr="/var/folders/t4/q0khv7qd1r3dc2yrbwkzmjf00000gn/T/html2pptx-5EShAo/html2pptx-bg-1791687634666-11618a6fb0db7.png">
            <a:extLst>
              <a:ext uri="{FF2B5EF4-FFF2-40B4-BE49-F238E27FC236}">
                <a16:creationId xmlns:a16="http://schemas.microsoft.com/office/drawing/2014/main" id="{CBD84E44-ECD2-1FF1-5FB6-604018459F68}"/>
              </a:ext>
            </a:extLst>
          </p:cNvPr>
          <p:cNvPicPr>
            <a:picLocks noChangeAspect="1"/>
          </p:cNvPicPr>
          <p:nvPr/>
        </p:nvPicPr>
        <p:blipFill rotWithShape="1">
          <a:blip r:embed="rId4"/>
          <a:stretch/>
        </p:blipFill>
        <p:spPr bwMode="auto">
          <a:xfrm>
            <a:off x="0" y="0"/>
            <a:ext cx="12192000" cy="6858000"/>
          </a:xfrm>
          <a:prstGeom prst="rect">
            <a:avLst/>
          </a:prstGeom>
        </p:spPr>
      </p:pic>
      <p:sp>
        <p:nvSpPr>
          <p:cNvPr id="394878804" name="Text 5">
            <a:extLst>
              <a:ext uri="{FF2B5EF4-FFF2-40B4-BE49-F238E27FC236}">
                <a16:creationId xmlns:a16="http://schemas.microsoft.com/office/drawing/2014/main" id="{1449C6BB-4DF0-866A-70E9-FF4D594FDDC6}"/>
              </a:ext>
            </a:extLst>
          </p:cNvPr>
          <p:cNvSpPr/>
          <p:nvPr/>
        </p:nvSpPr>
        <p:spPr bwMode="auto">
          <a:xfrm>
            <a:off x="4055842" y="5097440"/>
            <a:ext cx="4080313" cy="762504"/>
          </a:xfrm>
          <a:prstGeom prst="rect">
            <a:avLst/>
          </a:prstGeom>
          <a:noFill/>
          <a:ln/>
        </p:spPr>
        <p:txBody>
          <a:bodyPr wrap="square" lIns="0" tIns="0" rIns="0" bIns="0" rtlCol="0" anchor="t"/>
          <a:lstStyle/>
          <a:p>
            <a:pPr marL="0" indent="0" algn="l">
              <a:buNone/>
              <a:defRPr/>
            </a:pPr>
            <a:endParaRPr lang="vi-VN" b="0" baseline="-25000" noProof="1">
              <a:latin typeface="Arial"/>
              <a:cs typeface="Arial"/>
            </a:endParaRPr>
          </a:p>
        </p:txBody>
      </p:sp>
      <p:sp>
        <p:nvSpPr>
          <p:cNvPr id="1222255792" name="Text 39"/>
          <p:cNvSpPr/>
          <p:nvPr/>
        </p:nvSpPr>
        <p:spPr bwMode="auto">
          <a:xfrm>
            <a:off x="3111060" y="2052982"/>
            <a:ext cx="5969876" cy="959471"/>
          </a:xfrm>
          <a:prstGeom prst="rect">
            <a:avLst/>
          </a:prstGeom>
          <a:noFill/>
          <a:ln/>
        </p:spPr>
        <p:txBody>
          <a:bodyPr wrap="square" lIns="0" tIns="0" rIns="0" bIns="0" rtlCol="0" anchor="t"/>
          <a:lstStyle/>
          <a:p>
            <a:pPr algn="ctr">
              <a:defRPr sz="2200" b="1">
                <a:solidFill>
                  <a:srgbClr val="0B2C58"/>
                </a:solidFill>
                <a:latin typeface="Calibri"/>
              </a:defRPr>
            </a:pPr>
            <a:r>
              <a:t>CẢM ƠN THẦY VÀ CÁC BẠN ĐÃ LẮNG NGHE!</a:t>
            </a:r>
          </a:p>
        </p:txBody>
      </p:sp>
      <p:sp>
        <p:nvSpPr>
          <p:cNvPr id="3" name="Hộp Văn bản 2">
            <a:extLst>
              <a:ext uri="{FF2B5EF4-FFF2-40B4-BE49-F238E27FC236}">
                <a16:creationId xmlns:a16="http://schemas.microsoft.com/office/drawing/2014/main" id="{766AA992-B800-41D2-FDDD-31F48C53E712}"/>
              </a:ext>
            </a:extLst>
          </p:cNvPr>
          <p:cNvSpPr txBox="1"/>
          <p:nvPr/>
        </p:nvSpPr>
        <p:spPr>
          <a:xfrm>
            <a:off x="1802028" y="3989066"/>
            <a:ext cx="8587940" cy="1569660"/>
          </a:xfrm>
          <a:prstGeom prst="rect">
            <a:avLst/>
          </a:prstGeom>
          <a:noFill/>
        </p:spPr>
        <p:txBody>
          <a:bodyPr wrap="square">
            <a:spAutoFit/>
          </a:bodyPr>
          <a:lstStyle/>
          <a:p>
            <a:pPr algn="ctr">
              <a:defRPr sz="1300" b="0">
                <a:solidFill>
                  <a:srgbClr val="212529"/>
                </a:solidFill>
                <a:latin typeface="Calibri"/>
              </a:defRPr>
            </a:pPr>
            <a:r>
              <a:t>Nhóm 2 xin trân trọng cảm ơn sự hướng dẫn tận tình của ThS. Võ Quốc Lương</a:t>
            </a:r>
          </a:p>
          <a:p>
            <a:pPr algn="ctr">
              <a:defRPr sz="1300" b="0">
                <a:solidFill>
                  <a:srgbClr val="212529"/>
                </a:solidFill>
                <a:latin typeface="Calibri"/>
              </a:defRPr>
            </a:pPr>
            <a:r>
              <a:t>và những ý kiến đóng góp quý báu từ Quý Thầy Cô Viện Công nghệ số.</a:t>
            </a:r>
          </a:p>
          <a:p>
            <a:pPr algn="ctr">
              <a:defRPr sz="1300" b="0">
                <a:solidFill>
                  <a:srgbClr val="212529"/>
                </a:solidFill>
                <a:latin typeface="Calibri"/>
              </a:defRPr>
            </a:pPr>
            <a:endParaRPr/>
          </a:p>
          <a:p>
            <a:pPr algn="ctr">
              <a:defRPr sz="1300" b="0">
                <a:solidFill>
                  <a:srgbClr val="212529"/>
                </a:solidFill>
                <a:latin typeface="Calibri"/>
              </a:defRPr>
            </a:pPr>
            <a:r>
              <a:t>Kính mời Quý Thầy Cô và các bạn nhận xét, đặt câu hỏi cho nhóm!</a:t>
            </a:r>
          </a:p>
        </p:txBody>
      </p:sp>
    </p:spTree>
    <p:extLst>
      <p:ext uri="{BB962C8B-B14F-4D97-AF65-F5344CB8AC3E}">
        <p14:creationId xmlns:p14="http://schemas.microsoft.com/office/powerpoint/2010/main" val="2841137762"/>
      </p:ext>
    </p:extLst>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972</TotalTime>
  <Words>2316</Words>
  <Application>Microsoft Office PowerPoint</Application>
  <PresentationFormat>Màn hình rộng</PresentationFormat>
  <Paragraphs>203</Paragraphs>
  <Slides>13</Slides>
  <Notes>13</Notes>
  <HiddenSlides>0</HiddenSlides>
  <MMClips>0</MMClips>
  <ScaleCrop>false</ScaleCrop>
  <HeadingPairs>
    <vt:vector size="6" baseType="variant">
      <vt:variant>
        <vt:lpstr>Phông được Dùng</vt:lpstr>
      </vt:variant>
      <vt:variant>
        <vt:i4>3</vt:i4>
      </vt:variant>
      <vt:variant>
        <vt:lpstr>Chủ đề</vt:lpstr>
      </vt:variant>
      <vt:variant>
        <vt:i4>1</vt:i4>
      </vt:variant>
      <vt:variant>
        <vt:lpstr>Tiêu đề Bản chiếu</vt:lpstr>
      </vt:variant>
      <vt:variant>
        <vt:i4>13</vt:i4>
      </vt:variant>
    </vt:vector>
  </HeadingPairs>
  <TitlesOfParts>
    <vt:vector size="17" baseType="lpstr">
      <vt:lpstr>Arial</vt:lpstr>
      <vt:lpstr>Calibri</vt:lpstr>
      <vt:lpstr>Segoe UI</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DeepPresenter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DeepPresenter Presentation</dc:title>
  <dc:subject/>
  <dc:creator>DeepPresenter</dc:creator>
  <cp:lastModifiedBy>Nguyễn Bình Dương</cp:lastModifiedBy>
  <cp:revision>13</cp:revision>
  <dcterms:created xsi:type="dcterms:W3CDTF">2026-10-11T03:00:50Z</dcterms:created>
  <dcterms:modified xsi:type="dcterms:W3CDTF">2026-10-24T09:41:12Z</dcterms:modified>
</cp:coreProperties>
</file>