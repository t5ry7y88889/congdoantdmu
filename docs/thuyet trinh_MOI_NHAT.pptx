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defaultTextStyle>
  <p:extLst>
    <p:ext uri="{EFAFB233-063F-42B5-8137-9DF3F51BA10A}">
      <p15:sldGuideLst xmlns:p15="http://schemas.microsoft.com/office/powerpoint/2012/main">
        <p15:guide id="1" pos="3840">
          <p15:clr>
            <a:srgbClr val="A4A3A4"/>
          </p15:clr>
        </p15:guide>
        <p15:guide id="2" orient="horz"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5" autoAdjust="0"/>
    <p:restoredTop sz="94431" autoAdjust="0"/>
  </p:normalViewPr>
  <p:slideViewPr>
    <p:cSldViewPr snapToGrid="0" snapToObjects="1">
      <p:cViewPr varScale="1">
        <p:scale>
          <a:sx n="104" d="100"/>
          <a:sy n="104" d="100"/>
        </p:scale>
        <p:origin x="756" y="114"/>
      </p:cViewPr>
      <p:guideLst>
        <p:guide pos="3840"/>
        <p:guide orient="horz"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1625274159" name="Header Placeholder 1"/>
          <p:cNvSpPr>
            <a:spLocks noGrp="1"/>
          </p:cNvSpPr>
          <p:nvPr>
            <p:ph type="hdr" sz="quarter"/>
          </p:nvPr>
        </p:nvSpPr>
        <p:spPr bwMode="auto">
          <a:xfrm>
            <a:off x="0" y="0"/>
            <a:ext cx="2971800" cy="458788"/>
          </a:xfrm>
          <a:prstGeom prst="rect">
            <a:avLst/>
          </a:prstGeom>
        </p:spPr>
        <p:txBody>
          <a:bodyPr vert="horz" lIns="91440" tIns="45720" rIns="91440" bIns="45720" rtlCol="0"/>
          <a:lstStyle>
            <a:lvl1pPr algn="l">
              <a:defRPr sz="1200"/>
            </a:lvl1pPr>
          </a:lstStyle>
          <a:p>
            <a:pPr>
              <a:defRPr/>
            </a:pPr>
            <a:endParaRPr lang="en-US"/>
          </a:p>
        </p:txBody>
      </p:sp>
      <p:sp>
        <p:nvSpPr>
          <p:cNvPr id="819765582" name="Date Placeholder 2"/>
          <p:cNvSpPr>
            <a:spLocks noGrp="1"/>
          </p:cNvSpPr>
          <p:nvPr>
            <p:ph type="dt" idx="1"/>
          </p:nvPr>
        </p:nvSpPr>
        <p:spPr bwMode="auto">
          <a:xfrm>
            <a:off x="3884613" y="0"/>
            <a:ext cx="2971800" cy="458788"/>
          </a:xfrm>
          <a:prstGeom prst="rect">
            <a:avLst/>
          </a:prstGeom>
        </p:spPr>
        <p:txBody>
          <a:bodyPr vert="horz" lIns="91440" tIns="45720" rIns="91440" bIns="45720" rtlCol="0"/>
          <a:lstStyle>
            <a:lvl1pPr algn="r">
              <a:defRPr sz="1200"/>
            </a:lvl1pPr>
          </a:lstStyle>
          <a:p>
            <a:pPr>
              <a:defRPr/>
            </a:pPr>
            <a:fld id="{5282F153-3F37-0F45-9E97-73ACFA13230C}" type="datetimeFigureOut">
              <a:rPr lang="en-US"/>
              <a:t>10/24/2026</a:t>
            </a:fld>
            <a:endParaRPr lang="en-US"/>
          </a:p>
        </p:txBody>
      </p:sp>
      <p:sp>
        <p:nvSpPr>
          <p:cNvPr id="159643182" name="Slide Image Placeholder 3"/>
          <p:cNvSpPr>
            <a:spLocks noGrp="1" noRot="1" noChangeAspect="1"/>
          </p:cNvSpPr>
          <p:nvPr>
            <p:ph type="sldImg" idx="2"/>
          </p:nvPr>
        </p:nvSpPr>
        <p:spPr bwMode="auto">
          <a:xfrm>
            <a:off x="685800" y="1143000"/>
            <a:ext cx="5486400" cy="3086100"/>
          </a:xfrm>
          <a:prstGeom prst="rect">
            <a:avLst/>
          </a:prstGeom>
          <a:noFill/>
          <a:ln w="12700">
            <a:solidFill>
              <a:prstClr val="black"/>
            </a:solidFill>
          </a:ln>
        </p:spPr>
        <p:txBody>
          <a:bodyPr vert="horz" lIns="91440" tIns="45720" rIns="91440" bIns="45720" rtlCol="0" anchor="ctr"/>
          <a:lstStyle/>
          <a:p>
            <a:pPr>
              <a:defRPr/>
            </a:pPr>
            <a:endParaRPr lang="en-US"/>
          </a:p>
        </p:txBody>
      </p:sp>
      <p:sp>
        <p:nvSpPr>
          <p:cNvPr id="1563452908" name="Notes Placeholder 4"/>
          <p:cNvSpPr>
            <a:spLocks noGrp="1"/>
          </p:cNvSpPr>
          <p:nvPr>
            <p:ph type="body" sz="quarter" idx="3"/>
          </p:nvPr>
        </p:nvSpPr>
        <p:spPr bwMode="auto">
          <a:xfrm>
            <a:off x="685800" y="4400550"/>
            <a:ext cx="5486400" cy="3600450"/>
          </a:xfrm>
          <a:prstGeom prst="rect">
            <a:avLst/>
          </a:prstGeom>
        </p:spPr>
        <p:txBody>
          <a:bodyPr vert="horz" lIns="91440" tIns="45720" rIns="91440" bIns="45720" rtlCol="0"/>
          <a:lstStyle/>
          <a:p>
            <a:pPr lvl="0">
              <a:defRPr/>
            </a:pPr>
            <a:r>
              <a:rPr lang="en-US"/>
              <a:t>Click to edit Master text styles</a:t>
            </a:r>
            <a:endParaRPr/>
          </a:p>
          <a:p>
            <a:pPr lvl="1">
              <a:defRPr/>
            </a:pPr>
            <a:r>
              <a:rPr lang="en-US"/>
              <a:t>Second level</a:t>
            </a:r>
            <a:endParaRPr/>
          </a:p>
          <a:p>
            <a:pPr lvl="2">
              <a:defRPr/>
            </a:pPr>
            <a:r>
              <a:rPr lang="en-US"/>
              <a:t>Third level</a:t>
            </a:r>
            <a:endParaRPr/>
          </a:p>
          <a:p>
            <a:pPr lvl="3">
              <a:defRPr/>
            </a:pPr>
            <a:r>
              <a:rPr lang="en-US"/>
              <a:t>Fourth level</a:t>
            </a:r>
            <a:endParaRPr/>
          </a:p>
          <a:p>
            <a:pPr lvl="4">
              <a:defRPr/>
            </a:pPr>
            <a:r>
              <a:rPr lang="en-US"/>
              <a:t>Fifth level</a:t>
            </a:r>
            <a:endParaRPr/>
          </a:p>
        </p:txBody>
      </p:sp>
      <p:sp>
        <p:nvSpPr>
          <p:cNvPr id="603154204" name="Footer Placeholder 5"/>
          <p:cNvSpPr>
            <a:spLocks noGrp="1"/>
          </p:cNvSpPr>
          <p:nvPr>
            <p:ph type="ftr" sz="quarter" idx="4"/>
          </p:nvPr>
        </p:nvSpPr>
        <p:spPr bwMode="auto">
          <a:xfrm>
            <a:off x="0" y="8685213"/>
            <a:ext cx="2971800" cy="458787"/>
          </a:xfrm>
          <a:prstGeom prst="rect">
            <a:avLst/>
          </a:prstGeom>
        </p:spPr>
        <p:txBody>
          <a:bodyPr vert="horz" lIns="91440" tIns="45720" rIns="91440" bIns="45720" rtlCol="0" anchor="b"/>
          <a:lstStyle>
            <a:lvl1pPr algn="l">
              <a:defRPr sz="1200"/>
            </a:lvl1pPr>
          </a:lstStyle>
          <a:p>
            <a:pPr>
              <a:defRPr/>
            </a:pPr>
            <a:endParaRPr lang="en-US"/>
          </a:p>
        </p:txBody>
      </p:sp>
      <p:sp>
        <p:nvSpPr>
          <p:cNvPr id="364400353" name="Slide Number Placeholder 6"/>
          <p:cNvSpPr>
            <a:spLocks noGrp="1"/>
          </p:cNvSpPr>
          <p:nvPr>
            <p:ph type="sldNum" sz="quarter" idx="5"/>
          </p:nvPr>
        </p:nvSpPr>
        <p:spPr bwMode="auto">
          <a:xfrm>
            <a:off x="3884613" y="8685213"/>
            <a:ext cx="2971800" cy="458787"/>
          </a:xfrm>
          <a:prstGeom prst="rect">
            <a:avLst/>
          </a:prstGeom>
        </p:spPr>
        <p:txBody>
          <a:bodyPr vert="horz" lIns="91440" tIns="45720" rIns="91440" bIns="45720" rtlCol="0" anchor="b"/>
          <a:lstStyle>
            <a:lvl1pPr algn="r">
              <a:defRPr sz="1200"/>
            </a:lvl1pPr>
          </a:lstStyle>
          <a:p>
            <a:pPr>
              <a:defRPr/>
            </a:pPr>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a:defRPr sz="1200">
        <a:solidFill>
          <a:schemeClr val="tx1"/>
        </a:solidFill>
        <a:latin typeface="+mn-lt"/>
        <a:ea typeface="+mn-ea"/>
        <a:cs typeface="+mn-cs"/>
      </a:defRPr>
    </a:lvl1pPr>
    <a:lvl2pPr marL="457200" algn="l" defTabSz="914400" rtl="0">
      <a:defRPr sz="1200">
        <a:solidFill>
          <a:schemeClr val="tx1"/>
        </a:solidFill>
        <a:latin typeface="+mn-lt"/>
        <a:ea typeface="+mn-ea"/>
        <a:cs typeface="+mn-cs"/>
      </a:defRPr>
    </a:lvl2pPr>
    <a:lvl3pPr marL="914400" algn="l" defTabSz="914400" rtl="0">
      <a:defRPr sz="1200">
        <a:solidFill>
          <a:schemeClr val="tx1"/>
        </a:solidFill>
        <a:latin typeface="+mn-lt"/>
        <a:ea typeface="+mn-ea"/>
        <a:cs typeface="+mn-cs"/>
      </a:defRPr>
    </a:lvl3pPr>
    <a:lvl4pPr marL="1371600" algn="l" defTabSz="914400" rtl="0">
      <a:defRPr sz="1200">
        <a:solidFill>
          <a:schemeClr val="tx1"/>
        </a:solidFill>
        <a:latin typeface="+mn-lt"/>
        <a:ea typeface="+mn-ea"/>
        <a:cs typeface="+mn-cs"/>
      </a:defRPr>
    </a:lvl4pPr>
    <a:lvl5pPr marL="1828800" algn="l" defTabSz="914400" rtl="0">
      <a:defRPr sz="1200">
        <a:solidFill>
          <a:schemeClr val="tx1"/>
        </a:solidFill>
        <a:latin typeface="+mn-lt"/>
        <a:ea typeface="+mn-ea"/>
        <a:cs typeface="+mn-cs"/>
      </a:defRPr>
    </a:lvl5pPr>
    <a:lvl6pPr marL="2286000" algn="l" defTabSz="914400" rtl="0">
      <a:defRPr sz="1200">
        <a:solidFill>
          <a:schemeClr val="tx1"/>
        </a:solidFill>
        <a:latin typeface="+mn-lt"/>
        <a:ea typeface="+mn-ea"/>
        <a:cs typeface="+mn-cs"/>
      </a:defRPr>
    </a:lvl6pPr>
    <a:lvl7pPr marL="2743200" algn="l" defTabSz="914400" rtl="0">
      <a:defRPr sz="1200">
        <a:solidFill>
          <a:schemeClr val="tx1"/>
        </a:solidFill>
        <a:latin typeface="+mn-lt"/>
        <a:ea typeface="+mn-ea"/>
        <a:cs typeface="+mn-cs"/>
      </a:defRPr>
    </a:lvl7pPr>
    <a:lvl8pPr marL="3200400" algn="l" defTabSz="914400" rtl="0">
      <a:defRPr sz="1200">
        <a:solidFill>
          <a:schemeClr val="tx1"/>
        </a:solidFill>
        <a:latin typeface="+mn-lt"/>
        <a:ea typeface="+mn-ea"/>
        <a:cs typeface="+mn-cs"/>
      </a:defRPr>
    </a:lvl8pPr>
    <a:lvl9pPr marL="3657600" algn="l" defTabSz="914400" rtl="0">
      <a:defRPr sz="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882214971" name="Slide Image Placeholder 1"/>
          <p:cNvSpPr>
            <a:spLocks noGrp="1" noRot="1" noChangeAspect="1"/>
          </p:cNvSpPr>
          <p:nvPr>
            <p:ph type="sldImg"/>
          </p:nvPr>
        </p:nvSpPr>
        <p:spPr bwMode="auto"/>
      </p:sp>
      <p:sp>
        <p:nvSpPr>
          <p:cNvPr id="1951672987" name="Notes Placeholder 2"/>
          <p:cNvSpPr>
            <a:spLocks noGrp="1"/>
          </p:cNvSpPr>
          <p:nvPr>
            <p:ph type="body" idx="1"/>
          </p:nvPr>
        </p:nvSpPr>
        <p:spPr bwMode="auto"/>
        <p:txBody>
          <a:bodyPr/>
          <a:lstStyle/>
          <a:p>
            <a:pPr>
              <a:defRPr/>
            </a:pPr>
            <a:endParaRPr lang="en-US"/>
          </a:p>
        </p:txBody>
      </p:sp>
      <p:sp>
        <p:nvSpPr>
          <p:cNvPr id="1447702385" name="Slide Number Placeholder 3"/>
          <p:cNvSpPr>
            <a:spLocks noGrp="1"/>
          </p:cNvSpPr>
          <p:nvPr>
            <p:ph type="sldNum" sz="quarter" idx="10"/>
          </p:nvPr>
        </p:nvSpPr>
        <p:spPr bwMode="auto"/>
        <p:txBody>
          <a:bodyPr/>
          <a:lstStyle/>
          <a:p>
            <a:pPr>
              <a:defRPr/>
            </a:pPr>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50204058" name="Slide Image Placeholder 1"/>
          <p:cNvSpPr>
            <a:spLocks noGrp="1" noRot="1" noChangeAspect="1"/>
          </p:cNvSpPr>
          <p:nvPr>
            <p:ph type="sldImg"/>
          </p:nvPr>
        </p:nvSpPr>
        <p:spPr bwMode="auto"/>
      </p:sp>
      <p:sp>
        <p:nvSpPr>
          <p:cNvPr id="855094560" name="Notes Placeholder 2"/>
          <p:cNvSpPr>
            <a:spLocks noGrp="1"/>
          </p:cNvSpPr>
          <p:nvPr>
            <p:ph type="body" idx="1"/>
          </p:nvPr>
        </p:nvSpPr>
        <p:spPr bwMode="auto"/>
        <p:txBody>
          <a:bodyPr/>
          <a:lstStyle/>
          <a:p>
            <a:pPr>
              <a:defRPr/>
            </a:pPr>
            <a:endParaRPr lang="en-US"/>
          </a:p>
        </p:txBody>
      </p:sp>
      <p:sp>
        <p:nvSpPr>
          <p:cNvPr id="1268368270" name="Slide Number Placeholder 3"/>
          <p:cNvSpPr>
            <a:spLocks noGrp="1"/>
          </p:cNvSpPr>
          <p:nvPr>
            <p:ph type="sldNum" sz="quarter" idx="10"/>
          </p:nvPr>
        </p:nvSpPr>
        <p:spPr bwMode="auto"/>
        <p:txBody>
          <a:bodyPr/>
          <a:lstStyle/>
          <a:p>
            <a:pPr>
              <a:defRPr/>
            </a:pPr>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507160879" name="Slide Image Placeholder 1"/>
          <p:cNvSpPr>
            <a:spLocks noGrp="1" noRot="1" noChangeAspect="1"/>
          </p:cNvSpPr>
          <p:nvPr>
            <p:ph type="sldImg"/>
          </p:nvPr>
        </p:nvSpPr>
        <p:spPr bwMode="auto"/>
      </p:sp>
      <p:sp>
        <p:nvSpPr>
          <p:cNvPr id="1849410906" name="Notes Placeholder 2"/>
          <p:cNvSpPr>
            <a:spLocks noGrp="1"/>
          </p:cNvSpPr>
          <p:nvPr>
            <p:ph type="body" idx="1"/>
          </p:nvPr>
        </p:nvSpPr>
        <p:spPr bwMode="auto"/>
        <p:txBody>
          <a:bodyPr/>
          <a:lstStyle/>
          <a:p>
            <a:pPr>
              <a:defRPr/>
            </a:pPr>
            <a:endParaRPr lang="en-US"/>
          </a:p>
        </p:txBody>
      </p:sp>
      <p:sp>
        <p:nvSpPr>
          <p:cNvPr id="1373113612" name="Slide Number Placeholder 3"/>
          <p:cNvSpPr>
            <a:spLocks noGrp="1"/>
          </p:cNvSpPr>
          <p:nvPr>
            <p:ph type="sldNum" sz="quarter" idx="10"/>
          </p:nvPr>
        </p:nvSpPr>
        <p:spPr bwMode="auto"/>
        <p:txBody>
          <a:bodyPr/>
          <a:lstStyle/>
          <a:p>
            <a:pPr>
              <a:defRPr/>
            </a:pPr>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02353953" name="Slide Image Placeholder 1"/>
          <p:cNvSpPr>
            <a:spLocks noGrp="1" noRot="1" noChangeAspect="1"/>
          </p:cNvSpPr>
          <p:nvPr>
            <p:ph type="sldImg"/>
          </p:nvPr>
        </p:nvSpPr>
        <p:spPr bwMode="auto"/>
      </p:sp>
      <p:sp>
        <p:nvSpPr>
          <p:cNvPr id="353046167" name="Notes Placeholder 2"/>
          <p:cNvSpPr>
            <a:spLocks noGrp="1"/>
          </p:cNvSpPr>
          <p:nvPr>
            <p:ph type="body" idx="1"/>
          </p:nvPr>
        </p:nvSpPr>
        <p:spPr bwMode="auto"/>
        <p:txBody>
          <a:bodyPr/>
          <a:lstStyle/>
          <a:p>
            <a:pPr>
              <a:defRPr/>
            </a:pPr>
            <a:endParaRPr lang="en-US"/>
          </a:p>
        </p:txBody>
      </p:sp>
      <p:sp>
        <p:nvSpPr>
          <p:cNvPr id="2072573907" name="Slide Number Placeholder 3"/>
          <p:cNvSpPr>
            <a:spLocks noGrp="1"/>
          </p:cNvSpPr>
          <p:nvPr>
            <p:ph type="sldNum" sz="quarter" idx="10"/>
          </p:nvPr>
        </p:nvSpPr>
        <p:spPr bwMode="auto"/>
        <p:txBody>
          <a:bodyPr/>
          <a:lstStyle/>
          <a:p>
            <a:pPr>
              <a:defRPr/>
            </a:pPr>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02090851" name="Slide Image Placeholder 1"/>
          <p:cNvSpPr>
            <a:spLocks noGrp="1" noRot="1" noChangeAspect="1"/>
          </p:cNvSpPr>
          <p:nvPr>
            <p:ph type="sldImg"/>
          </p:nvPr>
        </p:nvSpPr>
        <p:spPr bwMode="auto"/>
      </p:sp>
      <p:sp>
        <p:nvSpPr>
          <p:cNvPr id="121899841" name="Notes Placeholder 2"/>
          <p:cNvSpPr>
            <a:spLocks noGrp="1"/>
          </p:cNvSpPr>
          <p:nvPr>
            <p:ph type="body" idx="1"/>
          </p:nvPr>
        </p:nvSpPr>
        <p:spPr bwMode="auto"/>
        <p:txBody>
          <a:bodyPr/>
          <a:lstStyle/>
          <a:p>
            <a:pPr>
              <a:defRPr/>
            </a:pPr>
            <a:endParaRPr lang="en-US"/>
          </a:p>
        </p:txBody>
      </p:sp>
      <p:sp>
        <p:nvSpPr>
          <p:cNvPr id="115853011" name="Slide Number Placeholder 3"/>
          <p:cNvSpPr>
            <a:spLocks noGrp="1"/>
          </p:cNvSpPr>
          <p:nvPr>
            <p:ph type="sldNum" sz="quarter" idx="10"/>
          </p:nvPr>
        </p:nvSpPr>
        <p:spPr bwMode="auto"/>
        <p:txBody>
          <a:bodyPr/>
          <a:lstStyle/>
          <a:p>
            <a:pPr>
              <a:defRPr/>
            </a:pPr>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96364332" name="Slide Image Placeholder 1"/>
          <p:cNvSpPr>
            <a:spLocks noGrp="1" noRot="1" noChangeAspect="1"/>
          </p:cNvSpPr>
          <p:nvPr>
            <p:ph type="sldImg"/>
          </p:nvPr>
        </p:nvSpPr>
        <p:spPr bwMode="auto"/>
      </p:sp>
      <p:sp>
        <p:nvSpPr>
          <p:cNvPr id="1026868594" name="Notes Placeholder 2"/>
          <p:cNvSpPr>
            <a:spLocks noGrp="1"/>
          </p:cNvSpPr>
          <p:nvPr>
            <p:ph type="body" idx="1"/>
          </p:nvPr>
        </p:nvSpPr>
        <p:spPr bwMode="auto"/>
        <p:txBody>
          <a:bodyPr/>
          <a:lstStyle/>
          <a:p>
            <a:pPr>
              <a:defRPr/>
            </a:pPr>
            <a:endParaRPr lang="en-US"/>
          </a:p>
        </p:txBody>
      </p:sp>
      <p:sp>
        <p:nvSpPr>
          <p:cNvPr id="161629638" name="Slide Number Placeholder 3"/>
          <p:cNvSpPr>
            <a:spLocks noGrp="1"/>
          </p:cNvSpPr>
          <p:nvPr>
            <p:ph type="sldNum" sz="quarter" idx="10"/>
          </p:nvPr>
        </p:nvSpPr>
        <p:spPr bwMode="auto"/>
        <p:txBody>
          <a:bodyPr/>
          <a:lstStyle/>
          <a:p>
            <a:pPr>
              <a:defRPr/>
            </a:pPr>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96775833" name="Slide Image Placeholder 1"/>
          <p:cNvSpPr>
            <a:spLocks noGrp="1" noRot="1" noChangeAspect="1"/>
          </p:cNvSpPr>
          <p:nvPr>
            <p:ph type="sldImg"/>
          </p:nvPr>
        </p:nvSpPr>
        <p:spPr bwMode="auto"/>
      </p:sp>
      <p:sp>
        <p:nvSpPr>
          <p:cNvPr id="1841025842" name="Notes Placeholder 2"/>
          <p:cNvSpPr>
            <a:spLocks noGrp="1"/>
          </p:cNvSpPr>
          <p:nvPr>
            <p:ph type="body" idx="1"/>
          </p:nvPr>
        </p:nvSpPr>
        <p:spPr bwMode="auto"/>
        <p:txBody>
          <a:bodyPr/>
          <a:lstStyle/>
          <a:p>
            <a:pPr>
              <a:defRPr/>
            </a:pPr>
            <a:endParaRPr lang="en-US" dirty="0"/>
          </a:p>
        </p:txBody>
      </p:sp>
      <p:sp>
        <p:nvSpPr>
          <p:cNvPr id="401003145" name="Slide Number Placeholder 3"/>
          <p:cNvSpPr>
            <a:spLocks noGrp="1"/>
          </p:cNvSpPr>
          <p:nvPr>
            <p:ph type="sldNum" sz="quarter" idx="10"/>
          </p:nvPr>
        </p:nvSpPr>
        <p:spPr bwMode="auto"/>
        <p:txBody>
          <a:bodyPr/>
          <a:lstStyle/>
          <a:p>
            <a:pPr>
              <a:defRPr/>
            </a:pPr>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23870516" name="Slide Image Placeholder 1"/>
          <p:cNvSpPr>
            <a:spLocks noGrp="1" noRot="1" noChangeAspect="1"/>
          </p:cNvSpPr>
          <p:nvPr>
            <p:ph type="sldImg"/>
          </p:nvPr>
        </p:nvSpPr>
        <p:spPr bwMode="auto"/>
      </p:sp>
      <p:sp>
        <p:nvSpPr>
          <p:cNvPr id="1519514850" name="Notes Placeholder 2"/>
          <p:cNvSpPr>
            <a:spLocks noGrp="1"/>
          </p:cNvSpPr>
          <p:nvPr>
            <p:ph type="body" idx="1"/>
          </p:nvPr>
        </p:nvSpPr>
        <p:spPr bwMode="auto"/>
        <p:txBody>
          <a:bodyPr/>
          <a:lstStyle/>
          <a:p>
            <a:pPr>
              <a:defRPr/>
            </a:pPr>
            <a:endParaRPr lang="en-US"/>
          </a:p>
        </p:txBody>
      </p:sp>
      <p:sp>
        <p:nvSpPr>
          <p:cNvPr id="658800164" name="Slide Number Placeholder 3"/>
          <p:cNvSpPr>
            <a:spLocks noGrp="1"/>
          </p:cNvSpPr>
          <p:nvPr>
            <p:ph type="sldNum" sz="quarter" idx="10"/>
          </p:nvPr>
        </p:nvSpPr>
        <p:spPr bwMode="auto"/>
        <p:txBody>
          <a:bodyPr/>
          <a:lstStyle/>
          <a:p>
            <a:pPr>
              <a:defRPr/>
            </a:pPr>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03360641" name="Slide Image Placeholder 1"/>
          <p:cNvSpPr>
            <a:spLocks noGrp="1" noRot="1" noChangeAspect="1"/>
          </p:cNvSpPr>
          <p:nvPr>
            <p:ph type="sldImg"/>
          </p:nvPr>
        </p:nvSpPr>
        <p:spPr bwMode="auto"/>
      </p:sp>
      <p:sp>
        <p:nvSpPr>
          <p:cNvPr id="546525656" name="Notes Placeholder 2"/>
          <p:cNvSpPr>
            <a:spLocks noGrp="1"/>
          </p:cNvSpPr>
          <p:nvPr>
            <p:ph type="body" idx="1"/>
          </p:nvPr>
        </p:nvSpPr>
        <p:spPr bwMode="auto"/>
        <p:txBody>
          <a:bodyPr/>
          <a:lstStyle/>
          <a:p>
            <a:pPr>
              <a:defRPr/>
            </a:pPr>
            <a:endParaRPr lang="en-US"/>
          </a:p>
        </p:txBody>
      </p:sp>
      <p:sp>
        <p:nvSpPr>
          <p:cNvPr id="1414378132" name="Slide Number Placeholder 3"/>
          <p:cNvSpPr>
            <a:spLocks noGrp="1"/>
          </p:cNvSpPr>
          <p:nvPr>
            <p:ph type="sldNum" sz="quarter" idx="10"/>
          </p:nvPr>
        </p:nvSpPr>
        <p:spPr bwMode="auto"/>
        <p:txBody>
          <a:bodyPr/>
          <a:lstStyle/>
          <a:p>
            <a:pPr>
              <a:defRPr/>
            </a:pPr>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26090955" name="Slide Image Placeholder 1"/>
          <p:cNvSpPr>
            <a:spLocks noGrp="1" noRot="1" noChangeAspect="1"/>
          </p:cNvSpPr>
          <p:nvPr>
            <p:ph type="sldImg"/>
          </p:nvPr>
        </p:nvSpPr>
        <p:spPr bwMode="auto"/>
      </p:sp>
      <p:sp>
        <p:nvSpPr>
          <p:cNvPr id="110295194" name="Notes Placeholder 2"/>
          <p:cNvSpPr>
            <a:spLocks noGrp="1"/>
          </p:cNvSpPr>
          <p:nvPr>
            <p:ph type="body" idx="1"/>
          </p:nvPr>
        </p:nvSpPr>
        <p:spPr bwMode="auto"/>
        <p:txBody>
          <a:bodyPr/>
          <a:lstStyle/>
          <a:p>
            <a:pPr>
              <a:defRPr/>
            </a:pPr>
            <a:endParaRPr lang="en-US"/>
          </a:p>
        </p:txBody>
      </p:sp>
      <p:sp>
        <p:nvSpPr>
          <p:cNvPr id="999941876" name="Slide Number Placeholder 3"/>
          <p:cNvSpPr>
            <a:spLocks noGrp="1"/>
          </p:cNvSpPr>
          <p:nvPr>
            <p:ph type="sldNum" sz="quarter" idx="10"/>
          </p:nvPr>
        </p:nvSpPr>
        <p:spPr bwMode="auto"/>
        <p:txBody>
          <a:bodyPr/>
          <a:lstStyle/>
          <a:p>
            <a:pPr>
              <a:defRPr/>
            </a:pPr>
            <a:fld id="{F7021451-1387-4CA6-816F-3879F97B5CBC}" type="slidenum">
              <a:rPr lang="en-US"/>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81529488" name="Slide Image Placeholder 1"/>
          <p:cNvSpPr>
            <a:spLocks noGrp="1" noRot="1" noChangeAspect="1"/>
          </p:cNvSpPr>
          <p:nvPr>
            <p:ph type="sldImg"/>
          </p:nvPr>
        </p:nvSpPr>
        <p:spPr bwMode="auto"/>
      </p:sp>
      <p:sp>
        <p:nvSpPr>
          <p:cNvPr id="1799096408" name="Notes Placeholder 2"/>
          <p:cNvSpPr>
            <a:spLocks noGrp="1"/>
          </p:cNvSpPr>
          <p:nvPr>
            <p:ph type="body" idx="1"/>
          </p:nvPr>
        </p:nvSpPr>
        <p:spPr bwMode="auto"/>
        <p:txBody>
          <a:bodyPr/>
          <a:lstStyle/>
          <a:p>
            <a:pPr>
              <a:defRPr/>
            </a:pPr>
            <a:endParaRPr lang="en-US"/>
          </a:p>
        </p:txBody>
      </p:sp>
      <p:sp>
        <p:nvSpPr>
          <p:cNvPr id="1954163673" name="Slide Number Placeholder 3"/>
          <p:cNvSpPr>
            <a:spLocks noGrp="1"/>
          </p:cNvSpPr>
          <p:nvPr>
            <p:ph type="sldNum" sz="quarter" idx="10"/>
          </p:nvPr>
        </p:nvSpPr>
        <p:spPr bwMode="auto"/>
        <p:txBody>
          <a:bodyPr/>
          <a:lstStyle/>
          <a:p>
            <a:pPr>
              <a:defRPr/>
            </a:pPr>
            <a:fld id="{F7021451-1387-4CA6-816F-3879F97B5CBC}" type="slidenum">
              <a:rPr lang="en-US"/>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31494569" name="Slide Image Placeholder 1"/>
          <p:cNvSpPr>
            <a:spLocks noGrp="1" noRot="1" noChangeAspect="1"/>
          </p:cNvSpPr>
          <p:nvPr>
            <p:ph type="sldImg"/>
          </p:nvPr>
        </p:nvSpPr>
        <p:spPr bwMode="auto"/>
      </p:sp>
      <p:sp>
        <p:nvSpPr>
          <p:cNvPr id="1396293744" name="Notes Placeholder 2"/>
          <p:cNvSpPr>
            <a:spLocks noGrp="1"/>
          </p:cNvSpPr>
          <p:nvPr>
            <p:ph type="body" idx="1"/>
          </p:nvPr>
        </p:nvSpPr>
        <p:spPr bwMode="auto"/>
        <p:txBody>
          <a:bodyPr/>
          <a:lstStyle/>
          <a:p>
            <a:pPr>
              <a:defRPr/>
            </a:pPr>
            <a:endParaRPr lang="en-US"/>
          </a:p>
        </p:txBody>
      </p:sp>
      <p:sp>
        <p:nvSpPr>
          <p:cNvPr id="104697216" name="Slide Number Placeholder 3"/>
          <p:cNvSpPr>
            <a:spLocks noGrp="1"/>
          </p:cNvSpPr>
          <p:nvPr>
            <p:ph type="sldNum" sz="quarter" idx="10"/>
          </p:nvPr>
        </p:nvSpPr>
        <p:spPr bwMode="auto"/>
        <p:txBody>
          <a:bodyPr/>
          <a:lstStyle/>
          <a:p>
            <a:pPr>
              <a:defRPr/>
            </a:pPr>
            <a:fld id="{F7021451-1387-4CA6-816F-3879F97B5CBC}" type="slidenum">
              <a:rPr lang="en-US"/>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7FFF6-614E-60EA-B2A4-032BFC1F0577}"/>
            </a:ext>
          </a:extLst>
        </p:cNvPr>
        <p:cNvGrpSpPr/>
        <p:nvPr/>
      </p:nvGrpSpPr>
      <p:grpSpPr bwMode="auto">
        <a:xfrm>
          <a:off x="0" y="0"/>
          <a:ext cx="0" cy="0"/>
          <a:chOff x="0" y="0"/>
          <a:chExt cx="0" cy="0"/>
        </a:xfrm>
      </p:grpSpPr>
      <p:sp>
        <p:nvSpPr>
          <p:cNvPr id="882214971" name="Slide Image Placeholder 1">
            <a:extLst>
              <a:ext uri="{FF2B5EF4-FFF2-40B4-BE49-F238E27FC236}">
                <a16:creationId xmlns:a16="http://schemas.microsoft.com/office/drawing/2014/main" id="{4EAE3EAA-ACDA-9090-92F8-CAE354732341}"/>
              </a:ext>
            </a:extLst>
          </p:cNvPr>
          <p:cNvSpPr>
            <a:spLocks noGrp="1" noRot="1" noChangeAspect="1"/>
          </p:cNvSpPr>
          <p:nvPr>
            <p:ph type="sldImg"/>
          </p:nvPr>
        </p:nvSpPr>
        <p:spPr bwMode="auto"/>
      </p:sp>
      <p:sp>
        <p:nvSpPr>
          <p:cNvPr id="1951672987" name="Notes Placeholder 2">
            <a:extLst>
              <a:ext uri="{FF2B5EF4-FFF2-40B4-BE49-F238E27FC236}">
                <a16:creationId xmlns:a16="http://schemas.microsoft.com/office/drawing/2014/main" id="{714FC30A-544A-4A52-F2AA-C07B1378D37E}"/>
              </a:ext>
            </a:extLst>
          </p:cNvPr>
          <p:cNvSpPr>
            <a:spLocks noGrp="1"/>
          </p:cNvSpPr>
          <p:nvPr>
            <p:ph type="body" idx="1"/>
          </p:nvPr>
        </p:nvSpPr>
        <p:spPr bwMode="auto"/>
        <p:txBody>
          <a:bodyPr/>
          <a:lstStyle/>
          <a:p>
            <a:pPr>
              <a:defRPr/>
            </a:pPr>
            <a:endParaRPr lang="en-US" dirty="0"/>
          </a:p>
        </p:txBody>
      </p:sp>
      <p:sp>
        <p:nvSpPr>
          <p:cNvPr id="1447702385" name="Slide Number Placeholder 3">
            <a:extLst>
              <a:ext uri="{FF2B5EF4-FFF2-40B4-BE49-F238E27FC236}">
                <a16:creationId xmlns:a16="http://schemas.microsoft.com/office/drawing/2014/main" id="{2C0C03E8-4618-98AC-8ABC-1F4680839708}"/>
              </a:ext>
            </a:extLst>
          </p:cNvPr>
          <p:cNvSpPr>
            <a:spLocks noGrp="1"/>
          </p:cNvSpPr>
          <p:nvPr>
            <p:ph type="sldNum" sz="quarter" idx="10"/>
          </p:nvPr>
        </p:nvSpPr>
        <p:spPr bwMode="auto"/>
        <p:txBody>
          <a:bodyPr/>
          <a:lstStyle/>
          <a:p>
            <a:pPr>
              <a:defRPr/>
            </a:pPr>
            <a:fld id="{F7021451-1387-4CA6-816F-3879F97B5CBC}" type="slidenum">
              <a:rPr lang="en-US"/>
              <a:t>13</a:t>
            </a:fld>
            <a:endParaRPr lang="en-US"/>
          </a:p>
        </p:txBody>
      </p:sp>
    </p:spTree>
    <p:extLst>
      <p:ext uri="{BB962C8B-B14F-4D97-AF65-F5344CB8AC3E}">
        <p14:creationId xmlns:p14="http://schemas.microsoft.com/office/powerpoint/2010/main" val="2260758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preserve="1" userDrawn="1">
  <p:cSld name="DEFAULT">
    <p:bg>
      <p:bgRef idx="1001">
        <a:schemeClr val="bg1"/>
      </p:bgRef>
    </p:bg>
    <p:spTree>
      <p:nvGrpSpPr>
        <p:cNvPr id="1" name=""/>
        <p:cNvGrpSpPr/>
        <p:nvPr/>
      </p:nvGrpSpPr>
      <p:grpSpPr bwMode="auto">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a:spcBef>
          <a:spcPts val="0"/>
        </a:spcBef>
        <a:buNone/>
        <a:defRPr sz="4400">
          <a:solidFill>
            <a:schemeClr val="tx1"/>
          </a:solidFill>
          <a:latin typeface="+mj-lt"/>
          <a:ea typeface="+mj-ea"/>
          <a:cs typeface="+mj-cs"/>
        </a:defRPr>
      </a:lvl1pPr>
    </p:titleStyle>
    <p:bodyStyle>
      <a:lvl1pPr marL="342900" indent="-342900" algn="l" defTabSz="914400" rtl="0">
        <a:spcBef>
          <a:spcPts val="0"/>
        </a:spcBef>
        <a:buFont typeface="Arial"/>
        <a:buChar char="•"/>
        <a:defRPr sz="3200">
          <a:solidFill>
            <a:schemeClr val="tx1"/>
          </a:solidFill>
          <a:latin typeface="+mn-lt"/>
          <a:ea typeface="+mn-ea"/>
          <a:cs typeface="+mn-cs"/>
        </a:defRPr>
      </a:lvl1pPr>
      <a:lvl2pPr marL="742950" indent="-285750" algn="l" defTabSz="914400" rtl="0">
        <a:spcBef>
          <a:spcPts val="0"/>
        </a:spcBef>
        <a:buFont typeface="Arial"/>
        <a:buChar char="–"/>
        <a:defRPr sz="2800">
          <a:solidFill>
            <a:schemeClr val="tx1"/>
          </a:solidFill>
          <a:latin typeface="+mn-lt"/>
          <a:ea typeface="+mn-ea"/>
          <a:cs typeface="+mn-cs"/>
        </a:defRPr>
      </a:lvl2pPr>
      <a:lvl3pPr marL="1143000" indent="-228600" algn="l" defTabSz="914400" rtl="0">
        <a:spcBef>
          <a:spcPts val="0"/>
        </a:spcBef>
        <a:buFont typeface="Arial"/>
        <a:buChar char="•"/>
        <a:defRPr sz="2400">
          <a:solidFill>
            <a:schemeClr val="tx1"/>
          </a:solidFill>
          <a:latin typeface="+mn-lt"/>
          <a:ea typeface="+mn-ea"/>
          <a:cs typeface="+mn-cs"/>
        </a:defRPr>
      </a:lvl3pPr>
      <a:lvl4pPr marL="1600200" indent="-228600" algn="l" defTabSz="914400" rtl="0">
        <a:spcBef>
          <a:spcPts val="0"/>
        </a:spcBef>
        <a:buFont typeface="Arial"/>
        <a:buChar char="–"/>
        <a:defRPr sz="2000">
          <a:solidFill>
            <a:schemeClr val="tx1"/>
          </a:solidFill>
          <a:latin typeface="+mn-lt"/>
          <a:ea typeface="+mn-ea"/>
          <a:cs typeface="+mn-cs"/>
        </a:defRPr>
      </a:lvl4pPr>
      <a:lvl5pPr marL="2057400" indent="-228600" algn="l" defTabSz="914400" rtl="0">
        <a:spcBef>
          <a:spcPts val="0"/>
        </a:spcBef>
        <a:buFont typeface="Arial"/>
        <a:buChar char="»"/>
        <a:defRPr sz="2000">
          <a:solidFill>
            <a:schemeClr val="tx1"/>
          </a:solidFill>
          <a:latin typeface="+mn-lt"/>
          <a:ea typeface="+mn-ea"/>
          <a:cs typeface="+mn-cs"/>
        </a:defRPr>
      </a:lvl5pPr>
      <a:lvl6pPr marL="2514600" indent="-228600" algn="l" defTabSz="914400" rtl="0">
        <a:spcBef>
          <a:spcPts val="0"/>
        </a:spcBef>
        <a:buFont typeface="Arial"/>
        <a:buChar char="•"/>
        <a:defRPr sz="2000">
          <a:solidFill>
            <a:schemeClr val="tx1"/>
          </a:solidFill>
          <a:latin typeface="+mn-lt"/>
          <a:ea typeface="+mn-ea"/>
          <a:cs typeface="+mn-cs"/>
        </a:defRPr>
      </a:lvl6pPr>
      <a:lvl7pPr marL="2971800" indent="-228600" algn="l" defTabSz="914400" rtl="0">
        <a:spcBef>
          <a:spcPts val="0"/>
        </a:spcBef>
        <a:buFont typeface="Arial"/>
        <a:buChar char="•"/>
        <a:defRPr sz="2000">
          <a:solidFill>
            <a:schemeClr val="tx1"/>
          </a:solidFill>
          <a:latin typeface="+mn-lt"/>
          <a:ea typeface="+mn-ea"/>
          <a:cs typeface="+mn-cs"/>
        </a:defRPr>
      </a:lvl7pPr>
      <a:lvl8pPr marL="3429000" indent="-228600" algn="l" defTabSz="914400" rtl="0">
        <a:spcBef>
          <a:spcPts val="0"/>
        </a:spcBef>
        <a:buFont typeface="Arial"/>
        <a:buChar char="•"/>
        <a:defRPr sz="2000">
          <a:solidFill>
            <a:schemeClr val="tx1"/>
          </a:solidFill>
          <a:latin typeface="+mn-lt"/>
          <a:ea typeface="+mn-ea"/>
          <a:cs typeface="+mn-cs"/>
        </a:defRPr>
      </a:lvl8pPr>
      <a:lvl9pPr marL="3886200" indent="-228600" algn="l" defTabSz="914400" rtl="0">
        <a:spcBef>
          <a:spcPts val="0"/>
        </a:spcBef>
        <a:buFont typeface="Arial"/>
        <a:buChar char="•"/>
        <a:defRPr sz="2000">
          <a:solidFill>
            <a:schemeClr val="tx1"/>
          </a:solidFill>
          <a:latin typeface="+mn-lt"/>
          <a:ea typeface="+mn-ea"/>
          <a:cs typeface="+mn-cs"/>
        </a:defRPr>
      </a:lvl9pPr>
    </p:bodyStyle>
    <p:otherStyle>
      <a:defPPr>
        <a:defRPr lang="en-US"/>
      </a:defPPr>
      <a:lvl1pPr marL="0" algn="l" defTabSz="914400" rtl="0">
        <a:defRPr sz="1800">
          <a:solidFill>
            <a:schemeClr val="tx1"/>
          </a:solidFill>
          <a:latin typeface="+mn-lt"/>
          <a:ea typeface="+mn-ea"/>
          <a:cs typeface="+mn-cs"/>
        </a:defRPr>
      </a:lvl1pPr>
      <a:lvl2pPr marL="457200" algn="l" defTabSz="914400" rtl="0">
        <a:defRPr sz="1800">
          <a:solidFill>
            <a:schemeClr val="tx1"/>
          </a:solidFill>
          <a:latin typeface="+mn-lt"/>
          <a:ea typeface="+mn-ea"/>
          <a:cs typeface="+mn-cs"/>
        </a:defRPr>
      </a:lvl2pPr>
      <a:lvl3pPr marL="914400" algn="l" defTabSz="914400" rtl="0">
        <a:defRPr sz="1800">
          <a:solidFill>
            <a:schemeClr val="tx1"/>
          </a:solidFill>
          <a:latin typeface="+mn-lt"/>
          <a:ea typeface="+mn-ea"/>
          <a:cs typeface="+mn-cs"/>
        </a:defRPr>
      </a:lvl3pPr>
      <a:lvl4pPr marL="1371600" algn="l" defTabSz="914400" rtl="0">
        <a:defRPr sz="1800">
          <a:solidFill>
            <a:schemeClr val="tx1"/>
          </a:solidFill>
          <a:latin typeface="+mn-lt"/>
          <a:ea typeface="+mn-ea"/>
          <a:cs typeface="+mn-cs"/>
        </a:defRPr>
      </a:lvl4pPr>
      <a:lvl5pPr marL="1828800" algn="l" defTabSz="914400" rtl="0">
        <a:defRPr sz="1800">
          <a:solidFill>
            <a:schemeClr val="tx1"/>
          </a:solidFill>
          <a:latin typeface="+mn-lt"/>
          <a:ea typeface="+mn-ea"/>
          <a:cs typeface="+mn-cs"/>
        </a:defRPr>
      </a:lvl5pPr>
      <a:lvl6pPr marL="2286000" algn="l" defTabSz="914400" rtl="0">
        <a:defRPr sz="1800">
          <a:solidFill>
            <a:schemeClr val="tx1"/>
          </a:solidFill>
          <a:latin typeface="+mn-lt"/>
          <a:ea typeface="+mn-ea"/>
          <a:cs typeface="+mn-cs"/>
        </a:defRPr>
      </a:lvl6pPr>
      <a:lvl7pPr marL="2743200" algn="l" defTabSz="914400" rtl="0">
        <a:defRPr sz="1800">
          <a:solidFill>
            <a:schemeClr val="tx1"/>
          </a:solidFill>
          <a:latin typeface="+mn-lt"/>
          <a:ea typeface="+mn-ea"/>
          <a:cs typeface="+mn-cs"/>
        </a:defRPr>
      </a:lvl7pPr>
      <a:lvl8pPr marL="3200400" algn="l" defTabSz="914400" rtl="0">
        <a:defRPr sz="1800">
          <a:solidFill>
            <a:schemeClr val="tx1"/>
          </a:solidFill>
          <a:latin typeface="+mn-lt"/>
          <a:ea typeface="+mn-ea"/>
          <a:cs typeface="+mn-cs"/>
        </a:defRPr>
      </a:lvl8pPr>
      <a:lvl9pPr marL="3657600" algn="l" defTabSz="914400" rtl="0">
        <a:defRPr sz="18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4.pn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4.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4.png"/><Relationship Id="rId4" Type="http://schemas.openxmlformats.org/officeDocument/2006/relationships/image" Target="../media/image7.jpg"/><Relationship Id="rId5"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4.png"/><Relationship Id="rId4" Type="http://schemas.openxmlformats.org/officeDocument/2006/relationships/image" Target="../media/image9.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showMasterPhAnim="0">
  <p:cSld name="Slide 1">
    <p:bg>
      <p:bgPr>
        <a:solidFill>
          <a:srgbClr val="F6F8FB"/>
        </a:solidFill>
        <a:effectLst/>
      </p:bgPr>
    </p:bg>
    <p:spTree>
      <p:nvGrpSpPr>
        <p:cNvPr id="1" name=""/>
        <p:cNvGrpSpPr/>
        <p:nvPr/>
      </p:nvGrpSpPr>
      <p:grpSpPr bwMode="auto">
        <a:xfrm>
          <a:off x="0" y="0"/>
          <a:ext cx="0" cy="0"/>
          <a:chOff x="0" y="0"/>
          <a:chExt cx="0" cy="0"/>
        </a:xfrm>
      </p:grpSpPr>
      <p:pic>
        <p:nvPicPr>
          <p:cNvPr id="870917759" name="Image 0" descr="/var/folders/t4/q0khv7qd1r3dc2yrbwkzmjf00000gn/T/html2pptx-5EShAo/html2pptx-bg-1791687631881-4aa197ed81b4d.png"/>
          <p:cNvPicPr>
            <a:picLocks noChangeAspect="1"/>
          </p:cNvPicPr>
          <p:nvPr/>
        </p:nvPicPr>
        <p:blipFill rotWithShape="1">
          <a:blip r:embed="rId3"/>
          <a:stretch/>
        </p:blipFill>
        <p:spPr bwMode="auto">
          <a:xfrm>
            <a:off x="0" y="0"/>
            <a:ext cx="12192000" cy="6858000"/>
          </a:xfrm>
          <a:prstGeom prst="rect">
            <a:avLst/>
          </a:prstGeom>
        </p:spPr>
      </p:pic>
      <p:pic>
        <p:nvPicPr>
          <p:cNvPr id="106409509" name="Image 1" descr="/var/folders/t4/q0khv7qd1r3dc2yrbwkzmjf00000gn/T/html2pptx-5EShAo/html2pptx-bg-1791687634666-11618a6fb0db7.png"/>
          <p:cNvPicPr>
            <a:picLocks noChangeAspect="1"/>
          </p:cNvPicPr>
          <p:nvPr/>
        </p:nvPicPr>
        <p:blipFill rotWithShape="1">
          <a:blip r:embed="rId4"/>
          <a:stretch/>
        </p:blipFill>
        <p:spPr bwMode="auto">
          <a:xfrm>
            <a:off x="0" y="0"/>
            <a:ext cx="12192000" cy="6858000"/>
          </a:xfrm>
          <a:prstGeom prst="rect">
            <a:avLst/>
          </a:prstGeom>
        </p:spPr>
      </p:pic>
      <p:sp>
        <p:nvSpPr>
          <p:cNvPr id="1537142312" name="Text 0"/>
          <p:cNvSpPr/>
          <p:nvPr/>
        </p:nvSpPr>
        <p:spPr bwMode="auto">
          <a:xfrm>
            <a:off x="3376664" y="664681"/>
            <a:ext cx="5375100" cy="161925"/>
          </a:xfrm>
          <a:prstGeom prst="rect">
            <a:avLst/>
          </a:prstGeom>
          <a:noFill/>
          <a:ln/>
        </p:spPr>
        <p:txBody>
          <a:bodyPr wrap="square" lIns="0" tIns="0" rIns="0" bIns="0" rtlCol="0" anchor="t"/>
          <a:lstStyle/>
          <a:p>
            <a:pPr marL="0" indent="0" algn="ctr">
              <a:spcBef>
                <a:spcPts val="1125"/>
              </a:spcBef>
              <a:spcAft>
                <a:spcPts val="1350"/>
              </a:spcAft>
              <a:buNone/>
              <a:defRPr/>
            </a:pPr>
            <a:r>
              <a:rPr lang="vi-VN" sz="1150" b="1" noProof="1">
                <a:latin typeface="Segoe UI" panose="020B0502040204020203" pitchFamily="34" charset="0"/>
                <a:ea typeface="Arial"/>
                <a:cs typeface="Segoe UI" panose="020B0502040204020203" pitchFamily="34" charset="0"/>
              </a:rPr>
              <a:t>TRƯỜNG ĐẠI HỌC THỦ DẦU MỘT · VIỆN CÔNG NGHỆ SỐ</a:t>
            </a:r>
            <a:endParaRPr lang="vi-VN" sz="1150" noProof="1">
              <a:latin typeface="Segoe UI" panose="020B0502040204020203" pitchFamily="34" charset="0"/>
              <a:cs typeface="Segoe UI" panose="020B0502040204020203" pitchFamily="34" charset="0"/>
            </a:endParaRPr>
          </a:p>
        </p:txBody>
      </p:sp>
      <p:pic>
        <p:nvPicPr>
          <p:cNvPr id="159039897" name="Image 2" descr="/var/folders/t4/q0khv7qd1r3dc2yrbwkzmjf00000gn/T/html2pptx-5EShAo/html2pptx-bg-1791687635451-9107ca478c6db8.png"/>
          <p:cNvPicPr>
            <a:picLocks noChangeAspect="1"/>
          </p:cNvPicPr>
          <p:nvPr/>
        </p:nvPicPr>
        <p:blipFill rotWithShape="1">
          <a:blip r:embed="rId5"/>
          <a:stretch/>
        </p:blipFill>
        <p:spPr bwMode="auto">
          <a:xfrm>
            <a:off x="5064090" y="998056"/>
            <a:ext cx="2000250" cy="774948"/>
          </a:xfrm>
          <a:prstGeom prst="rect">
            <a:avLst/>
          </a:prstGeom>
        </p:spPr>
      </p:pic>
      <p:sp>
        <p:nvSpPr>
          <p:cNvPr id="1949878041" name="Text 1"/>
          <p:cNvSpPr/>
          <p:nvPr/>
        </p:nvSpPr>
        <p:spPr bwMode="auto">
          <a:xfrm>
            <a:off x="3504682" y="2021392"/>
            <a:ext cx="5169481" cy="447145"/>
          </a:xfrm>
          <a:prstGeom prst="roundRect">
            <a:avLst>
              <a:gd name="adj" fmla="val 3222581"/>
            </a:avLst>
          </a:prstGeom>
          <a:solidFill>
            <a:srgbClr val="002855"/>
          </a:solidFill>
          <a:ln/>
        </p:spPr>
        <p:txBody>
          <a:bodyPr wrap="square" rtlCol="0" anchor="ctr"/>
          <a:lstStyle/>
          <a:p>
            <a:pPr marL="0" indent="0">
              <a:buNone/>
              <a:defRPr/>
            </a:pPr>
            <a:endParaRPr lang="vi-VN" noProof="1">
              <a:latin typeface="Segoe UI" panose="020B0502040204020203" pitchFamily="34" charset="0"/>
              <a:cs typeface="Segoe UI" panose="020B0502040204020203" pitchFamily="34" charset="0"/>
            </a:endParaRPr>
          </a:p>
        </p:txBody>
      </p:sp>
      <p:sp>
        <p:nvSpPr>
          <p:cNvPr id="2006476494" name="Text 2"/>
          <p:cNvSpPr/>
          <p:nvPr/>
        </p:nvSpPr>
        <p:spPr bwMode="auto">
          <a:xfrm>
            <a:off x="3458126" y="2021393"/>
            <a:ext cx="5293638" cy="295274"/>
          </a:xfrm>
          <a:prstGeom prst="rect">
            <a:avLst/>
          </a:prstGeom>
          <a:noFill/>
          <a:ln/>
        </p:spPr>
        <p:txBody>
          <a:bodyPr wrap="square" lIns="209550" tIns="76200" rIns="209550" bIns="76200" rtlCol="0" anchor="t"/>
          <a:lstStyle/>
          <a:p>
            <a:pPr algn="ctr">
              <a:defRPr sz="1300" b="1">
                <a:solidFill>
                  <a:srgbClr val="FFFFFF"/>
                </a:solidFill>
                <a:latin typeface="Calibri"/>
              </a:defRPr>
            </a:pPr>
            <a:r>
              <a:t>BÁO CÁO ĐỒ ÁN CƠ SỞ NGÀNH</a:t>
            </a:r>
          </a:p>
        </p:txBody>
      </p:sp>
      <p:sp>
        <p:nvSpPr>
          <p:cNvPr id="37544028" name="Text 3"/>
          <p:cNvSpPr/>
          <p:nvPr/>
        </p:nvSpPr>
        <p:spPr bwMode="auto">
          <a:xfrm>
            <a:off x="1444693" y="2979227"/>
            <a:ext cx="9320504" cy="1368194"/>
          </a:xfrm>
          <a:prstGeom prst="rect">
            <a:avLst/>
          </a:prstGeom>
          <a:noFill/>
          <a:ln/>
        </p:spPr>
        <p:txBody>
          <a:bodyPr wrap="square" lIns="0" tIns="0" rIns="0" bIns="0" rtlCol="0" anchor="t"/>
          <a:lstStyle/>
          <a:p>
            <a:pPr marL="0" indent="0" algn="ctr">
              <a:lnSpc>
                <a:spcPct val="30000"/>
              </a:lnSpc>
              <a:spcBef>
                <a:spcPts val="1950"/>
              </a:spcBef>
              <a:spcAft>
                <a:spcPts val="1350"/>
              </a:spcAft>
              <a:buNone/>
              <a:defRPr/>
            </a:pPr>
            <a:r>
              <a:rPr lang="vi-VN" sz="3000" b="1" noProof="1">
                <a:solidFill>
                  <a:srgbClr val="002855"/>
                </a:solidFill>
                <a:latin typeface="Segoe UI" panose="020B0502040204020203" pitchFamily="34" charset="0"/>
                <a:ea typeface="Arial"/>
                <a:cs typeface="Segoe UI" panose="020B0502040204020203" pitchFamily="34" charset="0"/>
              </a:rPr>
              <a:t>Xây dựng Website Truyền thông Công đoàn TDMU</a:t>
            </a:r>
            <a:endParaRPr lang="vi-VN" sz="3000" b="1" noProof="1">
              <a:latin typeface="Segoe UI" panose="020B0502040204020203" pitchFamily="34" charset="0"/>
              <a:cs typeface="Segoe UI" panose="020B0502040204020203" pitchFamily="34" charset="0"/>
            </a:endParaRPr>
          </a:p>
          <a:p>
            <a:pPr marL="0" indent="0" algn="ctr">
              <a:lnSpc>
                <a:spcPct val="30000"/>
              </a:lnSpc>
              <a:spcBef>
                <a:spcPts val="1950"/>
              </a:spcBef>
              <a:spcAft>
                <a:spcPts val="1350"/>
              </a:spcAft>
              <a:buNone/>
              <a:defRPr/>
            </a:pPr>
            <a:r>
              <a:rPr lang="vi-VN" sz="3000" b="1" noProof="1">
                <a:solidFill>
                  <a:srgbClr val="002855"/>
                </a:solidFill>
                <a:latin typeface="Segoe UI" panose="020B0502040204020203" pitchFamily="34" charset="0"/>
                <a:ea typeface="Arial"/>
                <a:cs typeface="Segoe UI" panose="020B0502040204020203" pitchFamily="34" charset="0"/>
              </a:rPr>
              <a:t>tích hợp AI hỗ trợ tạo và đăng tải nội dung</a:t>
            </a:r>
            <a:endParaRPr lang="vi-VN" sz="3000" b="1" noProof="1">
              <a:latin typeface="Segoe UI" panose="020B0502040204020203" pitchFamily="34" charset="0"/>
              <a:cs typeface="Segoe UI" panose="020B0502040204020203" pitchFamily="34" charset="0"/>
            </a:endParaRPr>
          </a:p>
        </p:txBody>
      </p:sp>
      <p:sp>
        <p:nvSpPr>
          <p:cNvPr id="1670694659" name="Text 4"/>
          <p:cNvSpPr/>
          <p:nvPr/>
        </p:nvSpPr>
        <p:spPr bwMode="auto">
          <a:xfrm>
            <a:off x="4725718" y="4003630"/>
            <a:ext cx="2676991" cy="128301"/>
          </a:xfrm>
          <a:prstGeom prst="rect">
            <a:avLst/>
          </a:prstGeom>
          <a:noFill/>
          <a:ln/>
        </p:spPr>
        <p:txBody>
          <a:bodyPr wrap="square" lIns="0" tIns="0" rIns="0" bIns="0" rtlCol="0" anchor="t"/>
          <a:lstStyle/>
          <a:p>
            <a:pPr algn="ctr">
              <a:defRPr sz="1200" b="1">
                <a:solidFill>
                  <a:srgbClr val="0B2C58"/>
                </a:solidFill>
                <a:latin typeface="Calibri"/>
              </a:defRPr>
            </a:pPr>
            <a:r>
              <a:t>GVHD: ThS. Võ Quốc Lương   |   Nhóm thực hiện: Nhóm 2</a:t>
            </a:r>
          </a:p>
        </p:txBody>
      </p:sp>
      <p:sp>
        <p:nvSpPr>
          <p:cNvPr id="394878804" name="Text 5"/>
          <p:cNvSpPr/>
          <p:nvPr/>
        </p:nvSpPr>
        <p:spPr bwMode="auto">
          <a:xfrm>
            <a:off x="4055842" y="5097440"/>
            <a:ext cx="4080313" cy="762504"/>
          </a:xfrm>
          <a:prstGeom prst="rect">
            <a:avLst/>
          </a:prstGeom>
          <a:noFill/>
          <a:ln/>
        </p:spPr>
        <p:txBody>
          <a:bodyPr wrap="square" lIns="0" tIns="0" rIns="0" bIns="0" rtlCol="0" anchor="t"/>
          <a:lstStyle/>
          <a:p>
            <a:pPr marL="0" indent="0" algn="l">
              <a:buNone/>
              <a:defRPr/>
            </a:pPr>
            <a:endParaRPr lang="vi-VN" b="0" baseline="-25000" noProof="1">
              <a:latin typeface="Segoe UI" panose="020B0502040204020203" pitchFamily="34" charset="0"/>
              <a:cs typeface="Segoe UI" panose="020B0502040204020203" pitchFamily="34" charset="0"/>
            </a:endParaRPr>
          </a:p>
        </p:txBody>
      </p:sp>
      <p:sp>
        <p:nvSpPr>
          <p:cNvPr id="613455218" name="Text 6"/>
          <p:cNvSpPr/>
          <p:nvPr/>
        </p:nvSpPr>
        <p:spPr bwMode="auto">
          <a:xfrm>
            <a:off x="3208522" y="6108333"/>
            <a:ext cx="5774954" cy="152400"/>
          </a:xfrm>
          <a:prstGeom prst="rect">
            <a:avLst/>
          </a:prstGeom>
          <a:noFill/>
          <a:ln/>
        </p:spPr>
        <p:txBody>
          <a:bodyPr wrap="square" lIns="0" tIns="0" rIns="0" bIns="0" rtlCol="0" anchor="t"/>
          <a:lstStyle/>
          <a:p>
            <a:pPr marL="0" indent="0" algn="ctr">
              <a:spcBef>
                <a:spcPts val="1650"/>
              </a:spcBef>
              <a:spcAft>
                <a:spcPts val="1050"/>
              </a:spcAft>
              <a:buNone/>
              <a:defRPr/>
            </a:pPr>
            <a:r>
              <a:rPr lang="vi-VN" sz="1050" noProof="1">
                <a:solidFill>
                  <a:srgbClr val="8A97AB"/>
                </a:solidFill>
                <a:latin typeface="Segoe UI" panose="020B0502040204020203" pitchFamily="34" charset="0"/>
                <a:ea typeface="Arial"/>
                <a:cs typeface="Segoe UI" panose="020B0502040204020203" pitchFamily="34" charset="0"/>
              </a:rPr>
              <a:t>HỌC PHẦN: ĐỒ ÁN CƠ SỞ NGÀNH · NĂM HỌC 2026–2027 · THÁNG 10/2026</a:t>
            </a:r>
            <a:endParaRPr lang="vi-VN" sz="1050" noProof="1">
              <a:latin typeface="Segoe UI" panose="020B0502040204020203" pitchFamily="34" charset="0"/>
              <a:cs typeface="Segoe UI" panose="020B0502040204020203" pitchFamily="34" charset="0"/>
            </a:endParaRPr>
          </a:p>
        </p:txBody>
      </p:sp>
      <p:sp>
        <p:nvSpPr>
          <p:cNvPr id="2" name="Text 5">
            <a:extLst>
              <a:ext uri="{FF2B5EF4-FFF2-40B4-BE49-F238E27FC236}">
                <a16:creationId xmlns:a16="http://schemas.microsoft.com/office/drawing/2014/main" id="{057AB317-5C80-DBFF-4540-0B877F1E471D}"/>
              </a:ext>
            </a:extLst>
          </p:cNvPr>
          <p:cNvSpPr/>
          <p:nvPr/>
        </p:nvSpPr>
        <p:spPr bwMode="auto">
          <a:xfrm>
            <a:off x="2940385" y="4536564"/>
            <a:ext cx="6247658" cy="762504"/>
          </a:xfrm>
          <a:prstGeom prst="rect">
            <a:avLst/>
          </a:prstGeom>
          <a:noFill/>
          <a:ln/>
        </p:spPr>
        <p:txBody>
          <a:bodyPr wrap="square" lIns="0" tIns="0" rIns="0" bIns="0" rtlCol="0" anchor="t"/>
          <a:lstStyle/>
          <a:p>
            <a:pPr algn="ctr">
              <a:defRPr sz="1100" b="0">
                <a:solidFill>
                  <a:srgbClr val="212529"/>
                </a:solidFill>
                <a:latin typeface="Calibri"/>
              </a:defRPr>
            </a:pPr>
            <a:r>
              <a:t>1. Nguyễn Bình Dương (Trưởng nhóm) - MSSV: 2424802010319 - Lớp: D24CNTT05</a:t>
            </a:r>
          </a:p>
          <a:p>
            <a:pPr algn="ctr">
              <a:defRPr sz="1100" b="0">
                <a:solidFill>
                  <a:srgbClr val="212529"/>
                </a:solidFill>
                <a:latin typeface="Calibri"/>
              </a:defRPr>
            </a:pPr>
            <a:r>
              <a:t>2. Trần Hồng Thanh - MSSV: 2424802010439 - Lớp: D24CNTT03</a:t>
            </a:r>
          </a:p>
          <a:p>
            <a:pPr algn="ctr">
              <a:defRPr sz="1100" b="0">
                <a:solidFill>
                  <a:srgbClr val="212529"/>
                </a:solidFill>
                <a:latin typeface="Calibri"/>
              </a:defRPr>
            </a:pPr>
            <a:r>
              <a:t>3. Phạm Anh Tuấn - MSSV: 2324802010393 - Lớp: D23CNTT03</a:t>
            </a:r>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name="Slide 2">
    <p:bg>
      <p:bgPr>
        <a:solidFill>
          <a:srgbClr val="F6F8FB"/>
        </a:solidFill>
        <a:effectLst/>
      </p:bgPr>
    </p:bg>
    <p:spTree>
      <p:nvGrpSpPr>
        <p:cNvPr id="1" name=""/>
        <p:cNvGrpSpPr/>
        <p:nvPr/>
      </p:nvGrpSpPr>
      <p:grpSpPr bwMode="auto">
        <a:xfrm>
          <a:off x="0" y="0"/>
          <a:ext cx="0" cy="0"/>
          <a:chOff x="0" y="0"/>
          <a:chExt cx="0" cy="0"/>
        </a:xfrm>
      </p:grpSpPr>
      <p:sp>
        <p:nvSpPr>
          <p:cNvPr id="725398438"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100" b="1" noProof="1">
                <a:solidFill>
                  <a:srgbClr val="B07F12"/>
                </a:solidFill>
                <a:latin typeface="Arial"/>
                <a:ea typeface="Arial"/>
                <a:cs typeface="Arial"/>
              </a:rPr>
              <a:t>1. GIỚI THIỆU ĐỀ TÀI</a:t>
            </a:r>
            <a:endParaRPr lang="vi-VN" sz="1100" noProof="1"/>
          </a:p>
        </p:txBody>
      </p:sp>
      <p:sp>
        <p:nvSpPr>
          <p:cNvPr id="1697951551" name="Text 1"/>
          <p:cNvSpPr/>
          <p:nvPr/>
        </p:nvSpPr>
        <p:spPr bwMode="auto">
          <a:xfrm>
            <a:off x="533400" y="542925"/>
            <a:ext cx="11347704" cy="359569"/>
          </a:xfrm>
          <a:prstGeom prst="rect">
            <a:avLst/>
          </a:prstGeom>
          <a:noFill/>
          <a:ln/>
        </p:spPr>
        <p:txBody>
          <a:bodyPr wrap="square" lIns="0" tIns="0" rIns="0" bIns="0" rtlCol="0" anchor="t"/>
          <a:lstStyle/>
          <a:p>
            <a:pPr>
              <a:defRPr sz="1000">
                <a:latin typeface="Calibri"/>
              </a:defRPr>
            </a:pPr>
            <a:r>
              <a:t>Bối cảnh &amp; Tính cấp thiết của đề tài</a:t>
            </a:r>
          </a:p>
        </p:txBody>
      </p:sp>
      <p:pic>
        <p:nvPicPr>
          <p:cNvPr id="1625949967" name="Image 0" descr="/var/folders/t4/q0khv7qd1r3dc2yrbwkzmjf00000gn/T/html2pptx-hpn747/html2pptx-bg-1791687637400-35b90b69f14bc8.png"/>
          <p:cNvPicPr>
            <a:picLocks noChangeAspect="1"/>
          </p:cNvPicPr>
          <p:nvPr/>
        </p:nvPicPr>
        <p:blipFill rotWithShape="1">
          <a:blip r:embed="rId3"/>
          <a:stretch/>
        </p:blipFill>
        <p:spPr bwMode="auto">
          <a:xfrm>
            <a:off x="533400" y="978694"/>
            <a:ext cx="1047750" cy="38100"/>
          </a:xfrm>
          <a:prstGeom prst="rect">
            <a:avLst/>
          </a:prstGeom>
        </p:spPr>
      </p:pic>
      <p:sp>
        <p:nvSpPr>
          <p:cNvPr id="229454653" name="Text 2"/>
          <p:cNvSpPr/>
          <p:nvPr/>
        </p:nvSpPr>
        <p:spPr bwMode="auto">
          <a:xfrm>
            <a:off x="533400" y="1245394"/>
            <a:ext cx="4400550" cy="2928938"/>
          </a:xfrm>
          <a:prstGeom prst="roundRect">
            <a:avLst>
              <a:gd name="adj" fmla="val 4553"/>
            </a:avLst>
          </a:prstGeom>
          <a:solidFill>
            <a:srgbClr val="FFFFFF"/>
          </a:solidFill>
          <a:ln w="9525">
            <a:solidFill>
              <a:srgbClr val="E3E9F2"/>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sz="2400" noProof="1"/>
          </a:p>
        </p:txBody>
      </p:sp>
      <p:sp>
        <p:nvSpPr>
          <p:cNvPr id="1349251627" name="Text 3"/>
          <p:cNvSpPr/>
          <p:nvPr/>
        </p:nvSpPr>
        <p:spPr bwMode="auto">
          <a:xfrm>
            <a:off x="771525" y="1464469"/>
            <a:ext cx="4002786" cy="190500"/>
          </a:xfrm>
          <a:prstGeom prst="rect">
            <a:avLst/>
          </a:prstGeom>
          <a:noFill/>
          <a:ln/>
        </p:spPr>
        <p:txBody>
          <a:bodyPr wrap="square" lIns="0" tIns="0" rIns="0" bIns="0" rtlCol="0" anchor="t"/>
          <a:lstStyle/>
          <a:p>
            <a:pPr marL="0" indent="0" algn="l">
              <a:spcAft>
                <a:spcPts val="1050"/>
              </a:spcAft>
              <a:buNone/>
              <a:defRPr/>
            </a:pPr>
            <a:r>
              <a:rPr lang="vi-VN" sz="1600" b="1" noProof="1">
                <a:solidFill>
                  <a:srgbClr val="002855"/>
                </a:solidFill>
                <a:latin typeface="Arial"/>
                <a:ea typeface="Arial"/>
                <a:cs typeface="Arial"/>
              </a:rPr>
              <a:t>Công đoàn Trường ĐH Thủ Dầu Một</a:t>
            </a:r>
            <a:endParaRPr lang="vi-VN" sz="1600" noProof="1"/>
          </a:p>
        </p:txBody>
      </p:sp>
      <p:sp>
        <p:nvSpPr>
          <p:cNvPr id="1870838840" name="Text 4"/>
          <p:cNvSpPr/>
          <p:nvPr/>
        </p:nvSpPr>
        <p:spPr bwMode="auto">
          <a:xfrm>
            <a:off x="771525" y="1788319"/>
            <a:ext cx="4002786" cy="371475"/>
          </a:xfrm>
          <a:prstGeom prst="rect">
            <a:avLst/>
          </a:prstGeom>
          <a:noFill/>
          <a:ln/>
        </p:spPr>
        <p:txBody>
          <a:bodyPr wrap="square" lIns="0" tIns="0" rIns="0" bIns="0" rtlCol="0" anchor="t"/>
          <a:lstStyle/>
          <a:p>
            <a:pPr algn="l">
              <a:defRPr sz="1000">
                <a:latin typeface="Calibri"/>
              </a:defRPr>
            </a:pPr>
            <a:r>
              <a:t>Quy mô hơn 800 cán bộ, giảng viên và người lao động</a:t>
            </a:r>
          </a:p>
        </p:txBody>
      </p:sp>
      <p:sp>
        <p:nvSpPr>
          <p:cNvPr id="1055967817" name="Text 7"/>
          <p:cNvSpPr/>
          <p:nvPr/>
        </p:nvSpPr>
        <p:spPr bwMode="auto">
          <a:xfrm>
            <a:off x="771525" y="2274094"/>
            <a:ext cx="280990" cy="371475"/>
          </a:xfrm>
          <a:prstGeom prst="rect">
            <a:avLst/>
          </a:prstGeom>
          <a:noFill/>
          <a:ln/>
        </p:spPr>
        <p:txBody>
          <a:bodyPr wrap="square" lIns="0" tIns="0" rIns="0" bIns="0" rtlCol="0" anchor="t"/>
          <a:lstStyle/>
          <a:p>
            <a:pPr marL="0" indent="0" algn="l">
              <a:lnSpc>
                <a:spcPts val="2925"/>
              </a:lnSpc>
              <a:buNone/>
              <a:defRPr/>
            </a:pPr>
            <a:endParaRPr lang="vi-VN" sz="2400" noProof="1"/>
          </a:p>
        </p:txBody>
      </p:sp>
      <p:sp>
        <p:nvSpPr>
          <p:cNvPr id="1097968427" name="Text 9"/>
          <p:cNvSpPr/>
          <p:nvPr/>
        </p:nvSpPr>
        <p:spPr bwMode="auto">
          <a:xfrm>
            <a:off x="771525" y="2893219"/>
            <a:ext cx="4002786" cy="192881"/>
          </a:xfrm>
          <a:prstGeom prst="rect">
            <a:avLst/>
          </a:prstGeom>
          <a:noFill/>
          <a:ln/>
        </p:spPr>
        <p:txBody>
          <a:bodyPr wrap="square" lIns="0" tIns="0" rIns="0" bIns="0" rtlCol="0" anchor="t"/>
          <a:lstStyle/>
          <a:p>
            <a:pPr algn="l">
              <a:defRPr sz="1000" b="1">
                <a:latin typeface="Calibri"/>
              </a:defRPr>
            </a:pPr>
            <a:r>
              <a:t>Kênh truyền thông hiện tại:</a:t>
            </a:r>
          </a:p>
        </p:txBody>
      </p:sp>
      <p:sp>
        <p:nvSpPr>
          <p:cNvPr id="1624888564" name="Text 10"/>
          <p:cNvSpPr/>
          <p:nvPr/>
        </p:nvSpPr>
        <p:spPr bwMode="auto">
          <a:xfrm>
            <a:off x="771525" y="3200400"/>
            <a:ext cx="4002786" cy="192881"/>
          </a:xfrm>
          <a:prstGeom prst="rect">
            <a:avLst/>
          </a:prstGeom>
          <a:noFill/>
          <a:ln/>
        </p:spPr>
        <p:txBody>
          <a:bodyPr wrap="square" lIns="0" tIns="0" rIns="0" bIns="0" rtlCol="0" anchor="t"/>
          <a:lstStyle/>
          <a:p>
            <a:pPr algn="l">
              <a:defRPr sz="950">
                <a:latin typeface="Calibri"/>
              </a:defRPr>
            </a:pPr>
            <a:r>
              <a:t>Mục tin trên Website trường · Fanpage Facebook · Nhóm Zalo</a:t>
            </a:r>
          </a:p>
        </p:txBody>
      </p:sp>
      <p:sp>
        <p:nvSpPr>
          <p:cNvPr id="1888100889" name="Text 11"/>
          <p:cNvSpPr/>
          <p:nvPr/>
        </p:nvSpPr>
        <p:spPr bwMode="auto">
          <a:xfrm>
            <a:off x="771525" y="3507581"/>
            <a:ext cx="4002786" cy="371475"/>
          </a:xfrm>
          <a:prstGeom prst="rect">
            <a:avLst/>
          </a:prstGeom>
          <a:noFill/>
          <a:ln/>
        </p:spPr>
        <p:txBody>
          <a:bodyPr wrap="square" lIns="0" tIns="0" rIns="0" bIns="0" rtlCol="0" anchor="t"/>
          <a:lstStyle/>
          <a:p>
            <a:pPr algn="l">
              <a:defRPr sz="1000" b="1">
                <a:latin typeface="Calibri"/>
              </a:defRPr>
            </a:pPr>
            <a:r>
              <a:t>Đội ngũ truyền thông hoạt động kiêm nhiệm</a:t>
            </a:r>
          </a:p>
        </p:txBody>
      </p:sp>
      <p:sp>
        <p:nvSpPr>
          <p:cNvPr id="1902858871" name="Text 12"/>
          <p:cNvSpPr/>
          <p:nvPr/>
        </p:nvSpPr>
        <p:spPr bwMode="auto">
          <a:xfrm>
            <a:off x="5219700" y="1245394"/>
            <a:ext cx="6438899" cy="627162"/>
          </a:xfrm>
          <a:prstGeom prst="roundRect">
            <a:avLst>
              <a:gd name="adj" fmla="val 18225"/>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1563338913" name="Text 13"/>
          <p:cNvSpPr/>
          <p:nvPr/>
        </p:nvSpPr>
        <p:spPr bwMode="auto">
          <a:xfrm>
            <a:off x="5381625" y="1369218"/>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1547095410" name="Text 14"/>
          <p:cNvSpPr/>
          <p:nvPr/>
        </p:nvSpPr>
        <p:spPr bwMode="auto">
          <a:xfrm>
            <a:off x="5378006" y="1369218"/>
            <a:ext cx="369189" cy="361950"/>
          </a:xfrm>
          <a:prstGeom prst="rect">
            <a:avLst/>
          </a:prstGeom>
          <a:noFill/>
          <a:ln/>
        </p:spPr>
        <p:txBody>
          <a:bodyPr wrap="square" lIns="0" tIns="0" rIns="0" bIns="0" rtlCol="0" anchor="ctr"/>
          <a:lstStyle/>
          <a:p>
            <a:pPr marL="0" indent="0" algn="ctr">
              <a:buNone/>
              <a:defRPr/>
            </a:pPr>
            <a:r>
              <a:rPr lang="vi-VN" sz="1600" b="1" noProof="1">
                <a:solidFill>
                  <a:srgbClr val="F6E7BD"/>
                </a:solidFill>
                <a:latin typeface="Arial"/>
                <a:ea typeface="Arial"/>
                <a:cs typeface="Arial"/>
              </a:rPr>
              <a:t>01</a:t>
            </a:r>
            <a:endParaRPr lang="vi-VN" sz="1600" noProof="1"/>
          </a:p>
        </p:txBody>
      </p:sp>
      <p:sp>
        <p:nvSpPr>
          <p:cNvPr id="2036830797" name="Text 15"/>
          <p:cNvSpPr/>
          <p:nvPr/>
        </p:nvSpPr>
        <p:spPr bwMode="auto">
          <a:xfrm>
            <a:off x="5895975" y="1369218"/>
            <a:ext cx="5594610" cy="171450"/>
          </a:xfrm>
          <a:prstGeom prst="rect">
            <a:avLst/>
          </a:prstGeom>
          <a:noFill/>
          <a:ln/>
        </p:spPr>
        <p:txBody>
          <a:bodyPr wrap="square" lIns="0" tIns="0" rIns="0" bIns="0" rtlCol="0" anchor="t"/>
          <a:lstStyle/>
          <a:p>
            <a:pPr algn="l">
              <a:defRPr sz="1100" b="1">
                <a:latin typeface="Calibri"/>
              </a:defRPr>
            </a:pPr>
            <a:r>
              <a:t>Áp lực kiêm nhiệm &amp; Chậm trễ tin tức</a:t>
            </a:r>
          </a:p>
        </p:txBody>
      </p:sp>
      <p:sp>
        <p:nvSpPr>
          <p:cNvPr id="1217143524" name="Text 16"/>
          <p:cNvSpPr/>
          <p:nvPr/>
        </p:nvSpPr>
        <p:spPr bwMode="auto">
          <a:xfrm>
            <a:off x="5895975" y="1569245"/>
            <a:ext cx="5712714" cy="161924"/>
          </a:xfrm>
          <a:prstGeom prst="rect">
            <a:avLst/>
          </a:prstGeom>
          <a:noFill/>
          <a:ln/>
        </p:spPr>
        <p:txBody>
          <a:bodyPr wrap="square" lIns="0" tIns="0" rIns="0" bIns="0" rtlCol="0" anchor="t"/>
          <a:lstStyle/>
          <a:p>
            <a:pPr algn="l">
              <a:defRPr sz="950">
                <a:latin typeface="Calibri"/>
              </a:defRPr>
            </a:pPr>
            <a:r>
              <a:t>Cán bộ truyền thông là giảng viên kiêm nhiệm; khâu thu thập tư liệu và viết bài chuẩn phong cách báo chí đoàn thể tốn nhiều thời gian.</a:t>
            </a:r>
          </a:p>
        </p:txBody>
      </p:sp>
      <p:sp>
        <p:nvSpPr>
          <p:cNvPr id="889763406" name="Text 17"/>
          <p:cNvSpPr/>
          <p:nvPr/>
        </p:nvSpPr>
        <p:spPr bwMode="auto">
          <a:xfrm>
            <a:off x="5219700" y="1986855"/>
            <a:ext cx="6438899" cy="806648"/>
          </a:xfrm>
          <a:prstGeom prst="roundRect">
            <a:avLst>
              <a:gd name="adj" fmla="val 14170"/>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1220917906" name="Text 18"/>
          <p:cNvSpPr/>
          <p:nvPr/>
        </p:nvSpPr>
        <p:spPr bwMode="auto">
          <a:xfrm>
            <a:off x="5381625" y="2110680"/>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327495487" name="Text 19"/>
          <p:cNvSpPr/>
          <p:nvPr/>
        </p:nvSpPr>
        <p:spPr bwMode="auto">
          <a:xfrm>
            <a:off x="5378006" y="2110680"/>
            <a:ext cx="369189" cy="361950"/>
          </a:xfrm>
          <a:prstGeom prst="rect">
            <a:avLst/>
          </a:prstGeom>
          <a:noFill/>
          <a:ln/>
        </p:spPr>
        <p:txBody>
          <a:bodyPr wrap="square" lIns="0" tIns="0" rIns="0" bIns="0" rtlCol="0" anchor="ctr"/>
          <a:lstStyle/>
          <a:p>
            <a:pPr marL="0" indent="0" algn="ctr">
              <a:buNone/>
              <a:defRPr/>
            </a:pPr>
            <a:r>
              <a:rPr lang="vi-VN" sz="1600" b="1" noProof="1">
                <a:solidFill>
                  <a:srgbClr val="F6E7BD"/>
                </a:solidFill>
                <a:latin typeface="Arial"/>
                <a:ea typeface="Arial"/>
                <a:cs typeface="Arial"/>
              </a:rPr>
              <a:t>02</a:t>
            </a:r>
            <a:endParaRPr lang="vi-VN" sz="1600" noProof="1"/>
          </a:p>
        </p:txBody>
      </p:sp>
      <p:sp>
        <p:nvSpPr>
          <p:cNvPr id="693808807" name="Text 20"/>
          <p:cNvSpPr/>
          <p:nvPr/>
        </p:nvSpPr>
        <p:spPr bwMode="auto">
          <a:xfrm>
            <a:off x="5895974" y="2110680"/>
            <a:ext cx="5762625" cy="136625"/>
          </a:xfrm>
          <a:prstGeom prst="rect">
            <a:avLst/>
          </a:prstGeom>
          <a:noFill/>
          <a:ln/>
        </p:spPr>
        <p:txBody>
          <a:bodyPr wrap="square" lIns="0" tIns="0" rIns="0" bIns="0" rtlCol="0" anchor="t"/>
          <a:lstStyle/>
          <a:p>
            <a:pPr algn="l">
              <a:defRPr sz="1100" b="1">
                <a:latin typeface="Calibri"/>
              </a:defRPr>
            </a:pPr>
            <a:r>
              <a:t>Đăng tải thủ công, phân tán nhiều kênh</a:t>
            </a:r>
          </a:p>
        </p:txBody>
      </p:sp>
      <p:sp>
        <p:nvSpPr>
          <p:cNvPr id="1070267935" name="Text 21"/>
          <p:cNvSpPr/>
          <p:nvPr/>
        </p:nvSpPr>
        <p:spPr bwMode="auto">
          <a:xfrm>
            <a:off x="5895975" y="2310705"/>
            <a:ext cx="5712714" cy="358972"/>
          </a:xfrm>
          <a:prstGeom prst="rect">
            <a:avLst/>
          </a:prstGeom>
          <a:noFill/>
          <a:ln/>
        </p:spPr>
        <p:txBody>
          <a:bodyPr wrap="square" lIns="0" tIns="0" rIns="0" bIns="0" rtlCol="0" anchor="t"/>
          <a:lstStyle/>
          <a:p>
            <a:pPr algn="l">
              <a:defRPr sz="950">
                <a:latin typeface="Calibri"/>
              </a:defRPr>
            </a:pPr>
            <a:r>
              <a:t>Quy trình xuất bản rời rạc; cán bộ phải copy-paste văn bản và hình ảnh lặp lại thủ công trên từng nền tảng, dễ nhầm lẫn thông tin.</a:t>
            </a:r>
          </a:p>
        </p:txBody>
      </p:sp>
      <p:sp>
        <p:nvSpPr>
          <p:cNvPr id="1771249569" name="Text 22"/>
          <p:cNvSpPr/>
          <p:nvPr/>
        </p:nvSpPr>
        <p:spPr bwMode="auto">
          <a:xfrm>
            <a:off x="5219700" y="2907804"/>
            <a:ext cx="6438899" cy="723900"/>
          </a:xfrm>
          <a:prstGeom prst="roundRect">
            <a:avLst>
              <a:gd name="adj" fmla="val 18225"/>
            </a:avLst>
          </a:prstGeom>
          <a:solidFill>
            <a:srgbClr val="FFFFFF"/>
          </a:solidFill>
          <a:ln w="9525">
            <a:solidFill>
              <a:srgbClr val="E3E9F2"/>
            </a:solidFill>
          </a:ln>
          <a:effectLst>
            <a:outerShdw blurRad="114300" dist="38100" dir="5400000" algn="bl" rotWithShape="0">
              <a:srgbClr val="002855">
                <a:alpha val="5000"/>
              </a:srgbClr>
            </a:outerShdw>
          </a:effectLst>
        </p:spPr>
        <p:txBody>
          <a:bodyPr wrap="square" rtlCol="0" anchor="ctr"/>
          <a:lstStyle/>
          <a:p>
            <a:pPr marL="0" indent="0">
              <a:buNone/>
              <a:defRPr/>
            </a:pPr>
            <a:endParaRPr lang="vi-VN" sz="2400" noProof="1"/>
          </a:p>
        </p:txBody>
      </p:sp>
      <p:sp>
        <p:nvSpPr>
          <p:cNvPr id="1650751441" name="Text 23"/>
          <p:cNvSpPr/>
          <p:nvPr/>
        </p:nvSpPr>
        <p:spPr bwMode="auto">
          <a:xfrm>
            <a:off x="5381625" y="3031629"/>
            <a:ext cx="361950" cy="361950"/>
          </a:xfrm>
          <a:prstGeom prst="roundRect">
            <a:avLst>
              <a:gd name="adj" fmla="val 26316"/>
            </a:avLst>
          </a:prstGeom>
          <a:solidFill>
            <a:srgbClr val="002855"/>
          </a:solidFill>
          <a:ln/>
        </p:spPr>
        <p:txBody>
          <a:bodyPr wrap="square" rtlCol="0" anchor="ctr"/>
          <a:lstStyle/>
          <a:p>
            <a:pPr marL="0" indent="0">
              <a:buNone/>
              <a:defRPr/>
            </a:pPr>
            <a:endParaRPr lang="vi-VN" sz="2400" noProof="1"/>
          </a:p>
        </p:txBody>
      </p:sp>
      <p:sp>
        <p:nvSpPr>
          <p:cNvPr id="1106036581" name="Text 24"/>
          <p:cNvSpPr/>
          <p:nvPr/>
        </p:nvSpPr>
        <p:spPr bwMode="auto">
          <a:xfrm>
            <a:off x="5378006" y="3031629"/>
            <a:ext cx="369189" cy="361950"/>
          </a:xfrm>
          <a:prstGeom prst="rect">
            <a:avLst/>
          </a:prstGeom>
          <a:noFill/>
          <a:ln/>
        </p:spPr>
        <p:txBody>
          <a:bodyPr wrap="square" lIns="0" tIns="0" rIns="0" bIns="0" rtlCol="0" anchor="ctr"/>
          <a:lstStyle/>
          <a:p>
            <a:pPr marL="0" indent="0" algn="ctr">
              <a:buNone/>
              <a:defRPr/>
            </a:pPr>
            <a:r>
              <a:rPr lang="vi-VN" sz="1600" b="1" noProof="1">
                <a:solidFill>
                  <a:srgbClr val="F6E7BD"/>
                </a:solidFill>
                <a:latin typeface="Arial"/>
                <a:ea typeface="Arial"/>
                <a:cs typeface="Arial"/>
              </a:rPr>
              <a:t>03</a:t>
            </a:r>
            <a:endParaRPr lang="vi-VN" sz="1600" noProof="1"/>
          </a:p>
        </p:txBody>
      </p:sp>
      <p:sp>
        <p:nvSpPr>
          <p:cNvPr id="845454433" name="Text 25"/>
          <p:cNvSpPr/>
          <p:nvPr/>
        </p:nvSpPr>
        <p:spPr bwMode="auto">
          <a:xfrm>
            <a:off x="5895975" y="3031629"/>
            <a:ext cx="5642125" cy="171450"/>
          </a:xfrm>
          <a:prstGeom prst="rect">
            <a:avLst/>
          </a:prstGeom>
          <a:noFill/>
          <a:ln/>
        </p:spPr>
        <p:txBody>
          <a:bodyPr wrap="square" lIns="0" tIns="0" rIns="0" bIns="0" rtlCol="0" anchor="t"/>
          <a:lstStyle/>
          <a:p>
            <a:pPr algn="l">
              <a:defRPr sz="1100" b="1">
                <a:latin typeface="Calibri"/>
              </a:defRPr>
            </a:pPr>
            <a:r>
              <a:t>Thiếu công cụ đo lường tập trung</a:t>
            </a:r>
          </a:p>
        </p:txBody>
      </p:sp>
      <p:sp>
        <p:nvSpPr>
          <p:cNvPr id="2000591319" name="Text 26"/>
          <p:cNvSpPr/>
          <p:nvPr/>
        </p:nvSpPr>
        <p:spPr bwMode="auto">
          <a:xfrm>
            <a:off x="5895975" y="3231655"/>
            <a:ext cx="5762624" cy="171450"/>
          </a:xfrm>
          <a:prstGeom prst="rect">
            <a:avLst/>
          </a:prstGeom>
          <a:noFill/>
          <a:ln/>
        </p:spPr>
        <p:txBody>
          <a:bodyPr wrap="square" lIns="0" tIns="0" rIns="0" bIns="0" rtlCol="0" anchor="t"/>
          <a:lstStyle/>
          <a:p>
            <a:pPr algn="l">
              <a:defRPr sz="950">
                <a:latin typeface="Calibri"/>
              </a:defRPr>
            </a:pPr>
            <a:r>
              <a:t>Ban Chấp hành chưa có bảng số liệu đo lường định lượng tương tác đa kênh để đánh giá và định hướng hiệu quả thông tin đoàn thể.</a:t>
            </a:r>
          </a:p>
        </p:txBody>
      </p:sp>
      <p:sp>
        <p:nvSpPr>
          <p:cNvPr id="1587790627" name="Text 31"/>
          <p:cNvSpPr/>
          <p:nvPr/>
        </p:nvSpPr>
        <p:spPr bwMode="auto">
          <a:xfrm>
            <a:off x="5895975" y="4075618"/>
            <a:ext cx="5388004" cy="179487"/>
          </a:xfrm>
          <a:prstGeom prst="rect">
            <a:avLst/>
          </a:prstGeom>
          <a:noFill/>
          <a:ln/>
        </p:spPr>
        <p:txBody>
          <a:bodyPr wrap="square" lIns="0" tIns="0" rIns="0" bIns="0" rtlCol="0" anchor="t"/>
          <a:lstStyle/>
          <a:p>
            <a:pPr marL="0" indent="0" algn="l">
              <a:lnSpc>
                <a:spcPts val="1414"/>
              </a:lnSpc>
              <a:buNone/>
              <a:defRPr/>
            </a:pPr>
            <a:endParaRPr lang="vi-VN" sz="1100" noProof="1"/>
          </a:p>
        </p:txBody>
      </p:sp>
      <p:sp>
        <p:nvSpPr>
          <p:cNvPr id="1096184557" name="Shape 37"/>
          <p:cNvSpPr/>
          <p:nvPr/>
        </p:nvSpPr>
        <p:spPr bwMode="auto">
          <a:xfrm>
            <a:off x="533400" y="6548438"/>
            <a:ext cx="11125200" cy="0"/>
          </a:xfrm>
          <a:prstGeom prst="line">
            <a:avLst/>
          </a:prstGeom>
          <a:noFill/>
          <a:ln w="9525">
            <a:solidFill>
              <a:srgbClr val="E2E8F0"/>
            </a:solidFill>
            <a:prstDash val="solid"/>
          </a:ln>
        </p:spPr>
        <p:txBody>
          <a:bodyPr/>
          <a:lstStyle/>
          <a:p>
            <a:endParaRPr lang="vi-VN" sz="2400" noProof="1"/>
          </a:p>
        </p:txBody>
      </p:sp>
      <p:sp>
        <p:nvSpPr>
          <p:cNvPr id="1775219853" name="Text 38"/>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1000" noProof="1">
                <a:solidFill>
                  <a:srgbClr val="8A97AB"/>
                </a:solidFill>
                <a:latin typeface="Arial"/>
                <a:ea typeface="Arial"/>
                <a:cs typeface="Arial"/>
              </a:rPr>
              <a:t>Nhóm 2 · Đồ án Cơ sở ngành 2026–2027</a:t>
            </a:r>
            <a:endParaRPr lang="vi-VN" sz="100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3.xml><?xml version="1.0" encoding="utf-8"?>
<p:sld xmlns:a="http://schemas.openxmlformats.org/drawingml/2006/main" xmlns:r="http://schemas.openxmlformats.org/officeDocument/2006/relationships" xmlns:p="http://schemas.openxmlformats.org/presentationml/2006/main" showMasterPhAnim="0">
  <p:cSld name="Slide 3">
    <p:bg>
      <p:bgPr>
        <a:solidFill>
          <a:srgbClr val="F6F8FB"/>
        </a:solidFill>
        <a:effectLst/>
      </p:bgPr>
    </p:bg>
    <p:spTree>
      <p:nvGrpSpPr>
        <p:cNvPr id="1" name=""/>
        <p:cNvGrpSpPr/>
        <p:nvPr/>
      </p:nvGrpSpPr>
      <p:grpSpPr bwMode="auto">
        <a:xfrm>
          <a:off x="0" y="0"/>
          <a:ext cx="0" cy="0"/>
          <a:chOff x="0" y="0"/>
          <a:chExt cx="0" cy="0"/>
        </a:xfrm>
      </p:grpSpPr>
      <p:sp>
        <p:nvSpPr>
          <p:cNvPr id="1171304446"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1. GIỚI THIỆU ĐỀ TÀI</a:t>
            </a:r>
            <a:endParaRPr lang="vi-VN" sz="1000" noProof="1"/>
          </a:p>
        </p:txBody>
      </p:sp>
      <p:sp>
        <p:nvSpPr>
          <p:cNvPr id="1429121415" name="Text 1"/>
          <p:cNvSpPr/>
          <p:nvPr/>
        </p:nvSpPr>
        <p:spPr bwMode="auto">
          <a:xfrm>
            <a:off x="533400" y="542925"/>
            <a:ext cx="11347704" cy="359569"/>
          </a:xfrm>
          <a:prstGeom prst="rect">
            <a:avLst/>
          </a:prstGeom>
          <a:noFill/>
          <a:ln/>
        </p:spPr>
        <p:txBody>
          <a:bodyPr wrap="square" lIns="0" tIns="0" rIns="0" bIns="0" rtlCol="0" anchor="t"/>
          <a:lstStyle/>
          <a:p>
            <a:pPr algn="l">
              <a:defRPr sz="1000">
                <a:latin typeface="Calibri"/>
              </a:defRPr>
            </a:pPr>
            <a:r>
              <a:t>Mục tiêu nghiên cứu &amp; Định hướng giải quyết</a:t>
            </a:r>
          </a:p>
        </p:txBody>
      </p:sp>
      <p:pic>
        <p:nvPicPr>
          <p:cNvPr id="1201039326" name="Image 0" descr="/var/folders/t4/q0khv7qd1r3dc2yrbwkzmjf00000gn/T/html2pptx-BplEkJ/html2pptx-bg-1791687638880-a4641591ea96a8.png"/>
          <p:cNvPicPr>
            <a:picLocks noChangeAspect="1"/>
          </p:cNvPicPr>
          <p:nvPr/>
        </p:nvPicPr>
        <p:blipFill rotWithShape="1">
          <a:blip r:embed="rId3"/>
          <a:stretch/>
        </p:blipFill>
        <p:spPr bwMode="auto">
          <a:xfrm>
            <a:off x="533400" y="978694"/>
            <a:ext cx="1047750" cy="38100"/>
          </a:xfrm>
          <a:prstGeom prst="rect">
            <a:avLst/>
          </a:prstGeom>
        </p:spPr>
      </p:pic>
      <p:sp>
        <p:nvSpPr>
          <p:cNvPr id="1683790642" name="Text 2"/>
          <p:cNvSpPr/>
          <p:nvPr/>
        </p:nvSpPr>
        <p:spPr bwMode="auto">
          <a:xfrm>
            <a:off x="533400" y="1283494"/>
            <a:ext cx="11125200" cy="1733549"/>
          </a:xfrm>
          <a:prstGeom prst="roundRect">
            <a:avLst>
              <a:gd name="adj" fmla="val 4887"/>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242870066" name="Shape 3"/>
          <p:cNvSpPr/>
          <p:nvPr/>
        </p:nvSpPr>
        <p:spPr bwMode="auto">
          <a:xfrm>
            <a:off x="742950" y="1307306"/>
            <a:ext cx="10677906" cy="0"/>
          </a:xfrm>
          <a:prstGeom prst="line">
            <a:avLst/>
          </a:prstGeom>
          <a:noFill/>
          <a:ln w="47625">
            <a:solidFill>
              <a:srgbClr val="D4A017"/>
            </a:solidFill>
            <a:prstDash val="solid"/>
          </a:ln>
        </p:spPr>
        <p:txBody>
          <a:bodyPr/>
          <a:lstStyle/>
          <a:p>
            <a:endParaRPr lang="vi-VN" noProof="1"/>
          </a:p>
        </p:txBody>
      </p:sp>
      <p:sp>
        <p:nvSpPr>
          <p:cNvPr id="158340560" name="Text 7"/>
          <p:cNvSpPr/>
          <p:nvPr/>
        </p:nvSpPr>
        <p:spPr bwMode="auto">
          <a:xfrm>
            <a:off x="752475" y="1521619"/>
            <a:ext cx="419100" cy="419100"/>
          </a:xfrm>
          <a:prstGeom prst="roundRect">
            <a:avLst>
              <a:gd name="adj" fmla="val 27273"/>
            </a:avLst>
          </a:prstGeom>
          <a:solidFill>
            <a:srgbClr val="EEF3FA"/>
          </a:solidFill>
          <a:ln/>
        </p:spPr>
        <p:txBody>
          <a:bodyPr wrap="square" rtlCol="0" anchor="ctr"/>
          <a:lstStyle/>
          <a:p>
            <a:pPr marL="0" indent="0">
              <a:buNone/>
              <a:defRPr/>
            </a:pPr>
            <a:endParaRPr lang="vi-VN" noProof="1"/>
          </a:p>
        </p:txBody>
      </p:sp>
      <p:sp>
        <p:nvSpPr>
          <p:cNvPr id="1904439579" name="Text 8"/>
          <p:cNvSpPr/>
          <p:nvPr/>
        </p:nvSpPr>
        <p:spPr bwMode="auto">
          <a:xfrm>
            <a:off x="748284" y="1521619"/>
            <a:ext cx="427482" cy="419100"/>
          </a:xfrm>
          <a:prstGeom prst="rect">
            <a:avLst/>
          </a:prstGeom>
          <a:noFill/>
          <a:ln/>
        </p:spPr>
        <p:txBody>
          <a:bodyPr wrap="square" lIns="0" tIns="0" rIns="0" bIns="0" rtlCol="0" anchor="ctr"/>
          <a:lstStyle/>
          <a:p>
            <a:pPr marL="0" indent="0" algn="ctr">
              <a:spcAft>
                <a:spcPts val="900"/>
              </a:spcAft>
              <a:buNone/>
              <a:defRPr/>
            </a:pPr>
            <a:r>
              <a:rPr lang="vi-VN" sz="1600" b="1" noProof="1">
                <a:solidFill>
                  <a:srgbClr val="002855"/>
                </a:solidFill>
                <a:latin typeface="Arial"/>
                <a:ea typeface="Arial"/>
                <a:cs typeface="Arial"/>
              </a:rPr>
              <a:t>01</a:t>
            </a:r>
            <a:endParaRPr lang="vi-VN" sz="1600" noProof="1"/>
          </a:p>
        </p:txBody>
      </p:sp>
      <p:sp>
        <p:nvSpPr>
          <p:cNvPr id="1546982759" name="Text 9"/>
          <p:cNvSpPr/>
          <p:nvPr/>
        </p:nvSpPr>
        <p:spPr bwMode="auto">
          <a:xfrm>
            <a:off x="1278741" y="1581150"/>
            <a:ext cx="3180156" cy="200025"/>
          </a:xfrm>
          <a:prstGeom prst="rect">
            <a:avLst/>
          </a:prstGeom>
          <a:noFill/>
          <a:ln/>
        </p:spPr>
        <p:txBody>
          <a:bodyPr wrap="square" lIns="0" tIns="0" rIns="0" bIns="0" rtlCol="0" anchor="t"/>
          <a:lstStyle/>
          <a:p>
            <a:pPr algn="l">
              <a:defRPr sz="1200" b="1">
                <a:latin typeface="Calibri"/>
              </a:defRPr>
            </a:pPr>
            <a:r>
              <a:t>Mục tiêu trọng tâm của đề tài</a:t>
            </a:r>
          </a:p>
        </p:txBody>
      </p:sp>
      <p:sp>
        <p:nvSpPr>
          <p:cNvPr id="2111694592" name="Text 10"/>
          <p:cNvSpPr/>
          <p:nvPr/>
        </p:nvSpPr>
        <p:spPr bwMode="auto">
          <a:xfrm>
            <a:off x="762001" y="1993392"/>
            <a:ext cx="10896599" cy="965310"/>
          </a:xfrm>
          <a:prstGeom prst="rect">
            <a:avLst/>
          </a:prstGeom>
          <a:noFill/>
          <a:ln/>
        </p:spPr>
        <p:txBody>
          <a:bodyPr wrap="square" lIns="0" tIns="0" rIns="0" bIns="76200" rtlCol="0" anchor="t"/>
          <a:lstStyle/>
          <a:p>
            <a:pPr algn="l">
              <a:defRPr sz="1000" b="0">
                <a:latin typeface="Calibri"/>
              </a:defRPr>
            </a:pPr>
            <a:r>
              <a:t>• Xây dựng hệ thống website truyền thông chuyên biệt của Công đoàn Trường ĐH Thủ Dầu Một.</a:t>
            </a:r>
          </a:p>
          <a:p>
            <a:pPr algn="l">
              <a:defRPr sz="1000" b="0">
                <a:latin typeface="Calibri"/>
              </a:defRPr>
            </a:pPr>
            <a:r>
              <a:t>• Tích hợp Trợ lý AI hỗ trợ tạo bài viết từ tư liệu sự kiện thô và tự động hóa xuất bản đa kênh.</a:t>
            </a:r>
          </a:p>
          <a:p>
            <a:pPr algn="l">
              <a:defRPr sz="1000" b="0">
                <a:latin typeface="Calibri"/>
              </a:defRPr>
            </a:pPr>
            <a:r>
              <a:t>• Giải phóng sức lao động thủ công, chuẩn hóa thông tin và nâng cao hiệu quả tuyên truyền đoàn thể.</a:t>
            </a:r>
          </a:p>
        </p:txBody>
      </p:sp>
      <p:sp>
        <p:nvSpPr>
          <p:cNvPr id="119018652" name="Text 11"/>
          <p:cNvSpPr/>
          <p:nvPr/>
        </p:nvSpPr>
        <p:spPr bwMode="auto">
          <a:xfrm>
            <a:off x="542926" y="3178968"/>
            <a:ext cx="4986782" cy="2819493"/>
          </a:xfrm>
          <a:prstGeom prst="roundRect">
            <a:avLst>
              <a:gd name="adj" fmla="val 4887"/>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872668944" name="Shape 12"/>
          <p:cNvSpPr/>
          <p:nvPr/>
        </p:nvSpPr>
        <p:spPr bwMode="auto">
          <a:xfrm>
            <a:off x="752476" y="3202781"/>
            <a:ext cx="3136850" cy="0"/>
          </a:xfrm>
          <a:prstGeom prst="line">
            <a:avLst/>
          </a:prstGeom>
          <a:noFill/>
          <a:ln w="47625">
            <a:solidFill>
              <a:srgbClr val="002855"/>
            </a:solidFill>
            <a:prstDash val="solid"/>
          </a:ln>
        </p:spPr>
        <p:txBody>
          <a:bodyPr/>
          <a:lstStyle/>
          <a:p>
            <a:endParaRPr lang="vi-VN" noProof="1"/>
          </a:p>
        </p:txBody>
      </p:sp>
      <p:sp>
        <p:nvSpPr>
          <p:cNvPr id="1401385729" name="Shape 14"/>
          <p:cNvSpPr/>
          <p:nvPr/>
        </p:nvSpPr>
        <p:spPr bwMode="auto">
          <a:xfrm>
            <a:off x="752476" y="5907881"/>
            <a:ext cx="3136850" cy="0"/>
          </a:xfrm>
          <a:prstGeom prst="line">
            <a:avLst/>
          </a:prstGeom>
          <a:noFill/>
          <a:ln w="9525">
            <a:solidFill>
              <a:srgbClr val="E3E9F2"/>
            </a:solidFill>
            <a:prstDash val="solid"/>
          </a:ln>
        </p:spPr>
        <p:txBody>
          <a:bodyPr/>
          <a:lstStyle/>
          <a:p>
            <a:endParaRPr lang="vi-VN" noProof="1"/>
          </a:p>
        </p:txBody>
      </p:sp>
      <p:sp>
        <p:nvSpPr>
          <p:cNvPr id="1263682881" name="Shape 15"/>
          <p:cNvSpPr/>
          <p:nvPr/>
        </p:nvSpPr>
        <p:spPr bwMode="auto">
          <a:xfrm>
            <a:off x="547689" y="3369469"/>
            <a:ext cx="0" cy="2347912"/>
          </a:xfrm>
          <a:prstGeom prst="line">
            <a:avLst/>
          </a:prstGeom>
          <a:noFill/>
          <a:ln w="9525">
            <a:solidFill>
              <a:srgbClr val="E3E9F2"/>
            </a:solidFill>
            <a:prstDash val="solid"/>
          </a:ln>
        </p:spPr>
        <p:txBody>
          <a:bodyPr/>
          <a:lstStyle/>
          <a:p>
            <a:endParaRPr lang="vi-VN" noProof="1"/>
          </a:p>
        </p:txBody>
      </p:sp>
      <p:sp>
        <p:nvSpPr>
          <p:cNvPr id="677722008" name="Text 16"/>
          <p:cNvSpPr/>
          <p:nvPr/>
        </p:nvSpPr>
        <p:spPr bwMode="auto">
          <a:xfrm>
            <a:off x="762001" y="3417094"/>
            <a:ext cx="419100" cy="419100"/>
          </a:xfrm>
          <a:prstGeom prst="roundRect">
            <a:avLst>
              <a:gd name="adj" fmla="val 27273"/>
            </a:avLst>
          </a:prstGeom>
          <a:solidFill>
            <a:srgbClr val="EEF3FA"/>
          </a:solidFill>
          <a:ln/>
        </p:spPr>
        <p:txBody>
          <a:bodyPr wrap="square" rtlCol="0" anchor="ctr"/>
          <a:lstStyle/>
          <a:p>
            <a:pPr marL="0" indent="0">
              <a:buNone/>
              <a:defRPr/>
            </a:pPr>
            <a:endParaRPr lang="vi-VN" noProof="1"/>
          </a:p>
        </p:txBody>
      </p:sp>
      <p:sp>
        <p:nvSpPr>
          <p:cNvPr id="1015376251" name="Text 17"/>
          <p:cNvSpPr/>
          <p:nvPr/>
        </p:nvSpPr>
        <p:spPr bwMode="auto">
          <a:xfrm>
            <a:off x="757810" y="3417094"/>
            <a:ext cx="427482" cy="419100"/>
          </a:xfrm>
          <a:prstGeom prst="rect">
            <a:avLst/>
          </a:prstGeom>
          <a:noFill/>
          <a:ln/>
        </p:spPr>
        <p:txBody>
          <a:bodyPr wrap="square" lIns="0" tIns="0" rIns="0" bIns="0" rtlCol="0" anchor="ctr"/>
          <a:lstStyle/>
          <a:p>
            <a:pPr marL="0" indent="0" algn="ctr">
              <a:spcAft>
                <a:spcPts val="900"/>
              </a:spcAft>
              <a:buNone/>
              <a:defRPr/>
            </a:pPr>
            <a:r>
              <a:rPr lang="vi-VN" sz="1600" b="1" noProof="1">
                <a:solidFill>
                  <a:srgbClr val="002855"/>
                </a:solidFill>
                <a:latin typeface="Arial"/>
                <a:ea typeface="Arial"/>
                <a:cs typeface="Arial"/>
              </a:rPr>
              <a:t>02</a:t>
            </a:r>
            <a:endParaRPr lang="vi-VN" sz="1600" noProof="1"/>
          </a:p>
        </p:txBody>
      </p:sp>
      <p:sp>
        <p:nvSpPr>
          <p:cNvPr id="851672837" name="Text 18"/>
          <p:cNvSpPr/>
          <p:nvPr/>
        </p:nvSpPr>
        <p:spPr bwMode="auto">
          <a:xfrm>
            <a:off x="1287648" y="3503679"/>
            <a:ext cx="3180156" cy="200025"/>
          </a:xfrm>
          <a:prstGeom prst="rect">
            <a:avLst/>
          </a:prstGeom>
          <a:noFill/>
          <a:ln/>
        </p:spPr>
        <p:txBody>
          <a:bodyPr wrap="square" lIns="0" tIns="0" rIns="0" bIns="0" rtlCol="0" anchor="t"/>
          <a:lstStyle/>
          <a:p>
            <a:pPr algn="l">
              <a:defRPr sz="1200" b="1">
                <a:latin typeface="Calibri"/>
              </a:defRPr>
            </a:pPr>
            <a:r>
              <a:t>Hỗ trợ tạo nội dung bằng AI</a:t>
            </a:r>
          </a:p>
        </p:txBody>
      </p:sp>
      <p:sp>
        <p:nvSpPr>
          <p:cNvPr id="1160333943" name="Text 19"/>
          <p:cNvSpPr/>
          <p:nvPr/>
        </p:nvSpPr>
        <p:spPr bwMode="auto">
          <a:xfrm>
            <a:off x="742950" y="4027796"/>
            <a:ext cx="4873675" cy="1269206"/>
          </a:xfrm>
          <a:prstGeom prst="rect">
            <a:avLst/>
          </a:prstGeom>
          <a:noFill/>
          <a:ln/>
        </p:spPr>
        <p:txBody>
          <a:bodyPr wrap="square" lIns="0" tIns="0" rIns="0" bIns="76200" rtlCol="0" anchor="t"/>
          <a:lstStyle/>
          <a:p>
            <a:pPr algn="l">
              <a:defRPr sz="950" b="0">
                <a:latin typeface="Calibri"/>
              </a:defRPr>
            </a:pPr>
            <a:r>
              <a:t>• Phân tích kế hoạch, thông báo sự kiện để dựng bài 5W1H.</a:t>
            </a:r>
          </a:p>
          <a:p>
            <a:pPr algn="l">
              <a:defRPr sz="950" b="0">
                <a:latin typeface="Calibri"/>
              </a:defRPr>
            </a:pPr>
            <a:r>
              <a:t>• Tạo tóm tắt Sapo thu hút, gợi ý tiêu đề báo chí chuẩn SEO.</a:t>
            </a:r>
          </a:p>
          <a:p>
            <a:pPr algn="l">
              <a:defRPr sz="950" b="0">
                <a:latin typeface="Calibri"/>
              </a:defRPr>
            </a:pPr>
            <a:r>
              <a:t>• Chuẩn hóa văn phong, rà soát chính tả tiếng Việt.</a:t>
            </a:r>
          </a:p>
          <a:p>
            <a:pPr algn="l">
              <a:defRPr sz="950" b="0">
                <a:latin typeface="Calibri"/>
              </a:defRPr>
            </a:pPr>
            <a:r>
              <a:t>• Tối ưu định dạng ngắn kèm hashtag cho Facebook và Zalo.</a:t>
            </a:r>
          </a:p>
        </p:txBody>
      </p:sp>
      <p:sp>
        <p:nvSpPr>
          <p:cNvPr id="1597045743" name="Text 20"/>
          <p:cNvSpPr/>
          <p:nvPr/>
        </p:nvSpPr>
        <p:spPr bwMode="auto">
          <a:xfrm>
            <a:off x="6158180" y="3175397"/>
            <a:ext cx="5486131" cy="2819493"/>
          </a:xfrm>
          <a:prstGeom prst="roundRect">
            <a:avLst>
              <a:gd name="adj" fmla="val 4887"/>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454527346" name="Shape 21"/>
          <p:cNvSpPr/>
          <p:nvPr/>
        </p:nvSpPr>
        <p:spPr bwMode="auto">
          <a:xfrm>
            <a:off x="6367730" y="3199209"/>
            <a:ext cx="3136999" cy="0"/>
          </a:xfrm>
          <a:prstGeom prst="line">
            <a:avLst/>
          </a:prstGeom>
          <a:noFill/>
          <a:ln w="47625">
            <a:solidFill>
              <a:srgbClr val="002855"/>
            </a:solidFill>
            <a:prstDash val="solid"/>
          </a:ln>
        </p:spPr>
        <p:txBody>
          <a:bodyPr/>
          <a:lstStyle/>
          <a:p>
            <a:endParaRPr lang="vi-VN" noProof="1"/>
          </a:p>
        </p:txBody>
      </p:sp>
      <p:sp>
        <p:nvSpPr>
          <p:cNvPr id="508585135" name="Shape 23"/>
          <p:cNvSpPr/>
          <p:nvPr/>
        </p:nvSpPr>
        <p:spPr bwMode="auto">
          <a:xfrm>
            <a:off x="6367730" y="5904309"/>
            <a:ext cx="3136999" cy="0"/>
          </a:xfrm>
          <a:prstGeom prst="line">
            <a:avLst/>
          </a:prstGeom>
          <a:noFill/>
          <a:ln w="9525">
            <a:solidFill>
              <a:srgbClr val="E3E9F2"/>
            </a:solidFill>
            <a:prstDash val="solid"/>
          </a:ln>
        </p:spPr>
        <p:txBody>
          <a:bodyPr/>
          <a:lstStyle/>
          <a:p>
            <a:endParaRPr lang="vi-VN" noProof="1"/>
          </a:p>
        </p:txBody>
      </p:sp>
      <p:sp>
        <p:nvSpPr>
          <p:cNvPr id="1054193073" name="Shape 24"/>
          <p:cNvSpPr/>
          <p:nvPr/>
        </p:nvSpPr>
        <p:spPr bwMode="auto">
          <a:xfrm>
            <a:off x="6162942" y="3365897"/>
            <a:ext cx="0" cy="2347912"/>
          </a:xfrm>
          <a:prstGeom prst="line">
            <a:avLst/>
          </a:prstGeom>
          <a:noFill/>
          <a:ln w="9525">
            <a:solidFill>
              <a:srgbClr val="E3E9F2"/>
            </a:solidFill>
            <a:prstDash val="solid"/>
          </a:ln>
        </p:spPr>
        <p:txBody>
          <a:bodyPr/>
          <a:lstStyle/>
          <a:p>
            <a:endParaRPr lang="vi-VN" noProof="1"/>
          </a:p>
        </p:txBody>
      </p:sp>
      <p:sp>
        <p:nvSpPr>
          <p:cNvPr id="38648754" name="Text 25"/>
          <p:cNvSpPr/>
          <p:nvPr/>
        </p:nvSpPr>
        <p:spPr bwMode="auto">
          <a:xfrm>
            <a:off x="6377255" y="3413522"/>
            <a:ext cx="419100" cy="419100"/>
          </a:xfrm>
          <a:prstGeom prst="roundRect">
            <a:avLst>
              <a:gd name="adj" fmla="val 27273"/>
            </a:avLst>
          </a:prstGeom>
          <a:solidFill>
            <a:srgbClr val="EEF3FA"/>
          </a:solidFill>
          <a:ln/>
        </p:spPr>
        <p:txBody>
          <a:bodyPr wrap="square" rtlCol="0" anchor="ctr"/>
          <a:lstStyle/>
          <a:p>
            <a:pPr marL="0" indent="0">
              <a:buNone/>
              <a:defRPr/>
            </a:pPr>
            <a:endParaRPr lang="vi-VN" noProof="1"/>
          </a:p>
        </p:txBody>
      </p:sp>
      <p:sp>
        <p:nvSpPr>
          <p:cNvPr id="1783980578" name="Text 26"/>
          <p:cNvSpPr/>
          <p:nvPr/>
        </p:nvSpPr>
        <p:spPr bwMode="auto">
          <a:xfrm>
            <a:off x="6373064" y="3413522"/>
            <a:ext cx="427482" cy="419100"/>
          </a:xfrm>
          <a:prstGeom prst="rect">
            <a:avLst/>
          </a:prstGeom>
          <a:noFill/>
          <a:ln/>
        </p:spPr>
        <p:txBody>
          <a:bodyPr wrap="square" lIns="0" tIns="0" rIns="0" bIns="0" rtlCol="0" anchor="ctr"/>
          <a:lstStyle/>
          <a:p>
            <a:pPr marL="0" indent="0" algn="ctr">
              <a:spcAft>
                <a:spcPts val="900"/>
              </a:spcAft>
              <a:buNone/>
              <a:defRPr/>
            </a:pPr>
            <a:r>
              <a:rPr lang="vi-VN" sz="1600" b="1" noProof="1">
                <a:solidFill>
                  <a:srgbClr val="002855"/>
                </a:solidFill>
                <a:latin typeface="Arial"/>
                <a:ea typeface="Arial"/>
                <a:cs typeface="Arial"/>
              </a:rPr>
              <a:t>03</a:t>
            </a:r>
            <a:endParaRPr lang="vi-VN" sz="1600" noProof="1"/>
          </a:p>
        </p:txBody>
      </p:sp>
      <p:sp>
        <p:nvSpPr>
          <p:cNvPr id="735394977" name="Text 27"/>
          <p:cNvSpPr/>
          <p:nvPr/>
        </p:nvSpPr>
        <p:spPr bwMode="auto">
          <a:xfrm>
            <a:off x="6875945" y="3493387"/>
            <a:ext cx="3180308" cy="200025"/>
          </a:xfrm>
          <a:prstGeom prst="rect">
            <a:avLst/>
          </a:prstGeom>
          <a:noFill/>
          <a:ln/>
        </p:spPr>
        <p:txBody>
          <a:bodyPr wrap="square" lIns="0" tIns="0" rIns="0" bIns="0" rtlCol="0" anchor="t"/>
          <a:lstStyle/>
          <a:p>
            <a:pPr algn="l">
              <a:defRPr sz="1200" b="1">
                <a:latin typeface="Calibri"/>
              </a:defRPr>
            </a:pPr>
            <a:r>
              <a:t>Xuất bản đa kênh &amp; Đo lường</a:t>
            </a:r>
          </a:p>
        </p:txBody>
      </p:sp>
      <p:sp>
        <p:nvSpPr>
          <p:cNvPr id="2001075406" name="Text 28"/>
          <p:cNvSpPr/>
          <p:nvPr/>
        </p:nvSpPr>
        <p:spPr bwMode="auto">
          <a:xfrm>
            <a:off x="6367730" y="3908914"/>
            <a:ext cx="5052745" cy="1462088"/>
          </a:xfrm>
          <a:prstGeom prst="rect">
            <a:avLst/>
          </a:prstGeom>
          <a:noFill/>
          <a:ln/>
        </p:spPr>
        <p:txBody>
          <a:bodyPr wrap="square" lIns="0" tIns="0" rIns="0" bIns="76200" rtlCol="0" anchor="t"/>
          <a:lstStyle/>
          <a:p>
            <a:pPr algn="l">
              <a:defRPr sz="950" b="0">
                <a:latin typeface="Calibri"/>
              </a:defRPr>
            </a:pPr>
            <a:r>
              <a:t>• Tự động đăng đồng thời lên Website và Fanpage Facebook.</a:t>
            </a:r>
          </a:p>
          <a:p>
            <a:pPr algn="l">
              <a:defRPr sz="950" b="0">
                <a:latin typeface="Calibri"/>
              </a:defRPr>
            </a:pPr>
            <a:r>
              <a:t>• Cơ chế lập lịch hẹn giờ xuất bản ngầm chính xác, tin cậy.</a:t>
            </a:r>
          </a:p>
          <a:p>
            <a:pPr algn="l">
              <a:defRPr sz="950" b="0">
                <a:latin typeface="Calibri"/>
              </a:defRPr>
            </a:pPr>
            <a:r>
              <a:t>• Phân định 4 vai trò rõ rệt: Admin, Editor, Contributor, User.</a:t>
            </a:r>
          </a:p>
          <a:p>
            <a:pPr algn="l">
              <a:defRPr sz="950" b="0">
                <a:latin typeface="Calibri"/>
              </a:defRPr>
            </a:pPr>
            <a:r>
              <a:t>• Dashboard theo dõi định lượng lượt xem và độ lan tỏa tin bài.</a:t>
            </a:r>
          </a:p>
        </p:txBody>
      </p:sp>
      <p:sp>
        <p:nvSpPr>
          <p:cNvPr id="1465018155" name="Shape 31"/>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42990271" name="Text 32"/>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name="Slide 4">
    <p:bg>
      <p:bgPr>
        <a:solidFill>
          <a:srgbClr val="F6F8FB"/>
        </a:solidFill>
        <a:effectLst/>
      </p:bgPr>
    </p:bg>
    <p:spTree>
      <p:nvGrpSpPr>
        <p:cNvPr id="1" name=""/>
        <p:cNvGrpSpPr/>
        <p:nvPr/>
      </p:nvGrpSpPr>
      <p:grpSpPr bwMode="auto">
        <a:xfrm>
          <a:off x="0" y="0"/>
          <a:ext cx="0" cy="0"/>
          <a:chOff x="0" y="0"/>
          <a:chExt cx="0" cy="0"/>
        </a:xfrm>
      </p:grpSpPr>
      <p:sp>
        <p:nvSpPr>
          <p:cNvPr id="1074498975"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2. PHÂN TÍCH YÊU CẦU</a:t>
            </a:r>
            <a:endParaRPr lang="vi-VN" sz="1000" noProof="1"/>
          </a:p>
        </p:txBody>
      </p:sp>
      <p:sp>
        <p:nvSpPr>
          <p:cNvPr id="1059015700" name="Text 1"/>
          <p:cNvSpPr/>
          <p:nvPr/>
        </p:nvSpPr>
        <p:spPr bwMode="auto">
          <a:xfrm>
            <a:off x="533400" y="542925"/>
            <a:ext cx="11347704" cy="359569"/>
          </a:xfrm>
          <a:prstGeom prst="rect">
            <a:avLst/>
          </a:prstGeom>
          <a:noFill/>
          <a:ln/>
        </p:spPr>
        <p:txBody>
          <a:bodyPr wrap="square" lIns="0" tIns="0" rIns="0" bIns="0" rtlCol="0" anchor="t"/>
          <a:lstStyle/>
          <a:p>
            <a:pPr algn="l">
              <a:defRPr sz="1000">
                <a:latin typeface="Calibri"/>
              </a:defRPr>
            </a:pPr>
            <a:r>
              <a:t>Cổng thông tin độc giả — Đọc báo, tra cứu &amp; tương tác</a:t>
            </a:r>
          </a:p>
        </p:txBody>
      </p:sp>
      <p:pic>
        <p:nvPicPr>
          <p:cNvPr id="1209397928" name="Image 0" descr="/var/folders/t4/q0khv7qd1r3dc2yrbwkzmjf00000gn/T/html2pptx-nqhyar/html2pptx-bg-1791687640399-666125c3823468.png"/>
          <p:cNvPicPr>
            <a:picLocks noChangeAspect="1"/>
          </p:cNvPicPr>
          <p:nvPr/>
        </p:nvPicPr>
        <p:blipFill rotWithShape="1">
          <a:blip r:embed="rId3"/>
          <a:stretch/>
        </p:blipFill>
        <p:spPr bwMode="auto">
          <a:xfrm>
            <a:off x="533400" y="978694"/>
            <a:ext cx="1047750" cy="38100"/>
          </a:xfrm>
          <a:prstGeom prst="rect">
            <a:avLst/>
          </a:prstGeom>
        </p:spPr>
      </p:pic>
      <p:sp>
        <p:nvSpPr>
          <p:cNvPr id="678543229" name="Text 2"/>
          <p:cNvSpPr/>
          <p:nvPr/>
        </p:nvSpPr>
        <p:spPr bwMode="auto">
          <a:xfrm>
            <a:off x="533399" y="1264444"/>
            <a:ext cx="5016551"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1316152353" name="Text 3"/>
          <p:cNvSpPr/>
          <p:nvPr/>
        </p:nvSpPr>
        <p:spPr bwMode="auto">
          <a:xfrm>
            <a:off x="733424" y="1426369"/>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1300277468" name="Text 4"/>
          <p:cNvSpPr/>
          <p:nvPr/>
        </p:nvSpPr>
        <p:spPr bwMode="auto">
          <a:xfrm>
            <a:off x="730187" y="1426369"/>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01</a:t>
            </a:r>
            <a:endParaRPr lang="vi-VN" sz="1400" noProof="1"/>
          </a:p>
        </p:txBody>
      </p:sp>
      <p:sp>
        <p:nvSpPr>
          <p:cNvPr id="503144253" name="Text 5"/>
          <p:cNvSpPr/>
          <p:nvPr/>
        </p:nvSpPr>
        <p:spPr bwMode="auto">
          <a:xfrm>
            <a:off x="1172997" y="1447802"/>
            <a:ext cx="4112121" cy="247650"/>
          </a:xfrm>
          <a:prstGeom prst="rect">
            <a:avLst/>
          </a:prstGeom>
          <a:noFill/>
          <a:ln/>
        </p:spPr>
        <p:txBody>
          <a:bodyPr wrap="square" lIns="0" tIns="0" rIns="0" bIns="0" rtlCol="0" anchor="t"/>
          <a:lstStyle/>
          <a:p>
            <a:pPr algn="l">
              <a:defRPr sz="1100" b="1">
                <a:latin typeface="Calibri"/>
              </a:defRPr>
            </a:pPr>
            <a:r>
              <a:t>Tin tức phong trào &amp; Phân loại đa tầng</a:t>
            </a:r>
          </a:p>
        </p:txBody>
      </p:sp>
      <p:sp>
        <p:nvSpPr>
          <p:cNvPr id="962317796" name="Text 6"/>
          <p:cNvSpPr/>
          <p:nvPr/>
        </p:nvSpPr>
        <p:spPr bwMode="auto">
          <a:xfrm>
            <a:off x="733423" y="1826419"/>
            <a:ext cx="3423849" cy="371475"/>
          </a:xfrm>
          <a:prstGeom prst="rect">
            <a:avLst/>
          </a:prstGeom>
          <a:noFill/>
          <a:ln/>
        </p:spPr>
        <p:txBody>
          <a:bodyPr wrap="square" lIns="0" tIns="0" rIns="0" bIns="0" rtlCol="0" anchor="t"/>
          <a:lstStyle/>
          <a:p>
            <a:pPr algn="l">
              <a:defRPr sz="950">
                <a:latin typeface="Calibri"/>
              </a:defRPr>
            </a:pPr>
            <a:r>
              <a:t>Phân loại theo 8 chuyên mục công đoàn; tìm kiếm toàn văn theo từ khóa, tác giả, thời gian; phân trang mượt mà và hiển thị tin nổi bật trên Slider trang chủ.</a:t>
            </a:r>
          </a:p>
        </p:txBody>
      </p:sp>
      <p:sp>
        <p:nvSpPr>
          <p:cNvPr id="2126577439" name="Text 7"/>
          <p:cNvSpPr/>
          <p:nvPr/>
        </p:nvSpPr>
        <p:spPr bwMode="auto">
          <a:xfrm>
            <a:off x="6442024" y="1269208"/>
            <a:ext cx="5016551"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2073135920" name="Text 8"/>
          <p:cNvSpPr/>
          <p:nvPr/>
        </p:nvSpPr>
        <p:spPr bwMode="auto">
          <a:xfrm>
            <a:off x="6642050" y="1431133"/>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408462836" name="Text 9"/>
          <p:cNvSpPr/>
          <p:nvPr/>
        </p:nvSpPr>
        <p:spPr bwMode="auto">
          <a:xfrm>
            <a:off x="6638812" y="1431133"/>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02</a:t>
            </a:r>
            <a:endParaRPr lang="vi-VN" sz="1400" noProof="1"/>
          </a:p>
        </p:txBody>
      </p:sp>
      <p:sp>
        <p:nvSpPr>
          <p:cNvPr id="95561688" name="Text 10"/>
          <p:cNvSpPr/>
          <p:nvPr/>
        </p:nvSpPr>
        <p:spPr bwMode="auto">
          <a:xfrm>
            <a:off x="7081622" y="1452566"/>
            <a:ext cx="3978325" cy="247650"/>
          </a:xfrm>
          <a:prstGeom prst="rect">
            <a:avLst/>
          </a:prstGeom>
          <a:noFill/>
          <a:ln/>
        </p:spPr>
        <p:txBody>
          <a:bodyPr wrap="square" lIns="0" tIns="0" rIns="0" bIns="0" rtlCol="0" anchor="t"/>
          <a:lstStyle/>
          <a:p>
            <a:pPr algn="l">
              <a:defRPr sz="1100" b="1">
                <a:latin typeface="Calibri"/>
              </a:defRPr>
            </a:pPr>
            <a:r>
              <a:t>Bài viết đa phương tiện chuẩn báo chí</a:t>
            </a:r>
          </a:p>
        </p:txBody>
      </p:sp>
      <p:sp>
        <p:nvSpPr>
          <p:cNvPr id="1756118230" name="Text 11"/>
          <p:cNvSpPr/>
          <p:nvPr/>
        </p:nvSpPr>
        <p:spPr bwMode="auto">
          <a:xfrm>
            <a:off x="6642049" y="1831183"/>
            <a:ext cx="3423849" cy="371475"/>
          </a:xfrm>
          <a:prstGeom prst="rect">
            <a:avLst/>
          </a:prstGeom>
          <a:noFill/>
          <a:ln/>
        </p:spPr>
        <p:txBody>
          <a:bodyPr wrap="square" lIns="0" tIns="0" rIns="0" bIns="0" rtlCol="0" anchor="t"/>
          <a:lstStyle/>
          <a:p>
            <a:pPr algn="l">
              <a:defRPr sz="950">
                <a:latin typeface="Calibri"/>
              </a:defRPr>
            </a:pPr>
            <a:r>
              <a:t>Bố cục báo chí chuyên nghiệp (Tiêu đề, Sapo cô đọng, Thân bài rich-text); hiển thị album ảnh sự kiện độ phân giải cao và tệp văn bản đính kèm xem trực tiếp.</a:t>
            </a:r>
          </a:p>
        </p:txBody>
      </p:sp>
      <p:sp>
        <p:nvSpPr>
          <p:cNvPr id="180671454" name="Text 12"/>
          <p:cNvSpPr/>
          <p:nvPr/>
        </p:nvSpPr>
        <p:spPr bwMode="auto">
          <a:xfrm>
            <a:off x="553873" y="3655219"/>
            <a:ext cx="5016760"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941840615" name="Text 13"/>
          <p:cNvSpPr/>
          <p:nvPr/>
        </p:nvSpPr>
        <p:spPr bwMode="auto">
          <a:xfrm>
            <a:off x="753898" y="3817144"/>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974009373" name="Text 14"/>
          <p:cNvSpPr/>
          <p:nvPr/>
        </p:nvSpPr>
        <p:spPr bwMode="auto">
          <a:xfrm>
            <a:off x="750659" y="3817144"/>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03</a:t>
            </a:r>
            <a:endParaRPr lang="vi-VN" sz="1400" noProof="1"/>
          </a:p>
        </p:txBody>
      </p:sp>
      <p:sp>
        <p:nvSpPr>
          <p:cNvPr id="708537714" name="Text 15"/>
          <p:cNvSpPr/>
          <p:nvPr/>
        </p:nvSpPr>
        <p:spPr bwMode="auto">
          <a:xfrm>
            <a:off x="1193469" y="3838576"/>
            <a:ext cx="3008214" cy="220133"/>
          </a:xfrm>
          <a:prstGeom prst="rect">
            <a:avLst/>
          </a:prstGeom>
          <a:noFill/>
          <a:ln/>
        </p:spPr>
        <p:txBody>
          <a:bodyPr wrap="square" lIns="0" tIns="0" rIns="0" bIns="0" rtlCol="0" anchor="t"/>
          <a:lstStyle/>
          <a:p>
            <a:pPr algn="l">
              <a:defRPr sz="1100" b="1">
                <a:latin typeface="Calibri"/>
              </a:defRPr>
            </a:pPr>
            <a:r>
              <a:t>Tương tác độc giả &amp; Chia sẻ liên kết</a:t>
            </a:r>
          </a:p>
        </p:txBody>
      </p:sp>
      <p:sp>
        <p:nvSpPr>
          <p:cNvPr id="508787004" name="Text 16"/>
          <p:cNvSpPr/>
          <p:nvPr/>
        </p:nvSpPr>
        <p:spPr bwMode="auto">
          <a:xfrm>
            <a:off x="753898" y="4217194"/>
            <a:ext cx="3424008" cy="371475"/>
          </a:xfrm>
          <a:prstGeom prst="rect">
            <a:avLst/>
          </a:prstGeom>
          <a:noFill/>
          <a:ln/>
        </p:spPr>
        <p:txBody>
          <a:bodyPr wrap="square" lIns="0" tIns="0" rIns="0" bIns="0" rtlCol="0" anchor="t"/>
          <a:lstStyle/>
          <a:p>
            <a:pPr algn="l">
              <a:defRPr sz="950">
                <a:latin typeface="Calibri"/>
              </a:defRPr>
            </a:pPr>
            <a:r>
              <a:t>Đoàn viên bày tỏ cảm xúc (Like), bình luận trao đổi văn minh; chia sẻ một chạm liên kết bài viết sang Facebook, Zalo cá nhân; gửi thư góp ý trực tuyến.</a:t>
            </a:r>
          </a:p>
        </p:txBody>
      </p:sp>
      <p:sp>
        <p:nvSpPr>
          <p:cNvPr id="1677464714" name="Text 17"/>
          <p:cNvSpPr/>
          <p:nvPr/>
        </p:nvSpPr>
        <p:spPr bwMode="auto">
          <a:xfrm>
            <a:off x="6438787" y="3581402"/>
            <a:ext cx="5016551" cy="2152650"/>
          </a:xfrm>
          <a:prstGeom prst="roundRect">
            <a:avLst>
              <a:gd name="adj" fmla="val 6195"/>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sz="2400" noProof="1"/>
          </a:p>
        </p:txBody>
      </p:sp>
      <p:sp>
        <p:nvSpPr>
          <p:cNvPr id="1866628196" name="Text 18"/>
          <p:cNvSpPr/>
          <p:nvPr/>
        </p:nvSpPr>
        <p:spPr bwMode="auto">
          <a:xfrm>
            <a:off x="6638812" y="3743327"/>
            <a:ext cx="340348" cy="323850"/>
          </a:xfrm>
          <a:prstGeom prst="roundRect">
            <a:avLst>
              <a:gd name="adj" fmla="val 26471"/>
            </a:avLst>
          </a:prstGeom>
          <a:solidFill>
            <a:srgbClr val="002855"/>
          </a:solidFill>
          <a:ln/>
        </p:spPr>
        <p:txBody>
          <a:bodyPr wrap="square" rtlCol="0" anchor="ctr"/>
          <a:lstStyle/>
          <a:p>
            <a:pPr marL="0" indent="0">
              <a:buNone/>
              <a:defRPr/>
            </a:pPr>
            <a:endParaRPr lang="vi-VN" sz="2400" noProof="1"/>
          </a:p>
        </p:txBody>
      </p:sp>
      <p:sp>
        <p:nvSpPr>
          <p:cNvPr id="1092766351" name="Text 19"/>
          <p:cNvSpPr/>
          <p:nvPr/>
        </p:nvSpPr>
        <p:spPr bwMode="auto">
          <a:xfrm>
            <a:off x="6635575" y="3743327"/>
            <a:ext cx="347155" cy="323850"/>
          </a:xfrm>
          <a:prstGeom prst="rect">
            <a:avLst/>
          </a:prstGeom>
          <a:noFill/>
          <a:ln/>
        </p:spPr>
        <p:txBody>
          <a:bodyPr wrap="square" lIns="0" tIns="0" rIns="0" bIns="0" rtlCol="0" anchor="ctr"/>
          <a:lstStyle/>
          <a:p>
            <a:pPr marL="0" indent="0" algn="ctr">
              <a:buNone/>
              <a:defRPr/>
            </a:pPr>
            <a:r>
              <a:rPr lang="vi-VN" sz="1400" b="1" noProof="1">
                <a:solidFill>
                  <a:srgbClr val="F6E7BD"/>
                </a:solidFill>
                <a:latin typeface="Arial"/>
                <a:ea typeface="Arial"/>
                <a:cs typeface="Arial"/>
              </a:rPr>
              <a:t>04</a:t>
            </a:r>
            <a:endParaRPr lang="vi-VN" sz="1400" noProof="1"/>
          </a:p>
        </p:txBody>
      </p:sp>
      <p:sp>
        <p:nvSpPr>
          <p:cNvPr id="1615161333" name="Text 20"/>
          <p:cNvSpPr/>
          <p:nvPr/>
        </p:nvSpPr>
        <p:spPr bwMode="auto">
          <a:xfrm>
            <a:off x="7078384" y="3764760"/>
            <a:ext cx="3800280" cy="247650"/>
          </a:xfrm>
          <a:prstGeom prst="rect">
            <a:avLst/>
          </a:prstGeom>
          <a:noFill/>
          <a:ln/>
        </p:spPr>
        <p:txBody>
          <a:bodyPr wrap="square" lIns="0" tIns="0" rIns="0" bIns="0" rtlCol="0" anchor="t"/>
          <a:lstStyle/>
          <a:p>
            <a:pPr algn="l">
              <a:defRPr sz="1100" b="1">
                <a:latin typeface="Calibri"/>
              </a:defRPr>
            </a:pPr>
            <a:r>
              <a:t>Kho văn bản pháp quy &amp; Biểu mẫu số hóa</a:t>
            </a:r>
          </a:p>
        </p:txBody>
      </p:sp>
      <p:sp>
        <p:nvSpPr>
          <p:cNvPr id="805853147" name="Text 21"/>
          <p:cNvSpPr/>
          <p:nvPr/>
        </p:nvSpPr>
        <p:spPr bwMode="auto">
          <a:xfrm>
            <a:off x="6638811" y="4143377"/>
            <a:ext cx="3423849" cy="371475"/>
          </a:xfrm>
          <a:prstGeom prst="rect">
            <a:avLst/>
          </a:prstGeom>
          <a:noFill/>
          <a:ln/>
        </p:spPr>
        <p:txBody>
          <a:bodyPr wrap="square" lIns="0" tIns="0" rIns="0" bIns="0" rtlCol="0" anchor="t"/>
          <a:lstStyle/>
          <a:p>
            <a:pPr algn="l">
              <a:defRPr sz="950">
                <a:latin typeface="Calibri"/>
              </a:defRPr>
            </a:pPr>
            <a:r>
              <a:t>Tra cứu hệ thống nghị quyết, quy chế công đoàn minh bạch; tải về biểu mẫu xin trợ cấp khó khăn, mẫu đề xuất khen thưởng định dạng Word/PDF chuẩn hóa.</a:t>
            </a:r>
          </a:p>
        </p:txBody>
      </p:sp>
      <p:sp>
        <p:nvSpPr>
          <p:cNvPr id="1863185046" name="Shape 32"/>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361689658" name="Text 33"/>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name="Slide 5">
    <p:bg>
      <p:bgPr>
        <a:solidFill>
          <a:srgbClr val="F6F8FB"/>
        </a:solidFill>
        <a:effectLst/>
      </p:bgPr>
    </p:bg>
    <p:spTree>
      <p:nvGrpSpPr>
        <p:cNvPr id="1" name=""/>
        <p:cNvGrpSpPr/>
        <p:nvPr/>
      </p:nvGrpSpPr>
      <p:grpSpPr bwMode="auto">
        <a:xfrm>
          <a:off x="0" y="0"/>
          <a:ext cx="0" cy="0"/>
          <a:chOff x="0" y="0"/>
          <a:chExt cx="0" cy="0"/>
        </a:xfrm>
      </p:grpSpPr>
      <p:sp>
        <p:nvSpPr>
          <p:cNvPr id="1402422897"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2. PHÂN TÍCH YÊU CẦU</a:t>
            </a:r>
            <a:endParaRPr lang="vi-VN" sz="1000" noProof="1"/>
          </a:p>
        </p:txBody>
      </p:sp>
      <p:sp>
        <p:nvSpPr>
          <p:cNvPr id="959888522" name="Text 1"/>
          <p:cNvSpPr/>
          <p:nvPr/>
        </p:nvSpPr>
        <p:spPr bwMode="auto">
          <a:xfrm>
            <a:off x="533400" y="542925"/>
            <a:ext cx="11347704" cy="359569"/>
          </a:xfrm>
          <a:prstGeom prst="rect">
            <a:avLst/>
          </a:prstGeom>
          <a:noFill/>
          <a:ln/>
        </p:spPr>
        <p:txBody>
          <a:bodyPr wrap="square" lIns="0" tIns="0" rIns="0" bIns="0" rtlCol="0" anchor="t"/>
          <a:lstStyle/>
          <a:p>
            <a:pPr algn="l">
              <a:defRPr sz="1000">
                <a:latin typeface="Calibri"/>
              </a:defRPr>
            </a:pPr>
            <a:r>
              <a:t>Phân hệ Quản trị CMS &amp; Điều phối xuất bản đa kênh</a:t>
            </a:r>
          </a:p>
        </p:txBody>
      </p:sp>
      <p:pic>
        <p:nvPicPr>
          <p:cNvPr id="310296203" name="Image 0" descr="/var/folders/t4/q0khv7qd1r3dc2yrbwkzmjf00000gn/T/html2pptx-MFhxpT/html2pptx-bg-1791687641636-59e5fcf0fe2bd.png"/>
          <p:cNvPicPr>
            <a:picLocks noChangeAspect="1"/>
          </p:cNvPicPr>
          <p:nvPr/>
        </p:nvPicPr>
        <p:blipFill rotWithShape="1">
          <a:blip r:embed="rId3"/>
          <a:stretch/>
        </p:blipFill>
        <p:spPr bwMode="auto">
          <a:xfrm>
            <a:off x="533400" y="978694"/>
            <a:ext cx="1047750" cy="38100"/>
          </a:xfrm>
          <a:prstGeom prst="rect">
            <a:avLst/>
          </a:prstGeom>
        </p:spPr>
      </p:pic>
      <p:sp>
        <p:nvSpPr>
          <p:cNvPr id="348523205" name="Text 2"/>
          <p:cNvSpPr/>
          <p:nvPr/>
        </p:nvSpPr>
        <p:spPr bwMode="auto">
          <a:xfrm>
            <a:off x="5334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34365386" name="Text 3"/>
          <p:cNvSpPr/>
          <p:nvPr/>
        </p:nvSpPr>
        <p:spPr bwMode="auto">
          <a:xfrm>
            <a:off x="6953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2132093590" name="Text 4"/>
          <p:cNvSpPr/>
          <p:nvPr/>
        </p:nvSpPr>
        <p:spPr bwMode="auto">
          <a:xfrm>
            <a:off x="692467"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01</a:t>
            </a:r>
            <a:endParaRPr lang="vi-VN" sz="1000" noProof="1"/>
          </a:p>
        </p:txBody>
      </p:sp>
      <p:sp>
        <p:nvSpPr>
          <p:cNvPr id="1476022496" name="Text 5"/>
          <p:cNvSpPr/>
          <p:nvPr/>
        </p:nvSpPr>
        <p:spPr bwMode="auto">
          <a:xfrm>
            <a:off x="695325" y="1778794"/>
            <a:ext cx="2390013" cy="161925"/>
          </a:xfrm>
          <a:prstGeom prst="rect">
            <a:avLst/>
          </a:prstGeom>
          <a:noFill/>
          <a:ln/>
        </p:spPr>
        <p:txBody>
          <a:bodyPr wrap="square" lIns="0" tIns="0" rIns="0" bIns="0" rtlCol="0" anchor="t"/>
          <a:lstStyle/>
          <a:p>
            <a:pPr algn="l">
              <a:defRPr sz="1050" b="1">
                <a:latin typeface="Calibri"/>
              </a:defRPr>
            </a:pPr>
            <a:r>
              <a:t>Phân quyền 4 tác nhân</a:t>
            </a:r>
          </a:p>
        </p:txBody>
      </p:sp>
      <p:sp>
        <p:nvSpPr>
          <p:cNvPr id="1359344306" name="Text 6"/>
          <p:cNvSpPr/>
          <p:nvPr/>
        </p:nvSpPr>
        <p:spPr bwMode="auto">
          <a:xfrm>
            <a:off x="695325" y="1988344"/>
            <a:ext cx="2505075" cy="517922"/>
          </a:xfrm>
          <a:prstGeom prst="rect">
            <a:avLst/>
          </a:prstGeom>
          <a:noFill/>
          <a:ln/>
        </p:spPr>
        <p:txBody>
          <a:bodyPr wrap="square" lIns="0" tIns="0" rIns="0" bIns="0" rtlCol="0" anchor="t"/>
          <a:lstStyle/>
          <a:p>
            <a:pPr algn="l">
              <a:defRPr sz="900">
                <a:latin typeface="Calibri"/>
              </a:defRPr>
            </a:pPr>
            <a:r>
              <a:t>Admin quản trị tài khoản; Editor quản lý tin bài &amp; xuất bản; Contributor viết bài gửi lên; User đọc báo và tra cứu.</a:t>
            </a:r>
          </a:p>
        </p:txBody>
      </p:sp>
      <p:sp>
        <p:nvSpPr>
          <p:cNvPr id="1965999113" name="Text 7"/>
          <p:cNvSpPr/>
          <p:nvPr/>
        </p:nvSpPr>
        <p:spPr bwMode="auto">
          <a:xfrm>
            <a:off x="33528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868855104" name="Text 8"/>
          <p:cNvSpPr/>
          <p:nvPr/>
        </p:nvSpPr>
        <p:spPr bwMode="auto">
          <a:xfrm>
            <a:off x="35147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515993690" name="Text 9"/>
          <p:cNvSpPr/>
          <p:nvPr/>
        </p:nvSpPr>
        <p:spPr bwMode="auto">
          <a:xfrm>
            <a:off x="3511868"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02</a:t>
            </a:r>
            <a:endParaRPr lang="vi-VN" sz="1000" noProof="1"/>
          </a:p>
        </p:txBody>
      </p:sp>
      <p:sp>
        <p:nvSpPr>
          <p:cNvPr id="1827806591" name="Text 10"/>
          <p:cNvSpPr/>
          <p:nvPr/>
        </p:nvSpPr>
        <p:spPr bwMode="auto">
          <a:xfrm>
            <a:off x="3514725" y="1778794"/>
            <a:ext cx="2390013" cy="161925"/>
          </a:xfrm>
          <a:prstGeom prst="rect">
            <a:avLst/>
          </a:prstGeom>
          <a:noFill/>
          <a:ln/>
        </p:spPr>
        <p:txBody>
          <a:bodyPr wrap="square" lIns="0" tIns="0" rIns="0" bIns="0" rtlCol="0" anchor="t"/>
          <a:lstStyle/>
          <a:p>
            <a:pPr algn="l">
              <a:defRPr sz="1050" b="1">
                <a:latin typeface="Calibri"/>
              </a:defRPr>
            </a:pPr>
            <a:r>
              <a:t>Soạn thảo bài viết trực quan</a:t>
            </a:r>
          </a:p>
        </p:txBody>
      </p:sp>
      <p:sp>
        <p:nvSpPr>
          <p:cNvPr id="39333245" name="Text 11"/>
          <p:cNvSpPr/>
          <p:nvPr/>
        </p:nvSpPr>
        <p:spPr bwMode="auto">
          <a:xfrm>
            <a:off x="3514725" y="1988344"/>
            <a:ext cx="2390013" cy="517922"/>
          </a:xfrm>
          <a:prstGeom prst="rect">
            <a:avLst/>
          </a:prstGeom>
          <a:noFill/>
          <a:ln/>
        </p:spPr>
        <p:txBody>
          <a:bodyPr wrap="square" lIns="0" tIns="0" rIns="0" bIns="0" rtlCol="0" anchor="t"/>
          <a:lstStyle/>
          <a:p>
            <a:pPr algn="l">
              <a:defRPr sz="900">
                <a:latin typeface="Calibri"/>
              </a:defRPr>
            </a:pPr>
            <a:r>
              <a:t>Trình soạn thảo rich-text hiện đại, hỗ trợ chèn bảng biểu, định dạng báo chí, tải album ảnh sự kiện và tệp đính kèm.</a:t>
            </a:r>
          </a:p>
        </p:txBody>
      </p:sp>
      <p:sp>
        <p:nvSpPr>
          <p:cNvPr id="641261385" name="Text 12"/>
          <p:cNvSpPr/>
          <p:nvPr/>
        </p:nvSpPr>
        <p:spPr bwMode="auto">
          <a:xfrm>
            <a:off x="61722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442133264" name="Text 13"/>
          <p:cNvSpPr/>
          <p:nvPr/>
        </p:nvSpPr>
        <p:spPr bwMode="auto">
          <a:xfrm>
            <a:off x="63341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705281429" name="Text 14"/>
          <p:cNvSpPr/>
          <p:nvPr/>
        </p:nvSpPr>
        <p:spPr bwMode="auto">
          <a:xfrm>
            <a:off x="6331268"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03</a:t>
            </a:r>
            <a:endParaRPr lang="vi-VN" sz="1000" noProof="1"/>
          </a:p>
        </p:txBody>
      </p:sp>
      <p:sp>
        <p:nvSpPr>
          <p:cNvPr id="1984289581" name="Text 15"/>
          <p:cNvSpPr/>
          <p:nvPr/>
        </p:nvSpPr>
        <p:spPr bwMode="auto">
          <a:xfrm>
            <a:off x="6334125" y="1778794"/>
            <a:ext cx="2390013" cy="161925"/>
          </a:xfrm>
          <a:prstGeom prst="rect">
            <a:avLst/>
          </a:prstGeom>
          <a:noFill/>
          <a:ln/>
        </p:spPr>
        <p:txBody>
          <a:bodyPr wrap="square" lIns="0" tIns="0" rIns="0" bIns="0" rtlCol="0" anchor="t"/>
          <a:lstStyle/>
          <a:p>
            <a:pPr algn="l">
              <a:defRPr sz="1050" b="1">
                <a:latin typeface="Calibri"/>
              </a:defRPr>
            </a:pPr>
            <a:r>
              <a:t>Quản lý trạng thái bài viết</a:t>
            </a:r>
          </a:p>
        </p:txBody>
      </p:sp>
      <p:sp>
        <p:nvSpPr>
          <p:cNvPr id="1002533493" name="Text 16"/>
          <p:cNvSpPr/>
          <p:nvPr/>
        </p:nvSpPr>
        <p:spPr bwMode="auto">
          <a:xfrm>
            <a:off x="6334125" y="1988344"/>
            <a:ext cx="2390013" cy="517922"/>
          </a:xfrm>
          <a:prstGeom prst="rect">
            <a:avLst/>
          </a:prstGeom>
          <a:noFill/>
          <a:ln/>
        </p:spPr>
        <p:txBody>
          <a:bodyPr wrap="square" lIns="0" tIns="0" rIns="0" bIns="0" rtlCol="0" anchor="t"/>
          <a:lstStyle/>
          <a:p>
            <a:pPr algn="l">
              <a:defRPr sz="900">
                <a:latin typeface="Calibri"/>
              </a:defRPr>
            </a:pPr>
            <a:r>
              <a:t>Theo dõi vòng đời bài viết: Bản nháp → Đã gửi → Xuất bản ngay / Hẹn giờ phát hành; xem trước giao diện hiển thị.</a:t>
            </a:r>
          </a:p>
        </p:txBody>
      </p:sp>
      <p:sp>
        <p:nvSpPr>
          <p:cNvPr id="1632029538" name="Text 17"/>
          <p:cNvSpPr/>
          <p:nvPr/>
        </p:nvSpPr>
        <p:spPr bwMode="auto">
          <a:xfrm>
            <a:off x="8991600" y="1264444"/>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802780343" name="Text 18"/>
          <p:cNvSpPr/>
          <p:nvPr/>
        </p:nvSpPr>
        <p:spPr bwMode="auto">
          <a:xfrm>
            <a:off x="9153525" y="1407319"/>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1624976401" name="Text 19"/>
          <p:cNvSpPr/>
          <p:nvPr/>
        </p:nvSpPr>
        <p:spPr bwMode="auto">
          <a:xfrm>
            <a:off x="9150667" y="1407319"/>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04</a:t>
            </a:r>
            <a:endParaRPr lang="vi-VN" sz="1000" noProof="1"/>
          </a:p>
        </p:txBody>
      </p:sp>
      <p:sp>
        <p:nvSpPr>
          <p:cNvPr id="1386990661" name="Text 20"/>
          <p:cNvSpPr/>
          <p:nvPr/>
        </p:nvSpPr>
        <p:spPr bwMode="auto">
          <a:xfrm>
            <a:off x="9153525" y="1778794"/>
            <a:ext cx="2390013" cy="161925"/>
          </a:xfrm>
          <a:prstGeom prst="rect">
            <a:avLst/>
          </a:prstGeom>
          <a:noFill/>
          <a:ln/>
        </p:spPr>
        <p:txBody>
          <a:bodyPr wrap="square" lIns="0" tIns="0" rIns="0" bIns="0" rtlCol="0" anchor="t"/>
          <a:lstStyle/>
          <a:p>
            <a:pPr algn="l">
              <a:defRPr sz="1050" b="1">
                <a:latin typeface="Calibri"/>
              </a:defRPr>
            </a:pPr>
            <a:r>
              <a:t>Lập lịch hẹn giờ tự động</a:t>
            </a:r>
          </a:p>
        </p:txBody>
      </p:sp>
      <p:sp>
        <p:nvSpPr>
          <p:cNvPr id="1862772748" name="Text 21"/>
          <p:cNvSpPr/>
          <p:nvPr/>
        </p:nvSpPr>
        <p:spPr bwMode="auto">
          <a:xfrm>
            <a:off x="9153525" y="1988344"/>
            <a:ext cx="2390013" cy="517922"/>
          </a:xfrm>
          <a:prstGeom prst="rect">
            <a:avLst/>
          </a:prstGeom>
          <a:noFill/>
          <a:ln/>
        </p:spPr>
        <p:txBody>
          <a:bodyPr wrap="square" lIns="0" tIns="0" rIns="0" bIns="0" rtlCol="0" anchor="t"/>
          <a:lstStyle/>
          <a:p>
            <a:pPr algn="l">
              <a:defRPr sz="900">
                <a:latin typeface="Calibri"/>
              </a:defRPr>
            </a:pPr>
            <a:r>
              <a:t>Thiết lập thời gian đăng bài linh hoạt; tiến trình ngầm (Node-cron) tự động kích hoạt xuất bản đúng giờ mà không cần trực máy.</a:t>
            </a:r>
          </a:p>
        </p:txBody>
      </p:sp>
      <p:sp>
        <p:nvSpPr>
          <p:cNvPr id="876809556" name="Text 22"/>
          <p:cNvSpPr/>
          <p:nvPr/>
        </p:nvSpPr>
        <p:spPr bwMode="auto">
          <a:xfrm>
            <a:off x="5334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455290549" name="Text 23"/>
          <p:cNvSpPr/>
          <p:nvPr/>
        </p:nvSpPr>
        <p:spPr bwMode="auto">
          <a:xfrm>
            <a:off x="6953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1093135243" name="Text 24"/>
          <p:cNvSpPr/>
          <p:nvPr/>
        </p:nvSpPr>
        <p:spPr bwMode="auto">
          <a:xfrm>
            <a:off x="692467"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05</a:t>
            </a:r>
            <a:endParaRPr lang="vi-VN" sz="1000" noProof="1"/>
          </a:p>
        </p:txBody>
      </p:sp>
      <p:sp>
        <p:nvSpPr>
          <p:cNvPr id="1088127334" name="Text 25"/>
          <p:cNvSpPr/>
          <p:nvPr/>
        </p:nvSpPr>
        <p:spPr bwMode="auto">
          <a:xfrm>
            <a:off x="695325" y="4093369"/>
            <a:ext cx="2390013" cy="161925"/>
          </a:xfrm>
          <a:prstGeom prst="rect">
            <a:avLst/>
          </a:prstGeom>
          <a:noFill/>
          <a:ln/>
        </p:spPr>
        <p:txBody>
          <a:bodyPr wrap="square" lIns="0" tIns="0" rIns="0" bIns="0" rtlCol="0" anchor="t"/>
          <a:lstStyle/>
          <a:p>
            <a:pPr algn="l">
              <a:defRPr sz="1050" b="1">
                <a:latin typeface="Calibri"/>
              </a:defRPr>
            </a:pPr>
            <a:r>
              <a:t>Đồng bộ Fanpage Facebook</a:t>
            </a:r>
          </a:p>
        </p:txBody>
      </p:sp>
      <p:sp>
        <p:nvSpPr>
          <p:cNvPr id="2006869768" name="Text 26"/>
          <p:cNvSpPr/>
          <p:nvPr/>
        </p:nvSpPr>
        <p:spPr bwMode="auto">
          <a:xfrm>
            <a:off x="695325" y="4302919"/>
            <a:ext cx="2390013" cy="517922"/>
          </a:xfrm>
          <a:prstGeom prst="rect">
            <a:avLst/>
          </a:prstGeom>
          <a:noFill/>
          <a:ln/>
        </p:spPr>
        <p:txBody>
          <a:bodyPr wrap="square" lIns="0" tIns="0" rIns="0" bIns="0" rtlCol="0" anchor="t"/>
          <a:lstStyle/>
          <a:p>
            <a:pPr algn="l">
              <a:defRPr sz="900">
                <a:latin typeface="Calibri"/>
              </a:defRPr>
            </a:pPr>
            <a:r>
              <a:t>Tích hợp Meta Graph API v19 tự động đăng tải bài viết tóm tắt, hình ảnh đại diện và liên kết đọc báo lên Fanpage Công đoàn.</a:t>
            </a:r>
          </a:p>
        </p:txBody>
      </p:sp>
      <p:sp>
        <p:nvSpPr>
          <p:cNvPr id="131671412" name="Text 27"/>
          <p:cNvSpPr/>
          <p:nvPr/>
        </p:nvSpPr>
        <p:spPr bwMode="auto">
          <a:xfrm>
            <a:off x="33528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425332783" name="Text 28"/>
          <p:cNvSpPr/>
          <p:nvPr/>
        </p:nvSpPr>
        <p:spPr bwMode="auto">
          <a:xfrm>
            <a:off x="35147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1054262772" name="Text 29"/>
          <p:cNvSpPr/>
          <p:nvPr/>
        </p:nvSpPr>
        <p:spPr bwMode="auto">
          <a:xfrm>
            <a:off x="3511868"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06</a:t>
            </a:r>
            <a:endParaRPr lang="vi-VN" sz="1000" noProof="1"/>
          </a:p>
        </p:txBody>
      </p:sp>
      <p:sp>
        <p:nvSpPr>
          <p:cNvPr id="656601929" name="Text 30"/>
          <p:cNvSpPr/>
          <p:nvPr/>
        </p:nvSpPr>
        <p:spPr bwMode="auto">
          <a:xfrm>
            <a:off x="3514725" y="4093369"/>
            <a:ext cx="2390013" cy="161925"/>
          </a:xfrm>
          <a:prstGeom prst="rect">
            <a:avLst/>
          </a:prstGeom>
          <a:noFill/>
          <a:ln/>
        </p:spPr>
        <p:txBody>
          <a:bodyPr wrap="square" lIns="0" tIns="0" rIns="0" bIns="0" rtlCol="0" anchor="t"/>
          <a:lstStyle/>
          <a:p>
            <a:pPr algn="l">
              <a:defRPr sz="1050" b="1">
                <a:latin typeface="Calibri"/>
              </a:defRPr>
            </a:pPr>
            <a:r>
              <a:t>Bảng điều khiển (Dashboard)</a:t>
            </a:r>
          </a:p>
        </p:txBody>
      </p:sp>
      <p:sp>
        <p:nvSpPr>
          <p:cNvPr id="1468801247" name="Text 31"/>
          <p:cNvSpPr/>
          <p:nvPr/>
        </p:nvSpPr>
        <p:spPr bwMode="auto">
          <a:xfrm>
            <a:off x="3514725" y="4302919"/>
            <a:ext cx="2390013" cy="517922"/>
          </a:xfrm>
          <a:prstGeom prst="rect">
            <a:avLst/>
          </a:prstGeom>
          <a:noFill/>
          <a:ln/>
        </p:spPr>
        <p:txBody>
          <a:bodyPr wrap="square" lIns="0" tIns="0" rIns="0" bIns="0" rtlCol="0" anchor="t"/>
          <a:lstStyle/>
          <a:p>
            <a:pPr algn="l">
              <a:defRPr sz="900">
                <a:latin typeface="Calibri"/>
              </a:defRPr>
            </a:pPr>
            <a:r>
              <a:t>Theo dõi trực quan tổng số tin bài, trạng thái xuất bản và biểu đồ định lượng mức độ tương tác độc giả đa kênh.</a:t>
            </a:r>
          </a:p>
        </p:txBody>
      </p:sp>
      <p:sp>
        <p:nvSpPr>
          <p:cNvPr id="1875312712" name="Text 32"/>
          <p:cNvSpPr/>
          <p:nvPr/>
        </p:nvSpPr>
        <p:spPr bwMode="auto">
          <a:xfrm>
            <a:off x="61722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908477655" name="Text 33"/>
          <p:cNvSpPr/>
          <p:nvPr/>
        </p:nvSpPr>
        <p:spPr bwMode="auto">
          <a:xfrm>
            <a:off x="63341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800509021" name="Text 34"/>
          <p:cNvSpPr/>
          <p:nvPr/>
        </p:nvSpPr>
        <p:spPr bwMode="auto">
          <a:xfrm>
            <a:off x="6331268"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07</a:t>
            </a:r>
            <a:endParaRPr lang="vi-VN" sz="1000" noProof="1"/>
          </a:p>
        </p:txBody>
      </p:sp>
      <p:sp>
        <p:nvSpPr>
          <p:cNvPr id="1239723103" name="Text 35"/>
          <p:cNvSpPr/>
          <p:nvPr/>
        </p:nvSpPr>
        <p:spPr bwMode="auto">
          <a:xfrm>
            <a:off x="6334125" y="4093369"/>
            <a:ext cx="2390013" cy="161925"/>
          </a:xfrm>
          <a:prstGeom prst="rect">
            <a:avLst/>
          </a:prstGeom>
          <a:noFill/>
          <a:ln/>
        </p:spPr>
        <p:txBody>
          <a:bodyPr wrap="square" lIns="0" tIns="0" rIns="0" bIns="0" rtlCol="0" anchor="t"/>
          <a:lstStyle/>
          <a:p>
            <a:pPr algn="l">
              <a:defRPr sz="1050" b="1">
                <a:latin typeface="Calibri"/>
              </a:defRPr>
            </a:pPr>
            <a:r>
              <a:t>Quản lý Văn bản &amp; Biểu mẫu</a:t>
            </a:r>
          </a:p>
        </p:txBody>
      </p:sp>
      <p:sp>
        <p:nvSpPr>
          <p:cNvPr id="1577619318" name="Text 36"/>
          <p:cNvSpPr/>
          <p:nvPr/>
        </p:nvSpPr>
        <p:spPr bwMode="auto">
          <a:xfrm>
            <a:off x="6334125" y="4302919"/>
            <a:ext cx="2390013" cy="345281"/>
          </a:xfrm>
          <a:prstGeom prst="rect">
            <a:avLst/>
          </a:prstGeom>
          <a:noFill/>
          <a:ln/>
        </p:spPr>
        <p:txBody>
          <a:bodyPr wrap="square" lIns="0" tIns="0" rIns="0" bIns="0" rtlCol="0" anchor="t"/>
          <a:lstStyle/>
          <a:p>
            <a:pPr algn="l">
              <a:defRPr sz="900">
                <a:latin typeface="Calibri"/>
              </a:defRPr>
            </a:pPr>
            <a:r>
              <a:t>Cập nhật số hiệu văn bản, trích yếu, tệp scan PDF và phân loại các biểu mẫu đơn điện tử theo danh mục rõ ràng.</a:t>
            </a:r>
          </a:p>
        </p:txBody>
      </p:sp>
      <p:sp>
        <p:nvSpPr>
          <p:cNvPr id="101279089" name="Text 37"/>
          <p:cNvSpPr/>
          <p:nvPr/>
        </p:nvSpPr>
        <p:spPr bwMode="auto">
          <a:xfrm>
            <a:off x="8991600" y="3579019"/>
            <a:ext cx="2667000" cy="2162175"/>
          </a:xfrm>
          <a:prstGeom prst="roundRect">
            <a:avLst>
              <a:gd name="adj" fmla="val 61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978225723" name="Text 38"/>
          <p:cNvSpPr/>
          <p:nvPr/>
        </p:nvSpPr>
        <p:spPr bwMode="auto">
          <a:xfrm>
            <a:off x="9153525" y="3721894"/>
            <a:ext cx="285750" cy="285750"/>
          </a:xfrm>
          <a:prstGeom prst="roundRect">
            <a:avLst>
              <a:gd name="adj" fmla="val 26667"/>
            </a:avLst>
          </a:prstGeom>
          <a:solidFill>
            <a:srgbClr val="D4A017"/>
          </a:solidFill>
          <a:ln/>
        </p:spPr>
        <p:txBody>
          <a:bodyPr wrap="square" rtlCol="0" anchor="ctr"/>
          <a:lstStyle/>
          <a:p>
            <a:pPr marL="0" indent="0">
              <a:buNone/>
              <a:defRPr/>
            </a:pPr>
            <a:endParaRPr lang="vi-VN" noProof="1"/>
          </a:p>
        </p:txBody>
      </p:sp>
      <p:sp>
        <p:nvSpPr>
          <p:cNvPr id="2122408399" name="Text 39"/>
          <p:cNvSpPr/>
          <p:nvPr/>
        </p:nvSpPr>
        <p:spPr bwMode="auto">
          <a:xfrm>
            <a:off x="9150667" y="3721894"/>
            <a:ext cx="291465" cy="285750"/>
          </a:xfrm>
          <a:prstGeom prst="rect">
            <a:avLst/>
          </a:prstGeom>
          <a:noFill/>
          <a:ln/>
        </p:spPr>
        <p:txBody>
          <a:bodyPr wrap="square" lIns="0" tIns="0" rIns="0" bIns="0" rtlCol="0" anchor="ctr"/>
          <a:lstStyle/>
          <a:p>
            <a:pPr marL="0" indent="0" algn="ctr">
              <a:spcAft>
                <a:spcPts val="675"/>
              </a:spcAft>
              <a:buNone/>
              <a:defRPr/>
            </a:pPr>
            <a:r>
              <a:rPr lang="vi-VN" sz="1000" b="1" noProof="1">
                <a:solidFill>
                  <a:srgbClr val="002855"/>
                </a:solidFill>
                <a:latin typeface="Arial"/>
                <a:ea typeface="Arial"/>
                <a:cs typeface="Arial"/>
              </a:rPr>
              <a:t>08</a:t>
            </a:r>
            <a:endParaRPr lang="vi-VN" sz="1000" noProof="1"/>
          </a:p>
        </p:txBody>
      </p:sp>
      <p:sp>
        <p:nvSpPr>
          <p:cNvPr id="1592274018" name="Text 40"/>
          <p:cNvSpPr/>
          <p:nvPr/>
        </p:nvSpPr>
        <p:spPr bwMode="auto">
          <a:xfrm>
            <a:off x="9153525" y="4093369"/>
            <a:ext cx="2390013" cy="161925"/>
          </a:xfrm>
          <a:prstGeom prst="rect">
            <a:avLst/>
          </a:prstGeom>
          <a:noFill/>
          <a:ln/>
        </p:spPr>
        <p:txBody>
          <a:bodyPr wrap="square" lIns="0" tIns="0" rIns="0" bIns="0" rtlCol="0" anchor="t"/>
          <a:lstStyle/>
          <a:p>
            <a:pPr algn="l">
              <a:defRPr sz="1050" b="1">
                <a:latin typeface="Calibri"/>
              </a:defRPr>
            </a:pPr>
            <a:r>
              <a:t>Quản trị hệ thống &amp; AI Token</a:t>
            </a:r>
          </a:p>
        </p:txBody>
      </p:sp>
      <p:sp>
        <p:nvSpPr>
          <p:cNvPr id="172883449" name="Text 41"/>
          <p:cNvSpPr/>
          <p:nvPr/>
        </p:nvSpPr>
        <p:spPr bwMode="auto">
          <a:xfrm>
            <a:off x="9153525" y="4302919"/>
            <a:ext cx="2390013" cy="517922"/>
          </a:xfrm>
          <a:prstGeom prst="rect">
            <a:avLst/>
          </a:prstGeom>
          <a:noFill/>
          <a:ln/>
        </p:spPr>
        <p:txBody>
          <a:bodyPr wrap="square" lIns="0" tIns="0" rIns="0" bIns="0" rtlCol="0" anchor="t"/>
          <a:lstStyle/>
          <a:p>
            <a:pPr algn="l">
              <a:defRPr sz="900">
                <a:latin typeface="Calibri"/>
              </a:defRPr>
            </a:pPr>
            <a:r>
              <a:t>Quản lý tài khoản người dùng, phân quyền RBAC, quản lý an toàn khóa API (Gemini, Facebook) và định mức Token AI.</a:t>
            </a:r>
          </a:p>
        </p:txBody>
      </p:sp>
      <p:sp>
        <p:nvSpPr>
          <p:cNvPr id="738599549" name="Shape 42"/>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403495935" name="Text 43"/>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name="Slide 6">
    <p:bg>
      <p:bgPr>
        <a:solidFill>
          <a:srgbClr val="F6F8FB"/>
        </a:solidFill>
        <a:effectLst/>
      </p:bgPr>
    </p:bg>
    <p:spTree>
      <p:nvGrpSpPr>
        <p:cNvPr id="1" name=""/>
        <p:cNvGrpSpPr/>
        <p:nvPr/>
      </p:nvGrpSpPr>
      <p:grpSpPr bwMode="auto">
        <a:xfrm>
          <a:off x="0" y="0"/>
          <a:ext cx="0" cy="0"/>
          <a:chOff x="0" y="0"/>
          <a:chExt cx="0" cy="0"/>
        </a:xfrm>
      </p:grpSpPr>
      <p:sp>
        <p:nvSpPr>
          <p:cNvPr id="988663049"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2. PHÂN TÍCH YÊU CẦU</a:t>
            </a:r>
            <a:endParaRPr lang="vi-VN" sz="1000" noProof="1"/>
          </a:p>
        </p:txBody>
      </p:sp>
      <p:sp>
        <p:nvSpPr>
          <p:cNvPr id="1364667650" name="Text 1"/>
          <p:cNvSpPr/>
          <p:nvPr/>
        </p:nvSpPr>
        <p:spPr bwMode="auto">
          <a:xfrm>
            <a:off x="533400" y="542925"/>
            <a:ext cx="11347704" cy="359569"/>
          </a:xfrm>
          <a:prstGeom prst="rect">
            <a:avLst/>
          </a:prstGeom>
          <a:noFill/>
          <a:ln/>
        </p:spPr>
        <p:txBody>
          <a:bodyPr wrap="square" lIns="0" tIns="0" rIns="0" bIns="0" rtlCol="0" anchor="t"/>
          <a:lstStyle/>
          <a:p>
            <a:pPr algn="l">
              <a:defRPr sz="1000">
                <a:latin typeface="Calibri"/>
              </a:defRPr>
            </a:pPr>
            <a:r>
              <a:t>Trợ lý AI hỗ trợ sáng tạo nội dung đa kênh</a:t>
            </a:r>
          </a:p>
        </p:txBody>
      </p:sp>
      <p:pic>
        <p:nvPicPr>
          <p:cNvPr id="1372264076" name="Image 0" descr="/var/folders/t4/q0khv7qd1r3dc2yrbwkzmjf00000gn/T/html2pptx-3PyRvM/html2pptx-bg-1791687642797-ab2105bbbd9cb8.png"/>
          <p:cNvPicPr>
            <a:picLocks noChangeAspect="1"/>
          </p:cNvPicPr>
          <p:nvPr/>
        </p:nvPicPr>
        <p:blipFill rotWithShape="1">
          <a:blip r:embed="rId3"/>
          <a:stretch/>
        </p:blipFill>
        <p:spPr bwMode="auto">
          <a:xfrm>
            <a:off x="533400" y="978694"/>
            <a:ext cx="1047750" cy="38100"/>
          </a:xfrm>
          <a:prstGeom prst="rect">
            <a:avLst/>
          </a:prstGeom>
        </p:spPr>
      </p:pic>
      <p:sp>
        <p:nvSpPr>
          <p:cNvPr id="1141313944" name="Text 2"/>
          <p:cNvSpPr/>
          <p:nvPr/>
        </p:nvSpPr>
        <p:spPr bwMode="auto">
          <a:xfrm>
            <a:off x="533400" y="1150144"/>
            <a:ext cx="10881360" cy="214015"/>
          </a:xfrm>
          <a:prstGeom prst="rect">
            <a:avLst/>
          </a:prstGeom>
          <a:noFill/>
          <a:ln/>
        </p:spPr>
        <p:txBody>
          <a:bodyPr wrap="square" lIns="0" tIns="0" rIns="0" bIns="0" rtlCol="0" anchor="t"/>
          <a:lstStyle/>
          <a:p>
            <a:pPr algn="l">
              <a:defRPr sz="1000">
                <a:latin typeface="Calibri"/>
              </a:defRPr>
            </a:pPr>
            <a:r>
              <a:t>Ứng dụng Google Gemini AI đọc hiểu tư liệu thô, tự động tạo bài viết và tối ưu định dạng phát hành theo từng kênh.</a:t>
            </a:r>
          </a:p>
        </p:txBody>
      </p:sp>
      <p:sp>
        <p:nvSpPr>
          <p:cNvPr id="1364353431" name="Text 3"/>
          <p:cNvSpPr/>
          <p:nvPr/>
        </p:nvSpPr>
        <p:spPr bwMode="auto">
          <a:xfrm>
            <a:off x="533400" y="1573709"/>
            <a:ext cx="3606701"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282954407" name="Text 4"/>
          <p:cNvSpPr/>
          <p:nvPr/>
        </p:nvSpPr>
        <p:spPr bwMode="auto">
          <a:xfrm>
            <a:off x="714375" y="17261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1845100964" name="Text 5"/>
          <p:cNvSpPr/>
          <p:nvPr/>
        </p:nvSpPr>
        <p:spPr bwMode="auto">
          <a:xfrm>
            <a:off x="711327" y="1726109"/>
            <a:ext cx="310896" cy="304800"/>
          </a:xfrm>
          <a:prstGeom prst="rect">
            <a:avLst/>
          </a:prstGeom>
          <a:noFill/>
          <a:ln/>
        </p:spPr>
        <p:txBody>
          <a:bodyPr wrap="square" lIns="0" tIns="0" rIns="0" bIns="0" rtlCol="0" anchor="ctr"/>
          <a:lstStyle/>
          <a:p>
            <a:pPr marL="0" indent="0" algn="ctr">
              <a:buNone/>
              <a:defRPr/>
            </a:pPr>
            <a:r>
              <a:rPr lang="vi-VN" sz="1050" b="1" noProof="1">
                <a:solidFill>
                  <a:srgbClr val="F6C945"/>
                </a:solidFill>
                <a:latin typeface="Arial"/>
                <a:ea typeface="Arial"/>
                <a:cs typeface="Arial"/>
              </a:rPr>
              <a:t>01</a:t>
            </a:r>
            <a:endParaRPr lang="vi-VN" sz="1050" noProof="1"/>
          </a:p>
        </p:txBody>
      </p:sp>
      <p:sp>
        <p:nvSpPr>
          <p:cNvPr id="1016852456" name="Text 6"/>
          <p:cNvSpPr/>
          <p:nvPr/>
        </p:nvSpPr>
        <p:spPr bwMode="auto">
          <a:xfrm>
            <a:off x="1114425" y="1792784"/>
            <a:ext cx="1681692" cy="171450"/>
          </a:xfrm>
          <a:prstGeom prst="rect">
            <a:avLst/>
          </a:prstGeom>
          <a:noFill/>
          <a:ln/>
        </p:spPr>
        <p:txBody>
          <a:bodyPr wrap="square" lIns="0" tIns="0" rIns="0" bIns="0" rtlCol="0" anchor="t"/>
          <a:lstStyle/>
          <a:p>
            <a:pPr algn="l">
              <a:defRPr sz="1100" b="1">
                <a:latin typeface="Calibri"/>
              </a:defRPr>
            </a:pPr>
            <a:r>
              <a:t>Chắp bút từ tư liệu sự kiện</a:t>
            </a:r>
          </a:p>
        </p:txBody>
      </p:sp>
      <p:sp>
        <p:nvSpPr>
          <p:cNvPr id="72998157" name="Text 7"/>
          <p:cNvSpPr/>
          <p:nvPr/>
        </p:nvSpPr>
        <p:spPr bwMode="auto">
          <a:xfrm>
            <a:off x="714375" y="2107109"/>
            <a:ext cx="3309646" cy="535781"/>
          </a:xfrm>
          <a:prstGeom prst="rect">
            <a:avLst/>
          </a:prstGeom>
          <a:noFill/>
          <a:ln/>
        </p:spPr>
        <p:txBody>
          <a:bodyPr wrap="square" lIns="0" tIns="0" rIns="0" bIns="0" rtlCol="0" anchor="t"/>
          <a:lstStyle/>
          <a:p>
            <a:pPr algn="l">
              <a:defRPr sz="950">
                <a:latin typeface="Calibri"/>
              </a:defRPr>
            </a:pPr>
            <a:r>
              <a:t>Đọc hiểu kế hoạch, thông báo, ảnh chụp sự kiện (DOCX, PDF, ảnh scan) để dựng bản thảo hoàn chỉnh theo cấu trúc 5W1H báo chí đoàn thể.</a:t>
            </a:r>
          </a:p>
        </p:txBody>
      </p:sp>
      <p:sp>
        <p:nvSpPr>
          <p:cNvPr id="149157382" name="Text 8"/>
          <p:cNvSpPr/>
          <p:nvPr/>
        </p:nvSpPr>
        <p:spPr bwMode="auto">
          <a:xfrm>
            <a:off x="4292501" y="1573709"/>
            <a:ext cx="3606850"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2023426606" name="Text 9"/>
          <p:cNvSpPr/>
          <p:nvPr/>
        </p:nvSpPr>
        <p:spPr bwMode="auto">
          <a:xfrm>
            <a:off x="4473476" y="17261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1894304406" name="Text 10"/>
          <p:cNvSpPr/>
          <p:nvPr/>
        </p:nvSpPr>
        <p:spPr bwMode="auto">
          <a:xfrm>
            <a:off x="4470428" y="1726109"/>
            <a:ext cx="310896" cy="304800"/>
          </a:xfrm>
          <a:prstGeom prst="rect">
            <a:avLst/>
          </a:prstGeom>
          <a:noFill/>
          <a:ln/>
        </p:spPr>
        <p:txBody>
          <a:bodyPr wrap="square" lIns="0" tIns="0" rIns="0" bIns="0" rtlCol="0" anchor="ctr"/>
          <a:lstStyle/>
          <a:p>
            <a:pPr marL="0" indent="0" algn="ctr">
              <a:buNone/>
              <a:defRPr/>
            </a:pPr>
            <a:r>
              <a:rPr lang="vi-VN" sz="1050" b="1" noProof="1">
                <a:solidFill>
                  <a:srgbClr val="F6C945"/>
                </a:solidFill>
                <a:latin typeface="Arial"/>
                <a:ea typeface="Arial"/>
                <a:cs typeface="Arial"/>
              </a:rPr>
              <a:t>02</a:t>
            </a:r>
            <a:endParaRPr lang="vi-VN" sz="1050" noProof="1"/>
          </a:p>
        </p:txBody>
      </p:sp>
      <p:sp>
        <p:nvSpPr>
          <p:cNvPr id="53570159" name="Text 11"/>
          <p:cNvSpPr/>
          <p:nvPr/>
        </p:nvSpPr>
        <p:spPr bwMode="auto">
          <a:xfrm>
            <a:off x="4873525" y="1792784"/>
            <a:ext cx="1397210" cy="171450"/>
          </a:xfrm>
          <a:prstGeom prst="rect">
            <a:avLst/>
          </a:prstGeom>
          <a:noFill/>
          <a:ln/>
        </p:spPr>
        <p:txBody>
          <a:bodyPr wrap="square" lIns="0" tIns="0" rIns="0" bIns="0" rtlCol="0" anchor="t"/>
          <a:lstStyle/>
          <a:p>
            <a:pPr algn="l">
              <a:defRPr sz="1100" b="1">
                <a:latin typeface="Calibri"/>
              </a:defRPr>
            </a:pPr>
            <a:r>
              <a:t>Tóm tắt Sapo &amp; Đa kênh</a:t>
            </a:r>
          </a:p>
        </p:txBody>
      </p:sp>
      <p:sp>
        <p:nvSpPr>
          <p:cNvPr id="904769311" name="Text 12"/>
          <p:cNvSpPr/>
          <p:nvPr/>
        </p:nvSpPr>
        <p:spPr bwMode="auto">
          <a:xfrm>
            <a:off x="4473476" y="2107109"/>
            <a:ext cx="3309798" cy="357188"/>
          </a:xfrm>
          <a:prstGeom prst="rect">
            <a:avLst/>
          </a:prstGeom>
          <a:noFill/>
          <a:ln/>
        </p:spPr>
        <p:txBody>
          <a:bodyPr wrap="square" lIns="0" tIns="0" rIns="0" bIns="0" rtlCol="0" anchor="t"/>
          <a:lstStyle/>
          <a:p>
            <a:pPr algn="l">
              <a:defRPr sz="950">
                <a:latin typeface="Calibri"/>
              </a:defRPr>
            </a:pPr>
            <a:r>
              <a:t>Tự động tạo đoạn mở đầu (Sapo) cô đọng cho Website; rút gọn thành bản tin ngắn kèm hashtag phù hợp đăng Facebook và Zalo.</a:t>
            </a:r>
          </a:p>
        </p:txBody>
      </p:sp>
      <p:sp>
        <p:nvSpPr>
          <p:cNvPr id="709415554" name="Text 23"/>
          <p:cNvSpPr/>
          <p:nvPr/>
        </p:nvSpPr>
        <p:spPr bwMode="auto">
          <a:xfrm>
            <a:off x="4292501" y="3554909"/>
            <a:ext cx="3606850"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070345396" name="Text 24"/>
          <p:cNvSpPr/>
          <p:nvPr/>
        </p:nvSpPr>
        <p:spPr bwMode="auto">
          <a:xfrm>
            <a:off x="4473476" y="37073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1005010649" name="Text 25"/>
          <p:cNvSpPr/>
          <p:nvPr/>
        </p:nvSpPr>
        <p:spPr bwMode="auto">
          <a:xfrm>
            <a:off x="4470428" y="3707309"/>
            <a:ext cx="310896" cy="304800"/>
          </a:xfrm>
          <a:prstGeom prst="rect">
            <a:avLst/>
          </a:prstGeom>
          <a:noFill/>
          <a:ln/>
        </p:spPr>
        <p:txBody>
          <a:bodyPr wrap="square" lIns="0" tIns="0" rIns="0" bIns="0" rtlCol="0" anchor="ctr"/>
          <a:lstStyle/>
          <a:p>
            <a:pPr algn="ctr">
              <a:defRPr sz="1100" b="1">
                <a:solidFill>
                  <a:srgbClr val="FFFFFF"/>
                </a:solidFill>
                <a:latin typeface="Calibri"/>
              </a:defRPr>
            </a:pPr>
            <a:r>
              <a:t>03</a:t>
            </a:r>
          </a:p>
        </p:txBody>
      </p:sp>
      <p:sp>
        <p:nvSpPr>
          <p:cNvPr id="448043160" name="Text 26"/>
          <p:cNvSpPr/>
          <p:nvPr/>
        </p:nvSpPr>
        <p:spPr bwMode="auto">
          <a:xfrm>
            <a:off x="4873525" y="3773984"/>
            <a:ext cx="1489204" cy="171450"/>
          </a:xfrm>
          <a:prstGeom prst="rect">
            <a:avLst/>
          </a:prstGeom>
          <a:noFill/>
          <a:ln/>
        </p:spPr>
        <p:txBody>
          <a:bodyPr wrap="square" lIns="0" tIns="0" rIns="0" bIns="0" rtlCol="0" anchor="t"/>
          <a:lstStyle/>
          <a:p>
            <a:pPr algn="l">
              <a:defRPr sz="1100" b="1">
                <a:latin typeface="Calibri"/>
              </a:defRPr>
            </a:pPr>
            <a:r>
              <a:t>Gợi ý tiêu đề bài viết chuẩn SEO</a:t>
            </a:r>
          </a:p>
        </p:txBody>
      </p:sp>
      <p:sp>
        <p:nvSpPr>
          <p:cNvPr id="1489428580" name="Text 27"/>
          <p:cNvSpPr/>
          <p:nvPr/>
        </p:nvSpPr>
        <p:spPr bwMode="auto">
          <a:xfrm>
            <a:off x="4473476" y="4088309"/>
            <a:ext cx="3309798" cy="357188"/>
          </a:xfrm>
          <a:prstGeom prst="rect">
            <a:avLst/>
          </a:prstGeom>
          <a:noFill/>
          <a:ln/>
        </p:spPr>
        <p:txBody>
          <a:bodyPr wrap="square" lIns="0" tIns="0" rIns="0" bIns="0" rtlCol="0" anchor="t"/>
          <a:lstStyle/>
          <a:p>
            <a:pPr algn="l">
              <a:defRPr sz="950">
                <a:latin typeface="Calibri"/>
              </a:defRPr>
            </a:pPr>
            <a:r>
              <a:t>Phân tích nội dung cốt lõi và đề xuất 3–5 phương án tiêu đề trang trọng, đúng văn phong công đoàn và thu hút độc giả.</a:t>
            </a:r>
          </a:p>
        </p:txBody>
      </p:sp>
      <p:sp>
        <p:nvSpPr>
          <p:cNvPr id="244178056" name="Text 28"/>
          <p:cNvSpPr/>
          <p:nvPr/>
        </p:nvSpPr>
        <p:spPr bwMode="auto">
          <a:xfrm>
            <a:off x="8051750" y="3554909"/>
            <a:ext cx="3606701" cy="1828800"/>
          </a:xfrm>
          <a:prstGeom prst="roundRect">
            <a:avLst>
              <a:gd name="adj" fmla="val 7292"/>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635074082" name="Text 29"/>
          <p:cNvSpPr/>
          <p:nvPr/>
        </p:nvSpPr>
        <p:spPr bwMode="auto">
          <a:xfrm>
            <a:off x="8232725" y="3707309"/>
            <a:ext cx="304800" cy="304800"/>
          </a:xfrm>
          <a:prstGeom prst="roundRect">
            <a:avLst>
              <a:gd name="adj" fmla="val 28125"/>
            </a:avLst>
          </a:prstGeom>
          <a:solidFill>
            <a:srgbClr val="002855"/>
          </a:solidFill>
          <a:ln/>
        </p:spPr>
        <p:txBody>
          <a:bodyPr wrap="square" rtlCol="0" anchor="ctr"/>
          <a:lstStyle/>
          <a:p>
            <a:pPr marL="0" indent="0">
              <a:buNone/>
              <a:defRPr/>
            </a:pPr>
            <a:endParaRPr lang="vi-VN" noProof="1"/>
          </a:p>
        </p:txBody>
      </p:sp>
      <p:sp>
        <p:nvSpPr>
          <p:cNvPr id="264002214" name="Text 30"/>
          <p:cNvSpPr/>
          <p:nvPr/>
        </p:nvSpPr>
        <p:spPr bwMode="auto">
          <a:xfrm>
            <a:off x="8229677" y="3707309"/>
            <a:ext cx="310896" cy="304800"/>
          </a:xfrm>
          <a:prstGeom prst="rect">
            <a:avLst/>
          </a:prstGeom>
          <a:noFill/>
          <a:ln/>
        </p:spPr>
        <p:txBody>
          <a:bodyPr wrap="square" lIns="0" tIns="0" rIns="0" bIns="0" rtlCol="0" anchor="ctr"/>
          <a:lstStyle/>
          <a:p>
            <a:pPr algn="ctr">
              <a:defRPr sz="1100" b="1">
                <a:solidFill>
                  <a:srgbClr val="FFFFFF"/>
                </a:solidFill>
                <a:latin typeface="Calibri"/>
              </a:defRPr>
            </a:pPr>
            <a:r>
              <a:t>04</a:t>
            </a:r>
          </a:p>
        </p:txBody>
      </p:sp>
      <p:sp>
        <p:nvSpPr>
          <p:cNvPr id="1220310364" name="Text 31"/>
          <p:cNvSpPr/>
          <p:nvPr/>
        </p:nvSpPr>
        <p:spPr bwMode="auto">
          <a:xfrm>
            <a:off x="8632775" y="3773984"/>
            <a:ext cx="1447154" cy="171450"/>
          </a:xfrm>
          <a:prstGeom prst="rect">
            <a:avLst/>
          </a:prstGeom>
          <a:noFill/>
          <a:ln/>
        </p:spPr>
        <p:txBody>
          <a:bodyPr wrap="square" lIns="0" tIns="0" rIns="0" bIns="0" rtlCol="0" anchor="t"/>
          <a:lstStyle/>
          <a:p>
            <a:pPr algn="l">
              <a:defRPr sz="1100" b="1">
                <a:latin typeface="Calibri"/>
              </a:defRPr>
            </a:pPr>
            <a:r>
              <a:t>Chuẩn hóa văn phong &amp; Ngữ pháp</a:t>
            </a:r>
          </a:p>
        </p:txBody>
      </p:sp>
      <p:sp>
        <p:nvSpPr>
          <p:cNvPr id="690906954" name="Text 32"/>
          <p:cNvSpPr/>
          <p:nvPr/>
        </p:nvSpPr>
        <p:spPr bwMode="auto">
          <a:xfrm>
            <a:off x="8232725" y="4088309"/>
            <a:ext cx="3309646" cy="357188"/>
          </a:xfrm>
          <a:prstGeom prst="rect">
            <a:avLst/>
          </a:prstGeom>
          <a:noFill/>
          <a:ln/>
        </p:spPr>
        <p:txBody>
          <a:bodyPr wrap="square" lIns="0" tIns="0" rIns="0" bIns="0" rtlCol="0" anchor="t"/>
          <a:lstStyle/>
          <a:p>
            <a:pPr algn="l">
              <a:defRPr sz="950">
                <a:latin typeface="Calibri"/>
              </a:defRPr>
            </a:pPr>
            <a:r>
              <a:t>Rà soát chính tả tiếng Việt, tinh chỉnh câu từ mạch lạc, thay thế từ ngữ khẩu ngữ bằng thuật ngữ chuẩn mực văn bản hành chính đoàn thể.</a:t>
            </a:r>
          </a:p>
        </p:txBody>
      </p:sp>
      <p:sp>
        <p:nvSpPr>
          <p:cNvPr id="2026376871" name="Text 33"/>
          <p:cNvSpPr/>
          <p:nvPr/>
        </p:nvSpPr>
        <p:spPr bwMode="auto">
          <a:xfrm>
            <a:off x="533400" y="5574209"/>
            <a:ext cx="11125200" cy="421481"/>
          </a:xfrm>
          <a:prstGeom prst="roundRect">
            <a:avLst>
              <a:gd name="adj" fmla="val 27119"/>
            </a:avLst>
          </a:prstGeom>
          <a:solidFill>
            <a:srgbClr val="002855"/>
          </a:solidFill>
          <a:ln/>
        </p:spPr>
        <p:txBody>
          <a:bodyPr wrap="square" rtlCol="0" anchor="ctr"/>
          <a:lstStyle/>
          <a:p>
            <a:pPr marL="0" indent="0">
              <a:buNone/>
              <a:defRPr/>
            </a:pPr>
            <a:endParaRPr lang="vi-VN" noProof="1"/>
          </a:p>
        </p:txBody>
      </p:sp>
      <p:sp>
        <p:nvSpPr>
          <p:cNvPr id="1338903763" name="Text 34"/>
          <p:cNvSpPr/>
          <p:nvPr/>
        </p:nvSpPr>
        <p:spPr bwMode="auto">
          <a:xfrm>
            <a:off x="723900" y="5688509"/>
            <a:ext cx="10959084" cy="192881"/>
          </a:xfrm>
          <a:prstGeom prst="rect">
            <a:avLst/>
          </a:prstGeom>
          <a:noFill/>
          <a:ln/>
        </p:spPr>
        <p:txBody>
          <a:bodyPr wrap="square" lIns="0" tIns="0" rIns="0" bIns="0" rtlCol="0" anchor="t"/>
          <a:lstStyle/>
          <a:p>
            <a:pPr algn="ctr">
              <a:defRPr sz="1000" b="1">
                <a:solidFill>
                  <a:srgbClr val="FFFFFF"/>
                </a:solidFill>
                <a:latin typeface="Calibri"/>
              </a:defRPr>
            </a:pPr>
            <a:r>
              <a:t>Hạ tầng kỹ thuật: Tích hợp Google Gemini API qua giao thức an toàn, xử lý dữ liệu thời gian thực và quản lý hạn mức Token.</a:t>
            </a:r>
          </a:p>
        </p:txBody>
      </p:sp>
      <p:sp>
        <p:nvSpPr>
          <p:cNvPr id="247088338" name="Shape 35"/>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2067949737" name="Text 36"/>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name="Slide 7">
    <p:bg>
      <p:bgPr>
        <a:solidFill>
          <a:srgbClr val="F6F8FB"/>
        </a:solidFill>
        <a:effectLst/>
      </p:bgPr>
    </p:bg>
    <p:spTree>
      <p:nvGrpSpPr>
        <p:cNvPr id="1" name=""/>
        <p:cNvGrpSpPr/>
        <p:nvPr/>
      </p:nvGrpSpPr>
      <p:grpSpPr bwMode="auto">
        <a:xfrm>
          <a:off x="0" y="0"/>
          <a:ext cx="0" cy="0"/>
          <a:chOff x="0" y="0"/>
          <a:chExt cx="0" cy="0"/>
        </a:xfrm>
      </p:grpSpPr>
      <p:sp>
        <p:nvSpPr>
          <p:cNvPr id="1445726117"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3. GIẢI PHÁP CÔNG NGHỆ</a:t>
            </a:r>
            <a:endParaRPr lang="vi-VN" sz="1000" noProof="1"/>
          </a:p>
        </p:txBody>
      </p:sp>
      <p:sp>
        <p:nvSpPr>
          <p:cNvPr id="1250095752" name="Text 1"/>
          <p:cNvSpPr/>
          <p:nvPr/>
        </p:nvSpPr>
        <p:spPr bwMode="auto">
          <a:xfrm>
            <a:off x="533400" y="542925"/>
            <a:ext cx="11347704" cy="359569"/>
          </a:xfrm>
          <a:prstGeom prst="rect">
            <a:avLst/>
          </a:prstGeom>
          <a:noFill/>
          <a:ln/>
        </p:spPr>
        <p:txBody>
          <a:bodyPr wrap="square" lIns="0" tIns="0" rIns="0" bIns="0" rtlCol="0" anchor="t"/>
          <a:lstStyle/>
          <a:p>
            <a:pPr algn="l">
              <a:defRPr sz="1000">
                <a:latin typeface="Calibri"/>
              </a:defRPr>
            </a:pPr>
            <a:r>
              <a:t>Kiến trúc kỹ thuật — 4 thành phần hệ thống</a:t>
            </a:r>
          </a:p>
        </p:txBody>
      </p:sp>
      <p:pic>
        <p:nvPicPr>
          <p:cNvPr id="1938761839" name="Image 0" descr="/var/folders/t4/q0khv7qd1r3dc2yrbwkzmjf00000gn/T/html2pptx-GZNJ0n/html2pptx-bg-1791687643951-6c6bf3bb1a279.png"/>
          <p:cNvPicPr>
            <a:picLocks noChangeAspect="1"/>
          </p:cNvPicPr>
          <p:nvPr/>
        </p:nvPicPr>
        <p:blipFill rotWithShape="1">
          <a:blip r:embed="rId3"/>
          <a:stretch/>
        </p:blipFill>
        <p:spPr bwMode="auto">
          <a:xfrm>
            <a:off x="533400" y="978694"/>
            <a:ext cx="1047750" cy="38100"/>
          </a:xfrm>
          <a:prstGeom prst="rect">
            <a:avLst/>
          </a:prstGeom>
        </p:spPr>
      </p:pic>
      <p:sp>
        <p:nvSpPr>
          <p:cNvPr id="171965350" name="Text 2"/>
          <p:cNvSpPr/>
          <p:nvPr/>
        </p:nvSpPr>
        <p:spPr bwMode="auto">
          <a:xfrm>
            <a:off x="533400" y="1283494"/>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464939221" name="Shape 3"/>
          <p:cNvSpPr/>
          <p:nvPr/>
        </p:nvSpPr>
        <p:spPr bwMode="auto">
          <a:xfrm>
            <a:off x="762000" y="1307306"/>
            <a:ext cx="5010149" cy="0"/>
          </a:xfrm>
          <a:prstGeom prst="line">
            <a:avLst/>
          </a:prstGeom>
          <a:noFill/>
          <a:ln w="47625">
            <a:solidFill>
              <a:srgbClr val="002855"/>
            </a:solidFill>
            <a:prstDash val="solid"/>
          </a:ln>
        </p:spPr>
        <p:txBody>
          <a:bodyPr/>
          <a:lstStyle/>
          <a:p>
            <a:endParaRPr lang="vi-VN" noProof="1"/>
          </a:p>
        </p:txBody>
      </p:sp>
      <p:sp>
        <p:nvSpPr>
          <p:cNvPr id="1174777384" name="Shape 4"/>
          <p:cNvSpPr/>
          <p:nvPr/>
        </p:nvSpPr>
        <p:spPr bwMode="auto">
          <a:xfrm>
            <a:off x="5995988" y="1473994"/>
            <a:ext cx="0" cy="1785937"/>
          </a:xfrm>
          <a:prstGeom prst="line">
            <a:avLst/>
          </a:prstGeom>
          <a:noFill/>
          <a:ln w="9525">
            <a:solidFill>
              <a:srgbClr val="E3E9F2"/>
            </a:solidFill>
            <a:prstDash val="solid"/>
          </a:ln>
        </p:spPr>
        <p:txBody>
          <a:bodyPr/>
          <a:lstStyle/>
          <a:p>
            <a:endParaRPr lang="vi-VN" noProof="1"/>
          </a:p>
        </p:txBody>
      </p:sp>
      <p:sp>
        <p:nvSpPr>
          <p:cNvPr id="635614464" name="Shape 5"/>
          <p:cNvSpPr/>
          <p:nvPr/>
        </p:nvSpPr>
        <p:spPr bwMode="auto">
          <a:xfrm>
            <a:off x="762000" y="3450431"/>
            <a:ext cx="5010149" cy="0"/>
          </a:xfrm>
          <a:prstGeom prst="line">
            <a:avLst/>
          </a:prstGeom>
          <a:noFill/>
          <a:ln w="9525">
            <a:solidFill>
              <a:srgbClr val="E3E9F2"/>
            </a:solidFill>
            <a:prstDash val="solid"/>
          </a:ln>
        </p:spPr>
        <p:txBody>
          <a:bodyPr/>
          <a:lstStyle/>
          <a:p>
            <a:endParaRPr lang="vi-VN" noProof="1"/>
          </a:p>
        </p:txBody>
      </p:sp>
      <p:sp>
        <p:nvSpPr>
          <p:cNvPr id="1371696479" name="Shape 6"/>
          <p:cNvSpPr/>
          <p:nvPr/>
        </p:nvSpPr>
        <p:spPr bwMode="auto">
          <a:xfrm>
            <a:off x="538163" y="1473994"/>
            <a:ext cx="0" cy="1785937"/>
          </a:xfrm>
          <a:prstGeom prst="line">
            <a:avLst/>
          </a:prstGeom>
          <a:noFill/>
          <a:ln w="9525">
            <a:solidFill>
              <a:srgbClr val="E3E9F2"/>
            </a:solidFill>
            <a:prstDash val="solid"/>
          </a:ln>
        </p:spPr>
        <p:txBody>
          <a:bodyPr/>
          <a:lstStyle/>
          <a:p>
            <a:endParaRPr lang="vi-VN" noProof="1"/>
          </a:p>
        </p:txBody>
      </p:sp>
      <p:sp>
        <p:nvSpPr>
          <p:cNvPr id="1833952385" name="Text 7"/>
          <p:cNvSpPr/>
          <p:nvPr/>
        </p:nvSpPr>
        <p:spPr bwMode="auto">
          <a:xfrm>
            <a:off x="771525" y="1521619"/>
            <a:ext cx="809625" cy="209550"/>
          </a:xfrm>
          <a:prstGeom prst="rect">
            <a:avLst/>
          </a:prstGeom>
          <a:noFill/>
          <a:ln/>
        </p:spPr>
        <p:txBody>
          <a:bodyPr wrap="square" lIns="0" tIns="0" rIns="0" bIns="0" rtlCol="0" anchor="t"/>
          <a:lstStyle/>
          <a:p>
            <a:pPr marL="0" indent="0" algn="l">
              <a:buNone/>
              <a:defRPr/>
            </a:pPr>
            <a:r>
              <a:rPr lang="vi-VN" sz="1450" b="1" noProof="1">
                <a:solidFill>
                  <a:srgbClr val="002855"/>
                </a:solidFill>
                <a:latin typeface="Arial"/>
                <a:ea typeface="Arial"/>
                <a:cs typeface="Arial"/>
              </a:rPr>
              <a:t>Frontend</a:t>
            </a:r>
            <a:endParaRPr lang="vi-VN" sz="1450" noProof="1"/>
          </a:p>
        </p:txBody>
      </p:sp>
      <p:sp>
        <p:nvSpPr>
          <p:cNvPr id="1626353813" name="Text 8"/>
          <p:cNvSpPr/>
          <p:nvPr/>
        </p:nvSpPr>
        <p:spPr bwMode="auto">
          <a:xfrm>
            <a:off x="4142333" y="1569244"/>
            <a:ext cx="1652698" cy="114300"/>
          </a:xfrm>
          <a:prstGeom prst="rect">
            <a:avLst/>
          </a:prstGeom>
          <a:noFill/>
          <a:ln/>
        </p:spPr>
        <p:txBody>
          <a:bodyPr wrap="square" lIns="0" tIns="0" rIns="0" bIns="0" rtlCol="0" anchor="t"/>
          <a:lstStyle/>
          <a:p>
            <a:pPr marL="0" indent="0" algn="l">
              <a:buNone/>
              <a:defRPr/>
            </a:pPr>
            <a:r>
              <a:rPr lang="vi-VN" sz="850" b="1" noProof="1">
                <a:solidFill>
                  <a:srgbClr val="B07F12"/>
                </a:solidFill>
                <a:latin typeface="Arial"/>
                <a:ea typeface="Arial"/>
                <a:cs typeface="Arial"/>
              </a:rPr>
              <a:t>GIAO DIỆN NGƯỜI DÙNG</a:t>
            </a:r>
            <a:endParaRPr lang="vi-VN" sz="850" noProof="1"/>
          </a:p>
        </p:txBody>
      </p:sp>
      <p:sp>
        <p:nvSpPr>
          <p:cNvPr id="505768138" name="Text 11"/>
          <p:cNvSpPr/>
          <p:nvPr/>
        </p:nvSpPr>
        <p:spPr bwMode="auto">
          <a:xfrm>
            <a:off x="3157840" y="1845469"/>
            <a:ext cx="1355602"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algn="l">
              <a:defRPr sz="1000" b="1">
                <a:latin typeface="Calibri"/>
              </a:defRPr>
            </a:pPr>
            <a:r>
              <a:t>React 18 SPA · Tailwind CSS</a:t>
            </a:r>
          </a:p>
        </p:txBody>
      </p:sp>
      <p:sp>
        <p:nvSpPr>
          <p:cNvPr id="1291001063" name="Text 14"/>
          <p:cNvSpPr/>
          <p:nvPr/>
        </p:nvSpPr>
        <p:spPr bwMode="auto">
          <a:xfrm>
            <a:off x="771525" y="2559844"/>
            <a:ext cx="5090922" cy="357188"/>
          </a:xfrm>
          <a:prstGeom prst="rect">
            <a:avLst/>
          </a:prstGeom>
          <a:noFill/>
          <a:ln/>
        </p:spPr>
        <p:txBody>
          <a:bodyPr wrap="square" lIns="0" tIns="0" rIns="0" bIns="0" rtlCol="0" anchor="t"/>
          <a:lstStyle/>
          <a:p>
            <a:pPr algn="l">
              <a:defRPr sz="950">
                <a:latin typeface="Calibri"/>
              </a:defRPr>
            </a:pPr>
            <a:r>
              <a:t>Cổng thông tin và CMS cơ chế tải nhanh Single Page Application, chuẩn nhận diện thương hiệu TDMU, tối ưu hiển thị Responsive trên PC và di động.</a:t>
            </a:r>
          </a:p>
        </p:txBody>
      </p:sp>
      <p:sp>
        <p:nvSpPr>
          <p:cNvPr id="1180808459" name="Text 15"/>
          <p:cNvSpPr/>
          <p:nvPr/>
        </p:nvSpPr>
        <p:spPr bwMode="auto">
          <a:xfrm>
            <a:off x="6191250" y="1283494"/>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506713569" name="Shape 16"/>
          <p:cNvSpPr/>
          <p:nvPr/>
        </p:nvSpPr>
        <p:spPr bwMode="auto">
          <a:xfrm>
            <a:off x="6419850" y="1307306"/>
            <a:ext cx="5010149" cy="0"/>
          </a:xfrm>
          <a:prstGeom prst="line">
            <a:avLst/>
          </a:prstGeom>
          <a:noFill/>
          <a:ln w="47625">
            <a:solidFill>
              <a:srgbClr val="D4A017"/>
            </a:solidFill>
            <a:prstDash val="solid"/>
          </a:ln>
        </p:spPr>
        <p:txBody>
          <a:bodyPr/>
          <a:lstStyle/>
          <a:p>
            <a:endParaRPr lang="vi-VN" noProof="1"/>
          </a:p>
        </p:txBody>
      </p:sp>
      <p:sp>
        <p:nvSpPr>
          <p:cNvPr id="1424523302" name="Shape 17"/>
          <p:cNvSpPr/>
          <p:nvPr/>
        </p:nvSpPr>
        <p:spPr bwMode="auto">
          <a:xfrm>
            <a:off x="11653838" y="1473994"/>
            <a:ext cx="0" cy="1785937"/>
          </a:xfrm>
          <a:prstGeom prst="line">
            <a:avLst/>
          </a:prstGeom>
          <a:noFill/>
          <a:ln w="9525">
            <a:solidFill>
              <a:srgbClr val="E3E9F2"/>
            </a:solidFill>
            <a:prstDash val="solid"/>
          </a:ln>
        </p:spPr>
        <p:txBody>
          <a:bodyPr/>
          <a:lstStyle/>
          <a:p>
            <a:endParaRPr lang="vi-VN" noProof="1"/>
          </a:p>
        </p:txBody>
      </p:sp>
      <p:sp>
        <p:nvSpPr>
          <p:cNvPr id="1742842550" name="Shape 18"/>
          <p:cNvSpPr/>
          <p:nvPr/>
        </p:nvSpPr>
        <p:spPr bwMode="auto">
          <a:xfrm>
            <a:off x="6419850" y="3450431"/>
            <a:ext cx="5010149" cy="0"/>
          </a:xfrm>
          <a:prstGeom prst="line">
            <a:avLst/>
          </a:prstGeom>
          <a:noFill/>
          <a:ln w="9525">
            <a:solidFill>
              <a:srgbClr val="E3E9F2"/>
            </a:solidFill>
            <a:prstDash val="solid"/>
          </a:ln>
        </p:spPr>
        <p:txBody>
          <a:bodyPr/>
          <a:lstStyle/>
          <a:p>
            <a:endParaRPr lang="vi-VN" noProof="1"/>
          </a:p>
        </p:txBody>
      </p:sp>
      <p:sp>
        <p:nvSpPr>
          <p:cNvPr id="512448447" name="Shape 19"/>
          <p:cNvSpPr/>
          <p:nvPr/>
        </p:nvSpPr>
        <p:spPr bwMode="auto">
          <a:xfrm>
            <a:off x="6196011" y="1473994"/>
            <a:ext cx="0" cy="1785937"/>
          </a:xfrm>
          <a:prstGeom prst="line">
            <a:avLst/>
          </a:prstGeom>
          <a:noFill/>
          <a:ln w="9525">
            <a:solidFill>
              <a:srgbClr val="E3E9F2"/>
            </a:solidFill>
            <a:prstDash val="solid"/>
          </a:ln>
        </p:spPr>
        <p:txBody>
          <a:bodyPr/>
          <a:lstStyle/>
          <a:p>
            <a:endParaRPr lang="vi-VN" noProof="1"/>
          </a:p>
        </p:txBody>
      </p:sp>
      <p:sp>
        <p:nvSpPr>
          <p:cNvPr id="1771527550" name="Text 20"/>
          <p:cNvSpPr/>
          <p:nvPr/>
        </p:nvSpPr>
        <p:spPr bwMode="auto">
          <a:xfrm>
            <a:off x="6429374" y="1521619"/>
            <a:ext cx="813751" cy="166688"/>
          </a:xfrm>
          <a:prstGeom prst="rect">
            <a:avLst/>
          </a:prstGeom>
          <a:noFill/>
          <a:ln/>
        </p:spPr>
        <p:txBody>
          <a:bodyPr wrap="square" lIns="0" tIns="0" rIns="0" bIns="0" rtlCol="0" anchor="t"/>
          <a:lstStyle/>
          <a:p>
            <a:pPr marL="0" indent="0" algn="l">
              <a:buNone/>
              <a:defRPr/>
            </a:pPr>
            <a:r>
              <a:rPr lang="vi-VN" sz="1450" b="1" noProof="1">
                <a:solidFill>
                  <a:srgbClr val="002855"/>
                </a:solidFill>
                <a:latin typeface="Arial"/>
                <a:ea typeface="Arial"/>
                <a:cs typeface="Arial"/>
              </a:rPr>
              <a:t>Backend</a:t>
            </a:r>
            <a:endParaRPr lang="vi-VN" sz="1450" noProof="1"/>
          </a:p>
        </p:txBody>
      </p:sp>
      <p:sp>
        <p:nvSpPr>
          <p:cNvPr id="1680971027" name="Text 21"/>
          <p:cNvSpPr/>
          <p:nvPr/>
        </p:nvSpPr>
        <p:spPr bwMode="auto">
          <a:xfrm>
            <a:off x="10240714" y="1569244"/>
            <a:ext cx="1203355" cy="114300"/>
          </a:xfrm>
          <a:prstGeom prst="rect">
            <a:avLst/>
          </a:prstGeom>
          <a:noFill/>
          <a:ln/>
        </p:spPr>
        <p:txBody>
          <a:bodyPr wrap="square" lIns="0" tIns="0" rIns="0" bIns="0" rtlCol="0" anchor="t"/>
          <a:lstStyle/>
          <a:p>
            <a:pPr marL="0" indent="0" algn="l">
              <a:buNone/>
              <a:defRPr/>
            </a:pPr>
            <a:r>
              <a:rPr lang="vi-VN" sz="850" b="1" noProof="1">
                <a:solidFill>
                  <a:srgbClr val="B07F12"/>
                </a:solidFill>
                <a:latin typeface="Arial"/>
                <a:ea typeface="Arial"/>
                <a:cs typeface="Arial"/>
              </a:rPr>
              <a:t>XỬ LÝ NGHIỆP VỤ</a:t>
            </a:r>
            <a:endParaRPr lang="vi-VN" sz="850" noProof="1"/>
          </a:p>
        </p:txBody>
      </p:sp>
      <p:sp>
        <p:nvSpPr>
          <p:cNvPr id="1547685258" name="Text 22"/>
          <p:cNvSpPr/>
          <p:nvPr/>
        </p:nvSpPr>
        <p:spPr bwMode="auto">
          <a:xfrm>
            <a:off x="6429375" y="1845469"/>
            <a:ext cx="952352"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algn="l">
              <a:defRPr sz="1000" b="1">
                <a:latin typeface="Calibri"/>
              </a:defRPr>
            </a:pPr>
            <a:r>
              <a:t>Node.js 18+ · Express</a:t>
            </a:r>
          </a:p>
        </p:txBody>
      </p:sp>
      <p:sp>
        <p:nvSpPr>
          <p:cNvPr id="338024935" name="Text 24"/>
          <p:cNvSpPr/>
          <p:nvPr/>
        </p:nvSpPr>
        <p:spPr bwMode="auto">
          <a:xfrm>
            <a:off x="8670765" y="1845469"/>
            <a:ext cx="1017599"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algn="l">
              <a:defRPr sz="950" b="1">
                <a:latin typeface="Calibri"/>
              </a:defRPr>
            </a:pPr>
            <a:r>
              <a:t>RESTful API</a:t>
            </a:r>
          </a:p>
        </p:txBody>
      </p:sp>
      <p:sp>
        <p:nvSpPr>
          <p:cNvPr id="921318234" name="Text 28"/>
          <p:cNvSpPr/>
          <p:nvPr/>
        </p:nvSpPr>
        <p:spPr bwMode="auto">
          <a:xfrm>
            <a:off x="8921609" y="2188369"/>
            <a:ext cx="1095565"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algn="l">
              <a:defRPr sz="950" b="1">
                <a:latin typeface="Calibri"/>
              </a:defRPr>
            </a:pPr>
            <a:r>
              <a:t>Meta Graph API v19</a:t>
            </a:r>
          </a:p>
        </p:txBody>
      </p:sp>
      <p:sp>
        <p:nvSpPr>
          <p:cNvPr id="2106201389" name="Text 29"/>
          <p:cNvSpPr/>
          <p:nvPr/>
        </p:nvSpPr>
        <p:spPr bwMode="auto">
          <a:xfrm>
            <a:off x="6429375" y="2559844"/>
            <a:ext cx="5090922" cy="357188"/>
          </a:xfrm>
          <a:prstGeom prst="rect">
            <a:avLst/>
          </a:prstGeom>
          <a:noFill/>
          <a:ln/>
        </p:spPr>
        <p:txBody>
          <a:bodyPr wrap="square" lIns="0" tIns="0" rIns="0" bIns="0" rtlCol="0" anchor="t"/>
          <a:lstStyle/>
          <a:p>
            <a:pPr algn="l">
              <a:defRPr sz="950">
                <a:latin typeface="Calibri"/>
              </a:defRPr>
            </a:pPr>
            <a:r>
              <a:t>Xử lý nghiệp vụ tập trung, xác thực bảo mật JWT, mã hóa Bcrypt và điều phối tiến trình ngầm (Node-cron) tự động lập lịch xuất bản tin bài đúng giờ.</a:t>
            </a:r>
          </a:p>
        </p:txBody>
      </p:sp>
      <p:sp>
        <p:nvSpPr>
          <p:cNvPr id="598612279" name="Text 30"/>
          <p:cNvSpPr/>
          <p:nvPr/>
        </p:nvSpPr>
        <p:spPr bwMode="auto">
          <a:xfrm>
            <a:off x="533400" y="3640931"/>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534172165" name="Shape 31"/>
          <p:cNvSpPr/>
          <p:nvPr/>
        </p:nvSpPr>
        <p:spPr bwMode="auto">
          <a:xfrm>
            <a:off x="762000" y="3664744"/>
            <a:ext cx="5010149" cy="0"/>
          </a:xfrm>
          <a:prstGeom prst="line">
            <a:avLst/>
          </a:prstGeom>
          <a:noFill/>
          <a:ln w="47625">
            <a:solidFill>
              <a:srgbClr val="D4A017"/>
            </a:solidFill>
            <a:prstDash val="solid"/>
          </a:ln>
        </p:spPr>
        <p:txBody>
          <a:bodyPr/>
          <a:lstStyle/>
          <a:p>
            <a:endParaRPr lang="vi-VN" noProof="1"/>
          </a:p>
        </p:txBody>
      </p:sp>
      <p:sp>
        <p:nvSpPr>
          <p:cNvPr id="1074409641" name="Shape 32"/>
          <p:cNvSpPr/>
          <p:nvPr/>
        </p:nvSpPr>
        <p:spPr bwMode="auto">
          <a:xfrm>
            <a:off x="5995988" y="3831431"/>
            <a:ext cx="0" cy="1785938"/>
          </a:xfrm>
          <a:prstGeom prst="line">
            <a:avLst/>
          </a:prstGeom>
          <a:noFill/>
          <a:ln w="9525">
            <a:solidFill>
              <a:srgbClr val="E3E9F2"/>
            </a:solidFill>
            <a:prstDash val="solid"/>
          </a:ln>
        </p:spPr>
        <p:txBody>
          <a:bodyPr/>
          <a:lstStyle/>
          <a:p>
            <a:endParaRPr lang="vi-VN" noProof="1"/>
          </a:p>
        </p:txBody>
      </p:sp>
      <p:sp>
        <p:nvSpPr>
          <p:cNvPr id="52658828" name="Shape 33"/>
          <p:cNvSpPr/>
          <p:nvPr/>
        </p:nvSpPr>
        <p:spPr bwMode="auto">
          <a:xfrm>
            <a:off x="762000" y="5807869"/>
            <a:ext cx="5010149" cy="0"/>
          </a:xfrm>
          <a:prstGeom prst="line">
            <a:avLst/>
          </a:prstGeom>
          <a:noFill/>
          <a:ln w="9525">
            <a:solidFill>
              <a:srgbClr val="E3E9F2"/>
            </a:solidFill>
            <a:prstDash val="solid"/>
          </a:ln>
        </p:spPr>
        <p:txBody>
          <a:bodyPr/>
          <a:lstStyle/>
          <a:p>
            <a:endParaRPr lang="vi-VN" noProof="1"/>
          </a:p>
        </p:txBody>
      </p:sp>
      <p:sp>
        <p:nvSpPr>
          <p:cNvPr id="2125115662" name="Shape 34"/>
          <p:cNvSpPr/>
          <p:nvPr/>
        </p:nvSpPr>
        <p:spPr bwMode="auto">
          <a:xfrm>
            <a:off x="538163" y="3831431"/>
            <a:ext cx="0" cy="1785938"/>
          </a:xfrm>
          <a:prstGeom prst="line">
            <a:avLst/>
          </a:prstGeom>
          <a:noFill/>
          <a:ln w="9525">
            <a:solidFill>
              <a:srgbClr val="E3E9F2"/>
            </a:solidFill>
            <a:prstDash val="solid"/>
          </a:ln>
        </p:spPr>
        <p:txBody>
          <a:bodyPr/>
          <a:lstStyle/>
          <a:p>
            <a:endParaRPr lang="vi-VN" noProof="1"/>
          </a:p>
        </p:txBody>
      </p:sp>
      <p:sp>
        <p:nvSpPr>
          <p:cNvPr id="362813722" name="Text 35"/>
          <p:cNvSpPr/>
          <p:nvPr/>
        </p:nvSpPr>
        <p:spPr bwMode="auto">
          <a:xfrm>
            <a:off x="771525" y="3879056"/>
            <a:ext cx="1216866" cy="209550"/>
          </a:xfrm>
          <a:prstGeom prst="rect">
            <a:avLst/>
          </a:prstGeom>
          <a:noFill/>
          <a:ln/>
        </p:spPr>
        <p:txBody>
          <a:bodyPr wrap="square" lIns="0" tIns="0" rIns="0" bIns="0" rtlCol="0" anchor="t"/>
          <a:lstStyle/>
          <a:p>
            <a:pPr marL="0" indent="0" algn="l">
              <a:buNone/>
              <a:defRPr/>
            </a:pPr>
            <a:r>
              <a:rPr lang="vi-VN" sz="1450" b="1" noProof="1">
                <a:solidFill>
                  <a:srgbClr val="002855"/>
                </a:solidFill>
                <a:latin typeface="Arial"/>
                <a:ea typeface="Arial"/>
                <a:cs typeface="Arial"/>
              </a:rPr>
              <a:t>Cơ sở dữ liệu</a:t>
            </a:r>
            <a:endParaRPr lang="vi-VN" sz="1450" noProof="1"/>
          </a:p>
        </p:txBody>
      </p:sp>
      <p:sp>
        <p:nvSpPr>
          <p:cNvPr id="250328946" name="Text 36"/>
          <p:cNvSpPr/>
          <p:nvPr/>
        </p:nvSpPr>
        <p:spPr bwMode="auto">
          <a:xfrm>
            <a:off x="4297263" y="3926681"/>
            <a:ext cx="1494669" cy="114300"/>
          </a:xfrm>
          <a:prstGeom prst="rect">
            <a:avLst/>
          </a:prstGeom>
          <a:noFill/>
          <a:ln/>
        </p:spPr>
        <p:txBody>
          <a:bodyPr wrap="square" lIns="0" tIns="0" rIns="0" bIns="0" rtlCol="0" anchor="t"/>
          <a:lstStyle/>
          <a:p>
            <a:pPr marL="0" indent="0" algn="l">
              <a:buNone/>
              <a:defRPr/>
            </a:pPr>
            <a:r>
              <a:rPr lang="vi-VN" sz="850" b="1" noProof="1">
                <a:solidFill>
                  <a:srgbClr val="B07F12"/>
                </a:solidFill>
                <a:latin typeface="Arial"/>
                <a:ea typeface="Arial"/>
                <a:cs typeface="Arial"/>
              </a:rPr>
              <a:t>LƯU TRỮ &amp; TOÀN VẸN</a:t>
            </a:r>
            <a:endParaRPr lang="vi-VN" sz="850" noProof="1"/>
          </a:p>
        </p:txBody>
      </p:sp>
      <p:sp>
        <p:nvSpPr>
          <p:cNvPr id="116544063" name="Text 37"/>
          <p:cNvSpPr/>
          <p:nvPr/>
        </p:nvSpPr>
        <p:spPr bwMode="auto">
          <a:xfrm>
            <a:off x="771524" y="4202906"/>
            <a:ext cx="1515369"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algn="l">
              <a:defRPr sz="1000" b="1">
                <a:latin typeface="Calibri"/>
              </a:defRPr>
            </a:pPr>
            <a:r>
              <a:t>Microsoft SQL Server 2022</a:t>
            </a:r>
          </a:p>
        </p:txBody>
      </p:sp>
      <p:sp>
        <p:nvSpPr>
          <p:cNvPr id="1539446823" name="Text 42"/>
          <p:cNvSpPr/>
          <p:nvPr/>
        </p:nvSpPr>
        <p:spPr bwMode="auto">
          <a:xfrm>
            <a:off x="771525" y="4917281"/>
            <a:ext cx="5090922" cy="357188"/>
          </a:xfrm>
          <a:prstGeom prst="rect">
            <a:avLst/>
          </a:prstGeom>
          <a:noFill/>
          <a:ln/>
        </p:spPr>
        <p:txBody>
          <a:bodyPr wrap="square" lIns="0" tIns="0" rIns="0" bIns="0" rtlCol="0" anchor="t"/>
          <a:lstStyle/>
          <a:p>
            <a:pPr algn="l">
              <a:defRPr sz="950">
                <a:latin typeface="Calibri"/>
              </a:defRPr>
            </a:pPr>
            <a:r>
              <a:t>Mô hình dữ liệu quan hệ chuẩn hóa 3NF, bảo đảm toàn vẹn giao dịch ACID, tối ưu hóa truy vấn thông qua hệ thống chỉ mục (Indexing) và quan hệ chặt chẽ.</a:t>
            </a:r>
          </a:p>
        </p:txBody>
      </p:sp>
      <p:sp>
        <p:nvSpPr>
          <p:cNvPr id="1850102576" name="Text 43"/>
          <p:cNvSpPr/>
          <p:nvPr/>
        </p:nvSpPr>
        <p:spPr bwMode="auto">
          <a:xfrm>
            <a:off x="6191250" y="3640931"/>
            <a:ext cx="5467350" cy="2166938"/>
          </a:xfrm>
          <a:prstGeom prst="roundRect">
            <a:avLst>
              <a:gd name="adj" fmla="val 6154"/>
            </a:avLst>
          </a:prstGeom>
          <a:solidFill>
            <a:srgbClr val="FFFFFF"/>
          </a:solidFill>
          <a:ln/>
          <a:effectLst>
            <a:outerShdw blurRad="171450" dist="57150" dir="5400000" algn="bl" rotWithShape="0">
              <a:srgbClr val="002855">
                <a:alpha val="6000"/>
              </a:srgbClr>
            </a:outerShdw>
          </a:effectLst>
        </p:spPr>
        <p:txBody>
          <a:bodyPr wrap="square" rtlCol="0" anchor="ctr"/>
          <a:lstStyle/>
          <a:p>
            <a:pPr marL="0" indent="0">
              <a:buNone/>
              <a:defRPr/>
            </a:pPr>
            <a:endParaRPr lang="vi-VN" noProof="1"/>
          </a:p>
        </p:txBody>
      </p:sp>
      <p:sp>
        <p:nvSpPr>
          <p:cNvPr id="95764774" name="Shape 44"/>
          <p:cNvSpPr/>
          <p:nvPr/>
        </p:nvSpPr>
        <p:spPr bwMode="auto">
          <a:xfrm>
            <a:off x="6419850" y="3664744"/>
            <a:ext cx="5010149" cy="0"/>
          </a:xfrm>
          <a:prstGeom prst="line">
            <a:avLst/>
          </a:prstGeom>
          <a:noFill/>
          <a:ln w="47625">
            <a:solidFill>
              <a:srgbClr val="002855"/>
            </a:solidFill>
            <a:prstDash val="solid"/>
          </a:ln>
        </p:spPr>
        <p:txBody>
          <a:bodyPr/>
          <a:lstStyle/>
          <a:p>
            <a:endParaRPr lang="vi-VN" noProof="1"/>
          </a:p>
        </p:txBody>
      </p:sp>
      <p:sp>
        <p:nvSpPr>
          <p:cNvPr id="696939686" name="Shape 45"/>
          <p:cNvSpPr/>
          <p:nvPr/>
        </p:nvSpPr>
        <p:spPr bwMode="auto">
          <a:xfrm>
            <a:off x="11653838" y="3831431"/>
            <a:ext cx="0" cy="1785938"/>
          </a:xfrm>
          <a:prstGeom prst="line">
            <a:avLst/>
          </a:prstGeom>
          <a:noFill/>
          <a:ln w="9525">
            <a:solidFill>
              <a:srgbClr val="E3E9F2"/>
            </a:solidFill>
            <a:prstDash val="solid"/>
          </a:ln>
        </p:spPr>
        <p:txBody>
          <a:bodyPr/>
          <a:lstStyle/>
          <a:p>
            <a:endParaRPr lang="vi-VN" noProof="1"/>
          </a:p>
        </p:txBody>
      </p:sp>
      <p:sp>
        <p:nvSpPr>
          <p:cNvPr id="906554245" name="Shape 46"/>
          <p:cNvSpPr/>
          <p:nvPr/>
        </p:nvSpPr>
        <p:spPr bwMode="auto">
          <a:xfrm>
            <a:off x="6419850" y="5807869"/>
            <a:ext cx="5010149" cy="0"/>
          </a:xfrm>
          <a:prstGeom prst="line">
            <a:avLst/>
          </a:prstGeom>
          <a:noFill/>
          <a:ln w="9525">
            <a:solidFill>
              <a:srgbClr val="E3E9F2"/>
            </a:solidFill>
            <a:prstDash val="solid"/>
          </a:ln>
        </p:spPr>
        <p:txBody>
          <a:bodyPr/>
          <a:lstStyle/>
          <a:p>
            <a:endParaRPr lang="vi-VN" noProof="1"/>
          </a:p>
        </p:txBody>
      </p:sp>
      <p:sp>
        <p:nvSpPr>
          <p:cNvPr id="737937530" name="Shape 47"/>
          <p:cNvSpPr/>
          <p:nvPr/>
        </p:nvSpPr>
        <p:spPr bwMode="auto">
          <a:xfrm>
            <a:off x="6196011" y="3831431"/>
            <a:ext cx="0" cy="1785938"/>
          </a:xfrm>
          <a:prstGeom prst="line">
            <a:avLst/>
          </a:prstGeom>
          <a:noFill/>
          <a:ln w="9525">
            <a:solidFill>
              <a:srgbClr val="E3E9F2"/>
            </a:solidFill>
            <a:prstDash val="solid"/>
          </a:ln>
        </p:spPr>
        <p:txBody>
          <a:bodyPr/>
          <a:lstStyle/>
          <a:p>
            <a:endParaRPr lang="vi-VN" noProof="1"/>
          </a:p>
        </p:txBody>
      </p:sp>
      <p:sp>
        <p:nvSpPr>
          <p:cNvPr id="1685917915" name="Text 48"/>
          <p:cNvSpPr/>
          <p:nvPr/>
        </p:nvSpPr>
        <p:spPr bwMode="auto">
          <a:xfrm>
            <a:off x="6429374" y="3879056"/>
            <a:ext cx="1507435" cy="161925"/>
          </a:xfrm>
          <a:prstGeom prst="rect">
            <a:avLst/>
          </a:prstGeom>
          <a:noFill/>
          <a:ln/>
        </p:spPr>
        <p:txBody>
          <a:bodyPr wrap="square" lIns="0" tIns="0" rIns="0" bIns="0" rtlCol="0" anchor="t"/>
          <a:lstStyle/>
          <a:p>
            <a:pPr marL="0" indent="0" algn="l">
              <a:buNone/>
              <a:defRPr/>
            </a:pPr>
            <a:r>
              <a:rPr lang="vi-VN" sz="1450" b="1" noProof="1">
                <a:solidFill>
                  <a:srgbClr val="002855"/>
                </a:solidFill>
                <a:latin typeface="Arial"/>
                <a:ea typeface="Arial"/>
                <a:cs typeface="Arial"/>
              </a:rPr>
              <a:t>Trí tuệ nhân tạo</a:t>
            </a:r>
            <a:endParaRPr lang="vi-VN" sz="1450" noProof="1"/>
          </a:p>
        </p:txBody>
      </p:sp>
      <p:sp>
        <p:nvSpPr>
          <p:cNvPr id="508664859" name="Text 49"/>
          <p:cNvSpPr/>
          <p:nvPr/>
        </p:nvSpPr>
        <p:spPr bwMode="auto">
          <a:xfrm>
            <a:off x="10021342" y="3926681"/>
            <a:ext cx="1427116" cy="114300"/>
          </a:xfrm>
          <a:prstGeom prst="rect">
            <a:avLst/>
          </a:prstGeom>
          <a:noFill/>
          <a:ln/>
        </p:spPr>
        <p:txBody>
          <a:bodyPr wrap="square" lIns="0" tIns="0" rIns="0" bIns="0" rtlCol="0" anchor="t"/>
          <a:lstStyle/>
          <a:p>
            <a:pPr marL="0" indent="0" algn="l">
              <a:buNone/>
              <a:defRPr/>
            </a:pPr>
            <a:r>
              <a:rPr lang="vi-VN" sz="850" b="1" noProof="1">
                <a:solidFill>
                  <a:srgbClr val="B07F12"/>
                </a:solidFill>
                <a:latin typeface="Arial"/>
                <a:ea typeface="Arial"/>
                <a:cs typeface="Arial"/>
              </a:rPr>
              <a:t>SÁNG TẠO NỘI DUNG</a:t>
            </a:r>
            <a:endParaRPr lang="vi-VN" sz="850" noProof="1"/>
          </a:p>
        </p:txBody>
      </p:sp>
      <p:sp>
        <p:nvSpPr>
          <p:cNvPr id="774944240" name="Text 50"/>
          <p:cNvSpPr/>
          <p:nvPr/>
        </p:nvSpPr>
        <p:spPr bwMode="auto">
          <a:xfrm>
            <a:off x="6429375" y="4202906"/>
            <a:ext cx="1284089"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algn="l">
              <a:defRPr sz="1000" b="1">
                <a:latin typeface="Calibri"/>
              </a:defRPr>
            </a:pPr>
            <a:r>
              <a:t>Google Gemini API</a:t>
            </a:r>
          </a:p>
        </p:txBody>
      </p:sp>
      <p:sp>
        <p:nvSpPr>
          <p:cNvPr id="1784093668" name="Text 53"/>
          <p:cNvSpPr/>
          <p:nvPr/>
        </p:nvSpPr>
        <p:spPr bwMode="auto">
          <a:xfrm>
            <a:off x="7898561" y="4193382"/>
            <a:ext cx="1399330" cy="266700"/>
          </a:xfrm>
          <a:prstGeom prst="roundRect">
            <a:avLst>
              <a:gd name="adj" fmla="val 28571"/>
            </a:avLst>
          </a:prstGeom>
          <a:solidFill>
            <a:srgbClr val="EEF3FA"/>
          </a:solidFill>
          <a:ln w="9525">
            <a:solidFill>
              <a:srgbClr val="DBE5F1"/>
            </a:solidFill>
          </a:ln>
        </p:spPr>
        <p:txBody>
          <a:bodyPr wrap="square" lIns="104775" tIns="57150" rIns="104775" bIns="57150" rtlCol="0" anchor="ctr"/>
          <a:lstStyle/>
          <a:p>
            <a:pPr algn="l">
              <a:defRPr sz="1000" b="1">
                <a:latin typeface="Calibri"/>
              </a:defRPr>
            </a:pPr>
            <a:r>
              <a:t>Meta Graph API v19</a:t>
            </a:r>
          </a:p>
        </p:txBody>
      </p:sp>
      <p:sp>
        <p:nvSpPr>
          <p:cNvPr id="1599644895" name="Text 54"/>
          <p:cNvSpPr/>
          <p:nvPr/>
        </p:nvSpPr>
        <p:spPr bwMode="auto">
          <a:xfrm>
            <a:off x="6429375" y="4917281"/>
            <a:ext cx="5090922" cy="357188"/>
          </a:xfrm>
          <a:prstGeom prst="rect">
            <a:avLst/>
          </a:prstGeom>
          <a:noFill/>
          <a:ln/>
        </p:spPr>
        <p:txBody>
          <a:bodyPr wrap="square" lIns="0" tIns="0" rIns="0" bIns="0" rtlCol="0" anchor="t"/>
          <a:lstStyle/>
          <a:p>
            <a:pPr algn="l">
              <a:defRPr sz="950">
                <a:latin typeface="Calibri"/>
              </a:defRPr>
            </a:pPr>
            <a:r>
              <a:t>Gemini xử lý ngôn ngữ tự nhiên hỗ trợ tạo bài viết; Meta Graph API cung cấp kết nối an toàn tự động đăng bài lên Fanpage ngay khi có lệnh xuất bản.</a:t>
            </a:r>
          </a:p>
        </p:txBody>
      </p:sp>
      <p:sp>
        <p:nvSpPr>
          <p:cNvPr id="1648780674" name="Shape 55"/>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1035627763" name="Text 56"/>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name="Slide 8">
    <p:bg>
      <p:bgPr>
        <a:solidFill>
          <a:srgbClr val="F6F8FB"/>
        </a:solidFill>
        <a:effectLst/>
      </p:bgPr>
    </p:bg>
    <p:spTree>
      <p:nvGrpSpPr>
        <p:cNvPr id="1" name=""/>
        <p:cNvGrpSpPr/>
        <p:nvPr/>
      </p:nvGrpSpPr>
      <p:grpSpPr bwMode="auto">
        <a:xfrm>
          <a:off x="0" y="0"/>
          <a:ext cx="0" cy="0"/>
          <a:chOff x="0" y="0"/>
          <a:chExt cx="0" cy="0"/>
        </a:xfrm>
      </p:grpSpPr>
      <p:sp>
        <p:nvSpPr>
          <p:cNvPr id="10650005"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4. PHÂN TÍCH &amp; THIẾT KẾ HỆ THỐNG</a:t>
            </a:r>
            <a:endParaRPr lang="vi-VN" sz="1000" noProof="1"/>
          </a:p>
        </p:txBody>
      </p:sp>
      <p:sp>
        <p:nvSpPr>
          <p:cNvPr id="498466913" name="Text 1"/>
          <p:cNvSpPr/>
          <p:nvPr/>
        </p:nvSpPr>
        <p:spPr bwMode="auto">
          <a:xfrm>
            <a:off x="533400" y="542925"/>
            <a:ext cx="11347704" cy="359569"/>
          </a:xfrm>
          <a:prstGeom prst="rect">
            <a:avLst/>
          </a:prstGeom>
          <a:noFill/>
          <a:ln/>
        </p:spPr>
        <p:txBody>
          <a:bodyPr wrap="square" lIns="0" tIns="0" rIns="0" bIns="0" rtlCol="0" anchor="t"/>
          <a:lstStyle/>
          <a:p>
            <a:pPr algn="l">
              <a:defRPr sz="1000">
                <a:latin typeface="Calibri"/>
              </a:defRPr>
            </a:pPr>
            <a:r>
              <a:t>Biểu đồ Use Case tổng quát và 4 nhóm tác nhân</a:t>
            </a:r>
          </a:p>
        </p:txBody>
      </p:sp>
      <p:pic>
        <p:nvPicPr>
          <p:cNvPr id="1507799084" name="Image 0" descr="/var/folders/t4/q0khv7qd1r3dc2yrbwkzmjf00000gn/T/html2pptx-MbMXpX/html2pptx-bg-1791687645085-30dbbe03d212c.png"/>
          <p:cNvPicPr>
            <a:picLocks noChangeAspect="1"/>
          </p:cNvPicPr>
          <p:nvPr/>
        </p:nvPicPr>
        <p:blipFill rotWithShape="1">
          <a:blip r:embed="rId3"/>
          <a:stretch/>
        </p:blipFill>
        <p:spPr bwMode="auto">
          <a:xfrm>
            <a:off x="533400" y="978694"/>
            <a:ext cx="1047750" cy="38100"/>
          </a:xfrm>
          <a:prstGeom prst="rect">
            <a:avLst/>
          </a:prstGeom>
        </p:spPr>
      </p:pic>
      <p:sp>
        <p:nvSpPr>
          <p:cNvPr id="296639830" name="Text 2"/>
          <p:cNvSpPr/>
          <p:nvPr/>
        </p:nvSpPr>
        <p:spPr bwMode="auto">
          <a:xfrm>
            <a:off x="533400" y="1245394"/>
            <a:ext cx="6004179" cy="142875"/>
          </a:xfrm>
          <a:prstGeom prst="rect">
            <a:avLst/>
          </a:prstGeom>
          <a:noFill/>
          <a:ln/>
        </p:spPr>
        <p:txBody>
          <a:bodyPr wrap="square" lIns="0" tIns="0" rIns="0" bIns="0" rtlCol="0" anchor="t"/>
          <a:lstStyle/>
          <a:p>
            <a:pPr marL="0" indent="0" algn="l">
              <a:spcAft>
                <a:spcPts val="750"/>
              </a:spcAft>
              <a:buNone/>
              <a:defRPr/>
            </a:pPr>
            <a:r>
              <a:rPr lang="vi-VN" sz="1000" b="1" noProof="1">
                <a:solidFill>
                  <a:srgbClr val="7A1F2D"/>
                </a:solidFill>
                <a:latin typeface="Arial"/>
                <a:ea typeface="Arial"/>
                <a:cs typeface="Arial"/>
              </a:rPr>
              <a:t>4 NHÓM TÁC NHÂN (ACTOR)</a:t>
            </a:r>
            <a:endParaRPr lang="vi-VN" sz="1000" noProof="1"/>
          </a:p>
        </p:txBody>
      </p:sp>
      <p:sp>
        <p:nvSpPr>
          <p:cNvPr id="2015982658" name="Text 3"/>
          <p:cNvSpPr/>
          <p:nvPr/>
        </p:nvSpPr>
        <p:spPr bwMode="auto">
          <a:xfrm>
            <a:off x="533400" y="1483519"/>
            <a:ext cx="1655755" cy="295274"/>
          </a:xfrm>
          <a:prstGeom prst="roundRect">
            <a:avLst>
              <a:gd name="adj" fmla="val 3222581"/>
            </a:avLst>
          </a:prstGeom>
          <a:solidFill>
            <a:srgbClr val="002855"/>
          </a:solidFill>
          <a:ln/>
        </p:spPr>
        <p:txBody>
          <a:bodyPr wrap="square" lIns="133350" tIns="76200" rIns="133350" bIns="76200" rtlCol="0" anchor="ctr"/>
          <a:lstStyle/>
          <a:p>
            <a:pPr algn="ctr">
              <a:defRPr sz="950" b="1">
                <a:solidFill>
                  <a:srgbClr val="FFFFFF"/>
                </a:solidFill>
                <a:latin typeface="Calibri"/>
              </a:defRPr>
            </a:pPr>
            <a:r>
              <a:t>Quản trị viên (Admin)</a:t>
            </a:r>
          </a:p>
        </p:txBody>
      </p:sp>
      <p:sp>
        <p:nvSpPr>
          <p:cNvPr id="20333978" name="Text 4"/>
          <p:cNvSpPr/>
          <p:nvPr/>
        </p:nvSpPr>
        <p:spPr bwMode="auto">
          <a:xfrm>
            <a:off x="2243207" y="1483519"/>
            <a:ext cx="1655755" cy="295274"/>
          </a:xfrm>
          <a:prstGeom prst="roundRect">
            <a:avLst>
              <a:gd name="adj" fmla="val 3222581"/>
            </a:avLst>
          </a:prstGeom>
          <a:solidFill>
            <a:srgbClr val="002855"/>
          </a:solidFill>
          <a:ln/>
        </p:spPr>
        <p:txBody>
          <a:bodyPr wrap="square" lIns="133350" tIns="76200" rIns="133350" bIns="76200" rtlCol="0" anchor="ctr"/>
          <a:lstStyle/>
          <a:p>
            <a:pPr algn="ctr">
              <a:defRPr sz="950" b="1">
                <a:solidFill>
                  <a:srgbClr val="FFFFFF"/>
                </a:solidFill>
                <a:latin typeface="Calibri"/>
              </a:defRPr>
            </a:pPr>
            <a:r>
              <a:t>Biên tập viên (Editor)</a:t>
            </a:r>
          </a:p>
        </p:txBody>
      </p:sp>
      <p:sp>
        <p:nvSpPr>
          <p:cNvPr id="921278382" name="Text 5"/>
          <p:cNvSpPr/>
          <p:nvPr/>
        </p:nvSpPr>
        <p:spPr bwMode="auto">
          <a:xfrm>
            <a:off x="3953014" y="1483519"/>
            <a:ext cx="2037883" cy="295274"/>
          </a:xfrm>
          <a:prstGeom prst="roundRect">
            <a:avLst>
              <a:gd name="adj" fmla="val 3222581"/>
            </a:avLst>
          </a:prstGeom>
          <a:solidFill>
            <a:srgbClr val="002855"/>
          </a:solidFill>
          <a:ln/>
        </p:spPr>
        <p:txBody>
          <a:bodyPr wrap="square" lIns="133350" tIns="76200" rIns="133350" bIns="76200" rtlCol="0" anchor="ctr"/>
          <a:lstStyle/>
          <a:p>
            <a:pPr algn="ctr">
              <a:defRPr sz="950" b="1">
                <a:solidFill>
                  <a:srgbClr val="FFFFFF"/>
                </a:solidFill>
                <a:latin typeface="Calibri"/>
              </a:defRPr>
            </a:pPr>
            <a:r>
              <a:t>Cộng tác viên (Contributor)</a:t>
            </a:r>
          </a:p>
        </p:txBody>
      </p:sp>
      <p:sp>
        <p:nvSpPr>
          <p:cNvPr id="1625837095" name="Text 6"/>
          <p:cNvSpPr/>
          <p:nvPr/>
        </p:nvSpPr>
        <p:spPr bwMode="auto">
          <a:xfrm>
            <a:off x="533399" y="1854994"/>
            <a:ext cx="1581151" cy="295274"/>
          </a:xfrm>
          <a:prstGeom prst="roundRect">
            <a:avLst>
              <a:gd name="adj" fmla="val 3222581"/>
            </a:avLst>
          </a:prstGeom>
          <a:solidFill>
            <a:srgbClr val="002855"/>
          </a:solidFill>
          <a:ln/>
        </p:spPr>
        <p:txBody>
          <a:bodyPr wrap="square" lIns="133350" tIns="76200" rIns="133350" bIns="76200" rtlCol="0" anchor="ctr"/>
          <a:lstStyle/>
          <a:p>
            <a:pPr algn="ctr">
              <a:defRPr sz="950" b="1">
                <a:solidFill>
                  <a:srgbClr val="FFFFFF"/>
                </a:solidFill>
                <a:latin typeface="Calibri"/>
              </a:defRPr>
            </a:pPr>
            <a:r>
              <a:t>Đoàn viên / Độc giả (User)</a:t>
            </a:r>
          </a:p>
        </p:txBody>
      </p:sp>
      <p:sp>
        <p:nvSpPr>
          <p:cNvPr id="1929487286" name="Text 7"/>
          <p:cNvSpPr/>
          <p:nvPr/>
        </p:nvSpPr>
        <p:spPr bwMode="auto">
          <a:xfrm>
            <a:off x="533400" y="2321719"/>
            <a:ext cx="6004179" cy="142875"/>
          </a:xfrm>
          <a:prstGeom prst="rect">
            <a:avLst/>
          </a:prstGeom>
          <a:noFill/>
          <a:ln/>
        </p:spPr>
        <p:txBody>
          <a:bodyPr wrap="square" lIns="0" tIns="0" rIns="0" bIns="0" rtlCol="0" anchor="t"/>
          <a:lstStyle/>
          <a:p>
            <a:pPr algn="l">
              <a:defRPr sz="1100" b="1">
                <a:latin typeface="Calibri"/>
              </a:defRPr>
            </a:pPr>
            <a:r>
              <a:t>5 PHÂN HỆ NGHIỆP VỤ (26 USE CASE)</a:t>
            </a:r>
          </a:p>
        </p:txBody>
      </p:sp>
      <p:sp>
        <p:nvSpPr>
          <p:cNvPr id="1702895364" name="Text 8"/>
          <p:cNvSpPr/>
          <p:nvPr/>
        </p:nvSpPr>
        <p:spPr bwMode="auto">
          <a:xfrm>
            <a:off x="533400" y="2559844"/>
            <a:ext cx="5886450" cy="2137172"/>
          </a:xfrm>
          <a:prstGeom prst="roundRect">
            <a:avLst>
              <a:gd name="adj" fmla="val 6240"/>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606367627" name="Shape 9"/>
          <p:cNvSpPr/>
          <p:nvPr/>
        </p:nvSpPr>
        <p:spPr bwMode="auto">
          <a:xfrm>
            <a:off x="714375" y="3012281"/>
            <a:ext cx="5524500" cy="0"/>
          </a:xfrm>
          <a:prstGeom prst="line">
            <a:avLst/>
          </a:prstGeom>
          <a:noFill/>
          <a:ln w="9525">
            <a:solidFill>
              <a:srgbClr val="E3E9F2"/>
            </a:solidFill>
            <a:prstDash val="dash"/>
          </a:ln>
        </p:spPr>
        <p:txBody>
          <a:bodyPr/>
          <a:lstStyle/>
          <a:p>
            <a:endParaRPr lang="vi-VN" noProof="1"/>
          </a:p>
        </p:txBody>
      </p:sp>
      <p:sp>
        <p:nvSpPr>
          <p:cNvPr id="315121726" name="Text 10"/>
          <p:cNvSpPr/>
          <p:nvPr/>
        </p:nvSpPr>
        <p:spPr bwMode="auto">
          <a:xfrm>
            <a:off x="714375" y="2759869"/>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1</a:t>
            </a:r>
            <a:endParaRPr lang="vi-VN" sz="1000" noProof="1"/>
          </a:p>
        </p:txBody>
      </p:sp>
      <p:sp>
        <p:nvSpPr>
          <p:cNvPr id="541046798" name="Text 11"/>
          <p:cNvSpPr/>
          <p:nvPr/>
        </p:nvSpPr>
        <p:spPr bwMode="auto">
          <a:xfrm>
            <a:off x="1019174" y="2759869"/>
            <a:ext cx="4687577" cy="186333"/>
          </a:xfrm>
          <a:prstGeom prst="rect">
            <a:avLst/>
          </a:prstGeom>
          <a:noFill/>
          <a:ln/>
        </p:spPr>
        <p:txBody>
          <a:bodyPr wrap="square" lIns="0" tIns="0" rIns="0" bIns="0" rtlCol="0" anchor="t"/>
          <a:lstStyle/>
          <a:p>
            <a:pPr algn="l">
              <a:defRPr sz="950">
                <a:latin typeface="Calibri"/>
              </a:defRPr>
            </a:pPr>
            <a:r>
              <a:t>Quản lý bài viết &amp; nội dung — Soạn thảo, đính kèm media, lưu nháp, phân quyền tác giả.</a:t>
            </a:r>
          </a:p>
        </p:txBody>
      </p:sp>
      <p:sp>
        <p:nvSpPr>
          <p:cNvPr id="108056505" name="Shape 12"/>
          <p:cNvSpPr/>
          <p:nvPr/>
        </p:nvSpPr>
        <p:spPr bwMode="auto">
          <a:xfrm>
            <a:off x="714375" y="3322439"/>
            <a:ext cx="5524500" cy="0"/>
          </a:xfrm>
          <a:prstGeom prst="line">
            <a:avLst/>
          </a:prstGeom>
          <a:noFill/>
          <a:ln w="9525">
            <a:solidFill>
              <a:srgbClr val="E3E9F2"/>
            </a:solidFill>
            <a:prstDash val="dash"/>
          </a:ln>
        </p:spPr>
        <p:txBody>
          <a:bodyPr/>
          <a:lstStyle/>
          <a:p>
            <a:endParaRPr lang="vi-VN" noProof="1"/>
          </a:p>
        </p:txBody>
      </p:sp>
      <p:sp>
        <p:nvSpPr>
          <p:cNvPr id="2072824464" name="Text 13"/>
          <p:cNvSpPr/>
          <p:nvPr/>
        </p:nvSpPr>
        <p:spPr bwMode="auto">
          <a:xfrm>
            <a:off x="714375" y="3070027"/>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2</a:t>
            </a:r>
            <a:endParaRPr lang="vi-VN" sz="1000" noProof="1"/>
          </a:p>
        </p:txBody>
      </p:sp>
      <p:sp>
        <p:nvSpPr>
          <p:cNvPr id="22886867" name="Text 14"/>
          <p:cNvSpPr/>
          <p:nvPr/>
        </p:nvSpPr>
        <p:spPr bwMode="auto">
          <a:xfrm>
            <a:off x="1019174" y="3070027"/>
            <a:ext cx="3386763" cy="186333"/>
          </a:xfrm>
          <a:prstGeom prst="rect">
            <a:avLst/>
          </a:prstGeom>
          <a:noFill/>
          <a:ln/>
        </p:spPr>
        <p:txBody>
          <a:bodyPr wrap="square" lIns="0" tIns="0" rIns="0" bIns="0" rtlCol="0" anchor="t"/>
          <a:lstStyle/>
          <a:p>
            <a:pPr algn="l">
              <a:defRPr sz="950">
                <a:latin typeface="Calibri"/>
              </a:defRPr>
            </a:pPr>
            <a:r>
              <a:t>Trợ lý AI hỗ trợ sáng tạo — Dựng bài 5W1H, gợi ý tiêu đề, tóm tắt Sapo.</a:t>
            </a:r>
          </a:p>
        </p:txBody>
      </p:sp>
      <p:sp>
        <p:nvSpPr>
          <p:cNvPr id="41581989" name="Shape 15"/>
          <p:cNvSpPr/>
          <p:nvPr/>
        </p:nvSpPr>
        <p:spPr bwMode="auto">
          <a:xfrm>
            <a:off x="714375" y="3632596"/>
            <a:ext cx="5524500" cy="0"/>
          </a:xfrm>
          <a:prstGeom prst="line">
            <a:avLst/>
          </a:prstGeom>
          <a:noFill/>
          <a:ln w="9525">
            <a:solidFill>
              <a:srgbClr val="E3E9F2"/>
            </a:solidFill>
            <a:prstDash val="dash"/>
          </a:ln>
        </p:spPr>
        <p:txBody>
          <a:bodyPr/>
          <a:lstStyle/>
          <a:p>
            <a:endParaRPr lang="vi-VN" noProof="1"/>
          </a:p>
        </p:txBody>
      </p:sp>
      <p:sp>
        <p:nvSpPr>
          <p:cNvPr id="1673367991" name="Text 16"/>
          <p:cNvSpPr/>
          <p:nvPr/>
        </p:nvSpPr>
        <p:spPr bwMode="auto">
          <a:xfrm>
            <a:off x="714375" y="3380184"/>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3</a:t>
            </a:r>
            <a:endParaRPr lang="vi-VN" sz="1000" noProof="1"/>
          </a:p>
        </p:txBody>
      </p:sp>
      <p:sp>
        <p:nvSpPr>
          <p:cNvPr id="925502246" name="Text 17"/>
          <p:cNvSpPr/>
          <p:nvPr/>
        </p:nvSpPr>
        <p:spPr bwMode="auto">
          <a:xfrm>
            <a:off x="1019174" y="3380184"/>
            <a:ext cx="4270418" cy="186333"/>
          </a:xfrm>
          <a:prstGeom prst="rect">
            <a:avLst/>
          </a:prstGeom>
          <a:noFill/>
          <a:ln/>
        </p:spPr>
        <p:txBody>
          <a:bodyPr wrap="square" lIns="0" tIns="0" rIns="0" bIns="0" rtlCol="0" anchor="t"/>
          <a:lstStyle/>
          <a:p>
            <a:pPr algn="l">
              <a:defRPr sz="950">
                <a:latin typeface="Calibri"/>
              </a:defRPr>
            </a:pPr>
            <a:r>
              <a:t>Xuất bản đa kênh &amp; Lập lịch — Xem trước, hẹn giờ đăng bài, đồng bộ Facebook.</a:t>
            </a:r>
          </a:p>
        </p:txBody>
      </p:sp>
      <p:sp>
        <p:nvSpPr>
          <p:cNvPr id="457755770" name="Shape 18"/>
          <p:cNvSpPr/>
          <p:nvPr/>
        </p:nvSpPr>
        <p:spPr bwMode="auto">
          <a:xfrm>
            <a:off x="714375" y="3942755"/>
            <a:ext cx="5524500" cy="0"/>
          </a:xfrm>
          <a:prstGeom prst="line">
            <a:avLst/>
          </a:prstGeom>
          <a:noFill/>
          <a:ln w="9525">
            <a:solidFill>
              <a:srgbClr val="E3E9F2"/>
            </a:solidFill>
            <a:prstDash val="dash"/>
          </a:ln>
        </p:spPr>
        <p:txBody>
          <a:bodyPr/>
          <a:lstStyle/>
          <a:p>
            <a:endParaRPr lang="vi-VN" noProof="1"/>
          </a:p>
        </p:txBody>
      </p:sp>
      <p:sp>
        <p:nvSpPr>
          <p:cNvPr id="1588957073" name="Text 19"/>
          <p:cNvSpPr/>
          <p:nvPr/>
        </p:nvSpPr>
        <p:spPr bwMode="auto">
          <a:xfrm>
            <a:off x="714375" y="3690342"/>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4</a:t>
            </a:r>
            <a:endParaRPr lang="vi-VN" sz="1000" noProof="1"/>
          </a:p>
        </p:txBody>
      </p:sp>
      <p:sp>
        <p:nvSpPr>
          <p:cNvPr id="2144642820" name="Shape 21"/>
          <p:cNvSpPr/>
          <p:nvPr/>
        </p:nvSpPr>
        <p:spPr bwMode="auto">
          <a:xfrm>
            <a:off x="714375" y="4252913"/>
            <a:ext cx="5524500" cy="0"/>
          </a:xfrm>
          <a:prstGeom prst="line">
            <a:avLst/>
          </a:prstGeom>
          <a:noFill/>
          <a:ln w="9525">
            <a:solidFill>
              <a:srgbClr val="E3E9F2"/>
            </a:solidFill>
            <a:prstDash val="dash"/>
          </a:ln>
        </p:spPr>
        <p:txBody>
          <a:bodyPr/>
          <a:lstStyle/>
          <a:p>
            <a:endParaRPr lang="vi-VN" noProof="1"/>
          </a:p>
        </p:txBody>
      </p:sp>
      <p:sp>
        <p:nvSpPr>
          <p:cNvPr id="151893184" name="Text 22"/>
          <p:cNvSpPr/>
          <p:nvPr/>
        </p:nvSpPr>
        <p:spPr bwMode="auto">
          <a:xfrm>
            <a:off x="714375" y="4000500"/>
            <a:ext cx="213741" cy="186333"/>
          </a:xfrm>
          <a:prstGeom prst="rect">
            <a:avLst/>
          </a:prstGeom>
          <a:noFill/>
          <a:ln/>
        </p:spPr>
        <p:txBody>
          <a:bodyPr wrap="square" lIns="0" tIns="0" rIns="0" bIns="0" rtlCol="0" anchor="t"/>
          <a:lstStyle/>
          <a:p>
            <a:pPr marL="0" indent="0" algn="l">
              <a:lnSpc>
                <a:spcPts val="1468"/>
              </a:lnSpc>
              <a:buNone/>
              <a:defRPr/>
            </a:pPr>
            <a:r>
              <a:rPr lang="vi-VN" sz="1000" b="1" noProof="1">
                <a:solidFill>
                  <a:srgbClr val="D4A017"/>
                </a:solidFill>
                <a:latin typeface="Arial"/>
                <a:ea typeface="Arial"/>
                <a:cs typeface="Arial"/>
              </a:rPr>
              <a:t>5</a:t>
            </a:r>
            <a:endParaRPr lang="vi-VN" sz="1000" noProof="1"/>
          </a:p>
        </p:txBody>
      </p:sp>
      <p:sp>
        <p:nvSpPr>
          <p:cNvPr id="474285615" name="Text 23"/>
          <p:cNvSpPr/>
          <p:nvPr/>
        </p:nvSpPr>
        <p:spPr bwMode="auto">
          <a:xfrm>
            <a:off x="1019174" y="3689449"/>
            <a:ext cx="3853714" cy="186333"/>
          </a:xfrm>
          <a:prstGeom prst="rect">
            <a:avLst/>
          </a:prstGeom>
          <a:noFill/>
          <a:ln/>
        </p:spPr>
        <p:txBody>
          <a:bodyPr wrap="square" lIns="0" tIns="0" rIns="0" bIns="0" rtlCol="0" anchor="t"/>
          <a:lstStyle/>
          <a:p>
            <a:pPr algn="l">
              <a:defRPr sz="950">
                <a:latin typeface="Calibri"/>
              </a:defRPr>
            </a:pPr>
            <a:r>
              <a:t>Cổng thông tin độc giả — Đọc tin tức, tra cứu văn bản pháp quy, gửi góp ý.</a:t>
            </a:r>
          </a:p>
        </p:txBody>
      </p:sp>
      <p:sp>
        <p:nvSpPr>
          <p:cNvPr id="1499707221" name="Text 24"/>
          <p:cNvSpPr/>
          <p:nvPr/>
        </p:nvSpPr>
        <p:spPr bwMode="auto">
          <a:xfrm>
            <a:off x="714375" y="4310658"/>
            <a:ext cx="213741" cy="186333"/>
          </a:xfrm>
          <a:prstGeom prst="rect">
            <a:avLst/>
          </a:prstGeom>
          <a:noFill/>
          <a:ln/>
        </p:spPr>
        <p:txBody>
          <a:bodyPr wrap="square" lIns="0" tIns="0" rIns="0" bIns="0" rtlCol="0" anchor="t"/>
          <a:lstStyle/>
          <a:p>
            <a:pPr marL="0" indent="0" algn="l">
              <a:lnSpc>
                <a:spcPts val="1468"/>
              </a:lnSpc>
              <a:buNone/>
              <a:defRPr/>
            </a:pPr>
            <a:endParaRPr lang="vi-VN" sz="1000" noProof="1"/>
          </a:p>
        </p:txBody>
      </p:sp>
      <p:sp>
        <p:nvSpPr>
          <p:cNvPr id="1616624030" name="Text 25"/>
          <p:cNvSpPr/>
          <p:nvPr/>
        </p:nvSpPr>
        <p:spPr bwMode="auto">
          <a:xfrm>
            <a:off x="1019174" y="3999607"/>
            <a:ext cx="3623274" cy="186333"/>
          </a:xfrm>
          <a:prstGeom prst="rect">
            <a:avLst/>
          </a:prstGeom>
          <a:noFill/>
          <a:ln/>
        </p:spPr>
        <p:txBody>
          <a:bodyPr wrap="square" lIns="0" tIns="0" rIns="0" bIns="0" rtlCol="0" anchor="t"/>
          <a:lstStyle/>
          <a:p>
            <a:pPr algn="l">
              <a:defRPr sz="950">
                <a:latin typeface="Calibri"/>
              </a:defRPr>
            </a:pPr>
            <a:r>
              <a:t>Quản trị hệ thống &amp; Người dùng — Quản lý tài khoản, phân quyền RBAC, Token AI.</a:t>
            </a:r>
          </a:p>
        </p:txBody>
      </p:sp>
      <p:sp>
        <p:nvSpPr>
          <p:cNvPr id="265859507" name="Text 26"/>
          <p:cNvSpPr/>
          <p:nvPr/>
        </p:nvSpPr>
        <p:spPr bwMode="auto">
          <a:xfrm>
            <a:off x="533400" y="4830365"/>
            <a:ext cx="5886450" cy="619125"/>
          </a:xfrm>
          <a:prstGeom prst="roundRect">
            <a:avLst>
              <a:gd name="adj" fmla="val 18462"/>
            </a:avLst>
          </a:prstGeom>
          <a:solidFill>
            <a:srgbClr val="EEF3FA"/>
          </a:solidFill>
          <a:ln w="9525">
            <a:solidFill>
              <a:srgbClr val="DBE5F1"/>
            </a:solidFill>
          </a:ln>
        </p:spPr>
        <p:txBody>
          <a:bodyPr wrap="square" rtlCol="0" anchor="ctr"/>
          <a:lstStyle/>
          <a:p>
            <a:pPr marL="0" indent="0">
              <a:buNone/>
              <a:defRPr/>
            </a:pPr>
            <a:endParaRPr lang="vi-VN" noProof="1"/>
          </a:p>
        </p:txBody>
      </p:sp>
      <p:sp>
        <p:nvSpPr>
          <p:cNvPr id="180938056" name="Text 27"/>
          <p:cNvSpPr/>
          <p:nvPr/>
        </p:nvSpPr>
        <p:spPr bwMode="auto">
          <a:xfrm>
            <a:off x="695325" y="4954191"/>
            <a:ext cx="5673852" cy="371475"/>
          </a:xfrm>
          <a:prstGeom prst="rect">
            <a:avLst/>
          </a:prstGeom>
          <a:noFill/>
          <a:ln/>
        </p:spPr>
        <p:txBody>
          <a:bodyPr wrap="square" lIns="0" tIns="0" rIns="0" bIns="0" rtlCol="0" anchor="t"/>
          <a:lstStyle/>
          <a:p>
            <a:pPr algn="l">
              <a:defRPr sz="950">
                <a:latin typeface="Calibri"/>
              </a:defRPr>
            </a:pPr>
            <a:r>
              <a:t>Phân định 4 vai trò rõ rệt: Admin quản trị hệ thống; Editor duyệt bài &amp; xuất bản; Contributor soạn &amp; gửi bài; User đọc &amp; tương tác. Toàn bộ 26 use case được đặc tả chuẩn UML.</a:t>
            </a:r>
          </a:p>
        </p:txBody>
      </p:sp>
      <p:sp>
        <p:nvSpPr>
          <p:cNvPr id="900242687" name="Text 28"/>
          <p:cNvSpPr/>
          <p:nvPr/>
        </p:nvSpPr>
        <p:spPr bwMode="auto">
          <a:xfrm>
            <a:off x="6667500" y="1245394"/>
            <a:ext cx="4991100" cy="5334000"/>
          </a:xfrm>
          <a:prstGeom prst="roundRect">
            <a:avLst>
              <a:gd name="adj" fmla="val 267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77667814" name="Image 1"/>
          <p:cNvPicPr>
            <a:picLocks noChangeAspect="1"/>
          </p:cNvPicPr>
          <p:nvPr/>
        </p:nvPicPr>
        <p:blipFill>
          <a:blip r:embed="rId4"/>
          <a:srcRect/>
          <a:stretch/>
        </p:blipFill>
        <p:spPr bwMode="auto">
          <a:xfrm>
            <a:off x="6810375" y="1399372"/>
            <a:ext cx="4705350" cy="5119062"/>
          </a:xfrm>
          <a:prstGeom prst="rect">
            <a:avLst/>
          </a:prstGeom>
        </p:spPr>
      </p:pic>
      <p:sp>
        <p:nvSpPr>
          <p:cNvPr id="2114610084" name="Text 29"/>
          <p:cNvSpPr/>
          <p:nvPr/>
        </p:nvSpPr>
        <p:spPr bwMode="auto">
          <a:xfrm>
            <a:off x="6763322" y="6624785"/>
            <a:ext cx="4799457" cy="133350"/>
          </a:xfrm>
          <a:prstGeom prst="rect">
            <a:avLst/>
          </a:prstGeom>
          <a:noFill/>
          <a:ln/>
        </p:spPr>
        <p:txBody>
          <a:bodyPr wrap="square" lIns="0" tIns="0" rIns="0" bIns="0" rtlCol="0" anchor="t"/>
          <a:lstStyle/>
          <a:p>
            <a:pPr marL="0" indent="0" algn="ctr">
              <a:spcBef>
                <a:spcPts val="750"/>
              </a:spcBef>
              <a:buNone/>
              <a:defRPr/>
            </a:pPr>
            <a:r>
              <a:rPr lang="vi-VN" sz="900" noProof="1">
                <a:solidFill>
                  <a:srgbClr val="8A97AB"/>
                </a:solidFill>
                <a:latin typeface="Arial"/>
                <a:ea typeface="Arial"/>
                <a:cs typeface="Arial"/>
              </a:rPr>
              <a:t>Biểu đồ Use Case tổng quát hệ thống</a:t>
            </a:r>
            <a:endParaRPr lang="vi-VN" sz="900" noProof="1"/>
          </a:p>
        </p:txBody>
      </p:sp>
      <p:sp>
        <p:nvSpPr>
          <p:cNvPr id="407911527" name="Shape 30"/>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1612392569" name="Text 31"/>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33997073" name="Shape 32"/>
          <p:cNvSpPr/>
          <p:nvPr/>
        </p:nvSpPr>
        <p:spPr bwMode="auto">
          <a:xfrm>
            <a:off x="6810375" y="1393031"/>
            <a:ext cx="4705350" cy="0"/>
          </a:xfrm>
          <a:prstGeom prst="line">
            <a:avLst/>
          </a:prstGeom>
          <a:noFill/>
          <a:ln w="9525">
            <a:solidFill>
              <a:srgbClr val="EDF1F7"/>
            </a:solidFill>
            <a:prstDash val="solid"/>
          </a:ln>
        </p:spPr>
        <p:txBody>
          <a:bodyPr/>
          <a:lstStyle/>
          <a:p>
            <a:endParaRPr lang="vi-VN" noProof="1"/>
          </a:p>
        </p:txBody>
      </p:sp>
      <p:sp>
        <p:nvSpPr>
          <p:cNvPr id="244372080" name="Shape 33"/>
          <p:cNvSpPr/>
          <p:nvPr/>
        </p:nvSpPr>
        <p:spPr bwMode="auto">
          <a:xfrm>
            <a:off x="11510963" y="1388269"/>
            <a:ext cx="0" cy="5141268"/>
          </a:xfrm>
          <a:prstGeom prst="line">
            <a:avLst/>
          </a:prstGeom>
          <a:noFill/>
          <a:ln w="9525">
            <a:solidFill>
              <a:srgbClr val="EDF1F7"/>
            </a:solidFill>
            <a:prstDash val="solid"/>
          </a:ln>
        </p:spPr>
        <p:txBody>
          <a:bodyPr/>
          <a:lstStyle/>
          <a:p>
            <a:endParaRPr lang="vi-VN" noProof="1"/>
          </a:p>
        </p:txBody>
      </p:sp>
      <p:sp>
        <p:nvSpPr>
          <p:cNvPr id="834499497" name="Shape 34"/>
          <p:cNvSpPr/>
          <p:nvPr/>
        </p:nvSpPr>
        <p:spPr bwMode="auto">
          <a:xfrm>
            <a:off x="6810375" y="6524774"/>
            <a:ext cx="4705350" cy="0"/>
          </a:xfrm>
          <a:prstGeom prst="line">
            <a:avLst/>
          </a:prstGeom>
          <a:noFill/>
          <a:ln w="9525">
            <a:solidFill>
              <a:srgbClr val="EDF1F7"/>
            </a:solidFill>
            <a:prstDash val="solid"/>
          </a:ln>
        </p:spPr>
        <p:txBody>
          <a:bodyPr/>
          <a:lstStyle/>
          <a:p>
            <a:endParaRPr lang="vi-VN" noProof="1"/>
          </a:p>
        </p:txBody>
      </p:sp>
      <p:sp>
        <p:nvSpPr>
          <p:cNvPr id="786633352" name="Shape 35"/>
          <p:cNvSpPr/>
          <p:nvPr/>
        </p:nvSpPr>
        <p:spPr bwMode="auto">
          <a:xfrm>
            <a:off x="6815138" y="1388269"/>
            <a:ext cx="0" cy="5141268"/>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name="Slide 9">
    <p:bg>
      <p:bgPr>
        <a:solidFill>
          <a:srgbClr val="F6F8FB"/>
        </a:solidFill>
        <a:effectLst/>
      </p:bgPr>
    </p:bg>
    <p:spTree>
      <p:nvGrpSpPr>
        <p:cNvPr id="1" name=""/>
        <p:cNvGrpSpPr/>
        <p:nvPr/>
      </p:nvGrpSpPr>
      <p:grpSpPr bwMode="auto">
        <a:xfrm>
          <a:off x="0" y="0"/>
          <a:ext cx="0" cy="0"/>
          <a:chOff x="0" y="0"/>
          <a:chExt cx="0" cy="0"/>
        </a:xfrm>
      </p:grpSpPr>
      <p:sp>
        <p:nvSpPr>
          <p:cNvPr id="1778504505"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4. PHÂN TÍCH &amp; THIẾT KẾ HỆ THỐNG</a:t>
            </a:r>
            <a:endParaRPr lang="vi-VN" sz="1000" noProof="1"/>
          </a:p>
        </p:txBody>
      </p:sp>
      <p:sp>
        <p:nvSpPr>
          <p:cNvPr id="1516662613" name="Text 1"/>
          <p:cNvSpPr/>
          <p:nvPr/>
        </p:nvSpPr>
        <p:spPr bwMode="auto">
          <a:xfrm>
            <a:off x="533400" y="542925"/>
            <a:ext cx="11347704" cy="359569"/>
          </a:xfrm>
          <a:prstGeom prst="rect">
            <a:avLst/>
          </a:prstGeom>
          <a:noFill/>
          <a:ln/>
        </p:spPr>
        <p:txBody>
          <a:bodyPr wrap="square" lIns="0" tIns="0" rIns="0" bIns="0" rtlCol="0" anchor="t"/>
          <a:lstStyle/>
          <a:p>
            <a:pPr algn="l">
              <a:defRPr sz="1000">
                <a:latin typeface="Calibri"/>
              </a:defRPr>
            </a:pPr>
            <a:r>
              <a:t>Thiết kế cơ sở dữ liệu quan hệ (15 bảng chuẩn 3NF)</a:t>
            </a:r>
          </a:p>
        </p:txBody>
      </p:sp>
      <p:pic>
        <p:nvPicPr>
          <p:cNvPr id="536241311" name="Image 0" descr="/var/folders/t4/q0khv7qd1r3dc2yrbwkzmjf00000gn/T/html2pptx-3ey5sh/html2pptx-bg-1791687646699-ce072b8ac0a458.png"/>
          <p:cNvPicPr>
            <a:picLocks noChangeAspect="1"/>
          </p:cNvPicPr>
          <p:nvPr/>
        </p:nvPicPr>
        <p:blipFill rotWithShape="1">
          <a:blip r:embed="rId3"/>
          <a:stretch/>
        </p:blipFill>
        <p:spPr bwMode="auto">
          <a:xfrm>
            <a:off x="533400" y="978694"/>
            <a:ext cx="1047750" cy="38100"/>
          </a:xfrm>
          <a:prstGeom prst="rect">
            <a:avLst/>
          </a:prstGeom>
        </p:spPr>
      </p:pic>
      <p:sp>
        <p:nvSpPr>
          <p:cNvPr id="1162282214" name="Text 2"/>
          <p:cNvSpPr/>
          <p:nvPr/>
        </p:nvSpPr>
        <p:spPr bwMode="auto">
          <a:xfrm>
            <a:off x="533400" y="1264444"/>
            <a:ext cx="5857875" cy="1785938"/>
          </a:xfrm>
          <a:prstGeom prst="roundRect">
            <a:avLst>
              <a:gd name="adj" fmla="val 7467"/>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224472586" name="Text 3"/>
          <p:cNvSpPr/>
          <p:nvPr/>
        </p:nvSpPr>
        <p:spPr bwMode="auto">
          <a:xfrm>
            <a:off x="714375" y="1407319"/>
            <a:ext cx="5605844" cy="161925"/>
          </a:xfrm>
          <a:prstGeom prst="rect">
            <a:avLst/>
          </a:prstGeom>
          <a:noFill/>
          <a:ln/>
        </p:spPr>
        <p:txBody>
          <a:bodyPr wrap="square" lIns="0" tIns="0" rIns="0" bIns="0" rtlCol="0" anchor="t"/>
          <a:lstStyle/>
          <a:p>
            <a:pPr algn="l">
              <a:defRPr sz="1100" b="1">
                <a:latin typeface="Calibri"/>
              </a:defRPr>
            </a:pPr>
            <a:r>
              <a:t>Đặc tả kỹ thuật CSDL</a:t>
            </a:r>
          </a:p>
        </p:txBody>
      </p:sp>
      <p:sp>
        <p:nvSpPr>
          <p:cNvPr id="1967574883" name="Text 4"/>
          <p:cNvSpPr/>
          <p:nvPr/>
        </p:nvSpPr>
        <p:spPr bwMode="auto">
          <a:xfrm>
            <a:off x="714375" y="1645444"/>
            <a:ext cx="5495925" cy="1262063"/>
          </a:xfrm>
          <a:prstGeom prst="rect">
            <a:avLst/>
          </a:prstGeom>
          <a:noFill/>
          <a:ln/>
        </p:spPr>
        <p:txBody>
          <a:bodyPr wrap="square" lIns="152400" tIns="0" rIns="0" bIns="66675" rtlCol="0" anchor="t"/>
          <a:lstStyle/>
          <a:p>
            <a:pPr algn="l">
              <a:defRPr sz="950">
                <a:latin typeface="Calibri"/>
              </a:defRPr>
            </a:pPr>
            <a:r>
              <a:t>• Hệ quản trị: Microsoft SQL Server 2022 kết hợp Connection Pool tối ưu hiệu năng kết nối.</a:t>
            </a:r>
          </a:p>
          <a:p>
            <a:pPr algn="l">
              <a:defRPr sz="950">
                <a:latin typeface="Calibri"/>
              </a:defRPr>
            </a:pPr>
            <a:r>
              <a:t>• Chuẩn hóa dữ liệu: Thiết kế chuẩn bậc 3 (3NF), loại bỏ dư thừa và hạn chế dị thường dữ liệu.</a:t>
            </a:r>
          </a:p>
          <a:p>
            <a:pPr algn="l">
              <a:defRPr sz="950">
                <a:latin typeface="Calibri"/>
              </a:defRPr>
            </a:pPr>
            <a:r>
              <a:t>• Ràng buộc toàn vẹn: Khóa chính (PK), khóa ngoại (FK) bảo đảm tính nhất quán giao dịch ACID.</a:t>
            </a:r>
          </a:p>
          <a:p>
            <a:pPr algn="l">
              <a:defRPr sz="950">
                <a:latin typeface="Calibri"/>
              </a:defRPr>
            </a:pPr>
            <a:r>
              <a:t>• Đánh chỉ mục (Indexing): Tối ưu hóa truy vấn trên các trường slug, category_id, status.</a:t>
            </a:r>
          </a:p>
        </p:txBody>
      </p:sp>
      <p:sp>
        <p:nvSpPr>
          <p:cNvPr id="380914844" name="Text 5"/>
          <p:cNvSpPr/>
          <p:nvPr/>
        </p:nvSpPr>
        <p:spPr bwMode="auto">
          <a:xfrm>
            <a:off x="533400" y="3164681"/>
            <a:ext cx="5857875" cy="1714500"/>
          </a:xfrm>
          <a:prstGeom prst="roundRect">
            <a:avLst>
              <a:gd name="adj" fmla="val 7778"/>
            </a:avLst>
          </a:prstGeom>
          <a:solidFill>
            <a:srgbClr val="FFFFFF"/>
          </a:solidFill>
          <a:ln w="9525">
            <a:solidFill>
              <a:srgbClr val="E3E9F2"/>
            </a:solidFill>
          </a:ln>
          <a:effectLst>
            <a:outerShdw blurRad="133350" dist="47625" dir="5400000" algn="bl" rotWithShape="0">
              <a:srgbClr val="002855">
                <a:alpha val="5000"/>
              </a:srgbClr>
            </a:outerShdw>
          </a:effectLst>
        </p:spPr>
        <p:txBody>
          <a:bodyPr wrap="square" rtlCol="0" anchor="ctr"/>
          <a:lstStyle/>
          <a:p>
            <a:pPr marL="0" indent="0">
              <a:buNone/>
              <a:defRPr/>
            </a:pPr>
            <a:endParaRPr lang="vi-VN" noProof="1"/>
          </a:p>
        </p:txBody>
      </p:sp>
      <p:sp>
        <p:nvSpPr>
          <p:cNvPr id="1769482477" name="Text 6"/>
          <p:cNvSpPr/>
          <p:nvPr/>
        </p:nvSpPr>
        <p:spPr bwMode="auto">
          <a:xfrm>
            <a:off x="714375" y="3307556"/>
            <a:ext cx="5605844" cy="161925"/>
          </a:xfrm>
          <a:prstGeom prst="rect">
            <a:avLst/>
          </a:prstGeom>
          <a:noFill/>
          <a:ln/>
        </p:spPr>
        <p:txBody>
          <a:bodyPr wrap="square" lIns="0" tIns="0" rIns="0" bIns="0" rtlCol="0" anchor="t"/>
          <a:lstStyle/>
          <a:p>
            <a:pPr algn="l">
              <a:defRPr sz="1050" b="1">
                <a:latin typeface="Calibri"/>
              </a:defRPr>
            </a:pPr>
            <a:r>
              <a:t>15 bảng theo 4 nhóm thực thể chính:</a:t>
            </a:r>
          </a:p>
        </p:txBody>
      </p:sp>
      <p:sp>
        <p:nvSpPr>
          <p:cNvPr id="1608541823" name="Text 7"/>
          <p:cNvSpPr/>
          <p:nvPr/>
        </p:nvSpPr>
        <p:spPr bwMode="auto">
          <a:xfrm>
            <a:off x="714375" y="3545681"/>
            <a:ext cx="1221880"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ORGANIZATIONS</a:t>
            </a:r>
            <a:endParaRPr lang="vi-VN" sz="900" noProof="1"/>
          </a:p>
        </p:txBody>
      </p:sp>
      <p:sp>
        <p:nvSpPr>
          <p:cNvPr id="1553966374" name="Text 8"/>
          <p:cNvSpPr/>
          <p:nvPr/>
        </p:nvSpPr>
        <p:spPr bwMode="auto">
          <a:xfrm>
            <a:off x="1984623" y="3545681"/>
            <a:ext cx="1393702"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UNION_BRANCHES</a:t>
            </a:r>
            <a:endParaRPr lang="vi-VN" sz="900" noProof="1"/>
          </a:p>
        </p:txBody>
      </p:sp>
      <p:sp>
        <p:nvSpPr>
          <p:cNvPr id="1555805195" name="Text 9"/>
          <p:cNvSpPr/>
          <p:nvPr/>
        </p:nvSpPr>
        <p:spPr bwMode="auto">
          <a:xfrm>
            <a:off x="3426693" y="3545681"/>
            <a:ext cx="825492"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MEMBERS</a:t>
            </a:r>
            <a:endParaRPr lang="vi-VN" sz="900" noProof="1"/>
          </a:p>
        </p:txBody>
      </p:sp>
      <p:sp>
        <p:nvSpPr>
          <p:cNvPr id="14697596" name="Text 10"/>
          <p:cNvSpPr/>
          <p:nvPr/>
        </p:nvSpPr>
        <p:spPr bwMode="auto">
          <a:xfrm>
            <a:off x="4300553" y="3545681"/>
            <a:ext cx="654324"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USERS</a:t>
            </a:r>
            <a:endParaRPr lang="vi-VN" sz="900" noProof="1"/>
          </a:p>
        </p:txBody>
      </p:sp>
      <p:sp>
        <p:nvSpPr>
          <p:cNvPr id="1060775627" name="Text 11"/>
          <p:cNvSpPr/>
          <p:nvPr/>
        </p:nvSpPr>
        <p:spPr bwMode="auto">
          <a:xfrm>
            <a:off x="5003245" y="3545681"/>
            <a:ext cx="996660"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CATEGORIES</a:t>
            </a:r>
            <a:endParaRPr lang="vi-VN" sz="900" noProof="1"/>
          </a:p>
        </p:txBody>
      </p:sp>
      <p:sp>
        <p:nvSpPr>
          <p:cNvPr id="1730038241" name="Text 12"/>
          <p:cNvSpPr/>
          <p:nvPr/>
        </p:nvSpPr>
        <p:spPr bwMode="auto">
          <a:xfrm>
            <a:off x="714374" y="3860006"/>
            <a:ext cx="881042"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ARTICLES</a:t>
            </a:r>
            <a:endParaRPr lang="vi-VN" sz="900" noProof="1"/>
          </a:p>
        </p:txBody>
      </p:sp>
      <p:sp>
        <p:nvSpPr>
          <p:cNvPr id="1362803006" name="Text 13"/>
          <p:cNvSpPr/>
          <p:nvPr/>
        </p:nvSpPr>
        <p:spPr bwMode="auto">
          <a:xfrm>
            <a:off x="1641928" y="3860006"/>
            <a:ext cx="1247938"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ARTICLE_AUDITS</a:t>
            </a:r>
            <a:endParaRPr lang="vi-VN" sz="900" noProof="1"/>
          </a:p>
        </p:txBody>
      </p:sp>
      <p:sp>
        <p:nvSpPr>
          <p:cNvPr id="127377906" name="Text 14"/>
          <p:cNvSpPr/>
          <p:nvPr/>
        </p:nvSpPr>
        <p:spPr bwMode="auto">
          <a:xfrm>
            <a:off x="2936378" y="3860006"/>
            <a:ext cx="914549"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COMMENTS</a:t>
            </a:r>
            <a:endParaRPr lang="vi-VN" sz="900" noProof="1"/>
          </a:p>
        </p:txBody>
      </p:sp>
      <p:sp>
        <p:nvSpPr>
          <p:cNvPr id="1620711932" name="Text 15"/>
          <p:cNvSpPr/>
          <p:nvPr/>
        </p:nvSpPr>
        <p:spPr bwMode="auto">
          <a:xfrm>
            <a:off x="3897439" y="3860006"/>
            <a:ext cx="1021402"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l">
              <a:buNone/>
              <a:defRPr/>
            </a:pPr>
            <a:r>
              <a:rPr lang="vi-VN" sz="900" b="1" noProof="1">
                <a:solidFill>
                  <a:srgbClr val="24456E"/>
                </a:solidFill>
                <a:latin typeface="Arial"/>
                <a:ea typeface="Arial"/>
                <a:cs typeface="Arial"/>
              </a:rPr>
              <a:t>BOOKMARKS</a:t>
            </a:r>
            <a:endParaRPr lang="vi-VN" sz="900" noProof="1"/>
          </a:p>
        </p:txBody>
      </p:sp>
      <p:sp>
        <p:nvSpPr>
          <p:cNvPr id="1165322204" name="Text 16"/>
          <p:cNvSpPr/>
          <p:nvPr/>
        </p:nvSpPr>
        <p:spPr bwMode="auto">
          <a:xfrm>
            <a:off x="4965352" y="3860006"/>
            <a:ext cx="1010927"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DOCUMENTS</a:t>
            </a:r>
            <a:endParaRPr lang="vi-VN" sz="900" noProof="1"/>
          </a:p>
        </p:txBody>
      </p:sp>
      <p:sp>
        <p:nvSpPr>
          <p:cNvPr id="97641124" name="Text 18"/>
          <p:cNvSpPr/>
          <p:nvPr/>
        </p:nvSpPr>
        <p:spPr bwMode="auto">
          <a:xfrm>
            <a:off x="2223196" y="4174331"/>
            <a:ext cx="983961"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SCHEDULES</a:t>
            </a:r>
            <a:endParaRPr lang="vi-VN" sz="900" noProof="1"/>
          </a:p>
        </p:txBody>
      </p:sp>
      <p:sp>
        <p:nvSpPr>
          <p:cNvPr id="1931732471" name="Text 19"/>
          <p:cNvSpPr/>
          <p:nvPr/>
        </p:nvSpPr>
        <p:spPr bwMode="auto">
          <a:xfrm>
            <a:off x="3273832" y="4174331"/>
            <a:ext cx="1554921"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WELFARE_PROGRAMS</a:t>
            </a:r>
            <a:endParaRPr lang="vi-VN" sz="900" noProof="1"/>
          </a:p>
        </p:txBody>
      </p:sp>
      <p:sp>
        <p:nvSpPr>
          <p:cNvPr id="1567713886" name="Text 20"/>
          <p:cNvSpPr/>
          <p:nvPr/>
        </p:nvSpPr>
        <p:spPr bwMode="auto">
          <a:xfrm>
            <a:off x="4895427" y="4174331"/>
            <a:ext cx="1167539"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AID_REQUESTS</a:t>
            </a:r>
            <a:endParaRPr lang="vi-VN" sz="900" noProof="1"/>
          </a:p>
        </p:txBody>
      </p:sp>
      <p:sp>
        <p:nvSpPr>
          <p:cNvPr id="1848429268" name="Text 21"/>
          <p:cNvSpPr/>
          <p:nvPr/>
        </p:nvSpPr>
        <p:spPr bwMode="auto">
          <a:xfrm>
            <a:off x="714375" y="4488656"/>
            <a:ext cx="1343026" cy="247650"/>
          </a:xfrm>
          <a:prstGeom prst="roundRect">
            <a:avLst>
              <a:gd name="adj" fmla="val 30769"/>
            </a:avLst>
          </a:prstGeom>
          <a:solidFill>
            <a:srgbClr val="EEF3FA"/>
          </a:solidFill>
          <a:ln w="9525">
            <a:solidFill>
              <a:srgbClr val="DBE5F1"/>
            </a:solidFill>
          </a:ln>
        </p:spPr>
        <p:txBody>
          <a:bodyPr wrap="square" lIns="95250" tIns="47625" rIns="95250" bIns="47625" rtlCol="0" anchor="ctr"/>
          <a:lstStyle/>
          <a:p>
            <a:pPr marL="0" indent="0" algn="ctr">
              <a:buNone/>
              <a:defRPr/>
            </a:pPr>
            <a:r>
              <a:rPr lang="vi-VN" sz="900" b="1" noProof="1">
                <a:solidFill>
                  <a:srgbClr val="24456E"/>
                </a:solidFill>
                <a:latin typeface="Arial"/>
                <a:ea typeface="Arial"/>
                <a:cs typeface="Arial"/>
              </a:rPr>
              <a:t>INBOX_FEEDBACK</a:t>
            </a:r>
            <a:endParaRPr lang="vi-VN" sz="900" noProof="1"/>
          </a:p>
        </p:txBody>
      </p:sp>
      <p:sp>
        <p:nvSpPr>
          <p:cNvPr id="1898289275" name="Text 22"/>
          <p:cNvSpPr/>
          <p:nvPr/>
        </p:nvSpPr>
        <p:spPr bwMode="auto">
          <a:xfrm>
            <a:off x="6638925" y="1264444"/>
            <a:ext cx="5019675" cy="5334000"/>
          </a:xfrm>
          <a:prstGeom prst="roundRect">
            <a:avLst>
              <a:gd name="adj" fmla="val 2657"/>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1246624806" name="Image 1"/>
          <p:cNvPicPr>
            <a:picLocks noChangeAspect="1"/>
          </p:cNvPicPr>
          <p:nvPr/>
        </p:nvPicPr>
        <p:blipFill>
          <a:blip r:embed="rId4"/>
          <a:srcRect/>
          <a:stretch/>
        </p:blipFill>
        <p:spPr bwMode="auto">
          <a:xfrm>
            <a:off x="6781800" y="1409781"/>
            <a:ext cx="4733925" cy="3661903"/>
          </a:xfrm>
          <a:prstGeom prst="rect">
            <a:avLst/>
          </a:prstGeom>
        </p:spPr>
      </p:pic>
      <p:sp>
        <p:nvSpPr>
          <p:cNvPr id="517730841" name="Text 23"/>
          <p:cNvSpPr/>
          <p:nvPr/>
        </p:nvSpPr>
        <p:spPr bwMode="auto">
          <a:xfrm>
            <a:off x="6734461" y="5169396"/>
            <a:ext cx="4828604" cy="133350"/>
          </a:xfrm>
          <a:prstGeom prst="rect">
            <a:avLst/>
          </a:prstGeom>
          <a:noFill/>
          <a:ln/>
        </p:spPr>
        <p:txBody>
          <a:bodyPr wrap="square" lIns="0" tIns="0" rIns="0" bIns="0" rtlCol="0" anchor="t"/>
          <a:lstStyle/>
          <a:p>
            <a:pPr marL="0" indent="0" algn="ctr">
              <a:spcBef>
                <a:spcPts val="750"/>
              </a:spcBef>
              <a:buNone/>
              <a:defRPr/>
            </a:pPr>
            <a:r>
              <a:rPr lang="vi-VN" sz="900" noProof="1">
                <a:solidFill>
                  <a:srgbClr val="8A97AB"/>
                </a:solidFill>
                <a:latin typeface="Arial"/>
                <a:ea typeface="Arial"/>
                <a:cs typeface="Arial"/>
              </a:rPr>
              <a:t>Sơ đồ quan hệ trong cơ sở dữ liệu</a:t>
            </a:r>
            <a:endParaRPr lang="vi-VN" sz="900" noProof="1"/>
          </a:p>
        </p:txBody>
      </p:sp>
      <p:sp>
        <p:nvSpPr>
          <p:cNvPr id="1875844736" name="Shape 24"/>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506202728" name="Text 25"/>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1611640450" name="Shape 26"/>
          <p:cNvSpPr/>
          <p:nvPr/>
        </p:nvSpPr>
        <p:spPr bwMode="auto">
          <a:xfrm>
            <a:off x="6781800" y="1412081"/>
            <a:ext cx="4733925" cy="0"/>
          </a:xfrm>
          <a:prstGeom prst="line">
            <a:avLst/>
          </a:prstGeom>
          <a:noFill/>
          <a:ln w="9525">
            <a:solidFill>
              <a:srgbClr val="EDF1F7"/>
            </a:solidFill>
            <a:prstDash val="solid"/>
          </a:ln>
        </p:spPr>
        <p:txBody>
          <a:bodyPr/>
          <a:lstStyle/>
          <a:p>
            <a:endParaRPr lang="vi-VN" noProof="1"/>
          </a:p>
        </p:txBody>
      </p:sp>
      <p:sp>
        <p:nvSpPr>
          <p:cNvPr id="1776745191" name="Shape 27"/>
          <p:cNvSpPr/>
          <p:nvPr/>
        </p:nvSpPr>
        <p:spPr bwMode="auto">
          <a:xfrm>
            <a:off x="11510963" y="1407319"/>
            <a:ext cx="0" cy="3666827"/>
          </a:xfrm>
          <a:prstGeom prst="line">
            <a:avLst/>
          </a:prstGeom>
          <a:noFill/>
          <a:ln w="9525">
            <a:solidFill>
              <a:srgbClr val="EDF1F7"/>
            </a:solidFill>
            <a:prstDash val="solid"/>
          </a:ln>
        </p:spPr>
        <p:txBody>
          <a:bodyPr/>
          <a:lstStyle/>
          <a:p>
            <a:endParaRPr lang="vi-VN" noProof="1"/>
          </a:p>
        </p:txBody>
      </p:sp>
      <p:sp>
        <p:nvSpPr>
          <p:cNvPr id="1627594382" name="Shape 28"/>
          <p:cNvSpPr/>
          <p:nvPr/>
        </p:nvSpPr>
        <p:spPr bwMode="auto">
          <a:xfrm>
            <a:off x="6781800" y="5069384"/>
            <a:ext cx="4733925" cy="0"/>
          </a:xfrm>
          <a:prstGeom prst="line">
            <a:avLst/>
          </a:prstGeom>
          <a:noFill/>
          <a:ln w="9525">
            <a:solidFill>
              <a:srgbClr val="EDF1F7"/>
            </a:solidFill>
            <a:prstDash val="solid"/>
          </a:ln>
        </p:spPr>
        <p:txBody>
          <a:bodyPr/>
          <a:lstStyle/>
          <a:p>
            <a:endParaRPr lang="vi-VN" noProof="1"/>
          </a:p>
        </p:txBody>
      </p:sp>
      <p:sp>
        <p:nvSpPr>
          <p:cNvPr id="2108835123" name="Shape 29"/>
          <p:cNvSpPr/>
          <p:nvPr/>
        </p:nvSpPr>
        <p:spPr bwMode="auto">
          <a:xfrm>
            <a:off x="6786563" y="1407319"/>
            <a:ext cx="0" cy="3666827"/>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name="Slide 10">
    <p:bg>
      <p:bgPr>
        <a:solidFill>
          <a:srgbClr val="F6F8FB"/>
        </a:solidFill>
        <a:effectLst/>
      </p:bgPr>
    </p:bg>
    <p:spTree>
      <p:nvGrpSpPr>
        <p:cNvPr id="1" name=""/>
        <p:cNvGrpSpPr/>
        <p:nvPr/>
      </p:nvGrpSpPr>
      <p:grpSpPr bwMode="auto">
        <a:xfrm>
          <a:off x="0" y="0"/>
          <a:ext cx="0" cy="0"/>
          <a:chOff x="0" y="0"/>
          <a:chExt cx="0" cy="0"/>
        </a:xfrm>
      </p:grpSpPr>
      <p:sp>
        <p:nvSpPr>
          <p:cNvPr id="335525789"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5. DEMO KẾT QUẢ</a:t>
            </a:r>
            <a:endParaRPr lang="vi-VN" sz="1000" noProof="1"/>
          </a:p>
        </p:txBody>
      </p:sp>
      <p:sp>
        <p:nvSpPr>
          <p:cNvPr id="2108582936" name="Text 1"/>
          <p:cNvSpPr/>
          <p:nvPr/>
        </p:nvSpPr>
        <p:spPr bwMode="auto">
          <a:xfrm>
            <a:off x="533400" y="542925"/>
            <a:ext cx="11347704" cy="359569"/>
          </a:xfrm>
          <a:prstGeom prst="rect">
            <a:avLst/>
          </a:prstGeom>
          <a:noFill/>
          <a:ln/>
        </p:spPr>
        <p:txBody>
          <a:bodyPr wrap="square" lIns="0" tIns="0" rIns="0" bIns="0" rtlCol="0" anchor="t"/>
          <a:lstStyle/>
          <a:p>
            <a:pPr algn="l">
              <a:defRPr sz="1000">
                <a:latin typeface="Calibri"/>
              </a:defRPr>
            </a:pPr>
            <a:r>
              <a:t>Giao diện Cổng thông tin độc giả (User đọc báo &amp; tra cứu)</a:t>
            </a:r>
          </a:p>
        </p:txBody>
      </p:sp>
      <p:pic>
        <p:nvPicPr>
          <p:cNvPr id="845500851" name="Image 0" descr="/var/folders/t4/q0khv7qd1r3dc2yrbwkzmjf00000gn/T/html2pptx-DrXSpt/html2pptx-bg-1791687647929-93161aae6e2868.png"/>
          <p:cNvPicPr>
            <a:picLocks noChangeAspect="1"/>
          </p:cNvPicPr>
          <p:nvPr/>
        </p:nvPicPr>
        <p:blipFill rotWithShape="1">
          <a:blip r:embed="rId3"/>
          <a:stretch/>
        </p:blipFill>
        <p:spPr bwMode="auto">
          <a:xfrm>
            <a:off x="533400" y="978694"/>
            <a:ext cx="1047750" cy="38100"/>
          </a:xfrm>
          <a:prstGeom prst="rect">
            <a:avLst/>
          </a:prstGeom>
        </p:spPr>
      </p:pic>
      <p:sp>
        <p:nvSpPr>
          <p:cNvPr id="999737400" name="Text 2"/>
          <p:cNvSpPr/>
          <p:nvPr/>
        </p:nvSpPr>
        <p:spPr bwMode="auto">
          <a:xfrm>
            <a:off x="533400" y="1169194"/>
            <a:ext cx="2688916" cy="142875"/>
          </a:xfrm>
          <a:prstGeom prst="rect">
            <a:avLst/>
          </a:prstGeom>
          <a:noFill/>
          <a:ln/>
        </p:spPr>
        <p:txBody>
          <a:bodyPr wrap="square" lIns="152400" tIns="0" rIns="0" bIns="0" rtlCol="0" anchor="t"/>
          <a:lstStyle/>
          <a:p>
            <a:pPr algn="l">
              <a:defRPr sz="950" b="1">
                <a:latin typeface="Calibri"/>
              </a:defRPr>
            </a:pPr>
            <a:r>
              <a:t>Chuẩn nhận diện thương hiệu TDMU</a:t>
            </a:r>
          </a:p>
        </p:txBody>
      </p:sp>
      <p:sp>
        <p:nvSpPr>
          <p:cNvPr id="1975321100" name="Text 3"/>
          <p:cNvSpPr/>
          <p:nvPr/>
        </p:nvSpPr>
        <p:spPr bwMode="auto">
          <a:xfrm>
            <a:off x="533400"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2017389275" name="Text 4"/>
          <p:cNvSpPr/>
          <p:nvPr/>
        </p:nvSpPr>
        <p:spPr bwMode="auto">
          <a:xfrm>
            <a:off x="3417243" y="1169194"/>
            <a:ext cx="3161333" cy="142875"/>
          </a:xfrm>
          <a:prstGeom prst="rect">
            <a:avLst/>
          </a:prstGeom>
          <a:noFill/>
          <a:ln/>
        </p:spPr>
        <p:txBody>
          <a:bodyPr wrap="square" lIns="152400" tIns="0" rIns="0" bIns="0" rtlCol="0" anchor="t"/>
          <a:lstStyle/>
          <a:p>
            <a:pPr algn="l">
              <a:defRPr sz="950" b="1">
                <a:latin typeface="Calibri"/>
              </a:defRPr>
            </a:pPr>
            <a:r>
              <a:t>Bảng tin &amp; Slider sự kiện phong trào</a:t>
            </a:r>
          </a:p>
        </p:txBody>
      </p:sp>
      <p:sp>
        <p:nvSpPr>
          <p:cNvPr id="1533198457" name="Text 5"/>
          <p:cNvSpPr/>
          <p:nvPr/>
        </p:nvSpPr>
        <p:spPr bwMode="auto">
          <a:xfrm>
            <a:off x="3417243"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2062761761" name="Text 6"/>
          <p:cNvSpPr/>
          <p:nvPr/>
        </p:nvSpPr>
        <p:spPr bwMode="auto">
          <a:xfrm>
            <a:off x="6764238" y="1169194"/>
            <a:ext cx="3049604" cy="142875"/>
          </a:xfrm>
          <a:prstGeom prst="rect">
            <a:avLst/>
          </a:prstGeom>
          <a:noFill/>
          <a:ln/>
        </p:spPr>
        <p:txBody>
          <a:bodyPr wrap="square" lIns="152400" tIns="0" rIns="0" bIns="0" rtlCol="0" anchor="t"/>
          <a:lstStyle/>
          <a:p>
            <a:pPr algn="l">
              <a:defRPr sz="950" b="1">
                <a:latin typeface="Calibri"/>
              </a:defRPr>
            </a:pPr>
            <a:r>
              <a:t>Đọc bài viết đa phương tiện &amp; Tương tác</a:t>
            </a:r>
          </a:p>
        </p:txBody>
      </p:sp>
      <p:sp>
        <p:nvSpPr>
          <p:cNvPr id="1001416523" name="Text 7"/>
          <p:cNvSpPr/>
          <p:nvPr/>
        </p:nvSpPr>
        <p:spPr bwMode="auto">
          <a:xfrm>
            <a:off x="6764238"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87719301" name="Text 8"/>
          <p:cNvSpPr/>
          <p:nvPr/>
        </p:nvSpPr>
        <p:spPr bwMode="auto">
          <a:xfrm>
            <a:off x="533400" y="1407319"/>
            <a:ext cx="2340525" cy="142875"/>
          </a:xfrm>
          <a:prstGeom prst="rect">
            <a:avLst/>
          </a:prstGeom>
          <a:noFill/>
          <a:ln/>
        </p:spPr>
        <p:txBody>
          <a:bodyPr wrap="square" lIns="152400" tIns="0" rIns="0" bIns="0" rtlCol="0" anchor="t"/>
          <a:lstStyle/>
          <a:p>
            <a:pPr algn="l">
              <a:defRPr sz="950" b="1">
                <a:latin typeface="Calibri"/>
              </a:defRPr>
            </a:pPr>
            <a:r>
              <a:t>Tối ưu hiển thị Responsive đa thiết bị</a:t>
            </a:r>
          </a:p>
        </p:txBody>
      </p:sp>
      <p:sp>
        <p:nvSpPr>
          <p:cNvPr id="616865855" name="Text 9"/>
          <p:cNvSpPr/>
          <p:nvPr/>
        </p:nvSpPr>
        <p:spPr bwMode="auto">
          <a:xfrm>
            <a:off x="533400" y="1464469"/>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614992802" name="Text 10"/>
          <p:cNvSpPr/>
          <p:nvPr/>
        </p:nvSpPr>
        <p:spPr bwMode="auto">
          <a:xfrm>
            <a:off x="533400"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1059608118" name="Image 1"/>
          <p:cNvPicPr>
            <a:picLocks noChangeAspect="1"/>
          </p:cNvPicPr>
          <p:nvPr/>
        </p:nvPicPr>
        <p:blipFill>
          <a:blip r:embed="rId4"/>
          <a:srcRect/>
          <a:stretch/>
        </p:blipFill>
        <p:spPr bwMode="auto">
          <a:xfrm>
            <a:off x="657225" y="1831804"/>
            <a:ext cx="5210175" cy="2738681"/>
          </a:xfrm>
          <a:prstGeom prst="rect">
            <a:avLst/>
          </a:prstGeom>
        </p:spPr>
      </p:pic>
      <p:sp>
        <p:nvSpPr>
          <p:cNvPr id="1357707864" name="Text 11"/>
          <p:cNvSpPr/>
          <p:nvPr/>
        </p:nvSpPr>
        <p:spPr bwMode="auto">
          <a:xfrm>
            <a:off x="695325" y="4671120"/>
            <a:ext cx="5236654" cy="216682"/>
          </a:xfrm>
          <a:prstGeom prst="rect">
            <a:avLst/>
          </a:prstGeom>
          <a:noFill/>
          <a:ln/>
        </p:spPr>
        <p:txBody>
          <a:bodyPr wrap="square" lIns="0" tIns="0" rIns="0" bIns="0" rtlCol="0" anchor="t"/>
          <a:lstStyle/>
          <a:p>
            <a:pPr marL="0" indent="0" algn="ctr">
              <a:lnSpc>
                <a:spcPts val="1414"/>
              </a:lnSpc>
              <a:buNone/>
              <a:defRPr/>
            </a:pPr>
            <a:r>
              <a:rPr lang="vi-VN" sz="1000" i="1" noProof="1">
                <a:solidFill>
                  <a:srgbClr val="31415C"/>
                </a:solidFill>
                <a:latin typeface="Arial"/>
                <a:ea typeface="Arial"/>
                <a:cs typeface="Arial"/>
              </a:rPr>
              <a:t>Trang chủ Cổng thông tin</a:t>
            </a:r>
          </a:p>
        </p:txBody>
      </p:sp>
      <p:sp>
        <p:nvSpPr>
          <p:cNvPr id="1345049996" name="Text 12"/>
          <p:cNvSpPr/>
          <p:nvPr/>
        </p:nvSpPr>
        <p:spPr bwMode="auto">
          <a:xfrm>
            <a:off x="695325" y="4894518"/>
            <a:ext cx="5236654" cy="358972"/>
          </a:xfrm>
          <a:prstGeom prst="rect">
            <a:avLst/>
          </a:prstGeom>
          <a:noFill/>
          <a:ln/>
        </p:spPr>
        <p:txBody>
          <a:bodyPr wrap="square" lIns="0" tIns="0" rIns="0" bIns="0" rtlCol="0" anchor="t"/>
          <a:lstStyle/>
          <a:p>
            <a:pPr algn="l">
              <a:defRPr sz="950">
                <a:latin typeface="Calibri"/>
              </a:defRPr>
            </a:pPr>
            <a:r>
              <a:t>Header nhận diện thương hiệu, menu chuyên mục rõ ràng, tích hợp banner sự kiện nổi bật và luồng tin phong trào mới nhất.</a:t>
            </a:r>
          </a:p>
        </p:txBody>
      </p:sp>
      <p:sp>
        <p:nvSpPr>
          <p:cNvPr id="2109461479" name="Text 13"/>
          <p:cNvSpPr/>
          <p:nvPr/>
        </p:nvSpPr>
        <p:spPr bwMode="auto">
          <a:xfrm>
            <a:off x="6200775"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1006755031" name="Image 2"/>
          <p:cNvPicPr>
            <a:picLocks noChangeAspect="1"/>
          </p:cNvPicPr>
          <p:nvPr/>
        </p:nvPicPr>
        <p:blipFill>
          <a:blip r:embed="rId5"/>
          <a:srcRect/>
          <a:stretch/>
        </p:blipFill>
        <p:spPr bwMode="auto">
          <a:xfrm>
            <a:off x="6324600" y="1831804"/>
            <a:ext cx="5210175" cy="2738681"/>
          </a:xfrm>
          <a:prstGeom prst="rect">
            <a:avLst/>
          </a:prstGeom>
        </p:spPr>
      </p:pic>
      <p:sp>
        <p:nvSpPr>
          <p:cNvPr id="1693096689" name="Text 14"/>
          <p:cNvSpPr/>
          <p:nvPr/>
        </p:nvSpPr>
        <p:spPr bwMode="auto">
          <a:xfrm>
            <a:off x="6362700" y="4671120"/>
            <a:ext cx="5236654" cy="216681"/>
          </a:xfrm>
          <a:prstGeom prst="rect">
            <a:avLst/>
          </a:prstGeom>
          <a:noFill/>
          <a:ln/>
        </p:spPr>
        <p:txBody>
          <a:bodyPr wrap="square" lIns="0" tIns="0" rIns="0" bIns="0" rtlCol="0" anchor="t"/>
          <a:lstStyle/>
          <a:p>
            <a:pPr marL="0" indent="0" algn="ctr">
              <a:lnSpc>
                <a:spcPts val="1414"/>
              </a:lnSpc>
              <a:buNone/>
              <a:defRPr/>
            </a:pPr>
            <a:r>
              <a:rPr lang="vi-VN" sz="1000" i="1" noProof="1">
                <a:solidFill>
                  <a:srgbClr val="31415C"/>
                </a:solidFill>
                <a:latin typeface="Arial"/>
                <a:cs typeface="Arial"/>
              </a:rPr>
              <a:t>Trang chi tiết bài viết &amp; tương tác độc giả</a:t>
            </a:r>
          </a:p>
        </p:txBody>
      </p:sp>
      <p:sp>
        <p:nvSpPr>
          <p:cNvPr id="110564237" name="Text 15"/>
          <p:cNvSpPr/>
          <p:nvPr/>
        </p:nvSpPr>
        <p:spPr bwMode="auto">
          <a:xfrm>
            <a:off x="6362700" y="4894518"/>
            <a:ext cx="5236654" cy="569360"/>
          </a:xfrm>
          <a:prstGeom prst="rect">
            <a:avLst/>
          </a:prstGeom>
          <a:noFill/>
          <a:ln/>
        </p:spPr>
        <p:txBody>
          <a:bodyPr wrap="square" lIns="0" tIns="0" rIns="0" bIns="0" rtlCol="0" anchor="t"/>
          <a:lstStyle/>
          <a:p>
            <a:pPr algn="l">
              <a:defRPr sz="950">
                <a:latin typeface="Calibri"/>
              </a:defRPr>
            </a:pPr>
            <a:r>
              <a:t>Định dạng bài báo chuẩn mực (Tiêu đề, Sapo, Toàn văn); hiển thị album ảnh sự kiện, tệp văn bản đính kèm và khu vực phản hồi độc giả.</a:t>
            </a:r>
          </a:p>
        </p:txBody>
      </p:sp>
      <p:sp>
        <p:nvSpPr>
          <p:cNvPr id="862187831" name="Shape 16"/>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84807338" name="Text 17"/>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1481413502" name="Shape 18"/>
          <p:cNvSpPr/>
          <p:nvPr/>
        </p:nvSpPr>
        <p:spPr bwMode="auto">
          <a:xfrm>
            <a:off x="657225" y="1831181"/>
            <a:ext cx="5210175" cy="0"/>
          </a:xfrm>
          <a:prstGeom prst="line">
            <a:avLst/>
          </a:prstGeom>
          <a:noFill/>
          <a:ln w="9525">
            <a:solidFill>
              <a:srgbClr val="EDF1F7"/>
            </a:solidFill>
            <a:prstDash val="solid"/>
          </a:ln>
        </p:spPr>
        <p:txBody>
          <a:bodyPr/>
          <a:lstStyle/>
          <a:p>
            <a:endParaRPr lang="vi-VN" noProof="1"/>
          </a:p>
        </p:txBody>
      </p:sp>
      <p:sp>
        <p:nvSpPr>
          <p:cNvPr id="1482740072" name="Shape 19"/>
          <p:cNvSpPr/>
          <p:nvPr/>
        </p:nvSpPr>
        <p:spPr bwMode="auto">
          <a:xfrm>
            <a:off x="5862638" y="1826419"/>
            <a:ext cx="0" cy="2749451"/>
          </a:xfrm>
          <a:prstGeom prst="line">
            <a:avLst/>
          </a:prstGeom>
          <a:noFill/>
          <a:ln w="9525">
            <a:solidFill>
              <a:srgbClr val="EDF1F7"/>
            </a:solidFill>
            <a:prstDash val="solid"/>
          </a:ln>
        </p:spPr>
        <p:txBody>
          <a:bodyPr/>
          <a:lstStyle/>
          <a:p>
            <a:endParaRPr lang="vi-VN" noProof="1"/>
          </a:p>
        </p:txBody>
      </p:sp>
      <p:sp>
        <p:nvSpPr>
          <p:cNvPr id="1030329911" name="Shape 20"/>
          <p:cNvSpPr/>
          <p:nvPr/>
        </p:nvSpPr>
        <p:spPr bwMode="auto">
          <a:xfrm>
            <a:off x="657225" y="4571107"/>
            <a:ext cx="5210175" cy="0"/>
          </a:xfrm>
          <a:prstGeom prst="line">
            <a:avLst/>
          </a:prstGeom>
          <a:noFill/>
          <a:ln w="9525">
            <a:solidFill>
              <a:srgbClr val="EDF1F7"/>
            </a:solidFill>
            <a:prstDash val="solid"/>
          </a:ln>
        </p:spPr>
        <p:txBody>
          <a:bodyPr/>
          <a:lstStyle/>
          <a:p>
            <a:endParaRPr lang="vi-VN" noProof="1"/>
          </a:p>
        </p:txBody>
      </p:sp>
      <p:sp>
        <p:nvSpPr>
          <p:cNvPr id="1989211595" name="Shape 21"/>
          <p:cNvSpPr/>
          <p:nvPr/>
        </p:nvSpPr>
        <p:spPr bwMode="auto">
          <a:xfrm>
            <a:off x="661988" y="1826419"/>
            <a:ext cx="0" cy="2749451"/>
          </a:xfrm>
          <a:prstGeom prst="line">
            <a:avLst/>
          </a:prstGeom>
          <a:noFill/>
          <a:ln w="9525">
            <a:solidFill>
              <a:srgbClr val="EDF1F7"/>
            </a:solidFill>
            <a:prstDash val="solid"/>
          </a:ln>
        </p:spPr>
        <p:txBody>
          <a:bodyPr/>
          <a:lstStyle/>
          <a:p>
            <a:endParaRPr lang="vi-VN" noProof="1"/>
          </a:p>
        </p:txBody>
      </p:sp>
      <p:sp>
        <p:nvSpPr>
          <p:cNvPr id="142640582" name="Shape 22"/>
          <p:cNvSpPr/>
          <p:nvPr/>
        </p:nvSpPr>
        <p:spPr bwMode="auto">
          <a:xfrm>
            <a:off x="6324600" y="1831181"/>
            <a:ext cx="5210175" cy="0"/>
          </a:xfrm>
          <a:prstGeom prst="line">
            <a:avLst/>
          </a:prstGeom>
          <a:noFill/>
          <a:ln w="9525">
            <a:solidFill>
              <a:srgbClr val="EDF1F7"/>
            </a:solidFill>
            <a:prstDash val="solid"/>
          </a:ln>
        </p:spPr>
        <p:txBody>
          <a:bodyPr/>
          <a:lstStyle/>
          <a:p>
            <a:endParaRPr lang="vi-VN" noProof="1"/>
          </a:p>
        </p:txBody>
      </p:sp>
      <p:sp>
        <p:nvSpPr>
          <p:cNvPr id="630371208" name="Shape 23"/>
          <p:cNvSpPr/>
          <p:nvPr/>
        </p:nvSpPr>
        <p:spPr bwMode="auto">
          <a:xfrm>
            <a:off x="11530012" y="1826419"/>
            <a:ext cx="0" cy="2749451"/>
          </a:xfrm>
          <a:prstGeom prst="line">
            <a:avLst/>
          </a:prstGeom>
          <a:noFill/>
          <a:ln w="9525">
            <a:solidFill>
              <a:srgbClr val="EDF1F7"/>
            </a:solidFill>
            <a:prstDash val="solid"/>
          </a:ln>
        </p:spPr>
        <p:txBody>
          <a:bodyPr/>
          <a:lstStyle/>
          <a:p>
            <a:endParaRPr lang="vi-VN" noProof="1"/>
          </a:p>
        </p:txBody>
      </p:sp>
      <p:sp>
        <p:nvSpPr>
          <p:cNvPr id="1482762303" name="Shape 24"/>
          <p:cNvSpPr/>
          <p:nvPr/>
        </p:nvSpPr>
        <p:spPr bwMode="auto">
          <a:xfrm>
            <a:off x="6324600" y="4571107"/>
            <a:ext cx="5210175" cy="0"/>
          </a:xfrm>
          <a:prstGeom prst="line">
            <a:avLst/>
          </a:prstGeom>
          <a:noFill/>
          <a:ln w="9525">
            <a:solidFill>
              <a:srgbClr val="EDF1F7"/>
            </a:solidFill>
            <a:prstDash val="solid"/>
          </a:ln>
        </p:spPr>
        <p:txBody>
          <a:bodyPr/>
          <a:lstStyle/>
          <a:p>
            <a:endParaRPr lang="vi-VN" noProof="1"/>
          </a:p>
        </p:txBody>
      </p:sp>
      <p:sp>
        <p:nvSpPr>
          <p:cNvPr id="1731064471" name="Shape 25"/>
          <p:cNvSpPr/>
          <p:nvPr/>
        </p:nvSpPr>
        <p:spPr bwMode="auto">
          <a:xfrm>
            <a:off x="6329363" y="1826419"/>
            <a:ext cx="0" cy="2749451"/>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name="Slide 11">
    <p:bg>
      <p:bgPr>
        <a:solidFill>
          <a:srgbClr val="F6F8FB"/>
        </a:solidFill>
        <a:effectLst/>
      </p:bgPr>
    </p:bg>
    <p:spTree>
      <p:nvGrpSpPr>
        <p:cNvPr id="1" name=""/>
        <p:cNvGrpSpPr/>
        <p:nvPr/>
      </p:nvGrpSpPr>
      <p:grpSpPr bwMode="auto">
        <a:xfrm>
          <a:off x="0" y="0"/>
          <a:ext cx="0" cy="0"/>
          <a:chOff x="0" y="0"/>
          <a:chExt cx="0" cy="0"/>
        </a:xfrm>
      </p:grpSpPr>
      <p:sp>
        <p:nvSpPr>
          <p:cNvPr id="716076251"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5. DEMO KẾT QUẢ</a:t>
            </a:r>
            <a:endParaRPr lang="vi-VN" sz="1000" noProof="1"/>
          </a:p>
        </p:txBody>
      </p:sp>
      <p:sp>
        <p:nvSpPr>
          <p:cNvPr id="388015217" name="Text 1"/>
          <p:cNvSpPr/>
          <p:nvPr/>
        </p:nvSpPr>
        <p:spPr bwMode="auto">
          <a:xfrm>
            <a:off x="533400" y="542925"/>
            <a:ext cx="11347704" cy="359569"/>
          </a:xfrm>
          <a:prstGeom prst="rect">
            <a:avLst/>
          </a:prstGeom>
          <a:noFill/>
          <a:ln/>
        </p:spPr>
        <p:txBody>
          <a:bodyPr wrap="square" lIns="0" tIns="0" rIns="0" bIns="0" rtlCol="0" anchor="t"/>
          <a:lstStyle/>
          <a:p>
            <a:pPr algn="l">
              <a:defRPr sz="1000">
                <a:latin typeface="Calibri"/>
              </a:defRPr>
            </a:pPr>
            <a:r>
              <a:t>Phân hệ Quản trị CMS &amp; Phòng biên tập tạo tin AI đa kênh</a:t>
            </a:r>
          </a:p>
        </p:txBody>
      </p:sp>
      <p:pic>
        <p:nvPicPr>
          <p:cNvPr id="1494636220" name="Image 0" descr="/var/folders/t4/q0khv7qd1r3dc2yrbwkzmjf00000gn/T/html2pptx-j5AHGl/html2pptx-bg-1791687649333-14213dd336991.png"/>
          <p:cNvPicPr>
            <a:picLocks noChangeAspect="1"/>
          </p:cNvPicPr>
          <p:nvPr/>
        </p:nvPicPr>
        <p:blipFill rotWithShape="1">
          <a:blip r:embed="rId3"/>
          <a:stretch/>
        </p:blipFill>
        <p:spPr bwMode="auto">
          <a:xfrm>
            <a:off x="533400" y="978694"/>
            <a:ext cx="1047750" cy="38100"/>
          </a:xfrm>
          <a:prstGeom prst="rect">
            <a:avLst/>
          </a:prstGeom>
        </p:spPr>
      </p:pic>
      <p:sp>
        <p:nvSpPr>
          <p:cNvPr id="574550244" name="Text 2"/>
          <p:cNvSpPr/>
          <p:nvPr/>
        </p:nvSpPr>
        <p:spPr bwMode="auto">
          <a:xfrm>
            <a:off x="533400" y="1169194"/>
            <a:ext cx="2516770" cy="142875"/>
          </a:xfrm>
          <a:prstGeom prst="rect">
            <a:avLst/>
          </a:prstGeom>
          <a:noFill/>
          <a:ln/>
        </p:spPr>
        <p:txBody>
          <a:bodyPr wrap="square" lIns="152400" tIns="0" rIns="0" bIns="0" rtlCol="0" anchor="t"/>
          <a:lstStyle/>
          <a:p>
            <a:pPr algn="l">
              <a:defRPr sz="950" b="1">
                <a:latin typeface="Calibri"/>
              </a:defRPr>
            </a:pPr>
            <a:r>
              <a:t>Bảng điều khiển (Dashboard) theo dõi tin bài</a:t>
            </a:r>
          </a:p>
        </p:txBody>
      </p:sp>
      <p:sp>
        <p:nvSpPr>
          <p:cNvPr id="20344709" name="Text 3"/>
          <p:cNvSpPr/>
          <p:nvPr/>
        </p:nvSpPr>
        <p:spPr bwMode="auto">
          <a:xfrm>
            <a:off x="533400"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824359032" name="Text 4"/>
          <p:cNvSpPr/>
          <p:nvPr/>
        </p:nvSpPr>
        <p:spPr bwMode="auto">
          <a:xfrm>
            <a:off x="3248471" y="1169194"/>
            <a:ext cx="2880038" cy="142875"/>
          </a:xfrm>
          <a:prstGeom prst="rect">
            <a:avLst/>
          </a:prstGeom>
          <a:noFill/>
          <a:ln/>
        </p:spPr>
        <p:txBody>
          <a:bodyPr wrap="square" lIns="152400" tIns="0" rIns="0" bIns="0" rtlCol="0" anchor="t"/>
          <a:lstStyle/>
          <a:p>
            <a:pPr algn="l">
              <a:defRPr sz="950" b="1">
                <a:latin typeface="Calibri"/>
              </a:defRPr>
            </a:pPr>
            <a:r>
              <a:t>Biên tập viên quản lý xuất bản</a:t>
            </a:r>
          </a:p>
        </p:txBody>
      </p:sp>
      <p:sp>
        <p:nvSpPr>
          <p:cNvPr id="2031012361" name="Text 5"/>
          <p:cNvSpPr/>
          <p:nvPr/>
        </p:nvSpPr>
        <p:spPr bwMode="auto">
          <a:xfrm>
            <a:off x="3248471"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826344242" name="Text 6"/>
          <p:cNvSpPr/>
          <p:nvPr/>
        </p:nvSpPr>
        <p:spPr bwMode="auto">
          <a:xfrm>
            <a:off x="6319689" y="1169194"/>
            <a:ext cx="3375833" cy="142875"/>
          </a:xfrm>
          <a:prstGeom prst="rect">
            <a:avLst/>
          </a:prstGeom>
          <a:noFill/>
          <a:ln/>
        </p:spPr>
        <p:txBody>
          <a:bodyPr wrap="square" lIns="152400" tIns="0" rIns="0" bIns="0" rtlCol="0" anchor="t"/>
          <a:lstStyle/>
          <a:p>
            <a:pPr algn="l">
              <a:defRPr sz="950" b="1">
                <a:latin typeface="Calibri"/>
              </a:defRPr>
            </a:pPr>
            <a:r>
              <a:t>Cộng tác viên soạn thảo &amp; dùng Trợ lý AI</a:t>
            </a:r>
          </a:p>
        </p:txBody>
      </p:sp>
      <p:sp>
        <p:nvSpPr>
          <p:cNvPr id="537125904" name="Text 7"/>
          <p:cNvSpPr/>
          <p:nvPr/>
        </p:nvSpPr>
        <p:spPr bwMode="auto">
          <a:xfrm>
            <a:off x="6319689" y="1226343"/>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548170870" name="Text 8"/>
          <p:cNvSpPr/>
          <p:nvPr/>
        </p:nvSpPr>
        <p:spPr bwMode="auto">
          <a:xfrm>
            <a:off x="533400" y="1407319"/>
            <a:ext cx="3382816" cy="142875"/>
          </a:xfrm>
          <a:prstGeom prst="rect">
            <a:avLst/>
          </a:prstGeom>
          <a:noFill/>
          <a:ln/>
        </p:spPr>
        <p:txBody>
          <a:bodyPr wrap="square" lIns="152400" tIns="0" rIns="0" bIns="0" rtlCol="0" anchor="t"/>
          <a:lstStyle/>
          <a:p>
            <a:pPr algn="l">
              <a:defRPr sz="950" b="1">
                <a:latin typeface="Calibri"/>
              </a:defRPr>
            </a:pPr>
            <a:r>
              <a:t>Xuất bản đa kênh tự động (Web, Facebook)</a:t>
            </a:r>
          </a:p>
        </p:txBody>
      </p:sp>
      <p:sp>
        <p:nvSpPr>
          <p:cNvPr id="1148760331" name="Text 9"/>
          <p:cNvSpPr/>
          <p:nvPr/>
        </p:nvSpPr>
        <p:spPr bwMode="auto">
          <a:xfrm>
            <a:off x="533400" y="1464469"/>
            <a:ext cx="152400" cy="76200"/>
          </a:xfrm>
          <a:prstGeom prst="roundRect">
            <a:avLst>
              <a:gd name="adj" fmla="val 25000"/>
            </a:avLst>
          </a:prstGeom>
          <a:solidFill>
            <a:srgbClr val="D4A017"/>
          </a:solidFill>
          <a:ln/>
        </p:spPr>
        <p:txBody>
          <a:bodyPr wrap="square" rtlCol="0" anchor="ctr"/>
          <a:lstStyle/>
          <a:p>
            <a:pPr marL="0" indent="0">
              <a:buNone/>
              <a:defRPr/>
            </a:pPr>
            <a:endParaRPr lang="vi-VN" noProof="1"/>
          </a:p>
        </p:txBody>
      </p:sp>
      <p:sp>
        <p:nvSpPr>
          <p:cNvPr id="1385779790" name="Text 10"/>
          <p:cNvSpPr/>
          <p:nvPr/>
        </p:nvSpPr>
        <p:spPr bwMode="auto">
          <a:xfrm>
            <a:off x="533400"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538594473" name="Image 1"/>
          <p:cNvPicPr>
            <a:picLocks noChangeAspect="1"/>
          </p:cNvPicPr>
          <p:nvPr/>
        </p:nvPicPr>
        <p:blipFill>
          <a:blip r:embed="rId4"/>
          <a:srcRect/>
          <a:stretch/>
        </p:blipFill>
        <p:spPr bwMode="auto">
          <a:xfrm>
            <a:off x="657225" y="1831804"/>
            <a:ext cx="5210175" cy="2738681"/>
          </a:xfrm>
          <a:prstGeom prst="rect">
            <a:avLst/>
          </a:prstGeom>
        </p:spPr>
      </p:pic>
      <p:sp>
        <p:nvSpPr>
          <p:cNvPr id="491609652" name="Text 11"/>
          <p:cNvSpPr/>
          <p:nvPr/>
        </p:nvSpPr>
        <p:spPr bwMode="auto">
          <a:xfrm>
            <a:off x="695325" y="4671120"/>
            <a:ext cx="5236654" cy="378023"/>
          </a:xfrm>
          <a:prstGeom prst="rect">
            <a:avLst/>
          </a:prstGeom>
          <a:noFill/>
          <a:ln/>
        </p:spPr>
        <p:txBody>
          <a:bodyPr wrap="square" lIns="0" tIns="0" rIns="0" bIns="0" rtlCol="0" anchor="t"/>
          <a:lstStyle/>
          <a:p>
            <a:pPr algn="ctr">
              <a:defRPr sz="1100" b="1">
                <a:latin typeface="Calibri"/>
              </a:defRPr>
            </a:pPr>
            <a:r>
              <a:t>Phòng Biên tập tích hợp Trợ lý AI</a:t>
            </a:r>
          </a:p>
        </p:txBody>
      </p:sp>
      <p:sp>
        <p:nvSpPr>
          <p:cNvPr id="1661774850" name="Text 12"/>
          <p:cNvSpPr/>
          <p:nvPr/>
        </p:nvSpPr>
        <p:spPr bwMode="auto">
          <a:xfrm>
            <a:off x="695325" y="4869656"/>
            <a:ext cx="5236654" cy="378023"/>
          </a:xfrm>
          <a:prstGeom prst="rect">
            <a:avLst/>
          </a:prstGeom>
          <a:noFill/>
          <a:ln/>
        </p:spPr>
        <p:txBody>
          <a:bodyPr wrap="square" lIns="0" tIns="0" rIns="0" bIns="0" rtlCol="0" anchor="t"/>
          <a:lstStyle/>
          <a:p>
            <a:pPr algn="l">
              <a:defRPr sz="950">
                <a:latin typeface="Calibri"/>
              </a:defRPr>
            </a:pPr>
            <a:r>
              <a:t>Soạn thảo bài viết trực quan; Trợ lý AI hỗ trợ tạo bài, gợi ý tiêu đề và xem trước định dạng bài đăng Fanpage Facebook, Zalo.</a:t>
            </a:r>
          </a:p>
        </p:txBody>
      </p:sp>
      <p:sp>
        <p:nvSpPr>
          <p:cNvPr id="377243331" name="Text 13"/>
          <p:cNvSpPr/>
          <p:nvPr/>
        </p:nvSpPr>
        <p:spPr bwMode="auto">
          <a:xfrm>
            <a:off x="6200775" y="1702594"/>
            <a:ext cx="5457825" cy="4191000"/>
          </a:xfrm>
          <a:prstGeom prst="roundRect">
            <a:avLst>
              <a:gd name="adj" fmla="val 3182"/>
            </a:avLst>
          </a:prstGeom>
          <a:solidFill>
            <a:srgbClr val="FFFFFF"/>
          </a:solidFill>
          <a:ln w="9525">
            <a:solidFill>
              <a:srgbClr val="E3E9F2"/>
            </a:solidFill>
          </a:ln>
          <a:effectLst>
            <a:outerShdw blurRad="171450" dist="57150" dir="5400000" algn="bl" rotWithShape="0">
              <a:srgbClr val="002855">
                <a:alpha val="7000"/>
              </a:srgbClr>
            </a:outerShdw>
          </a:effectLst>
        </p:spPr>
        <p:txBody>
          <a:bodyPr wrap="square" rtlCol="0" anchor="ctr"/>
          <a:lstStyle/>
          <a:p>
            <a:pPr marL="0" indent="0">
              <a:buNone/>
              <a:defRPr/>
            </a:pPr>
            <a:endParaRPr lang="vi-VN" noProof="1"/>
          </a:p>
        </p:txBody>
      </p:sp>
      <p:pic>
        <p:nvPicPr>
          <p:cNvPr id="694397265" name="Image 2"/>
          <p:cNvPicPr>
            <a:picLocks noChangeAspect="1"/>
          </p:cNvPicPr>
          <p:nvPr/>
        </p:nvPicPr>
        <p:blipFill>
          <a:blip r:embed="rId5"/>
          <a:srcRect/>
          <a:stretch/>
        </p:blipFill>
        <p:spPr bwMode="auto">
          <a:xfrm>
            <a:off x="6324600" y="1831804"/>
            <a:ext cx="5210175" cy="2738681"/>
          </a:xfrm>
          <a:prstGeom prst="rect">
            <a:avLst/>
          </a:prstGeom>
        </p:spPr>
      </p:pic>
      <p:sp>
        <p:nvSpPr>
          <p:cNvPr id="789861210" name="Text 14"/>
          <p:cNvSpPr/>
          <p:nvPr/>
        </p:nvSpPr>
        <p:spPr bwMode="auto">
          <a:xfrm>
            <a:off x="6362700" y="4671120"/>
            <a:ext cx="5236654" cy="378023"/>
          </a:xfrm>
          <a:prstGeom prst="rect">
            <a:avLst/>
          </a:prstGeom>
          <a:noFill/>
          <a:ln/>
        </p:spPr>
        <p:txBody>
          <a:bodyPr wrap="square" lIns="0" tIns="0" rIns="0" bIns="0" rtlCol="0" anchor="t"/>
          <a:lstStyle/>
          <a:p>
            <a:pPr algn="ctr">
              <a:defRPr sz="1100" b="1">
                <a:latin typeface="Calibri"/>
              </a:defRPr>
            </a:pPr>
            <a:r>
              <a:t>Bảng Điều Hành (Dashboard)</a:t>
            </a:r>
          </a:p>
        </p:txBody>
      </p:sp>
      <p:sp>
        <p:nvSpPr>
          <p:cNvPr id="1373535246" name="Text 15"/>
          <p:cNvSpPr/>
          <p:nvPr/>
        </p:nvSpPr>
        <p:spPr bwMode="auto">
          <a:xfrm>
            <a:off x="6362700" y="4869656"/>
            <a:ext cx="5236654" cy="378023"/>
          </a:xfrm>
          <a:prstGeom prst="rect">
            <a:avLst/>
          </a:prstGeom>
          <a:noFill/>
          <a:ln/>
        </p:spPr>
        <p:txBody>
          <a:bodyPr wrap="square" lIns="0" tIns="0" rIns="0" bIns="0" rtlCol="0" anchor="t"/>
          <a:lstStyle/>
          <a:p>
            <a:pPr algn="l">
              <a:defRPr sz="950">
                <a:latin typeface="Calibri"/>
              </a:defRPr>
            </a:pPr>
            <a:r>
              <a:t>Quản lý tập trung bài viết, lịch hẹn giờ đăng và theo dõi tổng thể số liệu tương tác đa kênh của hệ thống.</a:t>
            </a:r>
          </a:p>
        </p:txBody>
      </p:sp>
      <p:sp>
        <p:nvSpPr>
          <p:cNvPr id="1169010671" name="Shape 16"/>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1693167322" name="Text 17"/>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
        <p:nvSpPr>
          <p:cNvPr id="12036410" name="Shape 18"/>
          <p:cNvSpPr/>
          <p:nvPr/>
        </p:nvSpPr>
        <p:spPr bwMode="auto">
          <a:xfrm>
            <a:off x="657225" y="1831181"/>
            <a:ext cx="5210175" cy="0"/>
          </a:xfrm>
          <a:prstGeom prst="line">
            <a:avLst/>
          </a:prstGeom>
          <a:noFill/>
          <a:ln w="9525">
            <a:solidFill>
              <a:srgbClr val="EDF1F7"/>
            </a:solidFill>
            <a:prstDash val="solid"/>
          </a:ln>
        </p:spPr>
        <p:txBody>
          <a:bodyPr/>
          <a:lstStyle/>
          <a:p>
            <a:endParaRPr lang="vi-VN" noProof="1"/>
          </a:p>
        </p:txBody>
      </p:sp>
      <p:sp>
        <p:nvSpPr>
          <p:cNvPr id="357488677" name="Shape 19"/>
          <p:cNvSpPr/>
          <p:nvPr/>
        </p:nvSpPr>
        <p:spPr bwMode="auto">
          <a:xfrm>
            <a:off x="5862638" y="1826419"/>
            <a:ext cx="0" cy="2749451"/>
          </a:xfrm>
          <a:prstGeom prst="line">
            <a:avLst/>
          </a:prstGeom>
          <a:noFill/>
          <a:ln w="9525">
            <a:solidFill>
              <a:srgbClr val="EDF1F7"/>
            </a:solidFill>
            <a:prstDash val="solid"/>
          </a:ln>
        </p:spPr>
        <p:txBody>
          <a:bodyPr/>
          <a:lstStyle/>
          <a:p>
            <a:endParaRPr lang="vi-VN" noProof="1"/>
          </a:p>
        </p:txBody>
      </p:sp>
      <p:sp>
        <p:nvSpPr>
          <p:cNvPr id="302488740" name="Shape 20"/>
          <p:cNvSpPr/>
          <p:nvPr/>
        </p:nvSpPr>
        <p:spPr bwMode="auto">
          <a:xfrm>
            <a:off x="657225" y="4571107"/>
            <a:ext cx="5210175" cy="0"/>
          </a:xfrm>
          <a:prstGeom prst="line">
            <a:avLst/>
          </a:prstGeom>
          <a:noFill/>
          <a:ln w="9525">
            <a:solidFill>
              <a:srgbClr val="EDF1F7"/>
            </a:solidFill>
            <a:prstDash val="solid"/>
          </a:ln>
        </p:spPr>
        <p:txBody>
          <a:bodyPr/>
          <a:lstStyle/>
          <a:p>
            <a:endParaRPr lang="vi-VN" noProof="1"/>
          </a:p>
        </p:txBody>
      </p:sp>
      <p:sp>
        <p:nvSpPr>
          <p:cNvPr id="1950007771" name="Shape 21"/>
          <p:cNvSpPr/>
          <p:nvPr/>
        </p:nvSpPr>
        <p:spPr bwMode="auto">
          <a:xfrm>
            <a:off x="661988" y="1826419"/>
            <a:ext cx="0" cy="2749451"/>
          </a:xfrm>
          <a:prstGeom prst="line">
            <a:avLst/>
          </a:prstGeom>
          <a:noFill/>
          <a:ln w="9525">
            <a:solidFill>
              <a:srgbClr val="EDF1F7"/>
            </a:solidFill>
            <a:prstDash val="solid"/>
          </a:ln>
        </p:spPr>
        <p:txBody>
          <a:bodyPr/>
          <a:lstStyle/>
          <a:p>
            <a:endParaRPr lang="vi-VN" noProof="1"/>
          </a:p>
        </p:txBody>
      </p:sp>
      <p:sp>
        <p:nvSpPr>
          <p:cNvPr id="730205966" name="Shape 22"/>
          <p:cNvSpPr/>
          <p:nvPr/>
        </p:nvSpPr>
        <p:spPr bwMode="auto">
          <a:xfrm>
            <a:off x="6324600" y="1831181"/>
            <a:ext cx="5210175" cy="0"/>
          </a:xfrm>
          <a:prstGeom prst="line">
            <a:avLst/>
          </a:prstGeom>
          <a:noFill/>
          <a:ln w="9525">
            <a:solidFill>
              <a:srgbClr val="EDF1F7"/>
            </a:solidFill>
            <a:prstDash val="solid"/>
          </a:ln>
        </p:spPr>
        <p:txBody>
          <a:bodyPr/>
          <a:lstStyle/>
          <a:p>
            <a:endParaRPr lang="vi-VN" noProof="1"/>
          </a:p>
        </p:txBody>
      </p:sp>
      <p:sp>
        <p:nvSpPr>
          <p:cNvPr id="83419040" name="Shape 23"/>
          <p:cNvSpPr/>
          <p:nvPr/>
        </p:nvSpPr>
        <p:spPr bwMode="auto">
          <a:xfrm>
            <a:off x="11530012" y="1826419"/>
            <a:ext cx="0" cy="2749451"/>
          </a:xfrm>
          <a:prstGeom prst="line">
            <a:avLst/>
          </a:prstGeom>
          <a:noFill/>
          <a:ln w="9525">
            <a:solidFill>
              <a:srgbClr val="EDF1F7"/>
            </a:solidFill>
            <a:prstDash val="solid"/>
          </a:ln>
        </p:spPr>
        <p:txBody>
          <a:bodyPr/>
          <a:lstStyle/>
          <a:p>
            <a:endParaRPr lang="vi-VN" noProof="1"/>
          </a:p>
        </p:txBody>
      </p:sp>
      <p:sp>
        <p:nvSpPr>
          <p:cNvPr id="1895229867" name="Shape 24"/>
          <p:cNvSpPr/>
          <p:nvPr/>
        </p:nvSpPr>
        <p:spPr bwMode="auto">
          <a:xfrm>
            <a:off x="6324600" y="4571107"/>
            <a:ext cx="5210175" cy="0"/>
          </a:xfrm>
          <a:prstGeom prst="line">
            <a:avLst/>
          </a:prstGeom>
          <a:noFill/>
          <a:ln w="9525">
            <a:solidFill>
              <a:srgbClr val="EDF1F7"/>
            </a:solidFill>
            <a:prstDash val="solid"/>
          </a:ln>
        </p:spPr>
        <p:txBody>
          <a:bodyPr/>
          <a:lstStyle/>
          <a:p>
            <a:endParaRPr lang="vi-VN" noProof="1"/>
          </a:p>
        </p:txBody>
      </p:sp>
      <p:sp>
        <p:nvSpPr>
          <p:cNvPr id="1021053175" name="Shape 25"/>
          <p:cNvSpPr/>
          <p:nvPr/>
        </p:nvSpPr>
        <p:spPr bwMode="auto">
          <a:xfrm>
            <a:off x="6329363" y="1826419"/>
            <a:ext cx="0" cy="2749451"/>
          </a:xfrm>
          <a:prstGeom prst="line">
            <a:avLst/>
          </a:prstGeom>
          <a:noFill/>
          <a:ln w="9525">
            <a:solidFill>
              <a:srgbClr val="EDF1F7"/>
            </a:solidFill>
            <a:prstDash val="solid"/>
          </a:ln>
        </p:spPr>
        <p:txBody>
          <a:bodyPr/>
          <a:lstStyle/>
          <a:p>
            <a:endParaRPr lang="vi-VN"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name="Slide 12">
    <p:bg>
      <p:bgPr>
        <a:solidFill>
          <a:srgbClr val="F6F8FB"/>
        </a:solidFill>
        <a:effectLst/>
      </p:bgPr>
    </p:bg>
    <p:spTree>
      <p:nvGrpSpPr>
        <p:cNvPr id="1" name=""/>
        <p:cNvGrpSpPr/>
        <p:nvPr/>
      </p:nvGrpSpPr>
      <p:grpSpPr bwMode="auto">
        <a:xfrm>
          <a:off x="0" y="0"/>
          <a:ext cx="0" cy="0"/>
          <a:chOff x="0" y="0"/>
          <a:chExt cx="0" cy="0"/>
        </a:xfrm>
      </p:grpSpPr>
      <p:sp>
        <p:nvSpPr>
          <p:cNvPr id="1551532279" name="Text 0"/>
          <p:cNvSpPr/>
          <p:nvPr/>
        </p:nvSpPr>
        <p:spPr bwMode="auto">
          <a:xfrm>
            <a:off x="533400" y="342900"/>
            <a:ext cx="11347704" cy="142875"/>
          </a:xfrm>
          <a:prstGeom prst="rect">
            <a:avLst/>
          </a:prstGeom>
          <a:noFill/>
          <a:ln/>
        </p:spPr>
        <p:txBody>
          <a:bodyPr wrap="square" lIns="0" tIns="0" rIns="0" bIns="0" rtlCol="0" anchor="t"/>
          <a:lstStyle/>
          <a:p>
            <a:pPr marL="0" indent="0" algn="l">
              <a:spcAft>
                <a:spcPts val="450"/>
              </a:spcAft>
              <a:buNone/>
              <a:defRPr/>
            </a:pPr>
            <a:r>
              <a:rPr lang="vi-VN" sz="1000" b="1" noProof="1">
                <a:solidFill>
                  <a:srgbClr val="B07F12"/>
                </a:solidFill>
                <a:latin typeface="Arial"/>
                <a:ea typeface="Arial"/>
                <a:cs typeface="Arial"/>
              </a:rPr>
              <a:t>6. KẾT QUẢ THỰC NGHIỆM</a:t>
            </a:r>
            <a:endParaRPr lang="vi-VN" sz="1000" noProof="1"/>
          </a:p>
        </p:txBody>
      </p:sp>
      <p:sp>
        <p:nvSpPr>
          <p:cNvPr id="1087376138" name="Text 1"/>
          <p:cNvSpPr/>
          <p:nvPr/>
        </p:nvSpPr>
        <p:spPr bwMode="auto">
          <a:xfrm>
            <a:off x="533400" y="542925"/>
            <a:ext cx="11347704" cy="359569"/>
          </a:xfrm>
          <a:prstGeom prst="rect">
            <a:avLst/>
          </a:prstGeom>
          <a:noFill/>
          <a:ln/>
        </p:spPr>
        <p:txBody>
          <a:bodyPr wrap="square" lIns="0" tIns="0" rIns="0" bIns="0" rtlCol="0" anchor="t"/>
          <a:lstStyle/>
          <a:p>
            <a:pPr algn="l">
              <a:defRPr sz="1000">
                <a:latin typeface="Calibri"/>
              </a:defRPr>
            </a:pPr>
            <a:r>
              <a:t>Kết quả đạt được và Hướng phát triển đề tài</a:t>
            </a:r>
          </a:p>
        </p:txBody>
      </p:sp>
      <p:pic>
        <p:nvPicPr>
          <p:cNvPr id="1664352587" name="Image 0" descr="/var/folders/t4/q0khv7qd1r3dc2yrbwkzmjf00000gn/T/html2pptx-PSMjzO/html2pptx-bg-1791687650677-c2ccd95290eeb.png"/>
          <p:cNvPicPr>
            <a:picLocks noChangeAspect="1"/>
          </p:cNvPicPr>
          <p:nvPr/>
        </p:nvPicPr>
        <p:blipFill rotWithShape="1">
          <a:blip r:embed="rId3"/>
          <a:stretch/>
        </p:blipFill>
        <p:spPr bwMode="auto">
          <a:xfrm>
            <a:off x="533400" y="978694"/>
            <a:ext cx="1047750" cy="38100"/>
          </a:xfrm>
          <a:prstGeom prst="rect">
            <a:avLst/>
          </a:prstGeom>
        </p:spPr>
      </p:pic>
      <p:sp>
        <p:nvSpPr>
          <p:cNvPr id="1534172061" name="Text 10"/>
          <p:cNvSpPr/>
          <p:nvPr/>
        </p:nvSpPr>
        <p:spPr bwMode="auto">
          <a:xfrm>
            <a:off x="3357563" y="1264444"/>
            <a:ext cx="2652713" cy="1291977"/>
          </a:xfrm>
          <a:prstGeom prst="roundRect">
            <a:avLst>
              <a:gd name="adj" fmla="val 10321"/>
            </a:avLst>
          </a:prstGeom>
          <a:solidFill>
            <a:srgbClr val="FFFFFF"/>
          </a:solidFill>
          <a:ln/>
          <a:effectLst>
            <a:outerShdw blurRad="152400" dist="57150" dir="5400000" algn="bl" rotWithShape="0">
              <a:srgbClr val="002855">
                <a:alpha val="6000"/>
              </a:srgbClr>
            </a:outerShdw>
          </a:effectLst>
        </p:spPr>
        <p:txBody>
          <a:bodyPr wrap="square" rtlCol="0" anchor="ctr"/>
          <a:lstStyle/>
          <a:p>
            <a:pPr marL="0" indent="0">
              <a:buNone/>
              <a:defRPr/>
            </a:pPr>
            <a:endParaRPr lang="vi-VN" noProof="1"/>
          </a:p>
        </p:txBody>
      </p:sp>
      <p:sp>
        <p:nvSpPr>
          <p:cNvPr id="296798508" name="Shape 11"/>
          <p:cNvSpPr/>
          <p:nvPr/>
        </p:nvSpPr>
        <p:spPr bwMode="auto">
          <a:xfrm>
            <a:off x="3509963" y="1288256"/>
            <a:ext cx="2347913" cy="0"/>
          </a:xfrm>
          <a:prstGeom prst="line">
            <a:avLst/>
          </a:prstGeom>
          <a:noFill/>
          <a:ln w="47625">
            <a:solidFill>
              <a:srgbClr val="D4A017"/>
            </a:solidFill>
            <a:prstDash val="solid"/>
          </a:ln>
        </p:spPr>
        <p:txBody>
          <a:bodyPr/>
          <a:lstStyle/>
          <a:p>
            <a:endParaRPr lang="vi-VN" noProof="1"/>
          </a:p>
        </p:txBody>
      </p:sp>
      <p:sp>
        <p:nvSpPr>
          <p:cNvPr id="658754239" name="Shape 12"/>
          <p:cNvSpPr/>
          <p:nvPr/>
        </p:nvSpPr>
        <p:spPr bwMode="auto">
          <a:xfrm>
            <a:off x="6010274" y="1435894"/>
            <a:ext cx="0" cy="987177"/>
          </a:xfrm>
          <a:prstGeom prst="line">
            <a:avLst/>
          </a:prstGeom>
          <a:noFill/>
          <a:ln w="9525">
            <a:solidFill>
              <a:srgbClr val="E3E9F2"/>
            </a:solidFill>
            <a:prstDash val="solid"/>
          </a:ln>
        </p:spPr>
        <p:txBody>
          <a:bodyPr/>
          <a:lstStyle/>
          <a:p>
            <a:endParaRPr lang="vi-VN" noProof="1"/>
          </a:p>
        </p:txBody>
      </p:sp>
      <p:sp>
        <p:nvSpPr>
          <p:cNvPr id="2127443947" name="Shape 13"/>
          <p:cNvSpPr/>
          <p:nvPr/>
        </p:nvSpPr>
        <p:spPr bwMode="auto">
          <a:xfrm>
            <a:off x="3509963" y="2555081"/>
            <a:ext cx="2347913" cy="0"/>
          </a:xfrm>
          <a:prstGeom prst="line">
            <a:avLst/>
          </a:prstGeom>
          <a:noFill/>
          <a:ln w="9525">
            <a:solidFill>
              <a:srgbClr val="E3E9F2"/>
            </a:solidFill>
            <a:prstDash val="solid"/>
          </a:ln>
        </p:spPr>
        <p:txBody>
          <a:bodyPr/>
          <a:lstStyle/>
          <a:p>
            <a:endParaRPr lang="vi-VN" noProof="1"/>
          </a:p>
        </p:txBody>
      </p:sp>
      <p:sp>
        <p:nvSpPr>
          <p:cNvPr id="1569735850" name="Shape 14"/>
          <p:cNvSpPr/>
          <p:nvPr/>
        </p:nvSpPr>
        <p:spPr bwMode="auto">
          <a:xfrm>
            <a:off x="3362324" y="1435894"/>
            <a:ext cx="0" cy="987177"/>
          </a:xfrm>
          <a:prstGeom prst="line">
            <a:avLst/>
          </a:prstGeom>
          <a:noFill/>
          <a:ln w="9525">
            <a:solidFill>
              <a:srgbClr val="E3E9F2"/>
            </a:solidFill>
            <a:prstDash val="solid"/>
          </a:ln>
        </p:spPr>
        <p:txBody>
          <a:bodyPr/>
          <a:lstStyle/>
          <a:p>
            <a:endParaRPr lang="vi-VN" noProof="1"/>
          </a:p>
        </p:txBody>
      </p:sp>
      <p:sp>
        <p:nvSpPr>
          <p:cNvPr id="2140140729" name="Text 15"/>
          <p:cNvSpPr/>
          <p:nvPr/>
        </p:nvSpPr>
        <p:spPr bwMode="auto">
          <a:xfrm>
            <a:off x="3496199" y="1483519"/>
            <a:ext cx="2375440" cy="356146"/>
          </a:xfrm>
          <a:prstGeom prst="rect">
            <a:avLst/>
          </a:prstGeom>
          <a:noFill/>
          <a:ln/>
        </p:spPr>
        <p:txBody>
          <a:bodyPr wrap="square" lIns="0" tIns="0" rIns="0" bIns="0" rtlCol="0" anchor="t"/>
          <a:lstStyle/>
          <a:p>
            <a:pPr marL="0" indent="0" algn="ctr">
              <a:lnSpc>
                <a:spcPts val="2805"/>
              </a:lnSpc>
              <a:buNone/>
              <a:defRPr/>
            </a:pPr>
            <a:endParaRPr lang="vi-VN" sz="2550" noProof="1"/>
          </a:p>
        </p:txBody>
      </p:sp>
      <p:sp>
        <p:nvSpPr>
          <p:cNvPr id="832269212" name="Text 16"/>
          <p:cNvSpPr/>
          <p:nvPr/>
        </p:nvSpPr>
        <p:spPr bwMode="auto">
          <a:xfrm>
            <a:off x="3496199" y="1858714"/>
            <a:ext cx="2375440" cy="133350"/>
          </a:xfrm>
          <a:prstGeom prst="rect">
            <a:avLst/>
          </a:prstGeom>
          <a:noFill/>
          <a:ln/>
        </p:spPr>
        <p:txBody>
          <a:bodyPr wrap="square" lIns="0" tIns="0" rIns="0" bIns="0" rtlCol="0" anchor="t"/>
          <a:lstStyle/>
          <a:p>
            <a:pPr algn="ctr">
              <a:defRPr sz="1100" b="1">
                <a:solidFill>
                  <a:srgbClr val="DA8E11"/>
                </a:solidFill>
                <a:latin typeface="Calibri"/>
              </a:defRPr>
            </a:pPr>
            <a:r>
              <a:t>TẠO BÀI VIẾT BẰNG AI</a:t>
            </a:r>
          </a:p>
        </p:txBody>
      </p:sp>
      <p:sp>
        <p:nvSpPr>
          <p:cNvPr id="1466821503" name="Text 17"/>
          <p:cNvSpPr/>
          <p:nvPr/>
        </p:nvSpPr>
        <p:spPr bwMode="auto">
          <a:xfrm>
            <a:off x="3496199" y="2068264"/>
            <a:ext cx="2375440" cy="345281"/>
          </a:xfrm>
          <a:prstGeom prst="rect">
            <a:avLst/>
          </a:prstGeom>
          <a:noFill/>
          <a:ln/>
        </p:spPr>
        <p:txBody>
          <a:bodyPr wrap="square" lIns="0" tIns="0" rIns="0" bIns="0" rtlCol="0" anchor="t"/>
          <a:lstStyle/>
          <a:p>
            <a:pPr algn="ctr">
              <a:defRPr sz="850" b="0">
                <a:solidFill>
                  <a:srgbClr val="212529"/>
                </a:solidFill>
                <a:latin typeface="Calibri"/>
              </a:defRPr>
            </a:pPr>
            <a:r>
              <a:t>Trợ lý AI hỗ trợ dựng bài 5W1H từ tư liệu thô, gợi ý tiêu đề báo chí và chuẩn hóa văn phong công đoàn.</a:t>
            </a:r>
          </a:p>
        </p:txBody>
      </p:sp>
      <p:sp>
        <p:nvSpPr>
          <p:cNvPr id="189312234" name="Text 18"/>
          <p:cNvSpPr/>
          <p:nvPr/>
        </p:nvSpPr>
        <p:spPr bwMode="auto">
          <a:xfrm>
            <a:off x="6181725" y="1264444"/>
            <a:ext cx="2652713" cy="1291977"/>
          </a:xfrm>
          <a:prstGeom prst="roundRect">
            <a:avLst>
              <a:gd name="adj" fmla="val 10321"/>
            </a:avLst>
          </a:prstGeom>
          <a:solidFill>
            <a:srgbClr val="FFFFFF"/>
          </a:solidFill>
          <a:ln/>
          <a:effectLst>
            <a:outerShdw blurRad="152400" dist="57150" dir="5400000" algn="bl" rotWithShape="0">
              <a:srgbClr val="002855">
                <a:alpha val="6000"/>
              </a:srgbClr>
            </a:outerShdw>
          </a:effectLst>
        </p:spPr>
        <p:txBody>
          <a:bodyPr wrap="square" rtlCol="0" anchor="ctr"/>
          <a:lstStyle/>
          <a:p>
            <a:pPr marL="0" indent="0">
              <a:buNone/>
              <a:defRPr/>
            </a:pPr>
            <a:endParaRPr lang="vi-VN" noProof="1"/>
          </a:p>
        </p:txBody>
      </p:sp>
      <p:sp>
        <p:nvSpPr>
          <p:cNvPr id="1623447681" name="Shape 19"/>
          <p:cNvSpPr/>
          <p:nvPr/>
        </p:nvSpPr>
        <p:spPr bwMode="auto">
          <a:xfrm>
            <a:off x="6334125" y="1288256"/>
            <a:ext cx="2347912" cy="0"/>
          </a:xfrm>
          <a:prstGeom prst="line">
            <a:avLst/>
          </a:prstGeom>
          <a:noFill/>
          <a:ln w="47625">
            <a:solidFill>
              <a:srgbClr val="D4A017"/>
            </a:solidFill>
            <a:prstDash val="solid"/>
          </a:ln>
        </p:spPr>
        <p:txBody>
          <a:bodyPr/>
          <a:lstStyle/>
          <a:p>
            <a:endParaRPr lang="vi-VN" noProof="1"/>
          </a:p>
        </p:txBody>
      </p:sp>
      <p:sp>
        <p:nvSpPr>
          <p:cNvPr id="161504581" name="Shape 21"/>
          <p:cNvSpPr/>
          <p:nvPr/>
        </p:nvSpPr>
        <p:spPr bwMode="auto">
          <a:xfrm>
            <a:off x="6334125" y="2555081"/>
            <a:ext cx="2347912" cy="0"/>
          </a:xfrm>
          <a:prstGeom prst="line">
            <a:avLst/>
          </a:prstGeom>
          <a:noFill/>
          <a:ln w="9525">
            <a:solidFill>
              <a:srgbClr val="E3E9F2"/>
            </a:solidFill>
            <a:prstDash val="solid"/>
          </a:ln>
        </p:spPr>
        <p:txBody>
          <a:bodyPr/>
          <a:lstStyle/>
          <a:p>
            <a:endParaRPr lang="vi-VN" noProof="1"/>
          </a:p>
        </p:txBody>
      </p:sp>
      <p:sp>
        <p:nvSpPr>
          <p:cNvPr id="316818631" name="Shape 22"/>
          <p:cNvSpPr/>
          <p:nvPr/>
        </p:nvSpPr>
        <p:spPr bwMode="auto">
          <a:xfrm>
            <a:off x="6186488" y="1435894"/>
            <a:ext cx="0" cy="987177"/>
          </a:xfrm>
          <a:prstGeom prst="line">
            <a:avLst/>
          </a:prstGeom>
          <a:noFill/>
          <a:ln w="9525">
            <a:solidFill>
              <a:srgbClr val="E3E9F2"/>
            </a:solidFill>
            <a:prstDash val="solid"/>
          </a:ln>
        </p:spPr>
        <p:txBody>
          <a:bodyPr/>
          <a:lstStyle/>
          <a:p>
            <a:endParaRPr lang="vi-VN" noProof="1"/>
          </a:p>
        </p:txBody>
      </p:sp>
      <p:sp>
        <p:nvSpPr>
          <p:cNvPr id="1813989432" name="Text 23"/>
          <p:cNvSpPr/>
          <p:nvPr/>
        </p:nvSpPr>
        <p:spPr bwMode="auto">
          <a:xfrm>
            <a:off x="6320361" y="1483519"/>
            <a:ext cx="2375440" cy="356146"/>
          </a:xfrm>
          <a:prstGeom prst="rect">
            <a:avLst/>
          </a:prstGeom>
          <a:noFill/>
          <a:ln/>
        </p:spPr>
        <p:txBody>
          <a:bodyPr wrap="square" lIns="0" tIns="0" rIns="0" bIns="0" rtlCol="0" anchor="t"/>
          <a:lstStyle/>
          <a:p>
            <a:pPr marL="0" indent="0" algn="ctr">
              <a:lnSpc>
                <a:spcPts val="2805"/>
              </a:lnSpc>
              <a:buNone/>
              <a:defRPr/>
            </a:pPr>
            <a:endParaRPr lang="vi-VN" sz="2550" noProof="1"/>
          </a:p>
        </p:txBody>
      </p:sp>
      <p:sp>
        <p:nvSpPr>
          <p:cNvPr id="268085201" name="Text 24"/>
          <p:cNvSpPr/>
          <p:nvPr/>
        </p:nvSpPr>
        <p:spPr bwMode="auto">
          <a:xfrm>
            <a:off x="6320361" y="1858714"/>
            <a:ext cx="2375440" cy="133350"/>
          </a:xfrm>
          <a:prstGeom prst="rect">
            <a:avLst/>
          </a:prstGeom>
          <a:noFill/>
          <a:ln/>
        </p:spPr>
        <p:txBody>
          <a:bodyPr wrap="square" lIns="0" tIns="0" rIns="0" bIns="0" rtlCol="0" anchor="t"/>
          <a:lstStyle/>
          <a:p>
            <a:pPr algn="ctr">
              <a:defRPr sz="1100" b="1">
                <a:solidFill>
                  <a:srgbClr val="DA8E11"/>
                </a:solidFill>
                <a:latin typeface="Calibri"/>
              </a:defRPr>
            </a:pPr>
            <a:r>
              <a:t>XUẤT BẢN ĐA KÊNH &amp; LẬP LỊCH</a:t>
            </a:r>
          </a:p>
        </p:txBody>
      </p:sp>
      <p:sp>
        <p:nvSpPr>
          <p:cNvPr id="1276800826" name="Text 25"/>
          <p:cNvSpPr/>
          <p:nvPr/>
        </p:nvSpPr>
        <p:spPr bwMode="auto">
          <a:xfrm>
            <a:off x="6320361" y="2068264"/>
            <a:ext cx="2375440" cy="345281"/>
          </a:xfrm>
          <a:prstGeom prst="rect">
            <a:avLst/>
          </a:prstGeom>
          <a:noFill/>
          <a:ln/>
        </p:spPr>
        <p:txBody>
          <a:bodyPr wrap="square" lIns="0" tIns="0" rIns="0" bIns="0" rtlCol="0" anchor="t"/>
          <a:lstStyle/>
          <a:p>
            <a:pPr algn="ctr">
              <a:defRPr sz="850" b="0">
                <a:solidFill>
                  <a:srgbClr val="212529"/>
                </a:solidFill>
                <a:latin typeface="Calibri"/>
              </a:defRPr>
            </a:pPr>
            <a:r>
              <a:t>Tự động đăng tải đồng thời lên Website và Facebook Fanpage; lập lịch xuất bản ngầm chính xác theo giờ hẹn.</a:t>
            </a:r>
          </a:p>
        </p:txBody>
      </p:sp>
      <p:sp>
        <p:nvSpPr>
          <p:cNvPr id="9206746" name="Text 34"/>
          <p:cNvSpPr/>
          <p:nvPr/>
        </p:nvSpPr>
        <p:spPr bwMode="auto">
          <a:xfrm>
            <a:off x="422148" y="2689771"/>
            <a:ext cx="11347704" cy="133350"/>
          </a:xfrm>
          <a:prstGeom prst="rect">
            <a:avLst/>
          </a:prstGeom>
          <a:noFill/>
          <a:ln/>
        </p:spPr>
        <p:txBody>
          <a:bodyPr wrap="square" lIns="0" tIns="0" rIns="0" bIns="0" rtlCol="0" anchor="t"/>
          <a:lstStyle/>
          <a:p>
            <a:pPr marL="0" indent="0" algn="ctr">
              <a:spcBef>
                <a:spcPts val="1050"/>
              </a:spcBef>
              <a:buNone/>
              <a:defRPr/>
            </a:pPr>
            <a:endParaRPr lang="vi-VN" sz="950" noProof="1"/>
          </a:p>
        </p:txBody>
      </p:sp>
      <p:sp>
        <p:nvSpPr>
          <p:cNvPr id="533187219" name="Text 35"/>
          <p:cNvSpPr/>
          <p:nvPr/>
        </p:nvSpPr>
        <p:spPr bwMode="auto">
          <a:xfrm>
            <a:off x="533400" y="3070771"/>
            <a:ext cx="7272784" cy="1695450"/>
          </a:xfrm>
          <a:prstGeom prst="roundRect">
            <a:avLst>
              <a:gd name="adj" fmla="val 7865"/>
            </a:avLst>
          </a:prstGeom>
          <a:solidFill>
            <a:srgbClr val="002855"/>
          </a:solidFill>
          <a:ln/>
        </p:spPr>
        <p:txBody>
          <a:bodyPr wrap="square" rtlCol="0" anchor="ctr"/>
          <a:lstStyle/>
          <a:p>
            <a:pPr marL="0" indent="0">
              <a:buNone/>
              <a:defRPr/>
            </a:pPr>
            <a:endParaRPr lang="vi-VN" noProof="1"/>
          </a:p>
        </p:txBody>
      </p:sp>
      <p:sp>
        <p:nvSpPr>
          <p:cNvPr id="1334823512" name="Text 36"/>
          <p:cNvSpPr/>
          <p:nvPr/>
        </p:nvSpPr>
        <p:spPr bwMode="auto">
          <a:xfrm>
            <a:off x="742950" y="3242221"/>
            <a:ext cx="6990758" cy="171450"/>
          </a:xfrm>
          <a:prstGeom prst="rect">
            <a:avLst/>
          </a:prstGeom>
          <a:noFill/>
          <a:ln/>
        </p:spPr>
        <p:txBody>
          <a:bodyPr wrap="square" lIns="0" tIns="0" rIns="0" bIns="0" rtlCol="0" anchor="t"/>
          <a:lstStyle/>
          <a:p>
            <a:pPr algn="l">
              <a:defRPr sz="1200" b="1">
                <a:solidFill>
                  <a:srgbClr val="DA8E11"/>
                </a:solidFill>
                <a:latin typeface="Calibri"/>
              </a:defRPr>
            </a:pPr>
            <a:r>
              <a:t>HƯỚNG PHÁT TRIỂN ĐỀ TÀI</a:t>
            </a:r>
          </a:p>
        </p:txBody>
      </p:sp>
      <p:sp>
        <p:nvSpPr>
          <p:cNvPr id="2113244601" name="Text 37"/>
          <p:cNvSpPr/>
          <p:nvPr/>
        </p:nvSpPr>
        <p:spPr bwMode="auto">
          <a:xfrm>
            <a:off x="742950" y="3508921"/>
            <a:ext cx="6853684" cy="1085850"/>
          </a:xfrm>
          <a:prstGeom prst="rect">
            <a:avLst/>
          </a:prstGeom>
          <a:noFill/>
          <a:ln/>
        </p:spPr>
        <p:txBody>
          <a:bodyPr wrap="square" lIns="0" tIns="0" rIns="0" bIns="85725" rtlCol="0" anchor="t"/>
          <a:lstStyle/>
          <a:p>
            <a:pPr algn="l">
              <a:defRPr sz="950" b="0">
                <a:solidFill>
                  <a:srgbClr val="FFFFFF"/>
                </a:solidFill>
                <a:latin typeface="Calibri"/>
              </a:defRPr>
            </a:pPr>
            <a:r>
              <a:t>• Tinh chỉnh và tối ưu hóa bộ prompt chuyên sâu cho từng loại văn bản và hoạt động công đoàn đặc thù.</a:t>
            </a:r>
          </a:p>
          <a:p>
            <a:pPr algn="l">
              <a:defRPr sz="950" b="0">
                <a:solidFill>
                  <a:srgbClr val="FFFFFF"/>
                </a:solidFill>
                <a:latin typeface="Calibri"/>
              </a:defRPr>
            </a:pPr>
            <a:r>
              <a:t>• Hoàn tất kết nối Webhook chính thức với Zalo Official Account khi được cấp phép vận hành.</a:t>
            </a:r>
          </a:p>
          <a:p>
            <a:pPr algn="l">
              <a:defRPr sz="950" b="0">
                <a:solidFill>
                  <a:srgbClr val="FFFFFF"/>
                </a:solidFill>
                <a:latin typeface="Calibri"/>
              </a:defRPr>
            </a:pPr>
            <a:r>
              <a:t>• Nâng cấp các tiện ích khảo sát và lắng nghe tâm tư nguyện vọng của đoàn viên cơ sở trực tuyến.</a:t>
            </a:r>
          </a:p>
          <a:p>
            <a:pPr algn="l">
              <a:defRPr sz="950" b="0">
                <a:solidFill>
                  <a:srgbClr val="FFFFFF"/>
                </a:solidFill>
                <a:latin typeface="Calibri"/>
              </a:defRPr>
            </a:pPr>
            <a:r>
              <a:t>• Triển khai lấy ý kiến thử nghiệm thực tế từ các Tổ công đoàn để tối ưu hóa trải nghiệm người dùng.</a:t>
            </a:r>
          </a:p>
        </p:txBody>
      </p:sp>
      <p:sp>
        <p:nvSpPr>
          <p:cNvPr id="375851085" name="Shape 41"/>
          <p:cNvSpPr/>
          <p:nvPr/>
        </p:nvSpPr>
        <p:spPr bwMode="auto">
          <a:xfrm>
            <a:off x="533400" y="6548438"/>
            <a:ext cx="11125200" cy="0"/>
          </a:xfrm>
          <a:prstGeom prst="line">
            <a:avLst/>
          </a:prstGeom>
          <a:noFill/>
          <a:ln w="9525">
            <a:solidFill>
              <a:srgbClr val="E2E8F0"/>
            </a:solidFill>
            <a:prstDash val="solid"/>
          </a:ln>
        </p:spPr>
        <p:txBody>
          <a:bodyPr/>
          <a:lstStyle/>
          <a:p>
            <a:endParaRPr lang="vi-VN" noProof="1"/>
          </a:p>
        </p:txBody>
      </p:sp>
      <p:sp>
        <p:nvSpPr>
          <p:cNvPr id="875689636" name="Text 42"/>
          <p:cNvSpPr/>
          <p:nvPr/>
        </p:nvSpPr>
        <p:spPr bwMode="auto">
          <a:xfrm>
            <a:off x="533400" y="6543675"/>
            <a:ext cx="11347704" cy="200025"/>
          </a:xfrm>
          <a:prstGeom prst="rect">
            <a:avLst/>
          </a:prstGeom>
          <a:noFill/>
          <a:ln/>
        </p:spPr>
        <p:txBody>
          <a:bodyPr wrap="square" lIns="0" tIns="76200" rIns="0" bIns="0" rtlCol="0" anchor="t"/>
          <a:lstStyle/>
          <a:p>
            <a:pPr marL="0" indent="0" algn="l">
              <a:buNone/>
              <a:defRPr/>
            </a:pPr>
            <a:r>
              <a:rPr lang="vi-VN" sz="850" noProof="1">
                <a:solidFill>
                  <a:srgbClr val="8A97AB"/>
                </a:solidFill>
                <a:latin typeface="Arial"/>
                <a:ea typeface="Arial"/>
                <a:cs typeface="Arial"/>
              </a:rPr>
              <a:t>Nhóm 2 · Đồ án Cơ sở ngành 2026–2027</a:t>
            </a:r>
            <a:endParaRPr lang="vi-VN" sz="850" noProof="1"/>
          </a:p>
        </p:txBody>
      </p:sp>
    </p:spTree>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a:extLst>
            <a:ext uri="{FF2B5EF4-FFF2-40B4-BE49-F238E27FC236}">
              <a16:creationId xmlns:a16="http://schemas.microsoft.com/office/drawing/2014/main" id="{3DE8DBA4-B806-CFBD-AA2D-31C65321CA3E}"/>
            </a:ext>
          </a:extLst>
        </p:cNvPr>
        <p:cNvGrpSpPr/>
        <p:nvPr/>
      </p:nvGrpSpPr>
      <p:grpSpPr bwMode="auto">
        <a:xfrm>
          <a:off x="0" y="0"/>
          <a:ext cx="0" cy="0"/>
          <a:chOff x="0" y="0"/>
          <a:chExt cx="0" cy="0"/>
        </a:xfrm>
      </p:grpSpPr>
      <p:pic>
        <p:nvPicPr>
          <p:cNvPr id="870917759" name="Image 0" descr="/var/folders/t4/q0khv7qd1r3dc2yrbwkzmjf00000gn/T/html2pptx-5EShAo/html2pptx-bg-1791687631881-4aa197ed81b4d.png">
            <a:extLst>
              <a:ext uri="{FF2B5EF4-FFF2-40B4-BE49-F238E27FC236}">
                <a16:creationId xmlns:a16="http://schemas.microsoft.com/office/drawing/2014/main" id="{A0188B4A-09FA-D954-70C5-E968B291947C}"/>
              </a:ext>
            </a:extLst>
          </p:cNvPr>
          <p:cNvPicPr>
            <a:picLocks noChangeAspect="1"/>
          </p:cNvPicPr>
          <p:nvPr/>
        </p:nvPicPr>
        <p:blipFill rotWithShape="1">
          <a:blip r:embed="rId3"/>
          <a:stretch/>
        </p:blipFill>
        <p:spPr bwMode="auto">
          <a:xfrm>
            <a:off x="0" y="0"/>
            <a:ext cx="12192000" cy="6858000"/>
          </a:xfrm>
          <a:prstGeom prst="rect">
            <a:avLst/>
          </a:prstGeom>
        </p:spPr>
      </p:pic>
      <p:pic>
        <p:nvPicPr>
          <p:cNvPr id="106409509" name="Image 1" descr="/var/folders/t4/q0khv7qd1r3dc2yrbwkzmjf00000gn/T/html2pptx-5EShAo/html2pptx-bg-1791687634666-11618a6fb0db7.png">
            <a:extLst>
              <a:ext uri="{FF2B5EF4-FFF2-40B4-BE49-F238E27FC236}">
                <a16:creationId xmlns:a16="http://schemas.microsoft.com/office/drawing/2014/main" id="{CBD84E44-ECD2-1FF1-5FB6-604018459F68}"/>
              </a:ext>
            </a:extLst>
          </p:cNvPr>
          <p:cNvPicPr>
            <a:picLocks noChangeAspect="1"/>
          </p:cNvPicPr>
          <p:nvPr/>
        </p:nvPicPr>
        <p:blipFill rotWithShape="1">
          <a:blip r:embed="rId4"/>
          <a:stretch/>
        </p:blipFill>
        <p:spPr bwMode="auto">
          <a:xfrm>
            <a:off x="0" y="0"/>
            <a:ext cx="12192000" cy="6858000"/>
          </a:xfrm>
          <a:prstGeom prst="rect">
            <a:avLst/>
          </a:prstGeom>
        </p:spPr>
      </p:pic>
      <p:sp>
        <p:nvSpPr>
          <p:cNvPr id="394878804" name="Text 5">
            <a:extLst>
              <a:ext uri="{FF2B5EF4-FFF2-40B4-BE49-F238E27FC236}">
                <a16:creationId xmlns:a16="http://schemas.microsoft.com/office/drawing/2014/main" id="{1449C6BB-4DF0-866A-70E9-FF4D594FDDC6}"/>
              </a:ext>
            </a:extLst>
          </p:cNvPr>
          <p:cNvSpPr/>
          <p:nvPr/>
        </p:nvSpPr>
        <p:spPr bwMode="auto">
          <a:xfrm>
            <a:off x="4055842" y="5097440"/>
            <a:ext cx="4080313" cy="762504"/>
          </a:xfrm>
          <a:prstGeom prst="rect">
            <a:avLst/>
          </a:prstGeom>
          <a:noFill/>
          <a:ln/>
        </p:spPr>
        <p:txBody>
          <a:bodyPr wrap="square" lIns="0" tIns="0" rIns="0" bIns="0" rtlCol="0" anchor="t"/>
          <a:lstStyle/>
          <a:p>
            <a:pPr marL="0" indent="0" algn="l">
              <a:buNone/>
              <a:defRPr/>
            </a:pPr>
            <a:endParaRPr lang="vi-VN" b="0" baseline="-25000" noProof="1">
              <a:latin typeface="Arial"/>
              <a:cs typeface="Arial"/>
            </a:endParaRPr>
          </a:p>
        </p:txBody>
      </p:sp>
      <p:sp>
        <p:nvSpPr>
          <p:cNvPr id="1222255792" name="Text 39"/>
          <p:cNvSpPr/>
          <p:nvPr/>
        </p:nvSpPr>
        <p:spPr bwMode="auto">
          <a:xfrm>
            <a:off x="3111060" y="2052982"/>
            <a:ext cx="5969876" cy="959471"/>
          </a:xfrm>
          <a:prstGeom prst="rect">
            <a:avLst/>
          </a:prstGeom>
          <a:noFill/>
          <a:ln/>
        </p:spPr>
        <p:txBody>
          <a:bodyPr wrap="square" lIns="0" tIns="0" rIns="0" bIns="0" rtlCol="0" anchor="t"/>
          <a:lstStyle/>
          <a:p>
            <a:pPr algn="ctr">
              <a:defRPr sz="2200" b="1">
                <a:solidFill>
                  <a:srgbClr val="0B2C58"/>
                </a:solidFill>
                <a:latin typeface="Calibri"/>
              </a:defRPr>
            </a:pPr>
            <a:r>
              <a:t>CẢM ƠN THẦY VÀ CÁC BẠN ĐÃ LẮNG NGHE!</a:t>
            </a:r>
          </a:p>
        </p:txBody>
      </p:sp>
      <p:sp>
        <p:nvSpPr>
          <p:cNvPr id="3" name="Hộp Văn bản 2">
            <a:extLst>
              <a:ext uri="{FF2B5EF4-FFF2-40B4-BE49-F238E27FC236}">
                <a16:creationId xmlns:a16="http://schemas.microsoft.com/office/drawing/2014/main" id="{766AA992-B800-41D2-FDDD-31F48C53E712}"/>
              </a:ext>
            </a:extLst>
          </p:cNvPr>
          <p:cNvSpPr txBox="1"/>
          <p:nvPr/>
        </p:nvSpPr>
        <p:spPr>
          <a:xfrm>
            <a:off x="1802028" y="3989066"/>
            <a:ext cx="8587940" cy="1569660"/>
          </a:xfrm>
          <a:prstGeom prst="rect">
            <a:avLst/>
          </a:prstGeom>
          <a:noFill/>
        </p:spPr>
        <p:txBody>
          <a:bodyPr wrap="square">
            <a:spAutoFit/>
          </a:bodyPr>
          <a:lstStyle/>
          <a:p>
            <a:pPr algn="ctr">
              <a:defRPr sz="1300" b="0">
                <a:solidFill>
                  <a:srgbClr val="212529"/>
                </a:solidFill>
                <a:latin typeface="Calibri"/>
              </a:defRPr>
            </a:pPr>
            <a:r>
              <a:t>Nhóm 2 xin trân trọng cảm ơn sự hướng dẫn tận tình của ThS. Võ Quốc Lương</a:t>
            </a:r>
          </a:p>
          <a:p>
            <a:pPr algn="ctr">
              <a:defRPr sz="1300" b="0">
                <a:solidFill>
                  <a:srgbClr val="212529"/>
                </a:solidFill>
                <a:latin typeface="Calibri"/>
              </a:defRPr>
            </a:pPr>
            <a:r>
              <a:t>và những ý kiến đóng góp quý báu từ Quý Thầy Cô Viện Công nghệ số.</a:t>
            </a:r>
          </a:p>
          <a:p>
            <a:pPr algn="ctr">
              <a:defRPr sz="1300" b="0">
                <a:solidFill>
                  <a:srgbClr val="212529"/>
                </a:solidFill>
                <a:latin typeface="Calibri"/>
              </a:defRPr>
            </a:pPr>
          </a:p>
          <a:p>
            <a:pPr algn="ctr">
              <a:defRPr sz="1300" b="0">
                <a:solidFill>
                  <a:srgbClr val="212529"/>
                </a:solidFill>
                <a:latin typeface="Calibri"/>
              </a:defRPr>
            </a:pPr>
            <a:r>
              <a:t>Kính mời Quý Thầy Cô và các bạn nhận xét, đặt câu hỏi cho nhóm!</a:t>
            </a:r>
          </a:p>
        </p:txBody>
      </p:sp>
    </p:spTree>
    <p:extLst>
      <p:ext uri="{BB962C8B-B14F-4D97-AF65-F5344CB8AC3E}">
        <p14:creationId xmlns:p14="http://schemas.microsoft.com/office/powerpoint/2010/main" val="2841137762"/>
      </p:ext>
    </p:extLst>
  </p:cSld>
  <p:clrMapOvr>
    <a:masterClrMapping/>
  </p:clrMapOvr>
  <mc:AlternateContent xmlns:mc="http://schemas.openxmlformats.org/markup-compatibility/2006" xmlns:p159="http://schemas.microsoft.com/office/powerpoint/2015/09/main">
    <mc:Choice Requires="p159">
      <p:transition/>
    </mc:Choice>
    <mc:Fallback xmlns="" xmlns:m="http://schemas.openxmlformats.org/officeDocument/2006/math" xmlns:w="http://schemas.openxmlformats.org/wordprocessingml/2006/main">
      <p:transition advClick="1"/>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Arial"/>
        <a:cs typeface="Arial"/>
      </a:majorFont>
      <a:minorFont>
        <a:latin typeface="Calibri"/>
        <a:ea typeface="Arial"/>
        <a:cs typeface="Arial"/>
      </a:minorFont>
    </a:fontScheme>
    <a:fmtScheme name="Office">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970</TotalTime>
  <Words>1964</Words>
  <Application>Microsoft Office PowerPoint</Application>
  <PresentationFormat>Màn hình rộng</PresentationFormat>
  <Paragraphs>219</Paragraphs>
  <Slides>13</Slides>
  <Notes>13</Notes>
  <HiddenSlides>0</HiddenSlides>
  <MMClips>0</MMClips>
  <ScaleCrop>false</ScaleCrop>
  <HeadingPairs>
    <vt:vector size="6" baseType="variant">
      <vt:variant>
        <vt:lpstr>Phông được Dùng</vt:lpstr>
      </vt:variant>
      <vt:variant>
        <vt:i4>3</vt:i4>
      </vt:variant>
      <vt:variant>
        <vt:lpstr>Chủ đề</vt:lpstr>
      </vt:variant>
      <vt:variant>
        <vt:i4>1</vt:i4>
      </vt:variant>
      <vt:variant>
        <vt:lpstr>Tiêu đề Bản chiếu</vt:lpstr>
      </vt:variant>
      <vt:variant>
        <vt:i4>13</vt:i4>
      </vt:variant>
    </vt:vector>
  </HeadingPairs>
  <TitlesOfParts>
    <vt:vector size="17" baseType="lpstr">
      <vt:lpstr>Arial</vt:lpstr>
      <vt:lpstr>Calibri</vt:lpstr>
      <vt:lpstr>Segoe UI</vt:lpstr>
      <vt:lpstr>Office Theme</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lpstr>Bản trình bày PowerPoint</vt:lpstr>
    </vt:vector>
  </TitlesOfParts>
  <Company>DeepPresenter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DeepPresenter Presentation</dc:title>
  <dc:subject/>
  <dc:creator>DeepPresenter</dc:creator>
  <cp:lastModifiedBy>Nguyễn Bình Dương</cp:lastModifiedBy>
  <cp:revision>12</cp:revision>
  <dcterms:created xsi:type="dcterms:W3CDTF">2026-10-11T03:00:50Z</dcterms:created>
  <dcterms:modified xsi:type="dcterms:W3CDTF">2026-10-24T06:46:36Z</dcterms:modified>
</cp:coreProperties>
</file>